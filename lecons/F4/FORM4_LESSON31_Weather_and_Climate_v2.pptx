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</p:sldIdLst>
  <p:notesMasterIdLst>
    <p:notesMasterId r:id="rId4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notesMaster" Target="notesMasters/notesMaster1.xml"/><Relationship Id="rId41" Type="http://schemas.openxmlformats.org/officeDocument/2006/relationships/presProps" Target="presProps.xml"/><Relationship Id="rId42" Type="http://schemas.openxmlformats.org/officeDocument/2006/relationships/viewProps" Target="viewProps.xml"/><Relationship Id="rId43" Type="http://schemas.openxmlformats.org/officeDocument/2006/relationships/theme" Target="theme/theme1.xml"/><Relationship Id="rId4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Good morning, class. Today we study Lesson 31: Weather and Climate.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Check the homework: information given by a weather forecast.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Read the situation slowly, twice.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Without the projector: ask learners to describe the weather today.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Without the projector: mention the weather station at Garoua airport.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Without the projector: make a paper wind vane.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Learners copy the board summary now. Give them enough time for each slide.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Answers: 1. weather 2. climate 3. anemometer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homework prepares the next lesson.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Say the English word; learners give the French word, then the reverse.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201168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pic>
        <p:nvPicPr>
          <p:cNvPr id="4" name="Image 0" descr="/home/claude/pw1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09590" y="457200"/>
            <a:ext cx="1371600" cy="137160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731520" y="1965960"/>
            <a:ext cx="1072591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C3F6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DIVINE GRACE COLLEGE OF ARTS, SCIENCE AND TECHNOLOGY</a:t>
            </a:r>
            <a:endParaRPr lang="en-US" sz="2000" dirty="0"/>
          </a:p>
        </p:txBody>
      </p:sp>
      <p:sp>
        <p:nvSpPr>
          <p:cNvPr id="6" name="Text 3"/>
          <p:cNvSpPr txBox="1"/>
          <p:nvPr/>
        </p:nvSpPr>
        <p:spPr>
          <a:xfrm>
            <a:off x="914400" y="2606040"/>
            <a:ext cx="1036015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(DGCAST) — GAROUA   |   GEOGRAPHY DEPARTMENT</a:t>
            </a:r>
            <a:endParaRPr lang="en-US" sz="1500" dirty="0"/>
          </a:p>
        </p:txBody>
      </p:sp>
      <p:sp>
        <p:nvSpPr>
          <p:cNvPr id="7" name="Text 4"/>
          <p:cNvSpPr txBox="1"/>
          <p:nvPr/>
        </p:nvSpPr>
        <p:spPr>
          <a:xfrm>
            <a:off x="914400" y="3200400"/>
            <a:ext cx="103601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FORM 4 GEOGRAPHY  —  LESSON 31</a:t>
            </a:r>
            <a:endParaRPr lang="en-US" sz="3400" dirty="0"/>
          </a:p>
        </p:txBody>
      </p:sp>
      <p:sp>
        <p:nvSpPr>
          <p:cNvPr id="8" name="Text 5"/>
          <p:cNvSpPr txBox="1"/>
          <p:nvPr/>
        </p:nvSpPr>
        <p:spPr>
          <a:xfrm>
            <a:off x="914400" y="3931920"/>
            <a:ext cx="103601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B886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Weather and Climate</a:t>
            </a:r>
            <a:endParaRPr lang="en-US" sz="2100" dirty="0"/>
          </a:p>
        </p:txBody>
      </p:sp>
      <p:sp>
        <p:nvSpPr>
          <p:cNvPr id="9" name="Text 6"/>
          <p:cNvSpPr txBox="1"/>
          <p:nvPr/>
        </p:nvSpPr>
        <p:spPr>
          <a:xfrm>
            <a:off x="914400" y="5394960"/>
            <a:ext cx="1036015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EMMANUEL</a:t>
            </a:r>
            <a:endParaRPr lang="en-US" sz="1600" dirty="0"/>
          </a:p>
          <a:p>
            <a:pPr algn="ctr"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Teacher — PLEG</a:t>
            </a:r>
            <a:endParaRPr lang="en-US" sz="1600" dirty="0"/>
          </a:p>
          <a:p>
            <a:pPr algn="ctr"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Academic Year 2026 / 2027</a:t>
            </a:r>
            <a:endParaRPr lang="en-US" sz="16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FORM 4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 INFO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Class, Chapter &amp; Duration</a:t>
            </a:r>
            <a:endParaRPr lang="en-US" sz="300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783080"/>
          <a:ext cx="11274552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8897112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Class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Form 4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Chapter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Module 3: Weather and Climate — Adaptation to Climatic Excesses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Duration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 minutes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FORM 4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IDENTIFICATION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Lesson Identification</a:t>
            </a:r>
            <a:endParaRPr lang="en-US" sz="30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783080"/>
          <a:ext cx="11274552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8897112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Topic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The Earth-Atmosphere System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Sub-topic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Measurement of Weather Elements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Lesson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Lesson 31: Weather and Climate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Notions / Concepts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Weather, weather instruments.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Syllabus focus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Definition of weather and climate; definition of a weather station; classification of weather elements, instruments and measurements; their isolines.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Competence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Learners are able to read a simple weather forecast and use it to plan daily activities such as farming or travel.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FORM 4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OBJECTIVES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4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Learning Objectives</a:t>
            </a:r>
            <a:endParaRPr lang="en-US" sz="30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2200" b="1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By the end of the lesson, the learner should be able to:</a:t>
            </a:r>
            <a:endParaRPr lang="en-US" sz="2200" dirty="0"/>
          </a:p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22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Define weather and climate and distinguish between them.</a:t>
            </a:r>
            <a:endParaRPr lang="en-US" sz="2200" dirty="0"/>
          </a:p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22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Define a weather station.</a:t>
            </a:r>
            <a:endParaRPr lang="en-US" sz="2200" dirty="0"/>
          </a:p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22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Name the weather elements with their instruments, units and isolines.</a:t>
            </a:r>
            <a:endParaRPr lang="en-US" sz="2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FORM 4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RECALL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5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Recall</a:t>
            </a:r>
            <a:endParaRPr lang="en-US" sz="30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Char char="•"/>
            </a:pPr>
            <a:r>
              <a:rPr lang="en-US" sz="24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atmosphere has four layers; weather takes place in the troposphere.</a:t>
            </a:r>
            <a:endParaRPr lang="en-US" sz="2400" dirty="0"/>
          </a:p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Char char="•"/>
            </a:pPr>
            <a:r>
              <a:rPr lang="en-US" sz="24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Temperature falls with height in the troposphere.</a:t>
            </a:r>
            <a:endParaRPr lang="en-US" sz="2400" dirty="0"/>
          </a:p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Char char="•"/>
            </a:pPr>
            <a:r>
              <a:rPr lang="en-US" sz="24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ozone layer protects us from ultraviolet rays.</a:t>
            </a:r>
            <a:endParaRPr lang="en-US" sz="24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FORM 4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REAL-LIFE SITUATION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6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Real-Life Situation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On Monday morning, it rains in Garoua, so Idrissa takes an umbrella. His cousin in Paris says: "But Garoua has a hot climate. Why do you need an umbrella?"</a:t>
            </a:r>
            <a:endParaRPr lang="en-US" sz="4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FORM 4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REAL-LIFE SITUATION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7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Situation — Question 1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What is the problem in the situation?</a:t>
            </a:r>
            <a:endParaRPr lang="en-US" sz="4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FORM 4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REAL-LIFE SITUATION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8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The cousin mixes up weather and climate.</a:t>
            </a:r>
            <a:endParaRPr lang="en-US" sz="4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FORM 4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REAL-LIFE SITUATION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9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Situation — Question 2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What is the weather in Garoua on Monday?</a:t>
            </a:r>
            <a:endParaRPr lang="en-US" sz="4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FORM 4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REAL-LIFE SITUATION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10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Cloudy and rainy.</a:t>
            </a:r>
            <a:endParaRPr lang="en-US" sz="4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FORM 4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REAL-LIFE SITUATION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11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Situation — Question 3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What is the climate of Garoua?</a:t>
            </a:r>
            <a:endParaRPr lang="en-US" sz="4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FORM 4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REAL-LIFE SITUATION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12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Possible 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Hot, with a wet and a dry season.</a:t>
            </a:r>
            <a:endParaRPr lang="en-US" sz="40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FORM 4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JUSTIFICATION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13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Justification of the Lesson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This lesson helps us to know the difference between weather and climate.</a:t>
            </a:r>
            <a:endParaRPr lang="en-US" sz="40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FORM 4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I. DEFINITIONS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14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1</a:t>
            </a:r>
            <a:endParaRPr lang="en-US" sz="3600" dirty="0"/>
          </a:p>
        </p:txBody>
      </p:sp>
      <p:pic>
        <p:nvPicPr>
          <p:cNvPr id="13" name="Image 0" descr="/home/claude/f4/img/v2/f2t_storm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014449" y="1691640"/>
            <a:ext cx="8160054" cy="4526280"/>
          </a:xfrm>
          <a:prstGeom prst="rect">
            <a:avLst/>
          </a:prstGeom>
        </p:spPr>
      </p:pic>
      <p:sp>
        <p:nvSpPr>
          <p:cNvPr id="14" name="Text 11"/>
          <p:cNvSpPr txBox="1"/>
          <p:nvPr/>
        </p:nvSpPr>
        <p:spPr>
          <a:xfrm>
            <a:off x="457200" y="6245352"/>
            <a:ext cx="11274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555555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 rainy afternoon.</a:t>
            </a:r>
            <a:endParaRPr lang="en-US" sz="14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FORM 4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I. DEFINITIONS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15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1: Question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The condition of the air today is rainy. Is this the weather or the climate?</a:t>
            </a:r>
            <a:endParaRPr lang="en-US" sz="40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FORM 4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I. DEFINITIONS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16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The weather.</a:t>
            </a:r>
            <a:endParaRPr lang="en-US" sz="40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FORM 4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II. THE WEATHER STATION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17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2</a:t>
            </a:r>
            <a:endParaRPr lang="en-US" sz="3600" dirty="0"/>
          </a:p>
        </p:txBody>
      </p:sp>
      <p:pic>
        <p:nvPicPr>
          <p:cNvPr id="13" name="Image 0" descr="/home/claude/f4/img/v2/f4_stevenson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014449" y="1691640"/>
            <a:ext cx="8160054" cy="4526280"/>
          </a:xfrm>
          <a:prstGeom prst="rect">
            <a:avLst/>
          </a:prstGeom>
        </p:spPr>
      </p:pic>
      <p:sp>
        <p:nvSpPr>
          <p:cNvPr id="14" name="Text 11"/>
          <p:cNvSpPr txBox="1"/>
          <p:nvPr/>
        </p:nvSpPr>
        <p:spPr>
          <a:xfrm>
            <a:off x="457200" y="6245352"/>
            <a:ext cx="11274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555555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 weather station.</a:t>
            </a:r>
            <a:endParaRPr lang="en-US" sz="14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FORM 4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II. THE WEATHER STATION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18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2: Question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What do people do in this place?</a:t>
            </a:r>
            <a:endParaRPr lang="en-US" sz="40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FORM 4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II. THE WEATHER STATION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19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They measure the weather every day.</a:t>
            </a:r>
            <a:endParaRPr lang="en-US" sz="40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FORM 4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III. INSTRUMENTS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20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3</a:t>
            </a:r>
            <a:endParaRPr lang="en-US" sz="3600" dirty="0"/>
          </a:p>
        </p:txBody>
      </p:sp>
      <p:pic>
        <p:nvPicPr>
          <p:cNvPr id="13" name="Image 0" descr="/home/claude/f4/img/v2/f4_anemometer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014449" y="1691640"/>
            <a:ext cx="8160054" cy="4526280"/>
          </a:xfrm>
          <a:prstGeom prst="rect">
            <a:avLst/>
          </a:prstGeom>
        </p:spPr>
      </p:pic>
      <p:sp>
        <p:nvSpPr>
          <p:cNvPr id="14" name="Text 11"/>
          <p:cNvSpPr txBox="1"/>
          <p:nvPr/>
        </p:nvSpPr>
        <p:spPr>
          <a:xfrm>
            <a:off x="457200" y="6245352"/>
            <a:ext cx="11274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555555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Instruments that measure the wind.</a:t>
            </a:r>
            <a:endParaRPr lang="en-US" sz="14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FORM 4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III. INSTRUMENTS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21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3: Question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Which instrument measures wind speed? Which one shows wind direction?</a:t>
            </a:r>
            <a:endParaRPr lang="en-US" sz="40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FORM 4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III. INSTRUMENTS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22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The anemometer (speed); the wind vane (direction).</a:t>
            </a:r>
            <a:endParaRPr lang="en-US" sz="40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FORM 4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 SUMMARY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23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Weather and Climate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3200" b="1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Topic: The Earth-Atmosphere System</a:t>
            </a:r>
            <a:endParaRPr lang="en-US" sz="3200" dirty="0"/>
          </a:p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3200" b="1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Sub-topic: Measurement of Weather Elements</a:t>
            </a:r>
            <a:endParaRPr lang="en-US" sz="3200" dirty="0"/>
          </a:p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32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Lesson 31: Weather and Climate</a:t>
            </a:r>
            <a:endParaRPr lang="en-US" sz="32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FORM 4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 SUMMARY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24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I. Definitions (1/2)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Weather: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It is the condition of the air at a place today.</a:t>
            </a:r>
            <a:endParaRPr lang="en-US" sz="40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Climate: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It is the average weather of a place over about 30 years.</a:t>
            </a:r>
            <a:endParaRPr lang="en-US" sz="40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Weather station: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It is a place where the weather is measured.</a:t>
            </a:r>
            <a:endParaRPr lang="en-US" sz="40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FORM 4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 SUMMARY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25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I. Definitions (2/2)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Isoline: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It is a line joining places with the same value.</a:t>
            </a:r>
            <a:endParaRPr lang="en-US" sz="40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FORM 4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 SUMMARY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26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II. Instruments (1/2)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A. Thermometer: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temperature (°C).</a:t>
            </a:r>
            <a:endParaRPr lang="en-US" sz="40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B. Rain gauge: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rainfall (mm).</a:t>
            </a:r>
            <a:endParaRPr lang="en-US" sz="40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C. Wind vane and anemometer: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wind.</a:t>
            </a:r>
            <a:endParaRPr lang="en-US" sz="40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D. Barometer: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air pressure.</a:t>
            </a:r>
            <a:endParaRPr lang="en-US" sz="40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FORM 4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 SUMMARY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27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II. Instruments (2/2)</a:t>
            </a:r>
            <a:endParaRPr lang="en-US" sz="3600" dirty="0"/>
          </a:p>
        </p:txBody>
      </p:sp>
      <p:pic>
        <p:nvPicPr>
          <p:cNvPr id="13" name="Image 0" descr="/home/claude/f4/img/v2/instruments_bi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00838" y="1691640"/>
            <a:ext cx="11587277" cy="4526280"/>
          </a:xfrm>
          <a:prstGeom prst="rect">
            <a:avLst/>
          </a:prstGeom>
        </p:spPr>
      </p:pic>
      <p:sp>
        <p:nvSpPr>
          <p:cNvPr id="14" name="Text 11"/>
          <p:cNvSpPr txBox="1"/>
          <p:nvPr/>
        </p:nvSpPr>
        <p:spPr>
          <a:xfrm>
            <a:off x="457200" y="6245352"/>
            <a:ext cx="11274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555555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Copy the table of instruments.</a:t>
            </a:r>
            <a:endParaRPr lang="en-US" sz="14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FORM 4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FORMATIVE EVALUATION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28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Formative Evaluation 1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What is the difference between weather and climate?</a:t>
            </a:r>
            <a:endParaRPr lang="en-US" sz="40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FORM 4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FORMATIVE EVALUATION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29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Expected 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Weather is today; climate is the average over about 30 years.</a:t>
            </a:r>
            <a:endParaRPr lang="en-US" sz="40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FORM 4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FORMATIVE EVALUATION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30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Formative Evaluation 2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Which instrument measures rainfall?</a:t>
            </a:r>
            <a:endParaRPr lang="en-US" sz="40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FORM 4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FORMATIVE EVALUATION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31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Expected 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The rain gauge.</a:t>
            </a:r>
            <a:endParaRPr lang="en-US" sz="40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FORM 4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REMEDIATION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32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Remediation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3600" b="1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Fill in the blanks:</a:t>
            </a:r>
            <a:endParaRPr lang="en-US" sz="3600" dirty="0"/>
          </a:p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36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The condition of the air today is the ______.</a:t>
            </a:r>
            <a:endParaRPr lang="en-US" sz="3600" dirty="0"/>
          </a:p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36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The average weather over 30 years is the ______.</a:t>
            </a:r>
            <a:endParaRPr lang="en-US" sz="3600" dirty="0"/>
          </a:p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36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Wind speed is measured with an ______.</a:t>
            </a:r>
            <a:endParaRPr lang="en-US" sz="36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FORM 4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HOMEWORK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33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Homework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Put one bottle of water in the sun and another in the shade for one hour. Touch both and write down which is hotter and why.</a:t>
            </a:r>
            <a:endParaRPr lang="en-US" sz="4000" dirty="0"/>
          </a:p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This prepares Lesson 32: Weather Elements — Atmospheric Temperatures.</a:t>
            </a:r>
            <a:endParaRPr lang="en-US" sz="40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FORM 4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BILINGUAL GAME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34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Bilingual Game (Jeu Bilingue)</a:t>
            </a:r>
            <a:endParaRPr lang="en-US" sz="3000" dirty="0"/>
          </a:p>
        </p:txBody>
      </p:sp>
      <p:graphicFrame>
        <p:nvGraphicFramePr>
          <p:cNvPr id="3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011680" y="1783080"/>
          <a:ext cx="8138160" cy="914400"/>
        </p:xfrm>
        <a:graphic>
          <a:graphicData uri="http://schemas.openxmlformats.org/drawingml/2006/table">
            <a:tbl>
              <a:tblPr/>
              <a:tblGrid>
                <a:gridCol w="4069080"/>
                <a:gridCol w="4069080"/>
              </a:tblGrid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English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9001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Français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90011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Weather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 temps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Climate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 climat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Weather station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 station météorologique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Thermometer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 thermomètre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Rain gauge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 pluviomètre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Anemometer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L'anémomètre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Wind vane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 girouette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Barometer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 baromètre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FORM 4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LOGBOOK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35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Official Logbook (1/2)</a:t>
            </a:r>
            <a:endParaRPr lang="en-US" sz="3000" dirty="0"/>
          </a:p>
        </p:txBody>
      </p:sp>
      <p:graphicFrame>
        <p:nvGraphicFramePr>
          <p:cNvPr id="3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783080"/>
          <a:ext cx="11274552" cy="914400"/>
        </p:xfrm>
        <a:graphic>
          <a:graphicData uri="http://schemas.openxmlformats.org/drawingml/2006/table">
            <a:tbl>
              <a:tblPr/>
              <a:tblGrid>
                <a:gridCol w="2926080"/>
                <a:gridCol w="8348472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Module / Topic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The Earth-Atmosphere System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Lesson Title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Lesson 31: Weather and Climate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Expected Learning Outcomes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Define weather and climate and distinguish between them. Define a weather station. Name the weather elements with their instruments, units and isolines.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Competence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Learners are able to read a simple weather forecast and use it to plan daily activities such as farming or travel.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FORM 4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LOGBOOK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36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Official Logbook (2/2)</a:t>
            </a:r>
            <a:endParaRPr lang="en-US" sz="3000" dirty="0"/>
          </a:p>
        </p:txBody>
      </p:sp>
      <p:graphicFrame>
        <p:nvGraphicFramePr>
          <p:cNvPr id="3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783080"/>
          <a:ext cx="11274552" cy="914400"/>
        </p:xfrm>
        <a:graphic>
          <a:graphicData uri="http://schemas.openxmlformats.org/drawingml/2006/table">
            <a:tbl>
              <a:tblPr/>
              <a:tblGrid>
                <a:gridCol w="2926080"/>
                <a:gridCol w="8348472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Matter Taught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I. Definitions: Weather, Climate, Weather station, Isoline; II. Instruments: Thermometer, Rain gauge, Wind vane and anemometer, Barometer.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Evaluation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Formative evaluation (3 questions) and remediation exercise.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Homework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Put one bottle of water in the sun and another in the shade for one hour. Touch both and write down which is hotter and why.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Enrolment / Present / Absent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____ / ____ / ____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Achievement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 be completed by the teacher after the lesson.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FORM 4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TEACHER'S NOTE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37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Teacher's Note</a:t>
            </a:r>
            <a:endParaRPr lang="en-US" sz="30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20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Timing: Set-up, recall 5 min | Situation 5 min | 3 activities 12 min | Board summary (copying) 15 min | Evaluation, homework 5 min | Logbook 5 min | Spare 3 min</a:t>
            </a:r>
            <a:endParaRPr lang="en-US" sz="2000" dirty="0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FORM 4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REFERENCES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38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References</a:t>
            </a:r>
            <a:endParaRPr lang="en-US" sz="30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18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National Geography Syllabus (MINESEC), Form 4 — Module 3: Weather and Climate.</a:t>
            </a:r>
            <a:endParaRPr lang="en-US" sz="1800" dirty="0"/>
          </a:p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18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Teacher's lesson notes (f4.docx), checked and corrected where necessary.</a:t>
            </a:r>
            <a:endParaRPr lang="en-US" sz="1800" dirty="0"/>
          </a:p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18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Photo, Activity 1: “When it rains in Africa!” by Martin_Heigan, CC BY-NC-ND 2.0, via Flickr (https://www.flickr.com/photos/97303475@N00/31286250004)</a:t>
            </a:r>
            <a:endParaRPr lang="en-US" sz="1800" dirty="0"/>
          </a:p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18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Photo, Activity 2: “Adelaide. Urrbrae. The weather station at the Waite campus of the Univ” by denisbin, CC BY-ND 2.0, via Flickr (https://www.flickr.com/photos/82134796@N03/49865994827)</a:t>
            </a:r>
            <a:endParaRPr lang="en-US" sz="1800" dirty="0"/>
          </a:p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18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Photo, Activity 3: “3-cup anemometer installed at Thomas More College measures horizontal ” by FondriestEnv, CC BY-NC 2.0, via Flickr (https://www.flickr.com/photos/67593579@N07/6334536635)</a:t>
            </a:r>
            <a:endParaRPr lang="en-US" sz="1800" dirty="0"/>
          </a:p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18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Diagrams and animations: drawn for this lesson (DGCAST Geography Department).</a:t>
            </a:r>
            <a:endParaRPr lang="en-US" sz="1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38</Slides>
  <Notes>38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38</vt:i4>
      </vt:variant>
    </vt:vector>
  </HeadingPairs>
  <TitlesOfParts>
    <vt:vector size="4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2026-09-27T04:25:19Z</dcterms:created>
  <dcterms:modified xsi:type="dcterms:W3CDTF">2026-09-27T04:25:19Z</dcterms:modified>
</cp:coreProperties>
</file>