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Today we study Lesson 33: Weather Elements: Humidity, Wind, Pressure and Sunshine.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the homework: drying time of a wet cloth.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situation slowly, twice.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use the situation of Hadja.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hold a piece of cloth in the wind.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Without the projector: explain that air has weight.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Learners copy the board summary now. Give them enough time for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hygrometer 2. barometer 3. from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homework prepares the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English word; learners give the French word, then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201168"/>
          </a:xfrm>
          <a:prstGeom prst="rect">
            <a:avLst/>
          </a:prstGeom>
          <a:solidFill>
            <a:srgbClr val="990011"/>
          </a:solidFill>
          <a:ln w="12700">
            <a:solidFill>
              <a:srgbClr val="990011"/>
            </a:solidFill>
            <a:prstDash val="solid"/>
          </a:ln>
        </p:spPr>
      </p:sp>
      <p:sp>
        <p:nvSpPr>
          <p:cNvPr id="3" name="Shape 1"/>
          <p:cNvSpPr/>
          <p:nvPr/>
        </p:nvSpPr>
        <p:spPr>
          <a:xfrm>
            <a:off x="0" y="6656832"/>
            <a:ext cx="12191695" cy="201168"/>
          </a:xfrm>
          <a:prstGeom prst="rect">
            <a:avLst/>
          </a:prstGeom>
          <a:solidFill>
            <a:srgbClr val="1C3F6E"/>
          </a:solidFill>
          <a:ln w="12700">
            <a:solidFill>
              <a:srgbClr val="1C3F6E"/>
            </a:solidFill>
            <a:prstDash val="solid"/>
          </a:ln>
        </p:spPr>
      </p:sp>
      <p:pic>
        <p:nvPicPr>
          <p:cNvPr id="4" name="Image 0" descr="/home/claude/pw1/logo.png">    </p:cNvPr>
          <p:cNvPicPr>
            <a:picLocks noChangeAspect="1"/>
          </p:cNvPicPr>
          <p:nvPr/>
        </p:nvPicPr>
        <p:blipFill>
          <a:blip r:embed="rId1"/>
          <a:stretch>
            <a:fillRect/>
          </a:stretch>
        </p:blipFill>
        <p:spPr>
          <a:xfrm>
            <a:off x="5409590" y="457200"/>
            <a:ext cx="1371600" cy="1371600"/>
          </a:xfrm>
          <a:prstGeom prst="rect">
            <a:avLst/>
          </a:prstGeom>
        </p:spPr>
      </p:pic>
      <p:sp>
        <p:nvSpPr>
          <p:cNvPr id="5" name="Text 2"/>
          <p:cNvSpPr txBox="1"/>
          <p:nvPr/>
        </p:nvSpPr>
        <p:spPr>
          <a:xfrm>
            <a:off x="731520" y="1965960"/>
            <a:ext cx="10725912" cy="640080"/>
          </a:xfrm>
          <a:prstGeom prst="rect">
            <a:avLst/>
          </a:prstGeom>
          <a:noFill/>
          <a:ln/>
        </p:spPr>
        <p:txBody>
          <a:bodyPr wrap="square" lIns="0" tIns="0" rIns="0" bIns="0" rtlCol="0" anchor="ctr"/>
          <a:lstStyle/>
          <a:p>
            <a:pPr algn="ctr" indent="0" marL="0">
              <a:buNone/>
            </a:pPr>
            <a:r>
              <a:rPr lang="en-US" sz="2000" b="1" dirty="0">
                <a:solidFill>
                  <a:srgbClr val="1C3F6E"/>
                </a:solidFill>
                <a:latin typeface="Cambria" pitchFamily="34" charset="0"/>
                <a:ea typeface="Cambria" pitchFamily="34" charset="-122"/>
                <a:cs typeface="Cambria" pitchFamily="34" charset="-120"/>
              </a:rPr>
              <a:t>DIVINE GRACE COLLEGE OF ARTS, SCIENCE AND TECHNOLOGY</a:t>
            </a:r>
            <a:endParaRPr lang="en-US" sz="2000" dirty="0"/>
          </a:p>
        </p:txBody>
      </p:sp>
      <p:sp>
        <p:nvSpPr>
          <p:cNvPr id="6" name="Text 3"/>
          <p:cNvSpPr txBox="1"/>
          <p:nvPr/>
        </p:nvSpPr>
        <p:spPr>
          <a:xfrm>
            <a:off x="914400" y="2606040"/>
            <a:ext cx="10360152" cy="411480"/>
          </a:xfrm>
          <a:prstGeom prst="rect">
            <a:avLst/>
          </a:prstGeom>
          <a:noFill/>
          <a:ln/>
        </p:spPr>
        <p:txBody>
          <a:bodyPr wrap="square" lIns="0" tIns="0" rIns="0" bIns="0" rtlCol="0" anchor="ctr"/>
          <a:lstStyle/>
          <a:p>
            <a:pPr algn="ctr" indent="0" marL="0">
              <a:buNone/>
            </a:pPr>
            <a:r>
              <a:rPr lang="en-US" sz="1500" dirty="0">
                <a:solidFill>
                  <a:srgbClr val="1A1A1A"/>
                </a:solidFill>
                <a:latin typeface="Calibri" pitchFamily="34" charset="0"/>
                <a:ea typeface="Calibri" pitchFamily="34" charset="-122"/>
                <a:cs typeface="Calibri" pitchFamily="34" charset="-120"/>
              </a:rPr>
              <a:t>(DGCAST) — GAROUA   |   GEOGRAPHY DEPARTMENT</a:t>
            </a:r>
            <a:endParaRPr lang="en-US" sz="1500" dirty="0"/>
          </a:p>
        </p:txBody>
      </p:sp>
      <p:sp>
        <p:nvSpPr>
          <p:cNvPr id="7" name="Text 4"/>
          <p:cNvSpPr txBox="1"/>
          <p:nvPr/>
        </p:nvSpPr>
        <p:spPr>
          <a:xfrm>
            <a:off x="914400" y="3200400"/>
            <a:ext cx="10360152" cy="685800"/>
          </a:xfrm>
          <a:prstGeom prst="rect">
            <a:avLst/>
          </a:prstGeom>
          <a:noFill/>
          <a:ln/>
        </p:spPr>
        <p:txBody>
          <a:bodyPr wrap="square" lIns="0" tIns="0" rIns="0" bIns="0" rtlCol="0" anchor="ctr"/>
          <a:lstStyle/>
          <a:p>
            <a:pPr algn="ctr" indent="0" marL="0">
              <a:buNone/>
            </a:pPr>
            <a:r>
              <a:rPr lang="en-US" sz="3400" b="1" dirty="0">
                <a:solidFill>
                  <a:srgbClr val="990011"/>
                </a:solidFill>
                <a:latin typeface="Cambria" pitchFamily="34" charset="0"/>
                <a:ea typeface="Cambria" pitchFamily="34" charset="-122"/>
                <a:cs typeface="Cambria" pitchFamily="34" charset="-120"/>
              </a:rPr>
              <a:t>FORM 4 GEOGRAPHY  —  LESSON 33</a:t>
            </a:r>
            <a:endParaRPr lang="en-US" sz="3400" dirty="0"/>
          </a:p>
        </p:txBody>
      </p:sp>
      <p:sp>
        <p:nvSpPr>
          <p:cNvPr id="8" name="Text 5"/>
          <p:cNvSpPr txBox="1"/>
          <p:nvPr/>
        </p:nvSpPr>
        <p:spPr>
          <a:xfrm>
            <a:off x="914400" y="3931920"/>
            <a:ext cx="10360152" cy="548640"/>
          </a:xfrm>
          <a:prstGeom prst="rect">
            <a:avLst/>
          </a:prstGeom>
          <a:noFill/>
          <a:ln/>
        </p:spPr>
        <p:txBody>
          <a:bodyPr wrap="square" lIns="0" tIns="0" rIns="0" bIns="0" rtlCol="0" anchor="ctr"/>
          <a:lstStyle/>
          <a:p>
            <a:pPr algn="ctr" indent="0" marL="0">
              <a:buNone/>
            </a:pPr>
            <a:r>
              <a:rPr lang="en-US" sz="2100" b="1" dirty="0">
                <a:solidFill>
                  <a:srgbClr val="B8860B"/>
                </a:solidFill>
                <a:latin typeface="Calibri" pitchFamily="34" charset="0"/>
                <a:ea typeface="Calibri" pitchFamily="34" charset="-122"/>
                <a:cs typeface="Calibri" pitchFamily="34" charset="-120"/>
              </a:rPr>
              <a:t>Weather Elements: Humidity, Wind, Pressure and Sunshine</a:t>
            </a:r>
            <a:endParaRPr lang="en-US" sz="2100" dirty="0"/>
          </a:p>
        </p:txBody>
      </p:sp>
      <p:sp>
        <p:nvSpPr>
          <p:cNvPr id="9" name="Text 6"/>
          <p:cNvSpPr txBox="1"/>
          <p:nvPr/>
        </p:nvSpPr>
        <p:spPr>
          <a:xfrm>
            <a:off x="914400" y="5394960"/>
            <a:ext cx="10360152" cy="914400"/>
          </a:xfrm>
          <a:prstGeom prst="rect">
            <a:avLst/>
          </a:prstGeom>
          <a:noFill/>
          <a:ln/>
        </p:spPr>
        <p:txBody>
          <a:bodyPr wrap="square" lIns="0" tIns="0" rIns="0" bIns="0" rtlCol="0" anchor="ctr"/>
          <a:lstStyle/>
          <a:p>
            <a:pPr algn="ctr" indent="0" marL="0">
              <a:buNone/>
            </a:pPr>
            <a:r>
              <a:rPr lang="en-US" sz="1600" b="1" dirty="0">
                <a:solidFill>
                  <a:srgbClr val="1A1A1A"/>
                </a:solidFill>
                <a:latin typeface="Calibri" pitchFamily="34" charset="0"/>
                <a:ea typeface="Calibri" pitchFamily="34" charset="-122"/>
                <a:cs typeface="Calibri" pitchFamily="34" charset="-120"/>
              </a:rPr>
              <a:t>Mr KAMDEM EMMANUEL</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Geography Teacher — PLEG</a:t>
            </a:r>
            <a:endParaRPr lang="en-US" sz="1600" dirty="0"/>
          </a:p>
          <a:p>
            <a:pPr algn="ctr" indent="0" marL="0">
              <a:buNone/>
            </a:pPr>
            <a:r>
              <a:rPr lang="en-US" sz="1600" dirty="0">
                <a:solidFill>
                  <a:srgbClr val="1A1A1A"/>
                </a:solidFill>
                <a:latin typeface="Calibri" pitchFamily="34" charset="0"/>
                <a:ea typeface="Calibri" pitchFamily="34" charset="-122"/>
                <a:cs typeface="Calibri" pitchFamily="34" charset="-120"/>
              </a:rPr>
              <a:t>Academic Year 2026 / 2027</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CLASS INFO</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Class, Chapter &amp; Duration</a:t>
            </a:r>
            <a:endParaRPr lang="en-US" sz="30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Class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Form 4</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Chapter</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2000" b="1" dirty="0">
                          <a:solidFill>
                            <a:srgbClr val="FFFFFF"/>
                          </a:solidFill>
                          <a:latin typeface="Calibri" pitchFamily="34" charset="0"/>
                          <a:ea typeface="Calibri" pitchFamily="34" charset="-122"/>
                          <a:cs typeface="Calibri" pitchFamily="34" charset="-120"/>
                        </a:rPr>
                        <a:t>Duration</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2000" dirty="0">
                          <a:solidFill>
                            <a:srgbClr val="111111"/>
                          </a:solidFill>
                          <a:latin typeface="Calibri" pitchFamily="34" charset="0"/>
                          <a:ea typeface="Calibri" pitchFamily="34" charset="-122"/>
                          <a:cs typeface="Calibri" pitchFamily="34" charset="-120"/>
                        </a:rPr>
                        <a:t>50 minutes</a:t>
                      </a:r>
                      <a:endParaRPr lang="en-US" sz="20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IDENTIFICATION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Lesson Identification</a:t>
            </a:r>
            <a:endParaRPr lang="en-US" sz="30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377440"/>
                <a:gridCol w="8897112"/>
              </a:tblGrid>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Sub-topic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Measurement of Weather Elements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Notions / Concepts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Humidity, wind direction, wind speed, atmospheric pressure,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Syllabus focus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Atmospheric humidity; wind direction; wind speed; atmospheric pressure; amount of sunshine.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6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OBJECTIVES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Learning Objectives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200" b="1" dirty="0">
                <a:solidFill>
                  <a:srgbClr val="111111"/>
                </a:solidFill>
                <a:latin typeface="Calibri" pitchFamily="34" charset="0"/>
                <a:ea typeface="Calibri" pitchFamily="34" charset="-122"/>
                <a:cs typeface="Calibri" pitchFamily="34" charset="-120"/>
              </a:rPr>
              <a:t>By the end of the lesson, the learner should be able to:</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humidity and relative humidity, and name their instrument.</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Describe how wind direction and wind speed are measured.</a:t>
            </a:r>
            <a:endParaRPr lang="en-US" sz="2200" dirty="0"/>
          </a:p>
          <a:p>
            <a:pPr marL="342900" indent="-342900">
              <a:lnSpc>
                <a:spcPct val="100000"/>
              </a:lnSpc>
              <a:spcAft>
                <a:spcPts val="800"/>
              </a:spcAft>
              <a:buSzPct val="100000"/>
              <a:buFont typeface="+mj-lt"/>
              <a:buAutoNum type="arabicPeriod" startAt="1"/>
            </a:pPr>
            <a:r>
              <a:rPr lang="en-US" sz="2200" dirty="0">
                <a:solidFill>
                  <a:srgbClr val="111111"/>
                </a:solidFill>
                <a:latin typeface="Calibri" pitchFamily="34" charset="0"/>
                <a:ea typeface="Calibri" pitchFamily="34" charset="-122"/>
                <a:cs typeface="Calibri" pitchFamily="34" charset="-120"/>
              </a:rPr>
              <a:t>Define atmospheric pressure and sunshine and name their instruments.</a:t>
            </a:r>
            <a:endParaRPr lang="en-US" sz="2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RECALL</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Recall</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Temperature is measured with a thermometer inside a Stevenson screen.</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Mean daily temperature = (maximum + minimum) ÷ 2.</a:t>
            </a:r>
            <a:endParaRPr lang="en-US" sz="2400" dirty="0"/>
          </a:p>
          <a:p>
            <a:pPr marL="342900" indent="-342900">
              <a:lnSpc>
                <a:spcPct val="100000"/>
              </a:lnSpc>
              <a:spcAft>
                <a:spcPts val="800"/>
              </a:spcAft>
              <a:buSzPct val="100000"/>
              <a:buChar char="•"/>
            </a:pPr>
            <a:r>
              <a:rPr lang="en-US" sz="2400" dirty="0">
                <a:solidFill>
                  <a:srgbClr val="111111"/>
                </a:solidFill>
                <a:latin typeface="Calibri" pitchFamily="34" charset="0"/>
                <a:ea typeface="Calibri" pitchFamily="34" charset="-122"/>
                <a:cs typeface="Calibri" pitchFamily="34" charset="-120"/>
              </a:rPr>
              <a:t>Temperature data is shown with isotherms.</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Real-Life Situation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August, Hadja's washing takes a whole day to dry and the air feels heavy. In January, during the Harmattan, the same clothes dry in less than one hour.</a:t>
            </a:r>
            <a:endParaRPr lang="en-US" sz="4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Hadja does not know why clothes dry slowly in August.</a:t>
            </a:r>
            <a:endParaRPr lang="en-US" sz="4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When do clothes dry fast?</a:t>
            </a:r>
            <a:endParaRPr lang="en-US" sz="4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January, during the Harmattan.</a:t>
            </a:r>
            <a:endParaRPr lang="en-US" sz="4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 Question 3</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a:t>
            </a:r>
            <a:endParaRPr lang="en-US" sz="4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REAL-LIFE SITUATION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is dry: there is little water vapour.</a:t>
            </a:r>
            <a:endParaRPr lang="en-US" sz="4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JUSTIFICATION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humidity, wind, pressure and sunshine.</a:t>
            </a:r>
            <a:endParaRPr lang="en-US" sz="4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HUMIDITY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13" name="Image 0" descr="/home/claude/f4/img/v2/f4_laundry.jpg">    </p:cNvPr>
          <p:cNvPicPr>
            <a:picLocks noChangeAspect="1"/>
          </p:cNvPicPr>
          <p:nvPr/>
        </p:nvPicPr>
        <p:blipFill>
          <a:blip r:embed="rId1"/>
          <a:stretch>
            <a:fillRect/>
          </a:stretch>
        </p:blipFill>
        <p:spPr>
          <a:xfrm>
            <a:off x="2018433" y="1691640"/>
            <a:ext cx="8152085"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Clothes drying on a line.</a:t>
            </a:r>
            <a:endParaRPr lang="en-US" sz="1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HUMIDITY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do clothes dry slowly when the air is wet?</a:t>
            </a:r>
            <a:endParaRPr lang="en-US" sz="4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 HUMIDITY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air already has a lot of water vapour (high humidity).</a:t>
            </a:r>
            <a:endParaRPr lang="en-US" sz="4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WIND</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13" name="Image 0" descr="/home/claude/f4/img/v2/f4_windsock.jpg">    </p:cNvPr>
          <p:cNvPicPr>
            <a:picLocks noChangeAspect="1"/>
          </p:cNvPicPr>
          <p:nvPr/>
        </p:nvPicPr>
        <p:blipFill>
          <a:blip r:embed="rId1"/>
          <a:stretch>
            <a:fillRect/>
          </a:stretch>
        </p:blipFill>
        <p:spPr>
          <a:xfrm>
            <a:off x="2014449" y="1691640"/>
            <a:ext cx="8160054"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windsock at an airport.</a:t>
            </a:r>
            <a:endParaRPr lang="en-US" sz="1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WIND</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the windsock show? Why is it useful for pilots?</a:t>
            </a:r>
            <a:endParaRPr lang="en-US" sz="4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 WIND</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19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direction and the force of the wind. Planes take off against the wind.</a:t>
            </a:r>
            <a:endParaRPr lang="en-US" sz="4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PRESSURE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13" name="Image 0" descr="/home/claude/f4/img/v2/f4_barometer.jpg">    </p:cNvPr>
          <p:cNvPicPr>
            <a:picLocks noChangeAspect="1"/>
          </p:cNvPicPr>
          <p:nvPr/>
        </p:nvPicPr>
        <p:blipFill>
          <a:blip r:embed="rId1"/>
          <a:stretch>
            <a:fillRect/>
          </a:stretch>
        </p:blipFill>
        <p:spPr>
          <a:xfrm>
            <a:off x="2019232" y="1691640"/>
            <a:ext cx="8150488" cy="4526280"/>
          </a:xfrm>
          <a:prstGeom prst="rect">
            <a:avLst/>
          </a:prstGeom>
        </p:spPr>
      </p:pic>
      <p:sp>
        <p:nvSpPr>
          <p:cNvPr id="14" name="Text 11"/>
          <p:cNvSpPr txBox="1"/>
          <p:nvPr/>
        </p:nvSpPr>
        <p:spPr>
          <a:xfrm>
            <a:off x="457200" y="6245352"/>
            <a:ext cx="11274552" cy="274320"/>
          </a:xfrm>
          <a:prstGeom prst="rect">
            <a:avLst/>
          </a:prstGeom>
          <a:noFill/>
          <a:ln/>
        </p:spPr>
        <p:txBody>
          <a:bodyPr wrap="square" lIns="0" tIns="0" rIns="0" bIns="0" rtlCol="0" anchor="ctr"/>
          <a:lstStyle/>
          <a:p>
            <a:pPr algn="ctr" indent="0" marL="0">
              <a:buNone/>
            </a:pPr>
            <a:r>
              <a:rPr lang="en-US" sz="1400" i="1" dirty="0">
                <a:solidFill>
                  <a:srgbClr val="555555"/>
                </a:solidFill>
                <a:latin typeface="Times New Roman" pitchFamily="34" charset="0"/>
                <a:ea typeface="Times New Roman" pitchFamily="34" charset="-122"/>
                <a:cs typeface="Times New Roman" pitchFamily="34" charset="-120"/>
              </a:rPr>
              <a:t>A barometer.</a:t>
            </a:r>
            <a:endParaRPr lang="en-US" sz="1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PRESSURE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does a barometer measure? What if it falls quickly?</a:t>
            </a:r>
            <a:endParaRPr lang="en-US" sz="4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III. PRESSURE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Air pressure. A quick fall means rain or a storm.</a:t>
            </a:r>
            <a:endParaRPr lang="en-US" sz="4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Weather Elements: Humidity, Wind, Pressure and Sunshine</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3200" dirty="0"/>
          </a:p>
          <a:p>
            <a:pPr indent="0" marL="0">
              <a:lnSpc>
                <a:spcPct val="100000"/>
              </a:lnSpc>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3200" dirty="0"/>
          </a:p>
          <a:p>
            <a:pPr indent="0" marL="0">
              <a:lnSpc>
                <a:spcPct val="100000"/>
              </a:lnSpc>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33: Weather Elements: Humidity, Wind, Pressure and Sunshine</a:t>
            </a:r>
            <a:endParaRPr lang="en-US" sz="3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 Definitions</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Humidity: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amount of water vapour in the air.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Wind: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air that moves.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Air pressure: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It is the weight of the air.</a:t>
            </a:r>
            <a:endParaRPr lang="en-US" sz="4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 Humidity</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Instrument: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The hygrometer (wet and dry bulbs).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Unit: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Percent (%).</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Garoua: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High in August, low in January.</a:t>
            </a:r>
            <a:endParaRPr lang="en-US" sz="4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BOARD SUMMARY</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III. Wind, Pressure and Sunshine</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A. Wind direction: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Wind vane; named from where it comes.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B. Wind speed: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Anemometer.</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C. Pressure: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Barometer (millibars).</a:t>
            </a:r>
            <a:endParaRPr lang="en-US" sz="4000" dirty="0"/>
          </a:p>
          <a:p>
            <a:pPr indent="0" marL="0">
              <a:spcAft>
                <a:spcPts val="1000"/>
              </a:spcAft>
              <a:buNone/>
            </a:pPr>
            <a:r>
              <a:rPr lang="en-US" sz="4000" b="1" dirty="0">
                <a:solidFill>
                  <a:srgbClr val="990011"/>
                </a:solidFill>
                <a:latin typeface="Times New Roman" pitchFamily="34" charset="0"/>
                <a:ea typeface="Times New Roman" pitchFamily="34" charset="-122"/>
                <a:cs typeface="Times New Roman" pitchFamily="34" charset="-120"/>
              </a:rPr>
              <a:t>D. Sunshine: </a:t>
            </a:r>
            <a:pPr indent="0" marL="0">
              <a:spcAft>
                <a:spcPts val="1000"/>
              </a:spcAft>
              <a:buNone/>
            </a:pPr>
            <a:r>
              <a:rPr lang="en-US" sz="4000" dirty="0">
                <a:solidFill>
                  <a:srgbClr val="111111"/>
                </a:solidFill>
                <a:latin typeface="Times New Roman" pitchFamily="34" charset="0"/>
                <a:ea typeface="Times New Roman" pitchFamily="34" charset="-122"/>
                <a:cs typeface="Times New Roman" pitchFamily="34" charset="-120"/>
              </a:rPr>
              <a:t>Sunshine recorder (hours).</a:t>
            </a:r>
            <a:endParaRPr lang="en-US" sz="4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1</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humidity?</a:t>
            </a:r>
            <a:endParaRPr lang="en-US" sz="4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28</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amount of water vapour in the air.</a:t>
            </a:r>
            <a:endParaRPr lang="en-US" sz="4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29</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Formative Evaluation 2</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Harmattan blows from the north-east. What is its name as a wind direction?</a:t>
            </a:r>
            <a:endParaRPr lang="en-US" sz="4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FORMATIVE EVALUATION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30</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north-easterly wind.</a:t>
            </a:r>
            <a:endParaRPr lang="en-US" sz="40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REMEDIATION</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31</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Fill in the blanks:</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Humidity is measured with a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Air pressure is measured with a ______.</a:t>
            </a:r>
            <a:endParaRPr lang="en-US" sz="3600" dirty="0"/>
          </a:p>
          <a:p>
            <a:pPr marL="342900" indent="-342900">
              <a:lnSpc>
                <a:spcPct val="100000"/>
              </a:lnSpc>
              <a:spcAft>
                <a:spcPts val="800"/>
              </a:spcAft>
              <a:buSzPct val="100000"/>
              <a:buFont typeface="+mj-lt"/>
              <a:buAutoNum type="arabicPeriod" startAt="1"/>
            </a:pPr>
            <a:r>
              <a:rPr lang="en-US" sz="3600" dirty="0">
                <a:solidFill>
                  <a:srgbClr val="111111"/>
                </a:solidFill>
                <a:latin typeface="Times New Roman" pitchFamily="34" charset="0"/>
                <a:ea typeface="Times New Roman" pitchFamily="34" charset="-122"/>
                <a:cs typeface="Times New Roman" pitchFamily="34" charset="-120"/>
              </a:rPr>
              <a:t>A wind is named after the direction it comes ______.</a:t>
            </a:r>
            <a:endParaRPr lang="en-US" sz="36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HOMEWORK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32</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Early tomorrow morning, look at the grass, leaves or cars near your house. Write down whether you see drops of water on them, and where you think the water came from.</a:t>
            </a:r>
            <a:endParaRPr lang="en-US" sz="4000" dirty="0"/>
          </a:p>
          <a:p>
            <a:pPr indent="0" marL="0">
              <a:lnSpc>
                <a:spcPct val="100000"/>
              </a:lnSpc>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This prepares Lesson 34: Condensation.</a:t>
            </a:r>
            <a:endParaRPr lang="en-US" sz="40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BILINGUAL GAME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33</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Bilingual Game (Jeu Bilingue)</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2011680" y="1783080"/>
          <a:ext cx="8138160" cy="914400"/>
        </p:xfrm>
        <a:graphic>
          <a:graphicData uri="http://schemas.openxmlformats.org/drawingml/2006/table">
            <a:tbl>
              <a:tblPr/>
              <a:tblGrid>
                <a:gridCol w="4069080"/>
                <a:gridCol w="4069080"/>
              </a:tblGrid>
              <a:tr h="0">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English</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1800" b="1" dirty="0">
                          <a:solidFill>
                            <a:srgbClr val="FFFFFF"/>
                          </a:solidFill>
                          <a:latin typeface="Calibri" pitchFamily="34" charset="0"/>
                          <a:ea typeface="Calibri" pitchFamily="34" charset="-122"/>
                          <a:cs typeface="Calibri" pitchFamily="34" charset="-120"/>
                        </a:rPr>
                        <a:t>Français</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Humidity</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L'humidité</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Hygrometer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L'hygromètre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Wind direction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direction du vent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Wind speed</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vitesse du vent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Pressure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La pression</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Barometer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 baromètre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Sunshine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L'ensoleillement</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Isobar</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1800" dirty="0">
                          <a:solidFill>
                            <a:srgbClr val="111111"/>
                          </a:solidFill>
                          <a:latin typeface="Calibri" pitchFamily="34" charset="0"/>
                          <a:ea typeface="Calibri" pitchFamily="34" charset="-122"/>
                          <a:cs typeface="Calibri" pitchFamily="34" charset="-120"/>
                        </a:rPr>
                        <a:t>L'isobare</a:t>
                      </a:r>
                      <a:endParaRPr lang="en-US" sz="1800" dirty="0">
                        <a:latin typeface="Calibri" charset="0"/>
                        <a:ea typeface="Calibri" charset="0"/>
                        <a:cs typeface="Calibri" charset="0"/>
                      </a:endParaRPr>
                    </a:p>
                  </a:txBody>
                  <a:tcPr marL="54864" marR="54864" marT="54864" marB="54864">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34</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(1/2)</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Module / Topic</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The Earth-Atmosphere System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Lesson Title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Lesson 33: Weather Elements: Humidity, Wind, Pressure and Sunshine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Expected Learning Outcomes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Define humidity and relative humidity, and name their instrument. Describe how wind direction and wind speed are measured. Define atmospheric pressure and sunshine and name their instruments.</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Competence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Learners are able to observe the humidity, wind and sky and predict simple changes in the weather around them.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LOGBOOK</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35</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Official Logbook (2/2)</a:t>
            </a:r>
            <a:endParaRPr lang="en-US" sz="30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457200" y="1783080"/>
          <a:ext cx="11274552" cy="914400"/>
        </p:xfrm>
        <a:graphic>
          <a:graphicData uri="http://schemas.openxmlformats.org/drawingml/2006/table">
            <a:tbl>
              <a:tblPr/>
              <a:tblGrid>
                <a:gridCol w="2926080"/>
                <a:gridCol w="8348472"/>
              </a:tblGrid>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Matter Taught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I. Definitions: Humidity, Wind, Air pressure; II. Humidity: Instrument, Unit, Garoua; III. Wind, Pressure and Sunshine: Wind direction, Wind speed, Pressure, Sunshine.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Evaluation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Formative evaluation (3 questions) and remediation exercise.</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Homework</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Early tomorrow morning, look at the grass, leaves or cars near your house. Write down whether you see drops of water on them, and where you think the water came from.</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Enrolment / Present / Absent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____ / ____ / ____</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Achievement</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indent="0" marL="0">
                        <a:buNone/>
                      </a:pPr>
                      <a:r>
                        <a:rPr lang="en-US" sz="1500" dirty="0">
                          <a:solidFill>
                            <a:srgbClr val="111111"/>
                          </a:solidFill>
                          <a:latin typeface="Calibri" pitchFamily="34" charset="0"/>
                          <a:ea typeface="Calibri" pitchFamily="34" charset="-122"/>
                          <a:cs typeface="Calibri" pitchFamily="34" charset="-120"/>
                        </a:rPr>
                        <a:t>To be completed by the teacher after the lesson.</a:t>
                      </a:r>
                      <a:endParaRPr lang="en-US" sz="15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TEACHER'S NOTE</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36</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Teacher's Note</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2000" dirty="0">
                <a:solidFill>
                  <a:srgbClr val="111111"/>
                </a:solidFill>
                <a:latin typeface="Calibri" pitchFamily="34" charset="0"/>
                <a:ea typeface="Calibri" pitchFamily="34" charset="-122"/>
                <a:cs typeface="Calibri" pitchFamily="34" charset="-120"/>
              </a:rPr>
              <a:t>Timing: Set-up, recall 5 min | Situation 5 min | 3 activities 12 min | Board summary (copying) 15 min | Evaluation, homework 5 min | Logbook 5 min | Spare 3 min</a:t>
            </a:r>
            <a:endParaRPr lang="en-US" sz="20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668366" cy="777240"/>
          </a:xfrm>
          <a:prstGeom prst="rect">
            <a:avLst/>
          </a:prstGeom>
          <a:solidFill>
            <a:srgbClr val="990011"/>
          </a:solidFill>
          <a:ln w="12700">
            <a:solidFill>
              <a:srgbClr val="990011"/>
            </a:solidFill>
            <a:prstDash val="solid"/>
          </a:ln>
        </p:spPr>
      </p:sp>
      <p:sp>
        <p:nvSpPr>
          <p:cNvPr id="3" name="Text 1"/>
          <p:cNvSpPr txBox="1"/>
          <p:nvPr/>
        </p:nvSpPr>
        <p:spPr>
          <a:xfrm>
            <a:off x="274320" y="0"/>
            <a:ext cx="539496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Shape 2"/>
          <p:cNvSpPr/>
          <p:nvPr/>
        </p:nvSpPr>
        <p:spPr>
          <a:xfrm>
            <a:off x="5668366" y="0"/>
            <a:ext cx="6523330" cy="777240"/>
          </a:xfrm>
          <a:prstGeom prst="chevron">
            <a:avLst/>
          </a:prstGeom>
          <a:solidFill>
            <a:srgbClr val="1C3F6E"/>
          </a:solidFill>
          <a:ln w="12700">
            <a:solidFill>
              <a:srgbClr val="1C3F6E"/>
            </a:solidFill>
            <a:prstDash val="solid"/>
          </a:ln>
        </p:spPr>
      </p:sp>
      <p:sp>
        <p:nvSpPr>
          <p:cNvPr id="5" name="Text 3"/>
          <p:cNvSpPr txBox="1"/>
          <p:nvPr/>
        </p:nvSpPr>
        <p:spPr>
          <a:xfrm>
            <a:off x="6126480" y="0"/>
            <a:ext cx="5760720" cy="777240"/>
          </a:xfrm>
          <a:prstGeom prst="rect">
            <a:avLst/>
          </a:prstGeom>
          <a:noFill/>
          <a:ln/>
        </p:spPr>
        <p:txBody>
          <a:bodyPr wrap="square" lIns="0" tIns="0" rIns="0" bIns="0"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REFERENCES</a:t>
            </a:r>
            <a:endParaRPr lang="en-US" sz="1800" dirty="0"/>
          </a:p>
        </p:txBody>
      </p:sp>
      <p:sp>
        <p:nvSpPr>
          <p:cNvPr id="6" name="Shape 4"/>
          <p:cNvSpPr/>
          <p:nvPr/>
        </p:nvSpPr>
        <p:spPr>
          <a:xfrm>
            <a:off x="0" y="6548018"/>
            <a:ext cx="3657600" cy="310896"/>
          </a:xfrm>
          <a:prstGeom prst="rect">
            <a:avLst/>
          </a:prstGeom>
          <a:solidFill>
            <a:srgbClr val="1C3F6E"/>
          </a:solidFill>
          <a:ln w="12700">
            <a:solidFill>
              <a:srgbClr val="1C3F6E"/>
            </a:solidFill>
            <a:prstDash val="solid"/>
          </a:ln>
        </p:spPr>
      </p:sp>
      <p:sp>
        <p:nvSpPr>
          <p:cNvPr id="7" name="Text 5"/>
          <p:cNvSpPr txBox="1"/>
          <p:nvPr/>
        </p:nvSpPr>
        <p:spPr>
          <a:xfrm>
            <a:off x="137160" y="6548018"/>
            <a:ext cx="3383280" cy="310896"/>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2026 / 2027</a:t>
            </a:r>
            <a:endParaRPr lang="en-US" sz="1100" dirty="0"/>
          </a:p>
        </p:txBody>
      </p:sp>
      <p:sp>
        <p:nvSpPr>
          <p:cNvPr id="8" name="Shape 6"/>
          <p:cNvSpPr/>
          <p:nvPr/>
        </p:nvSpPr>
        <p:spPr>
          <a:xfrm>
            <a:off x="3657600" y="6548018"/>
            <a:ext cx="5852160" cy="310896"/>
          </a:xfrm>
          <a:prstGeom prst="rect">
            <a:avLst/>
          </a:prstGeom>
          <a:solidFill>
            <a:srgbClr val="B8860B"/>
          </a:solidFill>
          <a:ln w="12700">
            <a:solidFill>
              <a:srgbClr val="B8860B"/>
            </a:solidFill>
            <a:prstDash val="solid"/>
          </a:ln>
        </p:spPr>
      </p:sp>
      <p:sp>
        <p:nvSpPr>
          <p:cNvPr id="9" name="Text 7"/>
          <p:cNvSpPr txBox="1"/>
          <p:nvPr/>
        </p:nvSpPr>
        <p:spPr>
          <a:xfrm>
            <a:off x="3794760" y="6548018"/>
            <a:ext cx="5577840" cy="310896"/>
          </a:xfrm>
          <a:prstGeom prst="rect">
            <a:avLst/>
          </a:prstGeom>
          <a:noFill/>
          <a:ln/>
        </p:spPr>
        <p:txBody>
          <a:bodyPr wrap="square" lIns="0" tIns="0" rIns="0" bIns="0" rtlCol="0" anchor="ctr"/>
          <a:lstStyle/>
          <a:p>
            <a:pPr algn="ctr" indent="0" marL="0">
              <a:buNone/>
            </a:pPr>
            <a:r>
              <a:rPr lang="en-US" sz="1100" dirty="0">
                <a:solidFill>
                  <a:srgbClr val="FFFFFF"/>
                </a:solidFill>
                <a:latin typeface="Calibri" pitchFamily="34" charset="0"/>
                <a:ea typeface="Calibri" pitchFamily="34" charset="-122"/>
                <a:cs typeface="Calibri" pitchFamily="34" charset="-120"/>
              </a:rPr>
              <a:t>DGCAST GAROUA — GEOGRAPHY DEPARTMENT</a:t>
            </a:r>
            <a:endParaRPr lang="en-US" sz="1100" dirty="0"/>
          </a:p>
        </p:txBody>
      </p:sp>
      <p:sp>
        <p:nvSpPr>
          <p:cNvPr id="10" name="Shape 8"/>
          <p:cNvSpPr/>
          <p:nvPr/>
        </p:nvSpPr>
        <p:spPr>
          <a:xfrm>
            <a:off x="9509760" y="6548018"/>
            <a:ext cx="2681935" cy="310896"/>
          </a:xfrm>
          <a:prstGeom prst="rect">
            <a:avLst/>
          </a:prstGeom>
          <a:solidFill>
            <a:srgbClr val="36454F"/>
          </a:solidFill>
          <a:ln w="12700">
            <a:solidFill>
              <a:srgbClr val="36454F"/>
            </a:solidFill>
            <a:prstDash val="solid"/>
          </a:ln>
        </p:spPr>
      </p:sp>
      <p:sp>
        <p:nvSpPr>
          <p:cNvPr id="11" name="Text 9"/>
          <p:cNvSpPr txBox="1"/>
          <p:nvPr/>
        </p:nvSpPr>
        <p:spPr>
          <a:xfrm>
            <a:off x="9601200" y="6548018"/>
            <a:ext cx="2514600" cy="310896"/>
          </a:xfrm>
          <a:prstGeom prst="rect">
            <a:avLst/>
          </a:prstGeom>
          <a:noFill/>
          <a:ln/>
        </p:spPr>
        <p:txBody>
          <a:bodyPr wrap="square" lIns="0" tIns="0" rIns="0" bIns="0" rtlCol="0" anchor="ctr"/>
          <a:lstStyle/>
          <a:p>
            <a:pPr algn="r" indent="0" marL="0">
              <a:buNone/>
            </a:pPr>
            <a:r>
              <a:rPr lang="en-US" sz="1100" dirty="0">
                <a:solidFill>
                  <a:srgbClr val="FFFFFF"/>
                </a:solidFill>
                <a:latin typeface="Calibri" pitchFamily="34" charset="0"/>
                <a:ea typeface="Calibri" pitchFamily="34" charset="-122"/>
                <a:cs typeface="Calibri" pitchFamily="34" charset="-120"/>
              </a:rPr>
              <a:t>Mr KAMDEM E.   |   37</a:t>
            </a:r>
            <a:endParaRPr lang="en-US" sz="1100" dirty="0"/>
          </a:p>
        </p:txBody>
      </p:sp>
      <p:sp>
        <p:nvSpPr>
          <p:cNvPr id="12" name="Text 10"/>
          <p:cNvSpPr txBox="1"/>
          <p:nvPr/>
        </p:nvSpPr>
        <p:spPr>
          <a:xfrm>
            <a:off x="457200" y="896112"/>
            <a:ext cx="11274552" cy="777240"/>
          </a:xfrm>
          <a:prstGeom prst="rect">
            <a:avLst/>
          </a:prstGeom>
          <a:noFill/>
          <a:ln/>
        </p:spPr>
        <p:txBody>
          <a:bodyPr wrap="square" lIns="0" tIns="0" rIns="0" bIns="0" rtlCol="0" anchor="ctr"/>
          <a:lstStyle/>
          <a:p>
            <a:pPr algn="ctr" indent="0" marL="0">
              <a:buNone/>
            </a:pPr>
            <a:r>
              <a:rPr lang="en-US" sz="3000" b="1" dirty="0">
                <a:solidFill>
                  <a:srgbClr val="990011"/>
                </a:solidFill>
                <a:latin typeface="Cambria" pitchFamily="34" charset="0"/>
                <a:ea typeface="Cambria" pitchFamily="34" charset="-122"/>
                <a:cs typeface="Cambria" pitchFamily="34" charset="-120"/>
              </a:rPr>
              <a:t>References</a:t>
            </a:r>
            <a:endParaRPr lang="en-US" sz="3000" dirty="0"/>
          </a:p>
        </p:txBody>
      </p:sp>
      <p:sp>
        <p:nvSpPr>
          <p:cNvPr id="13" name="Text 11"/>
          <p:cNvSpPr txBox="1"/>
          <p:nvPr/>
        </p:nvSpPr>
        <p:spPr>
          <a:xfrm>
            <a:off x="457200" y="1783080"/>
            <a:ext cx="11274552" cy="4663440"/>
          </a:xfrm>
          <a:prstGeom prst="rect">
            <a:avLst/>
          </a:prstGeom>
          <a:noFill/>
          <a:ln/>
        </p:spPr>
        <p:txBody>
          <a:bodyPr wrap="square" lIns="0" tIns="0" rIns="0" bIns="0" rtlCol="0" anchor="t"/>
          <a:lstStyle/>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1: “Bright Blue Home” by Clav, CC BY-NC-SA 2.0, via Flickr (https://www.flickr.com/photos/37005711@N00/2797194021)</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2: “Windsock” by Wajahat Mahmood, CC BY-SA 2.0, via Flickr (https://www.flickr.com/photos/26116471@N03/6613272897)</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Photo, Activity 3: “Aneroid Barometer, with dial designed by Sir Napier Shaw, 1914” by Negretti &amp; Zambra; Shaw, Sir Napier, CC BY-NC-SA 4.0, via sciencemuseum (https://collection.sciencemuseumgroup.org.uk/objects/co54459/aneroid-barometer-with-dial-designed-by-sir-napier-shaw-1914)</a:t>
            </a:r>
            <a:endParaRPr lang="en-US" sz="1800" dirty="0"/>
          </a:p>
          <a:p>
            <a:pPr indent="0" marL="0">
              <a:lnSpc>
                <a:spcPct val="100000"/>
              </a:lnSpc>
              <a:spcAft>
                <a:spcPts val="800"/>
              </a:spcAft>
              <a:buNone/>
            </a:pPr>
            <a:r>
              <a:rPr lang="en-US" sz="1800" dirty="0">
                <a:solidFill>
                  <a:srgbClr val="111111"/>
                </a:solidFill>
                <a:latin typeface="Calibri" pitchFamily="34" charset="0"/>
                <a:ea typeface="Calibri" pitchFamily="34" charset="-122"/>
                <a:cs typeface="Calibri" pitchFamily="34" charset="-120"/>
              </a:rPr>
              <a:t>Diagrams and animations: drawn for this lesson (DGCAST Geography Department).</a:t>
            </a:r>
            <a:endParaRPr lang="en-US" sz="1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2026-09-26T10:44:23Z</dcterms:created>
  <dcterms:modified xsi:type="dcterms:W3CDTF">2026-09-26T10:44:23Z</dcterms:modified>
</cp:coreProperties>
</file>