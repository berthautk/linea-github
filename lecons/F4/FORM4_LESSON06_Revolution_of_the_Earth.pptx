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Lst>
  <p:notesMasterIdLst>
    <p:notesMasterId r:id="rId48"/>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notesMaster" Target="notesMasters/notesMaster1.xml"/><Relationship Id="rId49" Type="http://schemas.openxmlformats.org/officeDocument/2006/relationships/presProps" Target="presProps.xml"/><Relationship Id="rId50" Type="http://schemas.openxmlformats.org/officeDocument/2006/relationships/viewProps" Target="viewProps.xml"/><Relationship Id="rId51" Type="http://schemas.openxmlformats.org/officeDocument/2006/relationships/theme" Target="theme/theme1.xml"/><Relationship Id="rId52"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morning, class, and welcome to our geography lesson. I am your geography teacher, Mr Kamdem. Today we are starting Lesson 6: The Revolution of the Earth.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lesson is for Form 4. It belongs to The Earth as a Planet in the Solar System — Location and Time. We shall need 50 minutes to cover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topic is The Earth as a Planet in the Solar System, and the sub-topic is Location and Time. The key notions we shall use today are: orbit, equinox, solstice, leap year, seasons. At the end, you should be able to do this: learners are able to explain the change of seasons and of day length during the year, and to plan activities such as farming with the calendar.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Before we start the new lesson, let us correct the homework I gave you at the end of Lesson 5: The Rotation of the Earth. The question was: Ask an elder in which months the rainy season and the dry season start in Garoua. Write the months down. Take out your exercise books.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a good answer. In Garoua the rainy season starts around April–May and the dry season around October–November. Compare it with your own answer and correct your work in red.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plan of our lesson today. First, we shall correct the homework. Then we shall look at the objectives and recall what you already know. After that, we shall study a situation from real life and the action to take, and do the learning activities. Finally, we shall copy the board summary, do the evaluation and the remediation, and I will give you the homework.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Take your time to copy this part; we will continue together.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By the end of this lesson, you should be able to do three things. Number 1: define revolution and the orbit of the Earth. Number 2: illustrate the revolution with equinoxes and solstices. Number 3: explain the effects of revolution.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first remember what you already know. Rotation is the turning of the Earth on its axis in about 24 hours. Rotation causes day and night. The axis of the Earth is tilted at 23½°. Keep this in mind, because we shall build on it today.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Listen carefully to this situation from real life. In September, it is the rainy season in Garoua and the Benue is full. In December and January, the dry Harmattan season comes. Salamatou wonders what causes this change every year. Think about it, because I am going to ask you some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1: What is the problem in the situation?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Salamatou does not know why the seasons change.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2: Name the two seasons of Garoua.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The rainy season and the dry season.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3: Which movement of the Earth causes the seasons?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The revolution of the Earth around the Sun.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From this situation, the action we are working towards in this lesson is the following: plan farm work according to the seasons caused by revolution.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Why is this lesson important for you? This lesson helps us to understand the seasons and the year.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1. Look carefully at this animation: animation: the Earth moves around the Sun. Watch the animation to the end; it will play again.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1: How long does the Earth take to go once around the Sun?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365¼ days: one year.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2. Look carefully at this diagram: where the Sun is overhead at midday during the year.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2: Where is the Sun overhead on 21 June? And on 22 December?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21 June: Tropic of Cancer. 22 December: Tropic of Capricorn.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3. Look carefully at this picture: a farmer plants seeds when the rains begin.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3: In June, the Sun is overhead north of the Equator. What season does Garoua have?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The rainy season.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we are going to copy the board summary. Write the title and the headings neatly in your notebooks. I will give you enough time for each slide, so do not rush.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Meaning of Revolution. The revolution of the Earth is explained as follows. On this slide we have Revolution and Orbit.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Equinoxes and Solstices. The overhead Sun moves as follows during the year. On this slide we have Equinoxes and June solstice.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Equinoxes and Solstices. On this slide we have December solstice.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draw this illustration in your notebook: the overhead Sun during the year. Give it a title and label it clearly.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Effects of Revolution. The revolution of the Earth has the following effects. On this slide we have Seasons and Length of day.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Effects of Revolution. On this slide we have The year and leap year.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let us check what you have understood. Question 1: How long does one revolution take? Answer in your exercise 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expected answer is: 365¼ days. If you got it right, well done.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let us check what you have understood. Question 2: Where is the Sun overhead on 21 March? Answer in your exercise 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expected answer is: at the Equator. If you got it right, well done.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those who need more practice, fill in the blanks in your exercise book. The answers are: number 1, revolution; number 2, Cancer; number 3, leap.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your homework: Cut an orange, an onion or an egg in half. Draw what you see inside and name its layers. We shall correct it at the beginning of our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next lesson will be on Lesson 7: The Internal Structure of the Earth. Thank you for your attention, and see you next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play the bilingual game. I say a word in English, and you give me the French word. Then we do the reverse.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record this information in the official logbook of the class after the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complete the second page of the logbook: the matter taught, the evaluation, the homework and the attendance.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is for me, the teacher: it gives the timing of the lesson and what to do if the projector is not available.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the references and picture credits used to prepare this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image-1003-1.pn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LESSON">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640080" cy="658368"/>
          </a:xfrm>
          <a:prstGeom prst="rect">
            <a:avLst/>
          </a:prstGeom>
          <a:solidFill>
            <a:srgbClr val="990011"/>
          </a:solidFill>
          <a:ln w="12700">
            <a:solidFill>
              <a:srgbClr val="990011"/>
            </a:solidFill>
            <a:prstDash val="solid"/>
          </a:ln>
        </p:spPr>
      </p:sp>
      <p:sp>
        <p:nvSpPr>
          <p:cNvPr id="3" name="Text 1"/>
          <p:cNvSpPr/>
          <p:nvPr/>
        </p:nvSpPr>
        <p:spPr>
          <a:xfrm>
            <a:off x="640080" y="0"/>
            <a:ext cx="4754880" cy="658368"/>
          </a:xfrm>
          <a:prstGeom prst="homePlate">
            <a:avLst/>
          </a:prstGeom>
          <a:solidFill>
            <a:srgbClr val="990011"/>
          </a:solidFill>
          <a:ln>
            <a:solidFill>
              <a:srgbClr val="990011"/>
            </a:solid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GEOGRAPHY / FORM 4</a:t>
            </a:r>
            <a:endParaRPr lang="en-US" sz="1800" dirty="0"/>
          </a:p>
        </p:txBody>
      </p:sp>
      <p:sp>
        <p:nvSpPr>
          <p:cNvPr id="4" name="Text 2"/>
          <p:cNvSpPr/>
          <p:nvPr/>
        </p:nvSpPr>
        <p:spPr>
          <a:xfrm>
            <a:off x="5212080" y="0"/>
            <a:ext cx="6979615" cy="658368"/>
          </a:xfrm>
          <a:prstGeom prst="chevron">
            <a:avLst/>
          </a:prstGeom>
          <a:solidFill>
            <a:srgbClr val="1C3F6E"/>
          </a:solidFill>
          <a:ln>
            <a:solidFill>
              <a:srgbClr val="1C3F6E"/>
            </a:solid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LESSON 6: THE REVOLUTION OF THE EARTH</a:t>
            </a:r>
            <a:endParaRPr lang="en-US" sz="1600" dirty="0"/>
          </a:p>
        </p:txBody>
      </p:sp>
      <p:sp>
        <p:nvSpPr>
          <p:cNvPr id="5" name="Shape 3"/>
          <p:cNvSpPr/>
          <p:nvPr/>
        </p:nvSpPr>
        <p:spPr>
          <a:xfrm>
            <a:off x="0" y="6492240"/>
            <a:ext cx="2743200" cy="365760"/>
          </a:xfrm>
          <a:prstGeom prst="rect">
            <a:avLst/>
          </a:prstGeom>
          <a:solidFill>
            <a:srgbClr val="1C3F6E"/>
          </a:solidFill>
          <a:ln w="12700">
            <a:solidFill>
              <a:srgbClr val="1C3F6E"/>
            </a:solidFill>
            <a:prstDash val="solid"/>
          </a:ln>
        </p:spPr>
      </p:sp>
      <p:sp>
        <p:nvSpPr>
          <p:cNvPr id="6" name="Text 4"/>
          <p:cNvSpPr/>
          <p:nvPr/>
        </p:nvSpPr>
        <p:spPr>
          <a:xfrm>
            <a:off x="137160" y="6492240"/>
            <a:ext cx="2560320" cy="36576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Date: 2026 / 2027</a:t>
            </a:r>
            <a:endParaRPr lang="en-US" sz="1300" dirty="0"/>
          </a:p>
        </p:txBody>
      </p:sp>
      <p:sp>
        <p:nvSpPr>
          <p:cNvPr id="7" name="Shape 5"/>
          <p:cNvSpPr/>
          <p:nvPr/>
        </p:nvSpPr>
        <p:spPr>
          <a:xfrm>
            <a:off x="2743200" y="6492240"/>
            <a:ext cx="6035040" cy="365760"/>
          </a:xfrm>
          <a:prstGeom prst="rect">
            <a:avLst/>
          </a:prstGeom>
          <a:solidFill>
            <a:srgbClr val="B8860B"/>
          </a:solidFill>
          <a:ln w="12700">
            <a:solidFill>
              <a:srgbClr val="B8860B"/>
            </a:solidFill>
            <a:prstDash val="solid"/>
          </a:ln>
        </p:spPr>
      </p:sp>
      <p:sp>
        <p:nvSpPr>
          <p:cNvPr id="8" name="Text 6"/>
          <p:cNvSpPr/>
          <p:nvPr/>
        </p:nvSpPr>
        <p:spPr>
          <a:xfrm>
            <a:off x="2834640" y="6492240"/>
            <a:ext cx="58521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Copyright MINESEC  —  HOD – DGCAST-GAROUA</a:t>
            </a:r>
            <a:endParaRPr lang="en-US" sz="1300" dirty="0"/>
          </a:p>
        </p:txBody>
      </p:sp>
      <p:sp>
        <p:nvSpPr>
          <p:cNvPr id="9" name="Shape 7"/>
          <p:cNvSpPr/>
          <p:nvPr/>
        </p:nvSpPr>
        <p:spPr>
          <a:xfrm>
            <a:off x="8778240" y="6492240"/>
            <a:ext cx="3413455" cy="365760"/>
          </a:xfrm>
          <a:prstGeom prst="rect">
            <a:avLst/>
          </a:prstGeom>
          <a:solidFill>
            <a:srgbClr val="36454F"/>
          </a:solidFill>
          <a:ln w="12700">
            <a:solidFill>
              <a:srgbClr val="36454F"/>
            </a:solidFill>
            <a:prstDash val="solid"/>
          </a:ln>
        </p:spPr>
      </p:sp>
      <p:sp>
        <p:nvSpPr>
          <p:cNvPr id="10" name="Text 8"/>
          <p:cNvSpPr/>
          <p:nvPr/>
        </p:nvSpPr>
        <p:spPr>
          <a:xfrm>
            <a:off x="8869680" y="6492240"/>
            <a:ext cx="3200400" cy="365760"/>
          </a:xfrm>
          <a:prstGeom prst="rect">
            <a:avLst/>
          </a:prstGeom>
          <a:noFill/>
          <a:ln/>
        </p:spPr>
        <p:txBody>
          <a:bodyPr wrap="square" lIns="0" tIns="0" rIns="0" bIns="0" rtlCol="0" anchor="ctr"/>
          <a:lstStyle/>
          <a:p>
            <a:pPr algn="r" indent="0" marL="0">
              <a:buNone/>
            </a:pPr>
            <a:r>
              <a:rPr lang="en-US" sz="1300" dirty="0">
                <a:solidFill>
                  <a:srgbClr val="FFFFFF"/>
                </a:solidFill>
                <a:latin typeface="Calibri" pitchFamily="34" charset="0"/>
                <a:ea typeface="Calibri" pitchFamily="34" charset="-122"/>
                <a:cs typeface="Calibri" pitchFamily="34" charset="-120"/>
              </a:rPr>
              <a:t>Mr KAMDEM E.  —  Geography</a:t>
            </a:r>
            <a:endParaRPr lang="en-US" sz="13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VER">
    <p:bg>
      <p:bgPr>
        <a:solidFill>
          <a:srgbClr val="FFFFFF"/>
        </a:solidFill>
      </p:bgPr>
    </p:bg>
    <p:spTree>
      <p:nvGrpSpPr>
        <p:cNvPr id="1" name=""/>
        <p:cNvGrpSpPr/>
        <p:nvPr/>
      </p:nvGrpSpPr>
      <p:grpSpPr>
        <a:xfrm>
          <a:off x="0" y="0"/>
          <a:ext cx="0" cy="0"/>
          <a:chOff x="0" y="0"/>
          <a:chExt cx="0" cy="0"/>
        </a:xfrm>
      </p:grpSpPr>
      <p:pic>
        <p:nvPicPr>
          <p:cNvPr id="2" name="Image 0" descr="/home/claude/f4/img/minesec_sheet.png">    </p:cNvPr>
          <p:cNvPicPr>
            <a:picLocks noChangeAspect="1"/>
          </p:cNvPicPr>
          <p:nvPr/>
        </p:nvPicPr>
        <p:blipFill>
          <a:blip r:embed="rId1"/>
          <a:stretch>
            <a:fillRect/>
          </a:stretch>
        </p:blipFill>
        <p:spPr>
          <a:xfrm>
            <a:off x="0" y="0"/>
            <a:ext cx="5888736" cy="6492240"/>
          </a:xfrm>
          <a:prstGeom prst="rect">
            <a:avLst/>
          </a:prstGeom>
        </p:spPr>
      </p:pic>
      <p:sp>
        <p:nvSpPr>
          <p:cNvPr id="3" name="Text 0"/>
          <p:cNvSpPr/>
          <p:nvPr/>
        </p:nvSpPr>
        <p:spPr>
          <a:xfrm>
            <a:off x="6126480" y="502920"/>
            <a:ext cx="5760720" cy="822960"/>
          </a:xfrm>
          <a:prstGeom prst="rect">
            <a:avLst/>
          </a:prstGeom>
          <a:noFill/>
          <a:ln/>
        </p:spPr>
        <p:txBody>
          <a:bodyPr wrap="square" lIns="0" tIns="0" rIns="0" bIns="0" rtlCol="0" anchor="ctr"/>
          <a:lstStyle/>
          <a:p>
            <a:pPr algn="ctr" indent="0" marL="0">
              <a:buNone/>
            </a:pPr>
            <a:r>
              <a:rPr lang="en-US" sz="4400" b="1" dirty="0">
                <a:solidFill>
                  <a:srgbClr val="1565C0"/>
                </a:solidFill>
                <a:latin typeface="Times New Roman" pitchFamily="34" charset="0"/>
                <a:ea typeface="Times New Roman" pitchFamily="34" charset="-122"/>
                <a:cs typeface="Times New Roman" pitchFamily="34" charset="-120"/>
              </a:rPr>
              <a:t>MINESEC</a:t>
            </a:r>
            <a:endParaRPr lang="en-US" sz="4400" dirty="0"/>
          </a:p>
        </p:txBody>
      </p:sp>
      <p:sp>
        <p:nvSpPr>
          <p:cNvPr id="4" name="Text 1"/>
          <p:cNvSpPr/>
          <p:nvPr/>
        </p:nvSpPr>
        <p:spPr>
          <a:xfrm>
            <a:off x="6126480" y="1325880"/>
            <a:ext cx="5760720" cy="457200"/>
          </a:xfrm>
          <a:prstGeom prst="rect">
            <a:avLst/>
          </a:prstGeom>
          <a:noFill/>
          <a:ln/>
        </p:spPr>
        <p:txBody>
          <a:bodyPr wrap="square" lIns="0" tIns="0" rIns="0" bIns="0" rtlCol="0" anchor="ctr"/>
          <a:lstStyle/>
          <a:p>
            <a:pPr algn="ctr" indent="0" marL="0">
              <a:buNone/>
            </a:pPr>
            <a:r>
              <a:rPr lang="en-US" sz="1800" b="1" dirty="0">
                <a:solidFill>
                  <a:srgbClr val="1C3F6E"/>
                </a:solidFill>
                <a:latin typeface="Calibri" pitchFamily="34" charset="0"/>
                <a:ea typeface="Calibri" pitchFamily="34" charset="-122"/>
                <a:cs typeface="Calibri" pitchFamily="34" charset="-120"/>
              </a:rPr>
              <a:t>DGCAST-GAROUA  —  GEOGRAPHY DEPARTMENT</a:t>
            </a:r>
            <a:endParaRPr lang="en-US" sz="1800" dirty="0"/>
          </a:p>
        </p:txBody>
      </p:sp>
      <p:sp>
        <p:nvSpPr>
          <p:cNvPr id="5" name="Text 2"/>
          <p:cNvSpPr/>
          <p:nvPr/>
        </p:nvSpPr>
        <p:spPr>
          <a:xfrm>
            <a:off x="6126480" y="5257800"/>
            <a:ext cx="5760720" cy="914400"/>
          </a:xfrm>
          <a:prstGeom prst="rect">
            <a:avLst/>
          </a:prstGeom>
          <a:noFill/>
          <a:ln/>
        </p:spPr>
        <p:txBody>
          <a:bodyPr wrap="square" lIns="0" tIns="0" rIns="0" bIns="0" rtlCol="0" anchor="ctr"/>
          <a:lstStyle/>
          <a:p>
            <a:pPr algn="ctr" indent="0" marL="0">
              <a:buNone/>
            </a:pPr>
            <a:r>
              <a:rPr lang="en-US" sz="2000" b="1" dirty="0">
                <a:solidFill>
                  <a:srgbClr val="111111"/>
                </a:solidFill>
                <a:latin typeface="Times New Roman" pitchFamily="34" charset="0"/>
                <a:ea typeface="Times New Roman" pitchFamily="34" charset="-122"/>
                <a:cs typeface="Times New Roman" pitchFamily="34" charset="-120"/>
              </a:rPr>
              <a:t>KAMDEM Emmanuel Berthaut</a:t>
            </a:r>
            <a:endParaRPr lang="en-US" sz="2000" dirty="0"/>
          </a:p>
          <a:p>
            <a:pPr algn="ctr" indent="0" marL="0">
              <a:buNone/>
            </a:pPr>
            <a:r>
              <a:rPr lang="en-US" sz="2000" b="1" dirty="0">
                <a:solidFill>
                  <a:srgbClr val="111111"/>
                </a:solidFill>
                <a:latin typeface="Times New Roman" pitchFamily="34" charset="0"/>
                <a:ea typeface="Times New Roman" pitchFamily="34" charset="-122"/>
                <a:cs typeface="Times New Roman" pitchFamily="34" charset="-120"/>
              </a:rPr>
              <a:t>Geography Teacher</a:t>
            </a:r>
            <a:endParaRPr lang="en-US" sz="2000" dirty="0"/>
          </a:p>
        </p:txBody>
      </p:sp>
      <p:sp>
        <p:nvSpPr>
          <p:cNvPr id="6" name="Shape 3"/>
          <p:cNvSpPr/>
          <p:nvPr/>
        </p:nvSpPr>
        <p:spPr>
          <a:xfrm>
            <a:off x="0" y="6492240"/>
            <a:ext cx="2743200" cy="365760"/>
          </a:xfrm>
          <a:prstGeom prst="rect">
            <a:avLst/>
          </a:prstGeom>
          <a:solidFill>
            <a:srgbClr val="1C3F6E"/>
          </a:solidFill>
          <a:ln w="12700">
            <a:solidFill>
              <a:srgbClr val="1C3F6E"/>
            </a:solidFill>
            <a:prstDash val="solid"/>
          </a:ln>
        </p:spPr>
      </p:sp>
      <p:sp>
        <p:nvSpPr>
          <p:cNvPr id="7" name="Text 4"/>
          <p:cNvSpPr/>
          <p:nvPr/>
        </p:nvSpPr>
        <p:spPr>
          <a:xfrm>
            <a:off x="137160" y="6492240"/>
            <a:ext cx="2560320" cy="36576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Date: 2026 / 2027</a:t>
            </a:r>
            <a:endParaRPr lang="en-US" sz="1300" dirty="0"/>
          </a:p>
        </p:txBody>
      </p:sp>
      <p:sp>
        <p:nvSpPr>
          <p:cNvPr id="8" name="Shape 5"/>
          <p:cNvSpPr/>
          <p:nvPr/>
        </p:nvSpPr>
        <p:spPr>
          <a:xfrm>
            <a:off x="2743200" y="6492240"/>
            <a:ext cx="6035040" cy="365760"/>
          </a:xfrm>
          <a:prstGeom prst="rect">
            <a:avLst/>
          </a:prstGeom>
          <a:solidFill>
            <a:srgbClr val="B8860B"/>
          </a:solidFill>
          <a:ln w="12700">
            <a:solidFill>
              <a:srgbClr val="B8860B"/>
            </a:solidFill>
            <a:prstDash val="solid"/>
          </a:ln>
        </p:spPr>
      </p:sp>
      <p:sp>
        <p:nvSpPr>
          <p:cNvPr id="9" name="Text 6"/>
          <p:cNvSpPr/>
          <p:nvPr/>
        </p:nvSpPr>
        <p:spPr>
          <a:xfrm>
            <a:off x="2834640" y="6492240"/>
            <a:ext cx="58521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Copyright MINESEC  —  HOD – DGCAST-GAROUA</a:t>
            </a:r>
            <a:endParaRPr lang="en-US" sz="1300" dirty="0"/>
          </a:p>
        </p:txBody>
      </p:sp>
      <p:sp>
        <p:nvSpPr>
          <p:cNvPr id="10" name="Shape 7"/>
          <p:cNvSpPr/>
          <p:nvPr/>
        </p:nvSpPr>
        <p:spPr>
          <a:xfrm>
            <a:off x="8778240" y="6492240"/>
            <a:ext cx="3413455" cy="365760"/>
          </a:xfrm>
          <a:prstGeom prst="rect">
            <a:avLst/>
          </a:prstGeom>
          <a:solidFill>
            <a:srgbClr val="36454F"/>
          </a:solidFill>
          <a:ln w="12700">
            <a:solidFill>
              <a:srgbClr val="36454F"/>
            </a:solidFill>
            <a:prstDash val="solid"/>
          </a:ln>
        </p:spPr>
      </p:sp>
      <p:sp>
        <p:nvSpPr>
          <p:cNvPr id="11" name="Text 8"/>
          <p:cNvSpPr/>
          <p:nvPr/>
        </p:nvSpPr>
        <p:spPr>
          <a:xfrm>
            <a:off x="8869680" y="6492240"/>
            <a:ext cx="3200400" cy="365760"/>
          </a:xfrm>
          <a:prstGeom prst="rect">
            <a:avLst/>
          </a:prstGeom>
          <a:noFill/>
          <a:ln/>
        </p:spPr>
        <p:txBody>
          <a:bodyPr wrap="square" lIns="0" tIns="0" rIns="0" bIns="0" rtlCol="0" anchor="ctr"/>
          <a:lstStyle/>
          <a:p>
            <a:pPr algn="r" indent="0" marL="0">
              <a:buNone/>
            </a:pPr>
            <a:r>
              <a:rPr lang="en-US" sz="1300" dirty="0">
                <a:solidFill>
                  <a:srgbClr val="FFFFFF"/>
                </a:solidFill>
                <a:latin typeface="Calibri" pitchFamily="34" charset="0"/>
                <a:ea typeface="Calibri" pitchFamily="34" charset="-122"/>
                <a:cs typeface="Calibri" pitchFamily="34" charset="-120"/>
              </a:rPr>
              <a:t>Mr KAMDEM E.  —  Geography</a:t>
            </a:r>
            <a:endParaRPr lang="en-US" sz="13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2.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2.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2.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2.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2.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2.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2.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2.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2.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2.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2.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2.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2.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slideLayout" Target="../slideLayouts/slideLayout2.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slideLayout" Target="../slideLayouts/slideLayout2.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gif"/><Relationship Id="rId2" Type="http://schemas.openxmlformats.org/officeDocument/2006/relationships/slideLayout" Target="../slideLayouts/slideLayout2.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slideLayout" Target="../slideLayouts/slideLayout2.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slideLayout" Target="../slideLayouts/slideLayout2.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slideLayout" Target="../slideLayouts/slideLayout2.xm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slideLayout" Target="../slideLayouts/slideLayout2.xml"/><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png"/><Relationship Id="rId2" Type="http://schemas.openxmlformats.org/officeDocument/2006/relationships/slideLayout" Target="../slideLayouts/slideLayout2.xml"/><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jpg"/><Relationship Id="rId2" Type="http://schemas.openxmlformats.org/officeDocument/2006/relationships/slideLayout" Target="../slideLayouts/slideLayout2.xml"/><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png"/><Relationship Id="rId2" Type="http://schemas.openxmlformats.org/officeDocument/2006/relationships/slideLayout" Target="../slideLayouts/slideLayout2.xml"/><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image-27-1.png"/><Relationship Id="rId2" Type="http://schemas.openxmlformats.org/officeDocument/2006/relationships/slideLayout" Target="../slideLayouts/slideLayout2.xml"/><Relationship Id="rId3"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image-28-1.png"/><Relationship Id="rId2" Type="http://schemas.openxmlformats.org/officeDocument/2006/relationships/slideLayout" Target="../slideLayouts/slideLayout2.xml"/><Relationship Id="rId3"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image" Target="../media/image-29-1.png"/><Relationship Id="rId2" Type="http://schemas.openxmlformats.org/officeDocument/2006/relationships/slideLayout" Target="../slideLayouts/slideLayout2.xml"/><Relationship Id="rId3"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image" Target="../media/image-30-1.png"/><Relationship Id="rId2" Type="http://schemas.openxmlformats.org/officeDocument/2006/relationships/slideLayout" Target="../slideLayouts/slideLayout2.xml"/><Relationship Id="rId3"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image" Target="../media/image-31-1.png"/><Relationship Id="rId2" Type="http://schemas.openxmlformats.org/officeDocument/2006/relationships/slideLayout" Target="../slideLayouts/slideLayout2.xml"/><Relationship Id="rId3"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image" Target="../media/image-32-1.png"/><Relationship Id="rId2" Type="http://schemas.openxmlformats.org/officeDocument/2006/relationships/slideLayout" Target="../slideLayouts/slideLayout2.xml"/><Relationship Id="rId3"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image" Target="../media/image-33-1.png"/><Relationship Id="rId2" Type="http://schemas.openxmlformats.org/officeDocument/2006/relationships/slideLayout" Target="../slideLayouts/slideLayout2.xml"/><Relationship Id="rId3"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image" Target="../media/image-34-1.png"/><Relationship Id="rId2" Type="http://schemas.openxmlformats.org/officeDocument/2006/relationships/slideLayout" Target="../slideLayouts/slideLayout2.xml"/><Relationship Id="rId3"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image" Target="../media/image-35-1.png"/><Relationship Id="rId2" Type="http://schemas.openxmlformats.org/officeDocument/2006/relationships/slideLayout" Target="../slideLayouts/slideLayout2.xml"/><Relationship Id="rId3"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image" Target="../media/image-36-1.png"/><Relationship Id="rId2" Type="http://schemas.openxmlformats.org/officeDocument/2006/relationships/slideLayout" Target="../slideLayouts/slideLayout2.xml"/><Relationship Id="rId3"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image" Target="../media/image-37-1.png"/><Relationship Id="rId2" Type="http://schemas.openxmlformats.org/officeDocument/2006/relationships/slideLayout" Target="../slideLayouts/slideLayout2.xml"/><Relationship Id="rId3"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image" Target="../media/image-38-1.png"/><Relationship Id="rId2" Type="http://schemas.openxmlformats.org/officeDocument/2006/relationships/slideLayout" Target="../slideLayouts/slideLayout2.xml"/><Relationship Id="rId3"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image" Target="../media/image-39-1.png"/><Relationship Id="rId2" Type="http://schemas.openxmlformats.org/officeDocument/2006/relationships/slideLayout" Target="../slideLayouts/slideLayout2.xml"/><Relationship Id="rId3"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image" Target="../media/image-40-1.png"/><Relationship Id="rId2" Type="http://schemas.openxmlformats.org/officeDocument/2006/relationships/slideLayout" Target="../slideLayouts/slideLayout2.xml"/><Relationship Id="rId3"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image" Target="../media/image-41-1.png"/><Relationship Id="rId2" Type="http://schemas.openxmlformats.org/officeDocument/2006/relationships/slideLayout" Target="../slideLayouts/slideLayout2.xml"/><Relationship Id="rId3"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image" Target="../media/image-45-1.png"/><Relationship Id="rId2" Type="http://schemas.openxmlformats.org/officeDocument/2006/relationships/slideLayout" Target="../slideLayouts/slideLayout2.xml"/><Relationship Id="rId3"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image" Target="../media/image-46-1.png"/><Relationship Id="rId2" Type="http://schemas.openxmlformats.org/officeDocument/2006/relationships/slideLayout" Target="../slideLayouts/slideLayout2.xml"/><Relationship Id="rId3" Type="http://schemas.openxmlformats.org/officeDocument/2006/relationships/notesSlide" Target="../notesSlides/notesSlide46.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nvSpPr>
        <p:spPr>
          <a:xfrm>
            <a:off x="6126480" y="1965960"/>
            <a:ext cx="5760720" cy="1005840"/>
          </a:xfrm>
          <a:prstGeom prst="rect">
            <a:avLst/>
          </a:prstGeom>
          <a:noFill/>
          <a:ln/>
        </p:spPr>
        <p:txBody>
          <a:bodyPr wrap="square" lIns="0" tIns="0" rIns="0" bIns="0" rtlCol="0" anchor="ctr"/>
          <a:lstStyle/>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FORM 4</a:t>
            </a:r>
            <a:endParaRPr lang="en-US" sz="2600" dirty="0"/>
          </a:p>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GEOGRAPHY</a:t>
            </a:r>
            <a:endParaRPr lang="en-US" sz="2600" dirty="0"/>
          </a:p>
        </p:txBody>
      </p:sp>
      <p:sp>
        <p:nvSpPr>
          <p:cNvPr id="3" name="Text 1"/>
          <p:cNvSpPr/>
          <p:nvPr/>
        </p:nvSpPr>
        <p:spPr>
          <a:xfrm>
            <a:off x="6126480" y="3063240"/>
            <a:ext cx="5760720" cy="2103120"/>
          </a:xfrm>
          <a:prstGeom prst="rect">
            <a:avLst/>
          </a:prstGeom>
          <a:noFill/>
          <a:ln/>
        </p:spPr>
        <p:txBody>
          <a:bodyPr wrap="square" lIns="0" tIns="0" rIns="0" bIns="0" rtlCol="0" anchor="ctr">
            <a:normAutofit/>
          </a:bodyPr>
          <a:lstStyle/>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Lesson 6</a:t>
            </a:r>
            <a:endParaRPr lang="en-US" sz="2600" dirty="0"/>
          </a:p>
          <a:p>
            <a:pPr algn="ctr" indent="0" marL="0">
              <a:buNone/>
            </a:pPr>
            <a:r>
              <a:rPr lang="en-US" sz="3200" b="1" dirty="0">
                <a:solidFill>
                  <a:srgbClr val="990011"/>
                </a:solidFill>
                <a:latin typeface="Times New Roman" pitchFamily="34" charset="0"/>
                <a:ea typeface="Times New Roman" pitchFamily="34" charset="-122"/>
                <a:cs typeface="Times New Roman" pitchFamily="34" charset="-120"/>
              </a:rPr>
              <a:t>The Revolution of the Earth</a:t>
            </a:r>
            <a:endParaRPr lang="en-US" sz="26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CLASS INFO</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Class, Chapter and Duration</a:t>
            </a:r>
            <a:endParaRPr lang="en-US" sz="3600" dirty="0"/>
          </a:p>
        </p:txBody>
      </p:sp>
      <p:graphicFrame>
        <p:nvGraphicFramePr>
          <p:cNvPr id="3"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2377440"/>
                <a:gridCol w="8897112"/>
              </a:tblGrid>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Class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Form 4</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Chapter</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The Earth as a Planet in the Solar System — Location and Time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Duration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50 minutes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IDENTIFICATION</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Lesson Identification</a:t>
            </a:r>
            <a:endParaRPr lang="en-US" sz="36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2377440"/>
                <a:gridCol w="8897112"/>
              </a:tblGrid>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Topic</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The Earth as a Planet in the Solar System</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Sub-topic</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Location and Time</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Lesson</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Lesson 6: The Revolution of the Earth</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Notions / Concepts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Orbit, equinox, solstice, leap year, seasons.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Syllabus focus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Revolution: meaning, illustration and effects (notions of equinox, solstice and orbit).</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Competence</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Learners are able to explain the change of seasons and of day length during the year, and to plan activities such as farming with the calendar.</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 CORRECTION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Correction of the Homework</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C3F6E"/>
                </a:solidFill>
                <a:latin typeface="Times New Roman" pitchFamily="34" charset="0"/>
                <a:ea typeface="Times New Roman" pitchFamily="34" charset="-122"/>
                <a:cs typeface="Times New Roman" pitchFamily="34" charset="-120"/>
              </a:rPr>
              <a:t>Question (Lesson 5: The Rotation of the Earth):</a:t>
            </a:r>
            <a:endParaRPr lang="en-US" sz="4000" dirty="0"/>
          </a:p>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Ask an elder in which months the rainy season and the dry season start in Garoua. Write the months down.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 CORRECTION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Correction: Possible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In Garoua the rainy season starts around April–May and the dry season around October–November.</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LESSON PLAN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Lesson Plan</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Correction of the homework</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Objectives and recall</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Real-life situation and action to take</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Learning activities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Board summary</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Evaluation, remediation and homework</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OBJECTIVES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Objectives</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By the end of this lesson, you should be able to:</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Define revolution and the orbit of the Earth.</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Illustrate the revolution with equinoxes and solstices.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OBJECTIVES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Objectives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Explain the effects of revolution.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PREVIOUS KNOWLEDGE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Previous Knowledge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Rotation is the turning of the Earth on its axis in about 24 hours.</a:t>
            </a:r>
            <a:endParaRPr lang="en-US" sz="4000" dirty="0"/>
          </a:p>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Rotation causes day and night.</a:t>
            </a:r>
            <a:endParaRPr lang="en-US" sz="4000" dirty="0"/>
          </a:p>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The axis of the Earth is tilted at 23½°.</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in Real Life</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In September, it is the rainy season in Garoua and the Benue is full. In December and January, the dry Harmattan season comes. Salamatou wonders what causes this change every year.</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1</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is the problem in the situation?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Salamatou does not know why the seasons change.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2</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Name the two seasons of Garoua.</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rainy season and the dry season.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3</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Which movement of the Earth causes the seasons?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Possible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revolution of the Earth around the Sun.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ACTION TO TAKE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Action to Take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Plan farm work according to the seasons caused by revolution.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JUSTIFICATION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Justification of the Lesson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This lesson helps us to understand the seasons and the year.</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MEANING OF REVOLUTION</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a:t>
            </a:r>
            <a:endParaRPr lang="en-US" sz="3600" dirty="0"/>
          </a:p>
        </p:txBody>
      </p:sp>
      <p:pic>
        <p:nvPicPr>
          <p:cNvPr id="4" name="Image 0" descr="/home/claude/f4/img/v2/revolution.gif">    </p:cNvPr>
          <p:cNvPicPr>
            <a:picLocks noChangeAspect="1"/>
          </p:cNvPicPr>
          <p:nvPr/>
        </p:nvPicPr>
        <p:blipFill>
          <a:blip r:embed="rId1"/>
          <a:stretch>
            <a:fillRect/>
          </a:stretch>
        </p:blipFill>
        <p:spPr>
          <a:xfrm>
            <a:off x="629930" y="1783080"/>
            <a:ext cx="1093183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Animation: the Earth moves around the Sun.</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MEANING OF REVOLUTION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How long does the Earth take to go once around the Sun?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MEANING OF REVOLUTION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365¼ days: one year.</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EQUINOXES AND SOLSTICES</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a:t>
            </a:r>
            <a:endParaRPr lang="en-US" sz="3600" dirty="0"/>
          </a:p>
        </p:txBody>
      </p:sp>
      <p:pic>
        <p:nvPicPr>
          <p:cNvPr id="4" name="Image 0" descr="/home/claude/f4/img/v2/overhead_sun_big.png">    </p:cNvPr>
          <p:cNvPicPr>
            <a:picLocks noChangeAspect="1"/>
          </p:cNvPicPr>
          <p:nvPr/>
        </p:nvPicPr>
        <p:blipFill>
          <a:blip r:embed="rId1"/>
          <a:stretch>
            <a:fillRect/>
          </a:stretch>
        </p:blipFill>
        <p:spPr>
          <a:xfrm>
            <a:off x="629930" y="1783080"/>
            <a:ext cx="1093183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Where the Sun is overhead at midday during the year.</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EQUINOXES AND SOLSTICES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Where is the Sun overhead on 21 June? And on 22 December?</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EQUINOXES AND SOLSTICES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21 June: Tropic of Cancer. 22 December: Tropic of Capricorn.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EFFECTS OF REVOLUTION</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a:t>
            </a:r>
            <a:endParaRPr lang="en-US" sz="3600" dirty="0"/>
          </a:p>
        </p:txBody>
      </p:sp>
      <p:pic>
        <p:nvPicPr>
          <p:cNvPr id="4" name="Image 0" descr="/home/claude/f4/img/v2/f4_rainyseason.jpg">    </p:cNvPr>
          <p:cNvPicPr>
            <a:picLocks noChangeAspect="1"/>
          </p:cNvPicPr>
          <p:nvPr/>
        </p:nvPicPr>
        <p:blipFill>
          <a:blip r:embed="rId1"/>
          <a:stretch>
            <a:fillRect/>
          </a:stretch>
        </p:blipFill>
        <p:spPr>
          <a:xfrm>
            <a:off x="2250369" y="1783080"/>
            <a:ext cx="7690957"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A farmer plants seeds when the rains begin.</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25</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EFFECTS OF REVOLUTION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In June, the Sun is overhead north of the Equator. What season does Garoua have?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26</a:t>
            </a:fld>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EFFECTS OF REVOLUTION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rainy season.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27</a:t>
            </a:fld>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Board Summary</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Topic: The Earth as a Planet in the Solar System</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Sub-topic: Location and Time</a:t>
            </a:r>
            <a:endParaRPr lang="en-US" sz="4000" dirty="0"/>
          </a:p>
          <a:p>
            <a:pPr algn="l" indent="0" marL="0">
              <a:spcAft>
                <a:spcPts val="800"/>
              </a:spcAft>
              <a:buNone/>
            </a:pPr>
            <a:r>
              <a:rPr lang="en-US" sz="4000" b="1" dirty="0">
                <a:solidFill>
                  <a:srgbClr val="990011"/>
                </a:solidFill>
                <a:latin typeface="Times New Roman" pitchFamily="34" charset="0"/>
                <a:ea typeface="Times New Roman" pitchFamily="34" charset="-122"/>
                <a:cs typeface="Times New Roman" pitchFamily="34" charset="-120"/>
              </a:rPr>
              <a:t>Lesson 6: The Revolution of the Earth</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28</a:t>
            </a:fld>
            <a:endParaRPr 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Meaning of Revolution</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The revolution of the Earth is explained as follows: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Revolution: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is the movement of the Earth around the Sun along its orbit.</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Orbit: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is the oval path of the Earth around the Sun, which takes 365¼ days.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29</a:t>
            </a:fld>
            <a:endParaRPr lang="en-US"/>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Equinoxes and Solstices</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The overhead Sun moves as follows during the year:</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Equinoxes: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On 21 March and 23 September, the Sun is overhead at the Equator and day and night are equal everywhere.</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June solstice: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On 21 June, the Sun is overhead at the Tropic of Cancer.</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30</a:t>
            </a:fld>
            <a:endParaRPr lang="en-US"/>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Equinoxes and Solstices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December solstice: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On 22 December, the Sun is overhead at the Tropic of Capricorn.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31</a:t>
            </a:fld>
            <a:endParaRPr lang="en-US"/>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Equinoxes and Solstices</a:t>
            </a:r>
            <a:endParaRPr lang="en-US" sz="3600" dirty="0"/>
          </a:p>
        </p:txBody>
      </p:sp>
      <p:pic>
        <p:nvPicPr>
          <p:cNvPr id="4" name="Image 0" descr="/home/claude/f4/img/v2/overhead_sun_big.png">    </p:cNvPr>
          <p:cNvPicPr>
            <a:picLocks noChangeAspect="1"/>
          </p:cNvPicPr>
          <p:nvPr/>
        </p:nvPicPr>
        <p:blipFill>
          <a:blip r:embed="rId1"/>
          <a:stretch>
            <a:fillRect/>
          </a:stretch>
        </p:blipFill>
        <p:spPr>
          <a:xfrm>
            <a:off x="629930" y="1783080"/>
            <a:ext cx="1093183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Illustration: the overhead Sun during the year</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32</a:t>
            </a:fld>
            <a:endParaRPr lang="en-US"/>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1463040" cy="5833872"/>
          </a:xfrm>
          <a:prstGeom prst="rect">
            <a:avLst/>
          </a:prstGeom>
        </p:spPr>
      </p:pic>
      <p:sp>
        <p:nvSpPr>
          <p:cNvPr id="4" name="Text 1"/>
          <p:cNvSpPr/>
          <p:nvPr/>
        </p:nvSpPr>
        <p:spPr>
          <a:xfrm>
            <a:off x="1691640" y="1005840"/>
            <a:ext cx="101800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3. Effects of Revolution</a:t>
            </a:r>
            <a:endParaRPr lang="en-US" sz="3600" dirty="0"/>
          </a:p>
        </p:txBody>
      </p:sp>
      <p:sp>
        <p:nvSpPr>
          <p:cNvPr id="5" name="Text 2"/>
          <p:cNvSpPr/>
          <p:nvPr/>
        </p:nvSpPr>
        <p:spPr>
          <a:xfrm>
            <a:off x="1691640" y="1783080"/>
            <a:ext cx="1018001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The revolution of the Earth has the following effects: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Seasons: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Revolution causes the seasons, such as the rainy and dry seasons in Garoua.</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Length of day: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length of day and night changes during the year away from the Equator.</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33</a:t>
            </a:fld>
            <a:endParaRPr lang="en-US"/>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3. Effects of Revolution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The year and leap year: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A year has 365 days, and every fourth year is a leap year of 366 days.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34</a:t>
            </a:fld>
            <a:endParaRPr lang="en-US"/>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Evaluation 1</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How long does one revolution take?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35</a:t>
            </a:fld>
            <a:endParaRPr lang="en-US"/>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Expected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365¼ days.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36</a:t>
            </a:fld>
            <a:endParaRPr lang="en-US"/>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Evaluation 2</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Where is the Sun overhead on 21 March?</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37</a:t>
            </a:fld>
            <a:endParaRPr lang="en-US"/>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Expected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At the Equator.</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38</a:t>
            </a:fld>
            <a:endParaRPr lang="en-US"/>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REMEDIATION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Remediation</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Fill in the blanks: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The movement of the Earth around the Sun is ______.</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On 21 June, the Sun is overhead at the Tropic of ______.</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A year of 366 days is a ______ year.</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39</a:t>
            </a:fld>
            <a:endParaRPr lang="en-US"/>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Homework</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Cut an orange, an onion or an egg in half. Draw what you see inside and name its layers.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40</a:t>
            </a:fld>
            <a:endParaRPr lang="en-US"/>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NEXT LESSON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Next Lesson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ctr"/>
          <a:lstStyle/>
          <a:p>
            <a:pPr algn="ctr"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Our next lesson will be on:</a:t>
            </a:r>
            <a:endParaRPr lang="en-US" sz="4000" dirty="0"/>
          </a:p>
          <a:p>
            <a:pPr algn="ctr" indent="0" marL="0">
              <a:spcAft>
                <a:spcPts val="800"/>
              </a:spcAft>
              <a:buNone/>
            </a:pPr>
            <a:r>
              <a:rPr lang="en-US" sz="4000" b="1" dirty="0">
                <a:solidFill>
                  <a:srgbClr val="990011"/>
                </a:solidFill>
                <a:latin typeface="Times New Roman" pitchFamily="34" charset="0"/>
                <a:ea typeface="Times New Roman" pitchFamily="34" charset="-122"/>
                <a:cs typeface="Times New Roman" pitchFamily="34" charset="-120"/>
              </a:rPr>
              <a:t>Lesson 7: The Internal Structure of the Earth</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41</a:t>
            </a:fld>
            <a:endParaRPr lang="en-US"/>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BILINGUAL GAME</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Bilingual Game (Jeu Bilingue)</a:t>
            </a:r>
            <a:endParaRPr lang="en-US" sz="3600" dirty="0"/>
          </a:p>
        </p:txBody>
      </p:sp>
      <p:graphicFrame>
        <p:nvGraphicFramePr>
          <p:cNvPr id="43" name="Table 0"/>
          <p:cNvGraphicFramePr>
            <a:graphicFrameLocks noGrp="1"/>
          </p:cNvGraphicFramePr>
          <p:nvPr>
            <p:extLst>
              <p:ext uri="{D42A27DB-BD31-4B8C-83A1-F6EECF244321}">
                <p14:modId xmlns:p14="http://schemas.microsoft.com/office/powerpoint/2010/main" val="1579011935"/>
              </p:ext>
            </p:extLst>
          </p:nvPr>
        </p:nvGraphicFramePr>
        <p:xfrm>
          <a:off x="1706728" y="1783080"/>
          <a:ext cx="8778240" cy="914400"/>
        </p:xfrm>
        <a:graphic>
          <a:graphicData uri="http://schemas.openxmlformats.org/drawingml/2006/table">
            <a:tbl>
              <a:tblPr/>
              <a:tblGrid>
                <a:gridCol w="4389120"/>
                <a:gridCol w="4389120"/>
              </a:tblGrid>
              <a:tr h="0">
                <a:tc>
                  <a:txBody>
                    <a:bodyPr/>
                    <a:lstStyle/>
                    <a:p>
                      <a:pPr algn="ctr" indent="0" marL="0">
                        <a:buNone/>
                      </a:pPr>
                      <a:r>
                        <a:rPr lang="en-US" sz="2200" b="1" dirty="0">
                          <a:solidFill>
                            <a:srgbClr val="FFFFFF"/>
                          </a:solidFill>
                          <a:latin typeface="Calibri" pitchFamily="34" charset="0"/>
                          <a:ea typeface="Calibri" pitchFamily="34" charset="-122"/>
                          <a:cs typeface="Calibri" pitchFamily="34" charset="-120"/>
                        </a:rPr>
                        <a:t>English</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990011"/>
                    </a:solidFill>
                  </a:tcPr>
                </a:tc>
                <a:tc>
                  <a:txBody>
                    <a:bodyPr/>
                    <a:lstStyle/>
                    <a:p>
                      <a:pPr algn="ctr" indent="0" marL="0">
                        <a:buNone/>
                      </a:pPr>
                      <a:r>
                        <a:rPr lang="en-US" sz="2200" b="1" dirty="0">
                          <a:solidFill>
                            <a:srgbClr val="FFFFFF"/>
                          </a:solidFill>
                          <a:latin typeface="Calibri" pitchFamily="34" charset="0"/>
                          <a:ea typeface="Calibri" pitchFamily="34" charset="-122"/>
                          <a:cs typeface="Calibri" pitchFamily="34" charset="-120"/>
                        </a:rPr>
                        <a:t>Français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990011"/>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Revolution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 révolution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Orbit</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L'orbite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Season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 saison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Equinox</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L'équinoxe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Solstice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 solstice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Leap year</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L'année bissextile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Rainy season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 saison des pluies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Dry season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 saison sèche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42</a:t>
            </a:fld>
            <a:endParaRPr lang="en-US"/>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LOGBOOK</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Official Logbook (1/2)</a:t>
            </a:r>
            <a:endParaRPr lang="en-US" sz="3600" dirty="0"/>
          </a:p>
        </p:txBody>
      </p:sp>
      <p:graphicFrame>
        <p:nvGraphicFramePr>
          <p:cNvPr id="44"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3017520"/>
                <a:gridCol w="8257032"/>
              </a:tblGrid>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Module / Topic</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The Earth as a Planet in the Solar System</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Lesson Title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Lesson 6: The Revolution of the Earth</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Expected Learning Outcomes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Define revolution and the orbit of the Earth. Illustrate the revolution with equinoxes and solstices. Explain the effects of revolution.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Competence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Learners are able to explain the change of seasons and of day length during the year, and to plan activities such as farming with the calendar.</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43</a:t>
            </a:fld>
            <a:endParaRPr lang="en-US"/>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LOGBOOK</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Official Logbook (2/2)</a:t>
            </a:r>
            <a:endParaRPr lang="en-US" sz="3600" dirty="0"/>
          </a:p>
        </p:txBody>
      </p:sp>
      <p:graphicFrame>
        <p:nvGraphicFramePr>
          <p:cNvPr id="45"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3017520"/>
                <a:gridCol w="8257032"/>
              </a:tblGrid>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Matter Taught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Meaning of Revolution; Equinoxes and Solstices; Effects of Revolution.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Evaluation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Formative evaluation and remediation exercise.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Homework</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Cut an orange, an onion or an egg in half. Draw what you see inside and name its layers.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Enrolment / Present / Absent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____ / ____ / ____</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Achievement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To be completed after the lesson.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44</a:t>
            </a:fld>
            <a:endParaRPr lang="en-US"/>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TEACHER'S NOTE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Teacher's Note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Timing: Homework correction, plan, objectives 4 min | Recall, situation, action 6 min | 3 activities 12 min | Board summary (copying) 15 min | Evaluation, remediation 5 min | Homework, next lesson 3 min | Logbook 5 min</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Activity 1 is an animation (GIF): it plays automatically in slide-show mode.</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1): walk around a chair (the Sun) with a ball (the Earth).</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2): draw the Equator and the two tropics with the dates.</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3): ask learners which months are rainy in Garoua.</a:t>
            </a:r>
            <a:endParaRPr lang="en-US" sz="2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45</a:t>
            </a:fld>
            <a:endParaRPr lang="en-US"/>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REFERENCES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References</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National Geography Syllabus (MINESEC), Form 4 — The Earth as a Planet in the Solar System.</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Teacher's lesson notes (Form 4), checked and corrected where necessary.</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3: “Farmer” by CIFOR, CC BY-NC-ND 2.0, via Flickr (https://www.flickr.com/photos/45423546@N07/35708569412)</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Diagrams and animations: drawn for this lesson (Geography Department).</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46</a:t>
            </a:fld>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46</Slides>
  <Notes>46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46</vt:i4>
      </vt:variant>
    </vt:vector>
  </HeadingPairs>
  <TitlesOfParts>
    <vt:vector size="49"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2026-09-27T10:04:51Z</dcterms:created>
  <dcterms:modified xsi:type="dcterms:W3CDTF">2026-09-27T10:04:51Z</dcterms:modified>
</cp:coreProperties>
</file>