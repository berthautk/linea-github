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slideMasters/slideMaster45.xml" ContentType="application/vnd.openxmlformats-officedocument.presentationml.slideMaster+xml"/>
  <Override PartName="/ppt/slides/slide45.xml" ContentType="application/vnd.openxmlformats-officedocument.presentationml.slide+xml"/>
  <Override PartName="/ppt/slideMasters/slideMaster46.xml" ContentType="application/vnd.openxmlformats-officedocument.presentationml.slideMaster+xml"/>
  <Override PartName="/ppt/slides/slide46.xml" ContentType="application/vnd.openxmlformats-officedocument.presentationml.slide+xml"/>
  <Override PartName="/ppt/slideMasters/slideMaster47.xml" ContentType="application/vnd.openxmlformats-officedocument.presentationml.slideMaster+xml"/>
  <Override PartName="/ppt/slides/slide47.xml" ContentType="application/vnd.openxmlformats-officedocument.presentationml.slide+xml"/>
  <Override PartName="/ppt/slideMasters/slideMaster48.xml" ContentType="application/vnd.openxmlformats-officedocument.presentationml.slideMaster+xml"/>
  <Override PartName="/ppt/slides/slide4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Lst>
  <p:notesMasterIdLst>
    <p:notesMasterId r:id="rId50"/>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50" Type="http://schemas.openxmlformats.org/officeDocument/2006/relationships/notesMaster" Target="notesMasters/notesMaster1.xml"/><Relationship Id="rId51" Type="http://schemas.openxmlformats.org/officeDocument/2006/relationships/presProps" Target="presProps.xml"/><Relationship Id="rId52" Type="http://schemas.openxmlformats.org/officeDocument/2006/relationships/viewProps" Target="viewProps.xml"/><Relationship Id="rId53" Type="http://schemas.openxmlformats.org/officeDocument/2006/relationships/theme" Target="theme/theme1.xml"/><Relationship Id="rId54"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_rels/notesSlide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6.xml"/>
		</Relationships>
</file>

<file path=ppt/notesSlides/_rels/notesSlide4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7.xml"/>
		</Relationships>
</file>

<file path=ppt/notesSlides/_rels/notesSlide4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8.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morning, class, and welcome to our geography lesson. I am your geography teacher, Mr Kamdem. Today we are starting Lesson 40: Global Warming.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lesson is for Form 4. It belongs to Module 3: Weather and Climate — Adaptation to Climatic Excesses. We shall need 50 minutes to cover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topic is Management of Climate and Hydrological Related Hazards, and the sub-topic is Hydro-climatic Hazards. The key notions we shall use today are: climate variability, greenhouse gases. At the end, you should be able to do this: learners are able to take simple actions against global warming, such as planting trees and saving energy, and to adapt to hotter, drier seasons.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Before we start the new lesson, let us correct the homework I gave you at the end of Lesson 39: The Hydrological Cycle. The question was: Ask your grandparents or an elder whether the dry season is hotter or longer today than when they were young. Write down what they say. Take out your exercise books.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a good answer. Answers vary. Many elders say the dry season today is hotter and longer, and the rains are less regular than when they were young. Compare it with your own answer and correct your work in red.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plan of our lesson today. First, we shall correct the homework. Then we shall look at the objectives and recall what you already know. After that, we shall study a situation from real life and the action to take, and do the learning activities. Finally, we shall copy the board summary, do the evaluation and the remediation, and I will give you the homework.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Take your time to copy this part; we will continue together.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By the end of this lesson, you should be able to do three things. Number 1: define global warming, the greenhouse effect and greenhouse gases. Number 2: explain the natural and human causes of global warming. Number 3: describe its effects. Number 4: propose adaptation and mitigation measures.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first remember what you already know. The hydrological cycle moves water between the oceans, the air and the land. Temperature depends on factors such as latitude, altitude and cloud cover. Human activities can make cities warmer. Keep this in mind, because we shall build on it today.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Listen carefully to this situation from real life. Baba Hamadou, 70 years old, says that when he was young, the rains in Garoua started every year in May and March was less hot. Today, the heat is stronger and the rains are irregular. Think about it, because I am going to ask you some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1: What is the problem in the situation?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The climate of Garoua is changing.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2: What changes does Baba Hamadou see?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More heat and irregular rains.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3: What is this change of the whole Earth called?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Global warming.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From this situation, the action we are working towards in this lesson is the following: plant trees, save energy and avoid burning waste.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Why is this lesson important for you? This lesson helps us to understand global warming and what we can do.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1. Look carefully at this diagram: the greenhouse effect.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1: How do greenhouse gases warm the Earth?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They trap the heat, like a blanket.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2. Look carefully at this picture: smoke from a factory.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2: Which gas comes out when we burn coal, petrol and diesel?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Carbon dioxide (CO₂).</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3. Look carefully at this picture: a solar power station.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3: How do solar panels help against global warming?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They make electricity without smoke.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we are going to copy the board summary. Write the title and the headings neatly in your notebooks. I will give you enough time for each slide, so do not rush.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Meaning of Global Warming. Global warming is defined as follows. On this slide we have Global warming and Greenhouse gases.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draw this illustration in your notebook: the greenhouse effect. Give it a title and label it clearly.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Causes of Global Warming. Global warming has the following causes. On this slide we have Burning fuels and Deforestation.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Causes of Global Warming. On this slide we have Natural causes.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Effects of Global Warming. Global warming has the following effects. On this slide we have Extreme weather and Sea-level rise.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Effects of Global Warming. On this slide we have Farming.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Adaptation and Mitigation. People respond to global warming with the following measures. On this slide we have Mitigation.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Adaptation and Mitigation. On this slide we have Adaptation.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let us check what you have understood. Question 1: Give one human cause of global warming. Answer in your exercise 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expected answer is: burning petrol and diesel (or deforestation). If you got it right, well done.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let us check what you have understood. Question 2: What is the difference between mitigation and adaptation? Answer in your exercise 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expected answer is: mitigation reduces the causes; adaptation lives with the changes. If you got it right, well done.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those who need more practice, fill in the blanks in your exercise book. The answers are: number 1, warming; number 2, carbon dioxide (CO₂); number 3, mitigation.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your homework: Ask an adult in your family whether your area has ever been flooded or has suffered a very dry year. Write down when it happened and what damage it caused. We shall correct it at the beginning of our next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next lesson will be on Lesson 41: Floods, Droughts and Desertification. Thank you for your attention, and see you next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play the bilingual game. I say a word in English, and you give me the French word. Then we do the reverse.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record this information in the official logbook of the class after the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complete the second page of the logbook: the matter taught, the evaluation, the homework and the attendance.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is for me, the teacher: it gives the timing of the lesson and what to do if the projector is not available.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the references and picture credits used to prepare this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image" Target="../media/image-1003-1.png"/><Relationship Id="rId2"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LESSON">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640080" cy="658368"/>
          </a:xfrm>
          <a:prstGeom prst="rect">
            <a:avLst/>
          </a:prstGeom>
          <a:solidFill>
            <a:srgbClr val="990011"/>
          </a:solidFill>
          <a:ln w="12700">
            <a:solidFill>
              <a:srgbClr val="990011"/>
            </a:solidFill>
            <a:prstDash val="solid"/>
          </a:ln>
        </p:spPr>
      </p:sp>
      <p:sp>
        <p:nvSpPr>
          <p:cNvPr id="3" name="Text 1"/>
          <p:cNvSpPr/>
          <p:nvPr/>
        </p:nvSpPr>
        <p:spPr>
          <a:xfrm>
            <a:off x="640080" y="0"/>
            <a:ext cx="4754880" cy="658368"/>
          </a:xfrm>
          <a:prstGeom prst="homePlate">
            <a:avLst/>
          </a:prstGeom>
          <a:solidFill>
            <a:srgbClr val="990011"/>
          </a:solidFill>
          <a:ln>
            <a:solidFill>
              <a:srgbClr val="990011"/>
            </a:solid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GEOGRAPHY / FORM 4</a:t>
            </a:r>
            <a:endParaRPr lang="en-US" sz="1800" dirty="0"/>
          </a:p>
        </p:txBody>
      </p:sp>
      <p:sp>
        <p:nvSpPr>
          <p:cNvPr id="4" name="Text 2"/>
          <p:cNvSpPr/>
          <p:nvPr/>
        </p:nvSpPr>
        <p:spPr>
          <a:xfrm>
            <a:off x="5212080" y="0"/>
            <a:ext cx="6979615" cy="658368"/>
          </a:xfrm>
          <a:prstGeom prst="chevron">
            <a:avLst/>
          </a:prstGeom>
          <a:solidFill>
            <a:srgbClr val="1C3F6E"/>
          </a:solidFill>
          <a:ln>
            <a:solidFill>
              <a:srgbClr val="1C3F6E"/>
            </a:solid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LESSON 40: GLOBAL WARMING</a:t>
            </a:r>
            <a:endParaRPr lang="en-US" sz="1600" dirty="0"/>
          </a:p>
        </p:txBody>
      </p:sp>
      <p:sp>
        <p:nvSpPr>
          <p:cNvPr id="5" name="Shape 3"/>
          <p:cNvSpPr/>
          <p:nvPr/>
        </p:nvSpPr>
        <p:spPr>
          <a:xfrm>
            <a:off x="0" y="6492240"/>
            <a:ext cx="2743200" cy="365760"/>
          </a:xfrm>
          <a:prstGeom prst="rect">
            <a:avLst/>
          </a:prstGeom>
          <a:solidFill>
            <a:srgbClr val="1C3F6E"/>
          </a:solidFill>
          <a:ln w="12700">
            <a:solidFill>
              <a:srgbClr val="1C3F6E"/>
            </a:solidFill>
            <a:prstDash val="solid"/>
          </a:ln>
        </p:spPr>
      </p:sp>
      <p:sp>
        <p:nvSpPr>
          <p:cNvPr id="6" name="Text 4"/>
          <p:cNvSpPr/>
          <p:nvPr/>
        </p:nvSpPr>
        <p:spPr>
          <a:xfrm>
            <a:off x="137160" y="6492240"/>
            <a:ext cx="2560320" cy="365760"/>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Date: 2026 / 2027</a:t>
            </a:r>
            <a:endParaRPr lang="en-US" sz="1300" dirty="0"/>
          </a:p>
        </p:txBody>
      </p:sp>
      <p:sp>
        <p:nvSpPr>
          <p:cNvPr id="7" name="Shape 5"/>
          <p:cNvSpPr/>
          <p:nvPr/>
        </p:nvSpPr>
        <p:spPr>
          <a:xfrm>
            <a:off x="2743200" y="6492240"/>
            <a:ext cx="6035040" cy="365760"/>
          </a:xfrm>
          <a:prstGeom prst="rect">
            <a:avLst/>
          </a:prstGeom>
          <a:solidFill>
            <a:srgbClr val="B8860B"/>
          </a:solidFill>
          <a:ln w="12700">
            <a:solidFill>
              <a:srgbClr val="B8860B"/>
            </a:solidFill>
            <a:prstDash val="solid"/>
          </a:ln>
        </p:spPr>
      </p:sp>
      <p:sp>
        <p:nvSpPr>
          <p:cNvPr id="8" name="Text 6"/>
          <p:cNvSpPr/>
          <p:nvPr/>
        </p:nvSpPr>
        <p:spPr>
          <a:xfrm>
            <a:off x="2834640" y="6492240"/>
            <a:ext cx="58521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Copyright MINESEC  —  HOD – DGCAST-GAROUA</a:t>
            </a:r>
            <a:endParaRPr lang="en-US" sz="1300" dirty="0"/>
          </a:p>
        </p:txBody>
      </p:sp>
      <p:sp>
        <p:nvSpPr>
          <p:cNvPr id="9" name="Shape 7"/>
          <p:cNvSpPr/>
          <p:nvPr/>
        </p:nvSpPr>
        <p:spPr>
          <a:xfrm>
            <a:off x="8778240" y="6492240"/>
            <a:ext cx="3413455" cy="365760"/>
          </a:xfrm>
          <a:prstGeom prst="rect">
            <a:avLst/>
          </a:prstGeom>
          <a:solidFill>
            <a:srgbClr val="36454F"/>
          </a:solidFill>
          <a:ln w="12700">
            <a:solidFill>
              <a:srgbClr val="36454F"/>
            </a:solidFill>
            <a:prstDash val="solid"/>
          </a:ln>
        </p:spPr>
      </p:sp>
      <p:sp>
        <p:nvSpPr>
          <p:cNvPr id="10" name="Text 8"/>
          <p:cNvSpPr/>
          <p:nvPr/>
        </p:nvSpPr>
        <p:spPr>
          <a:xfrm>
            <a:off x="8869680" y="6492240"/>
            <a:ext cx="3200400" cy="365760"/>
          </a:xfrm>
          <a:prstGeom prst="rect">
            <a:avLst/>
          </a:prstGeom>
          <a:noFill/>
          <a:ln/>
        </p:spPr>
        <p:txBody>
          <a:bodyPr wrap="square" lIns="0" tIns="0" rIns="0" bIns="0" rtlCol="0" anchor="ctr"/>
          <a:lstStyle/>
          <a:p>
            <a:pPr algn="r" indent="0" marL="0">
              <a:buNone/>
            </a:pPr>
            <a:r>
              <a:rPr lang="en-US" sz="1300" dirty="0">
                <a:solidFill>
                  <a:srgbClr val="FFFFFF"/>
                </a:solidFill>
                <a:latin typeface="Calibri" pitchFamily="34" charset="0"/>
                <a:ea typeface="Calibri" pitchFamily="34" charset="-122"/>
                <a:cs typeface="Calibri" pitchFamily="34" charset="-120"/>
              </a:rPr>
              <a:t>Mr KAMDEM E.  —  Geography</a:t>
            </a:r>
            <a:endParaRPr lang="en-US" sz="13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VER">
    <p:bg>
      <p:bgPr>
        <a:solidFill>
          <a:srgbClr val="FFFFFF"/>
        </a:solidFill>
      </p:bgPr>
    </p:bg>
    <p:spTree>
      <p:nvGrpSpPr>
        <p:cNvPr id="1" name=""/>
        <p:cNvGrpSpPr/>
        <p:nvPr/>
      </p:nvGrpSpPr>
      <p:grpSpPr>
        <a:xfrm>
          <a:off x="0" y="0"/>
          <a:ext cx="0" cy="0"/>
          <a:chOff x="0" y="0"/>
          <a:chExt cx="0" cy="0"/>
        </a:xfrm>
      </p:grpSpPr>
      <p:pic>
        <p:nvPicPr>
          <p:cNvPr id="2" name="Image 0" descr="/home/claude/f4/img/minesec_sheet.png">    </p:cNvPr>
          <p:cNvPicPr>
            <a:picLocks noChangeAspect="1"/>
          </p:cNvPicPr>
          <p:nvPr/>
        </p:nvPicPr>
        <p:blipFill>
          <a:blip r:embed="rId1"/>
          <a:stretch>
            <a:fillRect/>
          </a:stretch>
        </p:blipFill>
        <p:spPr>
          <a:xfrm>
            <a:off x="0" y="0"/>
            <a:ext cx="5888736" cy="6492240"/>
          </a:xfrm>
          <a:prstGeom prst="rect">
            <a:avLst/>
          </a:prstGeom>
        </p:spPr>
      </p:pic>
      <p:sp>
        <p:nvSpPr>
          <p:cNvPr id="3" name="Text 0"/>
          <p:cNvSpPr/>
          <p:nvPr/>
        </p:nvSpPr>
        <p:spPr>
          <a:xfrm>
            <a:off x="6126480" y="502920"/>
            <a:ext cx="5760720" cy="822960"/>
          </a:xfrm>
          <a:prstGeom prst="rect">
            <a:avLst/>
          </a:prstGeom>
          <a:noFill/>
          <a:ln/>
        </p:spPr>
        <p:txBody>
          <a:bodyPr wrap="square" lIns="0" tIns="0" rIns="0" bIns="0" rtlCol="0" anchor="ctr"/>
          <a:lstStyle/>
          <a:p>
            <a:pPr algn="ctr" indent="0" marL="0">
              <a:buNone/>
            </a:pPr>
            <a:r>
              <a:rPr lang="en-US" sz="4400" b="1" dirty="0">
                <a:solidFill>
                  <a:srgbClr val="1565C0"/>
                </a:solidFill>
                <a:latin typeface="Times New Roman" pitchFamily="34" charset="0"/>
                <a:ea typeface="Times New Roman" pitchFamily="34" charset="-122"/>
                <a:cs typeface="Times New Roman" pitchFamily="34" charset="-120"/>
              </a:rPr>
              <a:t>MINESEC</a:t>
            </a:r>
            <a:endParaRPr lang="en-US" sz="4400" dirty="0"/>
          </a:p>
        </p:txBody>
      </p:sp>
      <p:sp>
        <p:nvSpPr>
          <p:cNvPr id="4" name="Text 1"/>
          <p:cNvSpPr/>
          <p:nvPr/>
        </p:nvSpPr>
        <p:spPr>
          <a:xfrm>
            <a:off x="6126480" y="1325880"/>
            <a:ext cx="5760720" cy="457200"/>
          </a:xfrm>
          <a:prstGeom prst="rect">
            <a:avLst/>
          </a:prstGeom>
          <a:noFill/>
          <a:ln/>
        </p:spPr>
        <p:txBody>
          <a:bodyPr wrap="square" lIns="0" tIns="0" rIns="0" bIns="0" rtlCol="0" anchor="ctr"/>
          <a:lstStyle/>
          <a:p>
            <a:pPr algn="ctr" indent="0" marL="0">
              <a:buNone/>
            </a:pPr>
            <a:r>
              <a:rPr lang="en-US" sz="1800" b="1" dirty="0">
                <a:solidFill>
                  <a:srgbClr val="1C3F6E"/>
                </a:solidFill>
                <a:latin typeface="Calibri" pitchFamily="34" charset="0"/>
                <a:ea typeface="Calibri" pitchFamily="34" charset="-122"/>
                <a:cs typeface="Calibri" pitchFamily="34" charset="-120"/>
              </a:rPr>
              <a:t>DGCAST-GAROUA  —  GEOGRAPHY DEPARTMENT</a:t>
            </a:r>
            <a:endParaRPr lang="en-US" sz="1800" dirty="0"/>
          </a:p>
        </p:txBody>
      </p:sp>
      <p:sp>
        <p:nvSpPr>
          <p:cNvPr id="5" name="Text 2"/>
          <p:cNvSpPr/>
          <p:nvPr/>
        </p:nvSpPr>
        <p:spPr>
          <a:xfrm>
            <a:off x="6126480" y="5257800"/>
            <a:ext cx="5760720" cy="914400"/>
          </a:xfrm>
          <a:prstGeom prst="rect">
            <a:avLst/>
          </a:prstGeom>
          <a:noFill/>
          <a:ln/>
        </p:spPr>
        <p:txBody>
          <a:bodyPr wrap="square" lIns="0" tIns="0" rIns="0" bIns="0" rtlCol="0" anchor="ctr"/>
          <a:lstStyle/>
          <a:p>
            <a:pPr algn="ctr" indent="0" marL="0">
              <a:buNone/>
            </a:pPr>
            <a:r>
              <a:rPr lang="en-US" sz="2000" b="1" dirty="0">
                <a:solidFill>
                  <a:srgbClr val="111111"/>
                </a:solidFill>
                <a:latin typeface="Times New Roman" pitchFamily="34" charset="0"/>
                <a:ea typeface="Times New Roman" pitchFamily="34" charset="-122"/>
                <a:cs typeface="Times New Roman" pitchFamily="34" charset="-120"/>
              </a:rPr>
              <a:t>KAMDEM Emmanuel Berthaut</a:t>
            </a:r>
            <a:endParaRPr lang="en-US" sz="2000" dirty="0"/>
          </a:p>
          <a:p>
            <a:pPr algn="ctr" indent="0" marL="0">
              <a:buNone/>
            </a:pPr>
            <a:r>
              <a:rPr lang="en-US" sz="2000" b="1" dirty="0">
                <a:solidFill>
                  <a:srgbClr val="111111"/>
                </a:solidFill>
                <a:latin typeface="Times New Roman" pitchFamily="34" charset="0"/>
                <a:ea typeface="Times New Roman" pitchFamily="34" charset="-122"/>
                <a:cs typeface="Times New Roman" pitchFamily="34" charset="-120"/>
              </a:rPr>
              <a:t>Geography Teacher</a:t>
            </a:r>
            <a:endParaRPr lang="en-US" sz="2000" dirty="0"/>
          </a:p>
        </p:txBody>
      </p:sp>
      <p:sp>
        <p:nvSpPr>
          <p:cNvPr id="6" name="Shape 3"/>
          <p:cNvSpPr/>
          <p:nvPr/>
        </p:nvSpPr>
        <p:spPr>
          <a:xfrm>
            <a:off x="0" y="6492240"/>
            <a:ext cx="2743200" cy="365760"/>
          </a:xfrm>
          <a:prstGeom prst="rect">
            <a:avLst/>
          </a:prstGeom>
          <a:solidFill>
            <a:srgbClr val="1C3F6E"/>
          </a:solidFill>
          <a:ln w="12700">
            <a:solidFill>
              <a:srgbClr val="1C3F6E"/>
            </a:solidFill>
            <a:prstDash val="solid"/>
          </a:ln>
        </p:spPr>
      </p:sp>
      <p:sp>
        <p:nvSpPr>
          <p:cNvPr id="7" name="Text 4"/>
          <p:cNvSpPr/>
          <p:nvPr/>
        </p:nvSpPr>
        <p:spPr>
          <a:xfrm>
            <a:off x="137160" y="6492240"/>
            <a:ext cx="2560320" cy="365760"/>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Date: 2026 / 2027</a:t>
            </a:r>
            <a:endParaRPr lang="en-US" sz="1300" dirty="0"/>
          </a:p>
        </p:txBody>
      </p:sp>
      <p:sp>
        <p:nvSpPr>
          <p:cNvPr id="8" name="Shape 5"/>
          <p:cNvSpPr/>
          <p:nvPr/>
        </p:nvSpPr>
        <p:spPr>
          <a:xfrm>
            <a:off x="2743200" y="6492240"/>
            <a:ext cx="6035040" cy="365760"/>
          </a:xfrm>
          <a:prstGeom prst="rect">
            <a:avLst/>
          </a:prstGeom>
          <a:solidFill>
            <a:srgbClr val="B8860B"/>
          </a:solidFill>
          <a:ln w="12700">
            <a:solidFill>
              <a:srgbClr val="B8860B"/>
            </a:solidFill>
            <a:prstDash val="solid"/>
          </a:ln>
        </p:spPr>
      </p:sp>
      <p:sp>
        <p:nvSpPr>
          <p:cNvPr id="9" name="Text 6"/>
          <p:cNvSpPr/>
          <p:nvPr/>
        </p:nvSpPr>
        <p:spPr>
          <a:xfrm>
            <a:off x="2834640" y="6492240"/>
            <a:ext cx="58521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Copyright MINESEC  —  HOD – DGCAST-GAROUA</a:t>
            </a:r>
            <a:endParaRPr lang="en-US" sz="1300" dirty="0"/>
          </a:p>
        </p:txBody>
      </p:sp>
      <p:sp>
        <p:nvSpPr>
          <p:cNvPr id="10" name="Shape 7"/>
          <p:cNvSpPr/>
          <p:nvPr/>
        </p:nvSpPr>
        <p:spPr>
          <a:xfrm>
            <a:off x="8778240" y="6492240"/>
            <a:ext cx="3413455" cy="365760"/>
          </a:xfrm>
          <a:prstGeom prst="rect">
            <a:avLst/>
          </a:prstGeom>
          <a:solidFill>
            <a:srgbClr val="36454F"/>
          </a:solidFill>
          <a:ln w="12700">
            <a:solidFill>
              <a:srgbClr val="36454F"/>
            </a:solidFill>
            <a:prstDash val="solid"/>
          </a:ln>
        </p:spPr>
      </p:sp>
      <p:sp>
        <p:nvSpPr>
          <p:cNvPr id="11" name="Text 8"/>
          <p:cNvSpPr/>
          <p:nvPr/>
        </p:nvSpPr>
        <p:spPr>
          <a:xfrm>
            <a:off x="8869680" y="6492240"/>
            <a:ext cx="3200400" cy="365760"/>
          </a:xfrm>
          <a:prstGeom prst="rect">
            <a:avLst/>
          </a:prstGeom>
          <a:noFill/>
          <a:ln/>
        </p:spPr>
        <p:txBody>
          <a:bodyPr wrap="square" lIns="0" tIns="0" rIns="0" bIns="0" rtlCol="0" anchor="ctr"/>
          <a:lstStyle/>
          <a:p>
            <a:pPr algn="r" indent="0" marL="0">
              <a:buNone/>
            </a:pPr>
            <a:r>
              <a:rPr lang="en-US" sz="1300" dirty="0">
                <a:solidFill>
                  <a:srgbClr val="FFFFFF"/>
                </a:solidFill>
                <a:latin typeface="Calibri" pitchFamily="34" charset="0"/>
                <a:ea typeface="Calibri" pitchFamily="34" charset="-122"/>
                <a:cs typeface="Calibri" pitchFamily="34" charset="-120"/>
              </a:rPr>
              <a:t>Mr KAMDEM E.  —  Geography</a:t>
            </a:r>
            <a:endParaRPr lang="en-US" sz="13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2.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2.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2.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2.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2.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2.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2.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2.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2.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2.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2.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2.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slideLayout" Target="../slideLayouts/slideLayout2.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slideLayout" Target="../slideLayouts/slideLayout2.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slideLayout" Target="../slideLayouts/slideLayout2.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slideLayout" Target="../slideLayouts/slideLayout2.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slideLayout" Target="../slideLayouts/slideLayout2.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slideLayout" Target="../slideLayouts/slideLayout2.xml"/><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jpg"/><Relationship Id="rId2" Type="http://schemas.openxmlformats.org/officeDocument/2006/relationships/slideLayout" Target="../slideLayouts/slideLayout2.xml"/><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png"/><Relationship Id="rId2" Type="http://schemas.openxmlformats.org/officeDocument/2006/relationships/slideLayout" Target="../slideLayouts/slideLayout2.xml"/><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png"/><Relationship Id="rId2" Type="http://schemas.openxmlformats.org/officeDocument/2006/relationships/slideLayout" Target="../slideLayouts/slideLayout2.xml"/><Relationship Id="rId3"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image-25-1.jpg"/><Relationship Id="rId2" Type="http://schemas.openxmlformats.org/officeDocument/2006/relationships/slideLayout" Target="../slideLayouts/slideLayout2.xml"/><Relationship Id="rId3"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image" Target="../media/image-26-1.png"/><Relationship Id="rId2" Type="http://schemas.openxmlformats.org/officeDocument/2006/relationships/slideLayout" Target="../slideLayouts/slideLayout2.xml"/><Relationship Id="rId3"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image" Target="../media/image-27-1.png"/><Relationship Id="rId2" Type="http://schemas.openxmlformats.org/officeDocument/2006/relationships/slideLayout" Target="../slideLayouts/slideLayout2.xml"/><Relationship Id="rId3"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image" Target="../media/image-28-1.png"/><Relationship Id="rId2" Type="http://schemas.openxmlformats.org/officeDocument/2006/relationships/slideLayout" Target="../slideLayouts/slideLayout2.xml"/><Relationship Id="rId3"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image" Target="../media/image-29-1.png"/><Relationship Id="rId2" Type="http://schemas.openxmlformats.org/officeDocument/2006/relationships/slideLayout" Target="../slideLayouts/slideLayout2.xml"/><Relationship Id="rId3"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image" Target="../media/image-30-1.png"/><Relationship Id="rId2" Type="http://schemas.openxmlformats.org/officeDocument/2006/relationships/slideLayout" Target="../slideLayouts/slideLayout2.xml"/><Relationship Id="rId3"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image" Target="../media/image-31-1.png"/><Relationship Id="rId2" Type="http://schemas.openxmlformats.org/officeDocument/2006/relationships/slideLayout" Target="../slideLayouts/slideLayout2.xml"/><Relationship Id="rId3"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image" Target="../media/image-32-1.png"/><Relationship Id="rId2" Type="http://schemas.openxmlformats.org/officeDocument/2006/relationships/slideLayout" Target="../slideLayouts/slideLayout2.xml"/><Relationship Id="rId3"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image" Target="../media/image-33-1.png"/><Relationship Id="rId2" Type="http://schemas.openxmlformats.org/officeDocument/2006/relationships/slideLayout" Target="../slideLayouts/slideLayout2.xml"/><Relationship Id="rId3"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image" Target="../media/image-34-1.png"/><Relationship Id="rId2" Type="http://schemas.openxmlformats.org/officeDocument/2006/relationships/slideLayout" Target="../slideLayouts/slideLayout2.xml"/><Relationship Id="rId3"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image" Target="../media/image-35-1.png"/><Relationship Id="rId2" Type="http://schemas.openxmlformats.org/officeDocument/2006/relationships/slideLayout" Target="../slideLayouts/slideLayout2.xml"/><Relationship Id="rId3"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image" Target="../media/image-36-1.png"/><Relationship Id="rId2" Type="http://schemas.openxmlformats.org/officeDocument/2006/relationships/slideLayout" Target="../slideLayouts/slideLayout2.xml"/><Relationship Id="rId3"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image" Target="../media/image-37-1.png"/><Relationship Id="rId2" Type="http://schemas.openxmlformats.org/officeDocument/2006/relationships/slideLayout" Target="../slideLayouts/slideLayout2.xml"/><Relationship Id="rId3"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image" Target="../media/image-38-1.png"/><Relationship Id="rId2" Type="http://schemas.openxmlformats.org/officeDocument/2006/relationships/slideLayout" Target="../slideLayouts/slideLayout2.xml"/><Relationship Id="rId3"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image" Target="../media/image-39-1.png"/><Relationship Id="rId2" Type="http://schemas.openxmlformats.org/officeDocument/2006/relationships/slideLayout" Target="../slideLayouts/slideLayout2.xml"/><Relationship Id="rId3"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image" Target="../media/image-40-1.png"/><Relationship Id="rId2" Type="http://schemas.openxmlformats.org/officeDocument/2006/relationships/slideLayout" Target="../slideLayouts/slideLayout2.xml"/><Relationship Id="rId3"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image" Target="../media/image-41-1.png"/><Relationship Id="rId2" Type="http://schemas.openxmlformats.org/officeDocument/2006/relationships/slideLayout" Target="../slideLayouts/slideLayout2.xml"/><Relationship Id="rId3"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image" Target="../media/image-42-1.png"/><Relationship Id="rId2" Type="http://schemas.openxmlformats.org/officeDocument/2006/relationships/slideLayout" Target="../slideLayouts/slideLayout2.xml"/><Relationship Id="rId3"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image" Target="../media/image-43-1.png"/><Relationship Id="rId2" Type="http://schemas.openxmlformats.org/officeDocument/2006/relationships/slideLayout" Target="../slideLayouts/slideLayout2.xml"/><Relationship Id="rId3"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image" Target="../media/image-47-1.png"/><Relationship Id="rId2" Type="http://schemas.openxmlformats.org/officeDocument/2006/relationships/slideLayout" Target="../slideLayouts/slideLayout2.xml"/><Relationship Id="rId3"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image" Target="../media/image-48-1.png"/><Relationship Id="rId2" Type="http://schemas.openxmlformats.org/officeDocument/2006/relationships/slideLayout" Target="../slideLayouts/slideLayout2.xml"/><Relationship Id="rId3" Type="http://schemas.openxmlformats.org/officeDocument/2006/relationships/notesSlide" Target="../notesSlides/notesSlide48.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nvSpPr>
        <p:spPr>
          <a:xfrm>
            <a:off x="6126480" y="1965960"/>
            <a:ext cx="5760720" cy="1005840"/>
          </a:xfrm>
          <a:prstGeom prst="rect">
            <a:avLst/>
          </a:prstGeom>
          <a:noFill/>
          <a:ln/>
        </p:spPr>
        <p:txBody>
          <a:bodyPr wrap="square" lIns="0" tIns="0" rIns="0" bIns="0" rtlCol="0" anchor="ctr"/>
          <a:lstStyle/>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FORM 4</a:t>
            </a:r>
            <a:endParaRPr lang="en-US" sz="2600" dirty="0"/>
          </a:p>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GEOGRAPHY</a:t>
            </a:r>
            <a:endParaRPr lang="en-US" sz="2600" dirty="0"/>
          </a:p>
        </p:txBody>
      </p:sp>
      <p:sp>
        <p:nvSpPr>
          <p:cNvPr id="3" name="Text 1"/>
          <p:cNvSpPr/>
          <p:nvPr/>
        </p:nvSpPr>
        <p:spPr>
          <a:xfrm>
            <a:off x="6126480" y="3063240"/>
            <a:ext cx="5760720" cy="2103120"/>
          </a:xfrm>
          <a:prstGeom prst="rect">
            <a:avLst/>
          </a:prstGeom>
          <a:noFill/>
          <a:ln/>
        </p:spPr>
        <p:txBody>
          <a:bodyPr wrap="square" lIns="0" tIns="0" rIns="0" bIns="0" rtlCol="0" anchor="ctr">
            <a:normAutofit/>
          </a:bodyPr>
          <a:lstStyle/>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Lesson 40</a:t>
            </a:r>
            <a:endParaRPr lang="en-US" sz="2600" dirty="0"/>
          </a:p>
          <a:p>
            <a:pPr algn="ctr" indent="0" marL="0">
              <a:buNone/>
            </a:pPr>
            <a:r>
              <a:rPr lang="en-US" sz="3200" b="1" dirty="0">
                <a:solidFill>
                  <a:srgbClr val="990011"/>
                </a:solidFill>
                <a:latin typeface="Times New Roman" pitchFamily="34" charset="0"/>
                <a:ea typeface="Times New Roman" pitchFamily="34" charset="-122"/>
                <a:cs typeface="Times New Roman" pitchFamily="34" charset="-120"/>
              </a:rPr>
              <a:t>Global Warming</a:t>
            </a:r>
            <a:endParaRPr lang="en-US" sz="26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CLASS INFO</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Class, Chapter and Duration</a:t>
            </a:r>
            <a:endParaRPr lang="en-US" sz="3600" dirty="0"/>
          </a:p>
        </p:txBody>
      </p:sp>
      <p:graphicFrame>
        <p:nvGraphicFramePr>
          <p:cNvPr id="3"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2377440"/>
                <a:gridCol w="8897112"/>
              </a:tblGrid>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Class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Form 4</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Chapter</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Module 3: Weather and Climate — Adaptation to Climatic Excesses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Duration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50 minutes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IDENTIFICATION</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Lesson Identification</a:t>
            </a:r>
            <a:endParaRPr lang="en-US" sz="36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2377440"/>
                <a:gridCol w="8897112"/>
              </a:tblGrid>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Topic</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Management of Climate and Hydrological Related Hazards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Sub-topic</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Hydro-climatic Hazards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Lesson</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Lesson 40: Global Warming</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Notions / Concepts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Climate variability, greenhouse gases.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Syllabus focus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Definition; causes (natural and human); effects; adaptations and mitigations.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Competence</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Learners are able to take simple actions against global warming, such as planting trees and saving energy, and to adapt to hotter, drier seasons.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 CORRECTION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Correction of the Homework</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C3F6E"/>
                </a:solidFill>
                <a:latin typeface="Times New Roman" pitchFamily="34" charset="0"/>
                <a:ea typeface="Times New Roman" pitchFamily="34" charset="-122"/>
                <a:cs typeface="Times New Roman" pitchFamily="34" charset="-120"/>
              </a:rPr>
              <a:t>Question (Lesson 39: The Hydrological Cycle):</a:t>
            </a:r>
            <a:endParaRPr lang="en-US" sz="4000" dirty="0"/>
          </a:p>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Ask your grandparents or an elder whether the dry season is hotter or longer today than when they were young. Write down what they say.</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 CORRECTION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Correction: Possible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Answers vary. Many elders say the dry season today is hotter and longer, and the rains are less regular than when they were young.</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LESSON PLAN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Lesson Plan</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Correction of the homework</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Objectives and recall</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Real-life situation and action to take</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Learning activities</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Board summary</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Evaluation, remediation and homework</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OBJECTIVES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Objectives</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By the end of this lesson, you should be able to:</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Define global warming, the greenhouse effect and greenhouse gases.</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Explain the natural and human causes of global warming.</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OBJECTIVES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Objectives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Describe its effects.</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Propose adaptation and mitigation measures.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PREVIOUS KNOWLEDGE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Previous Knowledge</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marL="342900" indent="-342900">
              <a:spcAft>
                <a:spcPts val="800"/>
              </a:spcAft>
              <a:buSzPct val="100000"/>
              <a:buChar char="•"/>
            </a:pPr>
            <a:r>
              <a:rPr lang="en-US" sz="4000" dirty="0">
                <a:solidFill>
                  <a:srgbClr val="111111"/>
                </a:solidFill>
                <a:latin typeface="Times New Roman" pitchFamily="34" charset="0"/>
                <a:ea typeface="Times New Roman" pitchFamily="34" charset="-122"/>
                <a:cs typeface="Times New Roman" pitchFamily="34" charset="-120"/>
              </a:rPr>
              <a:t>The hydrological cycle moves water between the oceans, the air and the land.</a:t>
            </a:r>
            <a:endParaRPr lang="en-US" sz="4000" dirty="0"/>
          </a:p>
          <a:p>
            <a:pPr algn="l" marL="342900" indent="-342900">
              <a:spcAft>
                <a:spcPts val="800"/>
              </a:spcAft>
              <a:buSzPct val="100000"/>
              <a:buChar char="•"/>
            </a:pPr>
            <a:r>
              <a:rPr lang="en-US" sz="4000" dirty="0">
                <a:solidFill>
                  <a:srgbClr val="111111"/>
                </a:solidFill>
                <a:latin typeface="Times New Roman" pitchFamily="34" charset="0"/>
                <a:ea typeface="Times New Roman" pitchFamily="34" charset="-122"/>
                <a:cs typeface="Times New Roman" pitchFamily="34" charset="-120"/>
              </a:rPr>
              <a:t>Temperature depends on factors such as latitude, altitude and cloud cover.</a:t>
            </a:r>
            <a:endParaRPr lang="en-US" sz="4000" dirty="0"/>
          </a:p>
          <a:p>
            <a:pPr algn="l" marL="342900" indent="-342900">
              <a:spcAft>
                <a:spcPts val="800"/>
              </a:spcAft>
              <a:buSzPct val="100000"/>
              <a:buChar char="•"/>
            </a:pPr>
            <a:r>
              <a:rPr lang="en-US" sz="4000" dirty="0">
                <a:solidFill>
                  <a:srgbClr val="111111"/>
                </a:solidFill>
                <a:latin typeface="Times New Roman" pitchFamily="34" charset="0"/>
                <a:ea typeface="Times New Roman" pitchFamily="34" charset="-122"/>
                <a:cs typeface="Times New Roman" pitchFamily="34" charset="-120"/>
              </a:rPr>
              <a:t>Human activities can make cities warmer.</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in Real Life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Baba Hamadou, 70 years old, says that when he was young, the rains in Garoua started every year in May and March was less hot. Today, the heat is stronger and the rains are irregular.</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1</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is the problem in the situation?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climate of Garoua is changing.</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2</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changes does Baba Hamadou see?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More heat and irregular rains.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3</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is this change of the whole Earth called?</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Possible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Global warming.</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ACTION TO TAKE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Action to Take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Plant trees, save energy and avoid burning waste.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JUSTIFICATION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Justification of the Lesson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This lesson helps us to understand global warming and what we can do.</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MEANING OF GLOBAL WARMING</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a:t>
            </a:r>
            <a:endParaRPr lang="en-US" sz="3600" dirty="0"/>
          </a:p>
        </p:txBody>
      </p:sp>
      <p:pic>
        <p:nvPicPr>
          <p:cNvPr id="4" name="Image 0" descr="/home/claude/f4/img/v2/greenhouse_big.png">    </p:cNvPr>
          <p:cNvPicPr>
            <a:picLocks noChangeAspect="1"/>
          </p:cNvPicPr>
          <p:nvPr/>
        </p:nvPicPr>
        <p:blipFill>
          <a:blip r:embed="rId1"/>
          <a:stretch>
            <a:fillRect/>
          </a:stretch>
        </p:blipFill>
        <p:spPr>
          <a:xfrm>
            <a:off x="629930" y="1783080"/>
            <a:ext cx="1093183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The greenhouse effect.</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MEANING OF GLOBAL WARMING</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How do greenhouse gases warm the Earth?</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MEANING OF GLOBAL WARMING</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They trap the heat, like a blanket.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CAUSES</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a:t>
            </a:r>
            <a:endParaRPr lang="en-US" sz="3600" dirty="0"/>
          </a:p>
        </p:txBody>
      </p:sp>
      <p:pic>
        <p:nvPicPr>
          <p:cNvPr id="4" name="Image 0" descr="/home/claude/f4/img/v2/f4_exhaust.jpg">    </p:cNvPr>
          <p:cNvPicPr>
            <a:picLocks noChangeAspect="1"/>
          </p:cNvPicPr>
          <p:nvPr/>
        </p:nvPicPr>
        <p:blipFill>
          <a:blip r:embed="rId1"/>
          <a:stretch>
            <a:fillRect/>
          </a:stretch>
        </p:blipFill>
        <p:spPr>
          <a:xfrm>
            <a:off x="2250369" y="1783080"/>
            <a:ext cx="7690957"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Smoke from a factory.</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CAUSES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Which gas comes out when we burn coal, petrol and diesel?</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23</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CAUSES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Carbon dioxide (CO₂).</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24</a:t>
            </a:fld>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4. ADAPTATION AND MITIGATION</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a:t>
            </a:r>
            <a:endParaRPr lang="en-US" sz="3600" dirty="0"/>
          </a:p>
        </p:txBody>
      </p:sp>
      <p:pic>
        <p:nvPicPr>
          <p:cNvPr id="4" name="Image 0" descr="/home/claude/f4/img/v2/f4_solar.jpg">    </p:cNvPr>
          <p:cNvPicPr>
            <a:picLocks noChangeAspect="1"/>
          </p:cNvPicPr>
          <p:nvPr/>
        </p:nvPicPr>
        <p:blipFill>
          <a:blip r:embed="rId1"/>
          <a:stretch>
            <a:fillRect/>
          </a:stretch>
        </p:blipFill>
        <p:spPr>
          <a:xfrm>
            <a:off x="2246610" y="1783080"/>
            <a:ext cx="769847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A solar power station.</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25</a:t>
            </a:fld>
            <a:endParaRPr 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4. ADAPTATION AND MITIGATION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How do solar panels help against global warming?</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26</a:t>
            </a:fld>
            <a:endParaRPr lang="en-US"/>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4. ADAPTATION AND MITIGATION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They make electricity without smoke.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27</a:t>
            </a:fld>
            <a:endParaRPr lang="en-US"/>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Board Summary</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Topic: Management of Climate and Hydrological Related Hazards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Sub-topic: Hydro-climatic Hazards</a:t>
            </a:r>
            <a:endParaRPr lang="en-US" sz="4000" dirty="0"/>
          </a:p>
          <a:p>
            <a:pPr algn="l" indent="0" marL="0">
              <a:spcAft>
                <a:spcPts val="800"/>
              </a:spcAft>
              <a:buNone/>
            </a:pPr>
            <a:r>
              <a:rPr lang="en-US" sz="4000" b="1" dirty="0">
                <a:solidFill>
                  <a:srgbClr val="990011"/>
                </a:solidFill>
                <a:latin typeface="Times New Roman" pitchFamily="34" charset="0"/>
                <a:ea typeface="Times New Roman" pitchFamily="34" charset="-122"/>
                <a:cs typeface="Times New Roman" pitchFamily="34" charset="-120"/>
              </a:rPr>
              <a:t>Lesson 40: Global Warming</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28</a:t>
            </a:fld>
            <a:endParaRPr lang="en-US"/>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Meaning of Global Warming</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indent="0" marL="0">
              <a:spcAft>
                <a:spcPts val="800"/>
              </a:spcAft>
              <a:buNone/>
            </a:pPr>
            <a:r>
              <a:rPr lang="en-US" sz="4000" i="1" dirty="0">
                <a:solidFill>
                  <a:srgbClr val="111111"/>
                </a:solidFill>
                <a:latin typeface="Times New Roman" pitchFamily="34" charset="0"/>
                <a:ea typeface="Times New Roman" pitchFamily="34" charset="-122"/>
                <a:cs typeface="Times New Roman" pitchFamily="34" charset="-120"/>
              </a:rPr>
              <a:t>Global warming is defined as follows: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Global warming: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is the rise of the average temperature of the Earth.</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Greenhouse gases: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They are gases such as carbon dioxide and methane that trap heat in the atmosphere.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29</a:t>
            </a:fld>
            <a:endParaRPr lang="en-US"/>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Meaning of Global Warming</a:t>
            </a:r>
            <a:endParaRPr lang="en-US" sz="3600" dirty="0"/>
          </a:p>
        </p:txBody>
      </p:sp>
      <p:pic>
        <p:nvPicPr>
          <p:cNvPr id="4" name="Image 0" descr="/home/claude/f4/img/v2/greenhouse_big.png">    </p:cNvPr>
          <p:cNvPicPr>
            <a:picLocks noChangeAspect="1"/>
          </p:cNvPicPr>
          <p:nvPr/>
        </p:nvPicPr>
        <p:blipFill>
          <a:blip r:embed="rId1"/>
          <a:stretch>
            <a:fillRect/>
          </a:stretch>
        </p:blipFill>
        <p:spPr>
          <a:xfrm>
            <a:off x="629930" y="1783080"/>
            <a:ext cx="1093183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Illustration: the greenhouse effect</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30</a:t>
            </a:fld>
            <a:endParaRPr lang="en-US"/>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Causes of Global Warming</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indent="0" marL="0">
              <a:spcAft>
                <a:spcPts val="800"/>
              </a:spcAft>
              <a:buNone/>
            </a:pPr>
            <a:r>
              <a:rPr lang="en-US" sz="4000" i="1" dirty="0">
                <a:solidFill>
                  <a:srgbClr val="111111"/>
                </a:solidFill>
                <a:latin typeface="Times New Roman" pitchFamily="34" charset="0"/>
                <a:ea typeface="Times New Roman" pitchFamily="34" charset="-122"/>
                <a:cs typeface="Times New Roman" pitchFamily="34" charset="-120"/>
              </a:rPr>
              <a:t>Global warming has the following causes: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Burning fuels: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Burning petrol, diesel, coal and firewood releases carbon dioxide.</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Deforestation: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Cutting trees leaves fewer plants to take in carbon dioxide.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31</a:t>
            </a:fld>
            <a:endParaRPr lang="en-US"/>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Causes of Global Warming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Natural causes: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Changes in the Sun's energy and volcanic eruptions also change temperatures.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32</a:t>
            </a:fld>
            <a:endParaRPr lang="en-US"/>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3. Effects of Global Warming</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indent="0" marL="0">
              <a:spcAft>
                <a:spcPts val="800"/>
              </a:spcAft>
              <a:buNone/>
            </a:pPr>
            <a:r>
              <a:rPr lang="en-US" sz="4000" i="1" dirty="0">
                <a:solidFill>
                  <a:srgbClr val="111111"/>
                </a:solidFill>
                <a:latin typeface="Times New Roman" pitchFamily="34" charset="0"/>
                <a:ea typeface="Times New Roman" pitchFamily="34" charset="-122"/>
                <a:cs typeface="Times New Roman" pitchFamily="34" charset="-120"/>
              </a:rPr>
              <a:t>Global warming has the following effects: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Extreme weather: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Heat waves, droughts and floods become more frequent.</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Sea-level rise: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Melting ice raises the sea level and threatens Douala and Limbe.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33</a:t>
            </a:fld>
            <a:endParaRPr lang="en-US"/>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3. Effects of Global Warming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Farming: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Irregular rains lead to poorer harvests.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34</a:t>
            </a:fld>
            <a:endParaRPr lang="en-US"/>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4. Adaptation and Mitigation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i="1" dirty="0">
                <a:solidFill>
                  <a:srgbClr val="111111"/>
                </a:solidFill>
                <a:latin typeface="Times New Roman" pitchFamily="34" charset="0"/>
                <a:ea typeface="Times New Roman" pitchFamily="34" charset="-122"/>
                <a:cs typeface="Times New Roman" pitchFamily="34" charset="-120"/>
              </a:rPr>
              <a:t>People respond to global warming with the following measures: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Mitigation: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is reducing the causes, for example by using solar energy and planting trees.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35</a:t>
            </a:fld>
            <a:endParaRPr lang="en-US"/>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4. Adaptation and Mitigation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Adaptation: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is living with the changes, for example by using seeds that resist drought.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36</a:t>
            </a:fld>
            <a:endParaRPr lang="en-US"/>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Evaluation 1</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Give one human cause of global warming.</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37</a:t>
            </a:fld>
            <a:endParaRPr lang="en-US"/>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Expected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Burning petrol and diesel (or deforestation).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38</a:t>
            </a:fld>
            <a:endParaRPr lang="en-US"/>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Evaluation 2</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is the difference between mitigation and adaptation?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39</a:t>
            </a:fld>
            <a:endParaRPr lang="en-US"/>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Expected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Mitigation reduces the causes; adaptation lives with the changes.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40</a:t>
            </a:fld>
            <a:endParaRPr lang="en-US"/>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REMEDIATION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Remediation</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Fill in the blanks:</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The rise of the temperature of the Earth is global ______.</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The main greenhouse gas is ______.</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Planting trees is a form of ______.</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41</a:t>
            </a:fld>
            <a:endParaRPr lang="en-US"/>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Homework</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Ask an adult in your family whether your area has ever been flooded or has suffered a very dry year. Write down when it happened and what damage it caused.</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42</a:t>
            </a:fld>
            <a:endParaRPr lang="en-US"/>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NEXT LESSON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Next Lesson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ctr"/>
          <a:lstStyle/>
          <a:p>
            <a:pPr algn="ctr"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Our next lesson will be on:</a:t>
            </a:r>
            <a:endParaRPr lang="en-US" sz="4000" dirty="0"/>
          </a:p>
          <a:p>
            <a:pPr algn="ctr" indent="0" marL="0">
              <a:spcAft>
                <a:spcPts val="800"/>
              </a:spcAft>
              <a:buNone/>
            </a:pPr>
            <a:r>
              <a:rPr lang="en-US" sz="4000" b="1" dirty="0">
                <a:solidFill>
                  <a:srgbClr val="990011"/>
                </a:solidFill>
                <a:latin typeface="Times New Roman" pitchFamily="34" charset="0"/>
                <a:ea typeface="Times New Roman" pitchFamily="34" charset="-122"/>
                <a:cs typeface="Times New Roman" pitchFamily="34" charset="-120"/>
              </a:rPr>
              <a:t>Lesson 41: Floods, Droughts and Desertification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43</a:t>
            </a:fld>
            <a:endParaRPr lang="en-US"/>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BILINGUAL GAME</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Bilingual Game (Jeu Bilingue)</a:t>
            </a:r>
            <a:endParaRPr lang="en-US" sz="3600" dirty="0"/>
          </a:p>
        </p:txBody>
      </p:sp>
      <p:graphicFrame>
        <p:nvGraphicFramePr>
          <p:cNvPr id="45" name="Table 0"/>
          <p:cNvGraphicFramePr>
            <a:graphicFrameLocks noGrp="1"/>
          </p:cNvGraphicFramePr>
          <p:nvPr>
            <p:extLst>
              <p:ext uri="{D42A27DB-BD31-4B8C-83A1-F6EECF244321}">
                <p14:modId xmlns:p14="http://schemas.microsoft.com/office/powerpoint/2010/main" val="1579011935"/>
              </p:ext>
            </p:extLst>
          </p:nvPr>
        </p:nvGraphicFramePr>
        <p:xfrm>
          <a:off x="1706728" y="1783080"/>
          <a:ext cx="8778240" cy="914400"/>
        </p:xfrm>
        <a:graphic>
          <a:graphicData uri="http://schemas.openxmlformats.org/drawingml/2006/table">
            <a:tbl>
              <a:tblPr/>
              <a:tblGrid>
                <a:gridCol w="4389120"/>
                <a:gridCol w="4389120"/>
              </a:tblGrid>
              <a:tr h="0">
                <a:tc>
                  <a:txBody>
                    <a:bodyPr/>
                    <a:lstStyle/>
                    <a:p>
                      <a:pPr algn="ctr" indent="0" marL="0">
                        <a:buNone/>
                      </a:pPr>
                      <a:r>
                        <a:rPr lang="en-US" sz="2200" b="1" dirty="0">
                          <a:solidFill>
                            <a:srgbClr val="FFFFFF"/>
                          </a:solidFill>
                          <a:latin typeface="Calibri" pitchFamily="34" charset="0"/>
                          <a:ea typeface="Calibri" pitchFamily="34" charset="-122"/>
                          <a:cs typeface="Calibri" pitchFamily="34" charset="-120"/>
                        </a:rPr>
                        <a:t>English</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990011"/>
                    </a:solidFill>
                  </a:tcPr>
                </a:tc>
                <a:tc>
                  <a:txBody>
                    <a:bodyPr/>
                    <a:lstStyle/>
                    <a:p>
                      <a:pPr algn="ctr" indent="0" marL="0">
                        <a:buNone/>
                      </a:pPr>
                      <a:r>
                        <a:rPr lang="en-US" sz="2200" b="1" dirty="0">
                          <a:solidFill>
                            <a:srgbClr val="FFFFFF"/>
                          </a:solidFill>
                          <a:latin typeface="Calibri" pitchFamily="34" charset="0"/>
                          <a:ea typeface="Calibri" pitchFamily="34" charset="-122"/>
                          <a:cs typeface="Calibri" pitchFamily="34" charset="-120"/>
                        </a:rPr>
                        <a:t>Français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990011"/>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Global warming</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Le réchauffement climatique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Greenhouse effect</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L'effet de serre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Greenhouse gas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Le gaz à effet de serre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Carbon dioxide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Le dioxyde de carbone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Climate variability</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 variabilité climatique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Mitigation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L'atténuation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Adaptation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L'adaptation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Sea level</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Le niveau de la mer</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44</a:t>
            </a:fld>
            <a:endParaRPr lang="en-US"/>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LOGBOOK</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Official Logbook (1/2)</a:t>
            </a:r>
            <a:endParaRPr lang="en-US" sz="3600" dirty="0"/>
          </a:p>
        </p:txBody>
      </p:sp>
      <p:graphicFrame>
        <p:nvGraphicFramePr>
          <p:cNvPr id="46"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3017520"/>
                <a:gridCol w="8257032"/>
              </a:tblGrid>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Module / Topic</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Management of Climate and Hydrological Related Hazards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Lesson Title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Lesson 40: Global Warming</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Expected Learning Outcomes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Define global warming, the greenhouse effect and greenhouse gases. Explain the natural and human causes of global warming. Describe its effects. Propose adaptation and mitigation measures.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Competence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Learners are able to take simple actions against global warming, such as planting trees and saving energy, and to adapt to hotter, drier seasons.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45</a:t>
            </a:fld>
            <a:endParaRPr lang="en-US"/>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LOGBOOK</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Official Logbook (2/2)</a:t>
            </a:r>
            <a:endParaRPr lang="en-US" sz="3600" dirty="0"/>
          </a:p>
        </p:txBody>
      </p:sp>
      <p:graphicFrame>
        <p:nvGraphicFramePr>
          <p:cNvPr id="47"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3017520"/>
                <a:gridCol w="8257032"/>
              </a:tblGrid>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Matter Taught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Meaning of Global Warming; Causes of Global Warming; Effects of Global Warming; Adaptation and Mitigation.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Evaluation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Formative evaluation and remediation exercise.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Homework</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Ask an adult in your family whether your area has ever been flooded or has suffered a very dry year. Write down when it happened and what damage it caused.</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Enrolment / Present / Absent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____ / ____ / ____</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Achievement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To be completed after the lesson.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46</a:t>
            </a:fld>
            <a:endParaRPr lang="en-US"/>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TEACHER'S NOTE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Teacher's Note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Timing: Homework correction, plan, objectives 4 min | Recall, situation, action 6 min | 3 activities 12 min | Board summary (copying) 15 min | Evaluation, remediation 5 min | Homework, next lesson 3 min | Logbook 5 min</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1): compare with a closed car in the sun.</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2): ask learners about the smoke of motorbikes and generators.</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3): ask learners who uses a solar lamp.</a:t>
            </a:r>
            <a:endParaRPr lang="en-US" sz="2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47</a:t>
            </a:fld>
            <a:endParaRPr lang="en-US"/>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4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REFERENCES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References</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National Geography Syllabus (MINESEC), Form 4 — Module 3: Weather and Climate.</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Teacher's lesson notes (f4.docx), checked and corrected where necessary.</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IPCC Sixth Assessment Report (2021–2023).</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UNFCCC: Paris Agreement (2015).</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Photo, Activity 2: “image replaced (thanks Anne :) )” by why 137, CC BY 2.0, via Flickr (https://www.flickr.com/photos/78752351@N03/8464430910)</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Photo, Activity 3: “Noor Ouarzazate III Solar Plant” by Richard Allaway, CC BY 2.0, via Flickr (https://www.flickr.com/photos/16287002@N00/52769922684)</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Diagrams and animations: drawn for this lesson (Geography Department).</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48</a:t>
            </a:fld>
            <a:endParaRPr lang="en-US"/>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48</Slides>
  <Notes>48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48</vt:i4>
      </vt:variant>
    </vt:vector>
  </HeadingPairs>
  <TitlesOfParts>
    <vt:vector size="51"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lpstr>Slide 48</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2026-09-27T10:04:56Z</dcterms:created>
  <dcterms:modified xsi:type="dcterms:W3CDTF">2026-09-27T10:04:56Z</dcterms:modified>
</cp:coreProperties>
</file>