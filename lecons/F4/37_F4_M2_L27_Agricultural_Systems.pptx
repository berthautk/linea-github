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slideMasters/slideMaster48.xml" ContentType="application/vnd.openxmlformats-officedocument.presentationml.slideMaster+xml"/>
  <Override PartName="/ppt/slides/slide48.xml" ContentType="application/vnd.openxmlformats-officedocument.presentationml.slide+xml"/>
  <Override PartName="/ppt/slideMasters/slideMaster49.xml" ContentType="application/vnd.openxmlformats-officedocument.presentationml.slideMaster+xml"/>
  <Override PartName="/ppt/slides/slide49.xml" ContentType="application/vnd.openxmlformats-officedocument.presentationml.slide+xml"/>
  <Override PartName="/ppt/slideMasters/slideMaster50.xml" ContentType="application/vnd.openxmlformats-officedocument.presentationml.slideMaster+xml"/>
  <Override PartName="/ppt/slides/slide50.xml" ContentType="application/vnd.openxmlformats-officedocument.presentationml.slide+xml"/>
  <Override PartName="/ppt/slideMasters/slideMaster51.xml" ContentType="application/vnd.openxmlformats-officedocument.presentationml.slideMaster+xml"/>
  <Override PartName="/ppt/slides/slide51.xml" ContentType="application/vnd.openxmlformats-officedocument.presentationml.slide+xml"/>
  <Override PartName="/ppt/slideMasters/slideMaster52.xml" ContentType="application/vnd.openxmlformats-officedocument.presentationml.slideMaster+xml"/>
  <Override PartName="/ppt/slides/slide52.xml" ContentType="application/vnd.openxmlformats-officedocument.presentationml.slide+xml"/>
  <Override PartName="/ppt/slideMasters/slideMaster53.xml" ContentType="application/vnd.openxmlformats-officedocument.presentationml.slideMaster+xml"/>
  <Override PartName="/ppt/slides/slide5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Lst>
  <p:notesMasterIdLst>
    <p:notesMasterId r:id="rId5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slide" Target="slides/slide48.xml"/><Relationship Id="rId50" Type="http://schemas.openxmlformats.org/officeDocument/2006/relationships/slide" Target="slides/slide49.xml"/><Relationship Id="rId51" Type="http://schemas.openxmlformats.org/officeDocument/2006/relationships/slide" Target="slides/slide50.xml"/><Relationship Id="rId52" Type="http://schemas.openxmlformats.org/officeDocument/2006/relationships/slide" Target="slides/slide51.xml"/><Relationship Id="rId53" Type="http://schemas.openxmlformats.org/officeDocument/2006/relationships/slide" Target="slides/slide52.xml"/><Relationship Id="rId54" Type="http://schemas.openxmlformats.org/officeDocument/2006/relationships/slide" Target="slides/slide53.xml"/><Relationship Id="rId55" Type="http://schemas.openxmlformats.org/officeDocument/2006/relationships/notesMaster" Target="notesMasters/notesMaster1.xml"/><Relationship Id="rId56" Type="http://schemas.openxmlformats.org/officeDocument/2006/relationships/presProps" Target="presProps.xml"/><Relationship Id="rId57" Type="http://schemas.openxmlformats.org/officeDocument/2006/relationships/viewProps" Target="viewProps.xml"/><Relationship Id="rId58" Type="http://schemas.openxmlformats.org/officeDocument/2006/relationships/theme" Target="theme/theme1.xml"/><Relationship Id="rId5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_rels/notesSlide4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8.xml"/>
		</Relationships>
</file>

<file path=ppt/notesSlides/_rels/notesSlide4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9.xml"/>
		</Relationships>
</file>

<file path=ppt/notesSlides/_rels/notesSlide5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0.xml"/>
		</Relationships>
</file>

<file path=ppt/notesSlides/_rels/notesSlide5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1.xml"/>
		</Relationships>
</file>

<file path=ppt/notesSlides/_rels/notesSlide5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2.xml"/>
		</Relationships>
</file>

<file path=ppt/notesSlides/_rels/notesSlide5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class, and welcome to our geography lesson. I am your geography teacher, Mr Kamdem. Today we are starting Lesson 27: Agricultural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lesson is for Form 4. It belongs to Module II: Development and the Management of Primary Resources. We shall need 2 periods to cover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topic is Managing Resources for Development through Economic Activities, and the sub-topic is Agriculture as an Economic Activity of the Primary Sector. The key notions we shall use today are: arable farming, pastoral farming, intensive, extensive, subsistence, commercial. At the end, you should be able to do this: learners are able to classify agricultural systems and describe their characteristics.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we start the new lesson, let us correct the homework I gave you at the end of Lesson 26: Agriculture. The question was: Draw the system of a farm you know with its inputs, processes and outputs. Take out your exercise books.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a good answer. Example: inputs – land, seeds, family labour, fertiliser; processes – ploughing with oxen, sowing, weeding, harvesting; outputs – maize, cotton, income. Compare it with your own answer and correct your work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plan of our lesson today. First, we shall correct the homework. Then we shall look at the objectives and recall what you already know. After that, we shall study a situation from real life and the action to take, and do the learning activities. Finally, we shall copy the board summary, do the evaluation and the remediation, and I will give you the homework.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Take your time to copy this part; we will continue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the end of this lesson, you should be able to do three things. Number 1: define an agricultural system. Number 2: classify systems into intensive and extensive. Number 3: describe the characteristics of each system.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first remember what you already know. Agriculture has inputs, processes and outputs. Some farms are small, others very large. Some farmers sell, others eat their harvest. Keep this in mind, because we shall build on it today.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Listen carefully to this situation from real life. In the Netherlands, a small farm produces a lot using machines, fertiliser and greenhouses. In the Sahel, herders move over very large areas with few inputs. Think about it, because I am going to ask you some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1: What is the problem in the situation?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We want to compare different farming systems.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2: Which farm uses many inputs on a small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The Dutch farm (intensive).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Question 3: Which uses few inputs on a large area? Think for a moment, then raise your hand to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Sahel herding (extensive).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From this situation, the action we are working towards in this lesson is the following: choose farming methods that suit the land and the capital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Why is this lesson important for you? This lesson helps us to classify the ways people farm.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1. Look carefully at this diagram: types of agriculture.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1: What is an agricultural system?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 way of farming defined by its inputs, methods and purpose.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2. Look carefully at this picture: cattle.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2: Distinguish arable farming and pastoral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Arable farming grows crops; pastoral farming rears animals.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3. Look carefully at this picture: a greenhouse.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3: What is intensive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Using many inputs of labour or capital on a small area to get high yields.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4. Look carefully at this picture: herders in the Sahel.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4: What is extensive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Using few inputs on a large area, with low yields per hectare.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Activity 5. Look carefully at this diagram: subsistence and commercial farming. Observe every detail before I ask the question.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question for Activity 5: Distinguish subsistence and commercial farming. Take one minute to think and write your answer in your rough notebook.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check the answer together. Subsistence farming feeds the family; commercial farming produces for sale.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we are going to copy the board summary. Write the title and the headings neatly in your notebooks. I will give you enough time for each slide, so do not rush.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the definitions. The key terms of this lesson are defined as follows. On this slide we have Agricultural system.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Classification. Agricultural systems are classified as follows. On this slide we have Arable and pastoral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On this slide we have Intensive farming and Extensive farming.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Classification. On this slide we have Subsistence and commercial farming.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draw this illustration in your notebook: types of agriculture. Give it a title and label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copy General Characteristics. The systems have the following characteristics. On this slide we have Intensive systems. Write each point on a new line, with the key term first, and explain it in your own words when we revise. When you finish, we go to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continue with General Characteristics. On this slide we have Extensive systems. Write each point on a new line, with the key term first, and explain it in your own words when we revise.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1: Distinguish intensive and extensive farming.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intensive: many inputs on a small area. Extensive: few inputs on a large area.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let us check what you have understood. Question 2: Give one example of each. Answer in your exercise book.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expected answer is: intensive: market gardening. Extensive: nomadic herding. If you got it right, well done.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those who need more practice, fill in the blanks in your exercise book. The answers are: number 1, arable; number 2, pastoral; number 3, commercial.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your homework: Classify three farms of your area as intensive or extensive and justify. We shall correct it at the beginning of our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next lesson will be on Lesson 28: Intensive and Extensive Agriculture. Thank you for your attention, and see you next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us play the bilingual game. I say a word in English, and you give me the French word. Then we do the reverse.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record this information in the official logbook of the class after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complete the second page of the logbook: the matter taught, the evaluation, the homework and the attendance.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is for me, the teacher: it gives the timing of the lesson and what to do if the projector is not available.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the references and picture credits used to prepare this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640080" cy="658368"/>
          </a:xfrm>
          <a:prstGeom prst="rect">
            <a:avLst/>
          </a:prstGeom>
          <a:solidFill>
            <a:srgbClr val="990011"/>
          </a:solidFill>
          <a:ln w="12700">
            <a:solidFill>
              <a:srgbClr val="990011"/>
            </a:solidFill>
            <a:prstDash val="solid"/>
          </a:ln>
        </p:spPr>
      </p:sp>
      <p:sp>
        <p:nvSpPr>
          <p:cNvPr id="3" name="Text 1"/>
          <p:cNvSpPr/>
          <p:nvPr/>
        </p:nvSpPr>
        <p:spPr>
          <a:xfrm>
            <a:off x="640080" y="0"/>
            <a:ext cx="4754880" cy="658368"/>
          </a:xfrm>
          <a:prstGeom prst="homePlate">
            <a:avLst/>
          </a:prstGeom>
          <a:solidFill>
            <a:srgbClr val="990011"/>
          </a:solidFill>
          <a:ln>
            <a:solidFill>
              <a:srgbClr val="990011"/>
            </a:solid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GEOGRAPHY / FORM 4</a:t>
            </a:r>
            <a:endParaRPr lang="en-US" sz="1800" dirty="0"/>
          </a:p>
        </p:txBody>
      </p:sp>
      <p:sp>
        <p:nvSpPr>
          <p:cNvPr id="4" name="Text 2"/>
          <p:cNvSpPr/>
          <p:nvPr/>
        </p:nvSpPr>
        <p:spPr>
          <a:xfrm>
            <a:off x="5212080" y="0"/>
            <a:ext cx="6979615" cy="658368"/>
          </a:xfrm>
          <a:prstGeom prst="chevron">
            <a:avLst/>
          </a:prstGeom>
          <a:solidFill>
            <a:srgbClr val="1C3F6E"/>
          </a:solidFill>
          <a:ln>
            <a:solidFill>
              <a:srgbClr val="1C3F6E"/>
            </a:solid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LESSON 27: AGRICULTURAL SYSTEMS</a:t>
            </a:r>
            <a:endParaRPr lang="en-US" sz="1600" dirty="0"/>
          </a:p>
        </p:txBody>
      </p:sp>
      <p:sp>
        <p:nvSpPr>
          <p:cNvPr id="5" name="Shape 3"/>
          <p:cNvSpPr/>
          <p:nvPr/>
        </p:nvSpPr>
        <p:spPr>
          <a:xfrm>
            <a:off x="0" y="6492240"/>
            <a:ext cx="2743200" cy="365760"/>
          </a:xfrm>
          <a:prstGeom prst="rect">
            <a:avLst/>
          </a:prstGeom>
          <a:solidFill>
            <a:srgbClr val="1C3F6E"/>
          </a:solidFill>
          <a:ln w="12700">
            <a:solidFill>
              <a:srgbClr val="1C3F6E"/>
            </a:solidFill>
            <a:prstDash val="solid"/>
          </a:ln>
        </p:spPr>
      </p:sp>
      <p:sp>
        <p:nvSpPr>
          <p:cNvPr id="6"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7"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8"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9"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0"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VER">
    <p:bg>
      <p:bgPr>
        <a:solidFill>
          <a:srgbClr val="FFFFFF"/>
        </a:solidFill>
      </p:bgPr>
    </p:bg>
    <p:spTree>
      <p:nvGrpSpPr>
        <p:cNvPr id="1" name=""/>
        <p:cNvGrpSpPr/>
        <p:nvPr/>
      </p:nvGrpSpPr>
      <p:grpSpPr>
        <a:xfrm>
          <a:off x="0" y="0"/>
          <a:ext cx="0" cy="0"/>
          <a:chOff x="0" y="0"/>
          <a:chExt cx="0" cy="0"/>
        </a:xfrm>
      </p:grpSpPr>
      <p:pic>
        <p:nvPicPr>
          <p:cNvPr id="2" name="Image 0" descr="/home/claude/f4/img/minesec_sheet.png">    </p:cNvPr>
          <p:cNvPicPr>
            <a:picLocks noChangeAspect="1"/>
          </p:cNvPicPr>
          <p:nvPr/>
        </p:nvPicPr>
        <p:blipFill>
          <a:blip r:embed="rId1"/>
          <a:stretch>
            <a:fillRect/>
          </a:stretch>
        </p:blipFill>
        <p:spPr>
          <a:xfrm>
            <a:off x="0" y="0"/>
            <a:ext cx="5888736" cy="6492240"/>
          </a:xfrm>
          <a:prstGeom prst="rect">
            <a:avLst/>
          </a:prstGeom>
        </p:spPr>
      </p:pic>
      <p:sp>
        <p:nvSpPr>
          <p:cNvPr id="3" name="Text 0"/>
          <p:cNvSpPr/>
          <p:nvPr/>
        </p:nvSpPr>
        <p:spPr>
          <a:xfrm>
            <a:off x="6126480" y="502920"/>
            <a:ext cx="5760720" cy="822960"/>
          </a:xfrm>
          <a:prstGeom prst="rect">
            <a:avLst/>
          </a:prstGeom>
          <a:noFill/>
          <a:ln/>
        </p:spPr>
        <p:txBody>
          <a:bodyPr wrap="square" lIns="0" tIns="0" rIns="0" bIns="0" rtlCol="0" anchor="ctr"/>
          <a:lstStyle/>
          <a:p>
            <a:pPr algn="ctr" indent="0" marL="0">
              <a:buNone/>
            </a:pPr>
            <a:r>
              <a:rPr lang="en-US" sz="4400" b="1" dirty="0">
                <a:solidFill>
                  <a:srgbClr val="1565C0"/>
                </a:solidFill>
                <a:latin typeface="Times New Roman" pitchFamily="34" charset="0"/>
                <a:ea typeface="Times New Roman" pitchFamily="34" charset="-122"/>
                <a:cs typeface="Times New Roman" pitchFamily="34" charset="-120"/>
              </a:rPr>
              <a:t>MINESEC</a:t>
            </a:r>
            <a:endParaRPr lang="en-US" sz="4400" dirty="0"/>
          </a:p>
        </p:txBody>
      </p:sp>
      <p:sp>
        <p:nvSpPr>
          <p:cNvPr id="4" name="Text 1"/>
          <p:cNvSpPr/>
          <p:nvPr/>
        </p:nvSpPr>
        <p:spPr>
          <a:xfrm>
            <a:off x="6126480" y="1325880"/>
            <a:ext cx="5760720" cy="457200"/>
          </a:xfrm>
          <a:prstGeom prst="rect">
            <a:avLst/>
          </a:prstGeom>
          <a:noFill/>
          <a:ln/>
        </p:spPr>
        <p:txBody>
          <a:bodyPr wrap="square" lIns="0" tIns="0" rIns="0" bIns="0" rtlCol="0" anchor="ctr"/>
          <a:lstStyle/>
          <a:p>
            <a:pPr algn="ctr" indent="0" marL="0">
              <a:buNone/>
            </a:pPr>
            <a:r>
              <a:rPr lang="en-US" sz="1800" b="1" dirty="0">
                <a:solidFill>
                  <a:srgbClr val="1C3F6E"/>
                </a:solidFill>
                <a:latin typeface="Calibri" pitchFamily="34" charset="0"/>
                <a:ea typeface="Calibri" pitchFamily="34" charset="-122"/>
                <a:cs typeface="Calibri" pitchFamily="34" charset="-120"/>
              </a:rPr>
              <a:t>DGCAST-GAROUA  —  GEOGRAPHY DEPARTMENT</a:t>
            </a:r>
            <a:endParaRPr lang="en-US" sz="1800" dirty="0"/>
          </a:p>
        </p:txBody>
      </p:sp>
      <p:sp>
        <p:nvSpPr>
          <p:cNvPr id="5" name="Text 2"/>
          <p:cNvSpPr/>
          <p:nvPr/>
        </p:nvSpPr>
        <p:spPr>
          <a:xfrm>
            <a:off x="6126480" y="5257800"/>
            <a:ext cx="5760720" cy="914400"/>
          </a:xfrm>
          <a:prstGeom prst="rect">
            <a:avLst/>
          </a:prstGeom>
          <a:noFill/>
          <a:ln/>
        </p:spPr>
        <p:txBody>
          <a:bodyPr wrap="square" lIns="0" tIns="0" rIns="0" bIns="0" rtlCol="0" anchor="ctr"/>
          <a:lstStyle/>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KAMDEM Emmanuel Berthaut</a:t>
            </a:r>
            <a:endParaRPr lang="en-US" sz="2000" dirty="0"/>
          </a:p>
          <a:p>
            <a:pPr algn="ctr" indent="0" marL="0">
              <a:buNone/>
            </a:pPr>
            <a:r>
              <a:rPr lang="en-US" sz="2000" b="1" dirty="0">
                <a:solidFill>
                  <a:srgbClr val="111111"/>
                </a:solidFill>
                <a:latin typeface="Times New Roman" pitchFamily="34" charset="0"/>
                <a:ea typeface="Times New Roman" pitchFamily="34" charset="-122"/>
                <a:cs typeface="Times New Roman" pitchFamily="34" charset="-120"/>
              </a:rPr>
              <a:t>Geography Teacher</a:t>
            </a:r>
            <a:endParaRPr lang="en-US" sz="2000" dirty="0"/>
          </a:p>
        </p:txBody>
      </p:sp>
      <p:sp>
        <p:nvSpPr>
          <p:cNvPr id="6" name="Shape 3"/>
          <p:cNvSpPr/>
          <p:nvPr/>
        </p:nvSpPr>
        <p:spPr>
          <a:xfrm>
            <a:off x="0" y="6492240"/>
            <a:ext cx="2743200" cy="365760"/>
          </a:xfrm>
          <a:prstGeom prst="rect">
            <a:avLst/>
          </a:prstGeom>
          <a:solidFill>
            <a:srgbClr val="1C3F6E"/>
          </a:solidFill>
          <a:ln w="12700">
            <a:solidFill>
              <a:srgbClr val="1C3F6E"/>
            </a:solidFill>
            <a:prstDash val="solid"/>
          </a:ln>
        </p:spPr>
      </p:sp>
      <p:sp>
        <p:nvSpPr>
          <p:cNvPr id="7" name="Text 4"/>
          <p:cNvSpPr/>
          <p:nvPr/>
        </p:nvSpPr>
        <p:spPr>
          <a:xfrm>
            <a:off x="137160" y="6492240"/>
            <a:ext cx="2560320" cy="365760"/>
          </a:xfrm>
          <a:prstGeom prst="rect">
            <a:avLst/>
          </a:prstGeom>
          <a:noFill/>
          <a:ln/>
        </p:spPr>
        <p:txBody>
          <a:bodyPr wrap="square" lIns="0" tIns="0" rIns="0" bIns="0" rtlCol="0" anchor="ctr"/>
          <a:lstStyle/>
          <a:p>
            <a:pPr indent="0" marL="0">
              <a:buNone/>
            </a:pPr>
            <a:r>
              <a:rPr lang="en-US" sz="1300" dirty="0">
                <a:solidFill>
                  <a:srgbClr val="FFFFFF"/>
                </a:solidFill>
                <a:latin typeface="Calibri" pitchFamily="34" charset="0"/>
                <a:ea typeface="Calibri" pitchFamily="34" charset="-122"/>
                <a:cs typeface="Calibri" pitchFamily="34" charset="-120"/>
              </a:rPr>
              <a:t>Date: 2026 / 2027</a:t>
            </a:r>
            <a:endParaRPr lang="en-US" sz="1300" dirty="0"/>
          </a:p>
        </p:txBody>
      </p:sp>
      <p:sp>
        <p:nvSpPr>
          <p:cNvPr id="8" name="Shape 5"/>
          <p:cNvSpPr/>
          <p:nvPr/>
        </p:nvSpPr>
        <p:spPr>
          <a:xfrm>
            <a:off x="2743200" y="6492240"/>
            <a:ext cx="6035040" cy="365760"/>
          </a:xfrm>
          <a:prstGeom prst="rect">
            <a:avLst/>
          </a:prstGeom>
          <a:solidFill>
            <a:srgbClr val="B8860B"/>
          </a:solidFill>
          <a:ln w="12700">
            <a:solidFill>
              <a:srgbClr val="B8860B"/>
            </a:solidFill>
            <a:prstDash val="solid"/>
          </a:ln>
        </p:spPr>
      </p:sp>
      <p:sp>
        <p:nvSpPr>
          <p:cNvPr id="9" name="Text 6"/>
          <p:cNvSpPr/>
          <p:nvPr/>
        </p:nvSpPr>
        <p:spPr>
          <a:xfrm>
            <a:off x="2834640" y="6492240"/>
            <a:ext cx="5852160" cy="36576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Copyright MINESEC  —  HOD – DGCAST-GAROUA</a:t>
            </a:r>
            <a:endParaRPr lang="en-US" sz="1300" dirty="0"/>
          </a:p>
        </p:txBody>
      </p:sp>
      <p:sp>
        <p:nvSpPr>
          <p:cNvPr id="10" name="Shape 7"/>
          <p:cNvSpPr/>
          <p:nvPr/>
        </p:nvSpPr>
        <p:spPr>
          <a:xfrm>
            <a:off x="8778240" y="6492240"/>
            <a:ext cx="3413455" cy="365760"/>
          </a:xfrm>
          <a:prstGeom prst="rect">
            <a:avLst/>
          </a:prstGeom>
          <a:solidFill>
            <a:srgbClr val="36454F"/>
          </a:solidFill>
          <a:ln w="12700">
            <a:solidFill>
              <a:srgbClr val="36454F"/>
            </a:solidFill>
            <a:prstDash val="solid"/>
          </a:ln>
        </p:spPr>
      </p:sp>
      <p:sp>
        <p:nvSpPr>
          <p:cNvPr id="11" name="Text 8"/>
          <p:cNvSpPr/>
          <p:nvPr/>
        </p:nvSpPr>
        <p:spPr>
          <a:xfrm>
            <a:off x="8869680" y="6492240"/>
            <a:ext cx="3200400" cy="365760"/>
          </a:xfrm>
          <a:prstGeom prst="rect">
            <a:avLst/>
          </a:prstGeom>
          <a:noFill/>
          <a:ln/>
        </p:spPr>
        <p:txBody>
          <a:bodyPr wrap="square" lIns="0" tIns="0" rIns="0" bIns="0" rtlCol="0" anchor="ctr"/>
          <a:lstStyle/>
          <a:p>
            <a:pPr algn="r" indent="0" marL="0">
              <a:buNone/>
            </a:pPr>
            <a:r>
              <a:rPr lang="en-US" sz="1300" dirty="0">
                <a:solidFill>
                  <a:srgbClr val="FFFFFF"/>
                </a:solidFill>
                <a:latin typeface="Calibri" pitchFamily="34" charset="0"/>
                <a:ea typeface="Calibri" pitchFamily="34" charset="-122"/>
                <a:cs typeface="Calibri" pitchFamily="34" charset="-120"/>
              </a:rPr>
              <a:t>Mr KAMDEM E.  —  Geography</a:t>
            </a:r>
            <a:endParaRPr lang="en-US" sz="1300" dirty="0"/>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2.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2.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2.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2.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2.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2.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2.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2.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2.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2.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2.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2.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2.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2.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2.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2.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2.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png"/><Relationship Id="rId2" Type="http://schemas.openxmlformats.org/officeDocument/2006/relationships/slideLayout" Target="../slideLayouts/slideLayout2.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png"/><Relationship Id="rId2" Type="http://schemas.openxmlformats.org/officeDocument/2006/relationships/slideLayout" Target="../slideLayouts/slideLayout2.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2.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png"/><Relationship Id="rId2" Type="http://schemas.openxmlformats.org/officeDocument/2006/relationships/slideLayout" Target="../slideLayouts/slideLayout2.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png"/><Relationship Id="rId2" Type="http://schemas.openxmlformats.org/officeDocument/2006/relationships/slideLayout" Target="../slideLayouts/slideLayout2.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png"/><Relationship Id="rId2" Type="http://schemas.openxmlformats.org/officeDocument/2006/relationships/slideLayout" Target="../slideLayouts/slideLayout2.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2.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2.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png"/><Relationship Id="rId2" Type="http://schemas.openxmlformats.org/officeDocument/2006/relationships/slideLayout" Target="../slideLayouts/slideLayout2.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slideLayout" Target="../slideLayouts/slideLayout2.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png"/><Relationship Id="rId2" Type="http://schemas.openxmlformats.org/officeDocument/2006/relationships/slideLayout" Target="../slideLayouts/slideLayout2.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png"/><Relationship Id="rId2" Type="http://schemas.openxmlformats.org/officeDocument/2006/relationships/slideLayout" Target="../slideLayouts/slideLayout2.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png"/><Relationship Id="rId2" Type="http://schemas.openxmlformats.org/officeDocument/2006/relationships/slideLayout" Target="../slideLayouts/slideLayout2.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png"/><Relationship Id="rId2" Type="http://schemas.openxmlformats.org/officeDocument/2006/relationships/slideLayout" Target="../slideLayouts/slideLayout2.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png"/><Relationship Id="rId2" Type="http://schemas.openxmlformats.org/officeDocument/2006/relationships/slideLayout" Target="../slideLayouts/slideLayout2.xml"/><Relationship Id="rId3"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png"/><Relationship Id="rId2" Type="http://schemas.openxmlformats.org/officeDocument/2006/relationships/slideLayout" Target="../slideLayouts/slideLayout2.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image" Target="../media/image-46-1.png"/><Relationship Id="rId2" Type="http://schemas.openxmlformats.org/officeDocument/2006/relationships/slideLayout" Target="../slideLayouts/slideLayout2.xml"/><Relationship Id="rId3"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image" Target="../media/image-47-1.png"/><Relationship Id="rId2" Type="http://schemas.openxmlformats.org/officeDocument/2006/relationships/slideLayout" Target="../slideLayouts/slideLayout2.xml"/><Relationship Id="rId3"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image" Target="../media/image-48-1.png"/><Relationship Id="rId2" Type="http://schemas.openxmlformats.org/officeDocument/2006/relationships/slideLayout" Target="../slideLayouts/slideLayout2.xml"/><Relationship Id="rId3"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image" Target="../media/image-52-1.png"/><Relationship Id="rId2" Type="http://schemas.openxmlformats.org/officeDocument/2006/relationships/slideLayout" Target="../slideLayouts/slideLayout2.xml"/><Relationship Id="rId3"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image" Target="../media/image-53-1.png"/><Relationship Id="rId2" Type="http://schemas.openxmlformats.org/officeDocument/2006/relationships/slideLayout" Target="../slideLayouts/slideLayout2.xml"/><Relationship Id="rId3"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6126480" y="1965960"/>
            <a:ext cx="5760720" cy="1005840"/>
          </a:xfrm>
          <a:prstGeom prst="rect">
            <a:avLst/>
          </a:prstGeom>
          <a:noFill/>
          <a:ln/>
        </p:spPr>
        <p:txBody>
          <a:bodyPr wrap="square" lIns="0" tIns="0" rIns="0" bIns="0" rtlCol="0" anchor="ct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FORM 4</a:t>
            </a:r>
            <a:endParaRPr lang="en-US" sz="2600" dirty="0"/>
          </a:p>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GEOGRAPHY</a:t>
            </a:r>
            <a:endParaRPr lang="en-US" sz="2600" dirty="0"/>
          </a:p>
        </p:txBody>
      </p:sp>
      <p:sp>
        <p:nvSpPr>
          <p:cNvPr id="3" name="Text 1"/>
          <p:cNvSpPr/>
          <p:nvPr/>
        </p:nvSpPr>
        <p:spPr>
          <a:xfrm>
            <a:off x="6126480" y="3063240"/>
            <a:ext cx="5760720" cy="2103120"/>
          </a:xfrm>
          <a:prstGeom prst="rect">
            <a:avLst/>
          </a:prstGeom>
          <a:noFill/>
          <a:ln/>
        </p:spPr>
        <p:txBody>
          <a:bodyPr wrap="square" lIns="0" tIns="0" rIns="0" bIns="0" rtlCol="0" anchor="ctr">
            <a:normAutofit/>
          </a:bodyPr>
          <a:lstStyle/>
          <a:p>
            <a:pPr algn="ctr" indent="0" marL="0">
              <a:buNone/>
            </a:pPr>
            <a:r>
              <a:rPr lang="en-US" sz="2600" b="1" dirty="0">
                <a:solidFill>
                  <a:srgbClr val="111111"/>
                </a:solidFill>
                <a:latin typeface="Times New Roman" pitchFamily="34" charset="0"/>
                <a:ea typeface="Times New Roman" pitchFamily="34" charset="-122"/>
                <a:cs typeface="Times New Roman" pitchFamily="34" charset="-120"/>
              </a:rPr>
              <a:t>Lesson 27</a:t>
            </a:r>
            <a:endParaRPr lang="en-US" sz="2600" dirty="0"/>
          </a:p>
          <a:p>
            <a:pPr algn="ctr" indent="0" marL="0">
              <a:buNone/>
            </a:pPr>
            <a:r>
              <a:rPr lang="en-US" sz="3200" b="1" dirty="0">
                <a:solidFill>
                  <a:srgbClr val="990011"/>
                </a:solidFill>
                <a:latin typeface="Times New Roman" pitchFamily="34" charset="0"/>
                <a:ea typeface="Times New Roman" pitchFamily="34" charset="-122"/>
                <a:cs typeface="Times New Roman" pitchFamily="34" charset="-120"/>
              </a:rPr>
              <a:t>Agricultural Systems</a:t>
            </a:r>
            <a:endParaRPr lang="en-US" sz="26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CLASS INFO</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Class, Chapter and Duration</a:t>
            </a:r>
            <a:endParaRPr lang="en-US" sz="3600" dirty="0"/>
          </a:p>
        </p:txBody>
      </p:sp>
      <p:graphicFrame>
        <p:nvGraphicFramePr>
          <p:cNvPr id="3"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Class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Form 4</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Chapter</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Module II: Development and the Management of Primary Resources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Duration</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2200" dirty="0">
                          <a:solidFill>
                            <a:srgbClr val="111111"/>
                          </a:solidFill>
                          <a:latin typeface="Calibri" pitchFamily="34" charset="0"/>
                          <a:ea typeface="Calibri" pitchFamily="34" charset="-122"/>
                          <a:cs typeface="Calibri" pitchFamily="34" charset="-120"/>
                        </a:rPr>
                        <a:t>2 periods (2 × 50 minutes)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IDENTIFICATION</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Identification</a:t>
            </a:r>
            <a:endParaRPr lang="en-US" sz="36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2377440"/>
                <a:gridCol w="8897112"/>
              </a:tblGrid>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Sub-topic</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Agriculture as an Economic Activity of the Primary Sector</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Lesson</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Lesson 27: Agricultural Systems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Notions / Concepts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Arable farming, pastoral farming, intensive, extensive, subsistence, commercial.</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Syllabus focus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Meaning; classification (intensive and extensive); general characteristics of each system.</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700" b="1" dirty="0">
                          <a:solidFill>
                            <a:srgbClr val="FFFFFF"/>
                          </a:solidFill>
                          <a:latin typeface="Calibri" pitchFamily="34" charset="0"/>
                          <a:ea typeface="Calibri" pitchFamily="34" charset="-122"/>
                          <a:cs typeface="Calibri" pitchFamily="34" charset="-120"/>
                        </a:rPr>
                        <a:t>Competence</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700" dirty="0">
                          <a:solidFill>
                            <a:srgbClr val="111111"/>
                          </a:solidFill>
                          <a:latin typeface="Calibri" pitchFamily="34" charset="0"/>
                          <a:ea typeface="Calibri" pitchFamily="34" charset="-122"/>
                          <a:cs typeface="Calibri" pitchFamily="34" charset="-120"/>
                        </a:rPr>
                        <a:t>Learners are able to classify agricultural systems and describe their characteristics.</a:t>
                      </a:r>
                      <a:endParaRPr lang="en-US" sz="17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of the 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C3F6E"/>
                </a:solidFill>
                <a:latin typeface="Times New Roman" pitchFamily="34" charset="0"/>
                <a:ea typeface="Times New Roman" pitchFamily="34" charset="-122"/>
                <a:cs typeface="Times New Roman" pitchFamily="34" charset="-120"/>
              </a:rPr>
              <a:t>Question (Lesson 26: Agriculture):</a:t>
            </a:r>
            <a:endParaRPr lang="en-US" sz="4000" dirty="0"/>
          </a:p>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Draw the system of a farm you know with its inputs, processes and outputs.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 CORRECTION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Correction: 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Example: inputs – land, seeds, family labour, fertiliser; processes – ploughing with oxen, sowing, weeding, harvesting; outputs – maize, cotton, income.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LESSON PLAN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2468880" cy="5833872"/>
          </a:xfrm>
          <a:prstGeom prst="rect">
            <a:avLst/>
          </a:prstGeom>
        </p:spPr>
      </p:pic>
      <p:sp>
        <p:nvSpPr>
          <p:cNvPr id="4" name="Text 1"/>
          <p:cNvSpPr/>
          <p:nvPr/>
        </p:nvSpPr>
        <p:spPr>
          <a:xfrm>
            <a:off x="2697480" y="1005840"/>
            <a:ext cx="91741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Lesson Plan</a:t>
            </a:r>
            <a:endParaRPr lang="en-US" sz="3600" dirty="0"/>
          </a:p>
        </p:txBody>
      </p:sp>
      <p:sp>
        <p:nvSpPr>
          <p:cNvPr id="5" name="Text 2"/>
          <p:cNvSpPr/>
          <p:nvPr/>
        </p:nvSpPr>
        <p:spPr>
          <a:xfrm>
            <a:off x="2697480" y="1783080"/>
            <a:ext cx="917417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Correction of the homework</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Objectives and recall</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Real-life situation and action to take</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Learning activities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Board summary</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Evaluation, remediation and homework</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By the end of this lesson, you should be able to:</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Define an agricultural system.</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Classify systems into intensive and extensive.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OBJECTIVES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Objectives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Describe the characteristics of each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PREVIOUS KNOWLEDGE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Previous Knowledge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Agriculture has inputs, processes and outputs.</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farms are small, others very large.</a:t>
            </a:r>
            <a:endParaRPr lang="en-US" sz="4000" dirty="0"/>
          </a:p>
          <a:p>
            <a:pPr algn="l" marL="342900" indent="-342900">
              <a:spcAft>
                <a:spcPts val="800"/>
              </a:spcAft>
              <a:buSzPct val="100000"/>
              <a:buChar char="•"/>
            </a:pPr>
            <a:r>
              <a:rPr lang="en-US" sz="4000" dirty="0">
                <a:solidFill>
                  <a:srgbClr val="111111"/>
                </a:solidFill>
                <a:latin typeface="Times New Roman" pitchFamily="34" charset="0"/>
                <a:ea typeface="Times New Roman" pitchFamily="34" charset="-122"/>
                <a:cs typeface="Times New Roman" pitchFamily="34" charset="-120"/>
              </a:rPr>
              <a:t>Some farmers sell, others eat their harvest.</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in Real Life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 the Netherlands, a small farm produces a lot using machines, fertiliser and greenhouses. In the Sahel, herders move over very large areas with few inputs.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the problem in the situation?</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We want to compare different farming systems.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farm uses many inputs on a small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The Dutch farm (intensive).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Situation: Question 3</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Which uses few inputs on a large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REAL-LIFE SITUATION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Possible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Sahel herding (extensive).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ACTION TO TAKE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Action to Take</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Choose farming methods that suit the land and the capital available.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JUSTIFICATION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Justification of the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This lesson helps us to classify the ways people farm.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Types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an agricultural system?</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1. MEANING</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1: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 way of farming defined by its inputs, methods and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ARABLE AND PASTORAL</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a:t>
            </a:r>
            <a:endParaRPr lang="en-US" sz="3600" dirty="0"/>
          </a:p>
        </p:txBody>
      </p:sp>
      <p:pic>
        <p:nvPicPr>
          <p:cNvPr id="4" name="Image 0" descr="/home/claude/f4/img/v2/f2t_cattle.jpg">    </p:cNvPr>
          <p:cNvPicPr>
            <a:picLocks noChangeAspect="1"/>
          </p:cNvPicPr>
          <p:nvPr/>
        </p:nvPicPr>
        <p:blipFill>
          <a:blip r:embed="rId1"/>
          <a:stretch>
            <a:fillRect/>
          </a:stretch>
        </p:blipFill>
        <p:spPr>
          <a:xfrm>
            <a:off x="2250369" y="1783080"/>
            <a:ext cx="7690957"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Cattle.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ARABLE AND PASTORAL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arable farming and pastoral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ARABLE AND PASTORAL</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2: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farming grows crops; pastoral farming rears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a:t>
            </a:r>
            <a:endParaRPr lang="en-US" sz="3600" dirty="0"/>
          </a:p>
        </p:txBody>
      </p:sp>
      <p:pic>
        <p:nvPicPr>
          <p:cNvPr id="4" name="Image 0" descr="/home/claude/f4/img/v2/usa_greenhouse.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A greenhouse.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intensive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INTENSIVE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3: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many inputs of labour or capital on a small area to get high yields.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EXTENSIVE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a:t>
            </a:r>
            <a:endParaRPr lang="en-US" sz="3600" dirty="0"/>
          </a:p>
        </p:txBody>
      </p:sp>
      <p:pic>
        <p:nvPicPr>
          <p:cNvPr id="4" name="Image 0" descr="/home/claude/f4/img/v2/usa_herders.jpg">    </p:cNvPr>
          <p:cNvPicPr>
            <a:picLocks noChangeAspect="1"/>
          </p:cNvPicPr>
          <p:nvPr/>
        </p:nvPicPr>
        <p:blipFill>
          <a:blip r:embed="rId1"/>
          <a:stretch>
            <a:fillRect/>
          </a:stretch>
        </p:blipFill>
        <p:spPr>
          <a:xfrm>
            <a:off x="2246610" y="1783080"/>
            <a:ext cx="769847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Herders in the Sahel.</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EXTENSIVE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What is extensive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29</a:t>
            </a:fld>
            <a:endParaRPr lang="en-US"/>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2. EXTENSIVE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4: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Using few inputs on a large area, with low yields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30</a:t>
            </a:fld>
            <a:endParaRPr lang="en-US"/>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Subsistence and commercial farming.</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31</a:t>
            </a:fld>
            <a:endParaRPr lang="en-US"/>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Question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subsistence and commercial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32</a:t>
            </a:fld>
            <a:endParaRPr lang="en-US"/>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3. CHARACTERISTICS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Activity 5: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Subsistence farming feeds the family; commercial farming produces for sale.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33</a:t>
            </a:fld>
            <a:endParaRPr lang="en-US"/>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Board Summary</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Topic: Managing Resources for Development through Economic Activities</a:t>
            </a:r>
            <a:endParaRPr lang="en-US" sz="3200" dirty="0"/>
          </a:p>
          <a:p>
            <a:pPr algn="l" indent="0" marL="0">
              <a:spcAft>
                <a:spcPts val="800"/>
              </a:spcAft>
              <a:buNone/>
            </a:pPr>
            <a:r>
              <a:rPr lang="en-US" sz="3200" b="1" dirty="0">
                <a:solidFill>
                  <a:srgbClr val="111111"/>
                </a:solidFill>
                <a:latin typeface="Times New Roman" pitchFamily="34" charset="0"/>
                <a:ea typeface="Times New Roman" pitchFamily="34" charset="-122"/>
                <a:cs typeface="Times New Roman" pitchFamily="34" charset="-120"/>
              </a:rPr>
              <a:t>Sub-topic: Agriculture as an Economic Activity of the Primary Sector</a:t>
            </a:r>
            <a:endParaRPr lang="en-US" sz="3200" dirty="0"/>
          </a:p>
          <a:p>
            <a:pPr algn="l" indent="0" marL="0">
              <a:spcAft>
                <a:spcPts val="800"/>
              </a:spcAft>
              <a:buNone/>
            </a:pPr>
            <a:r>
              <a:rPr lang="en-US" sz="3200" b="1" dirty="0">
                <a:solidFill>
                  <a:srgbClr val="990011"/>
                </a:solidFill>
                <a:latin typeface="Times New Roman" pitchFamily="34" charset="0"/>
                <a:ea typeface="Times New Roman" pitchFamily="34" charset="-122"/>
                <a:cs typeface="Times New Roman" pitchFamily="34" charset="-120"/>
              </a:rPr>
              <a:t>Lesson 27: Agricultural Systems</a:t>
            </a:r>
            <a:endParaRPr lang="en-US" sz="32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34</a:t>
            </a:fld>
            <a:endParaRPr lang="en-US"/>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DEFINITIONS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key terms of this lesson are defined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Agricultural system: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is a way of farming defined by its inputs, methods and purpose.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35</a:t>
            </a:fld>
            <a:endParaRPr lang="en-US"/>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Agricultural systems are classified as follows: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Arable and pastoral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Arable farming grows crops, while pastoral farming rears animals.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36</a:t>
            </a:fld>
            <a:endParaRPr lang="en-US"/>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(continued)</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many inputs on a small area and gives high yields per hectare.</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It uses few inputs on a large area and gives low yields per hectare.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37</a:t>
            </a:fld>
            <a:endParaRPr lang="en-US"/>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Subsistence and commercial farming: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Subsistence farming feeds the family, while commercial farming sells its products.</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38</a:t>
            </a:fld>
            <a:endParaRPr lang="en-US"/>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1. Classification</a:t>
            </a:r>
            <a:endParaRPr lang="en-US" sz="3600" dirty="0"/>
          </a:p>
        </p:txBody>
      </p:sp>
      <p:pic>
        <p:nvPicPr>
          <p:cNvPr id="4" name="Image 0" descr="/home/claude/f4/img/v2/agri_types_big.png">    </p:cNvPr>
          <p:cNvPicPr>
            <a:picLocks noChangeAspect="1"/>
          </p:cNvPicPr>
          <p:nvPr/>
        </p:nvPicPr>
        <p:blipFill>
          <a:blip r:embed="rId1"/>
          <a:stretch>
            <a:fillRect/>
          </a:stretch>
        </p:blipFill>
        <p:spPr>
          <a:xfrm>
            <a:off x="629930" y="1783080"/>
            <a:ext cx="10931835" cy="4270248"/>
          </a:xfrm>
          <a:prstGeom prst="rect">
            <a:avLst/>
          </a:prstGeom>
        </p:spPr>
      </p:pic>
      <p:sp>
        <p:nvSpPr>
          <p:cNvPr id="5" name="Text 2"/>
          <p:cNvSpPr/>
          <p:nvPr/>
        </p:nvSpPr>
        <p:spPr>
          <a:xfrm>
            <a:off x="457200" y="6089904"/>
            <a:ext cx="11277295" cy="347472"/>
          </a:xfrm>
          <a:prstGeom prst="rect">
            <a:avLst/>
          </a:prstGeom>
          <a:noFill/>
          <a:ln/>
        </p:spPr>
        <p:txBody>
          <a:bodyPr wrap="square" lIns="0" tIns="0" rIns="0" bIns="0" rtlCol="0" anchor="ctr"/>
          <a:lstStyle/>
          <a:p>
            <a:pPr algn="ctr" indent="0" marL="0">
              <a:buNone/>
            </a:pPr>
            <a:r>
              <a:rPr lang="en-US" sz="1800" i="1" dirty="0">
                <a:solidFill>
                  <a:srgbClr val="555555"/>
                </a:solidFill>
                <a:latin typeface="Times New Roman" pitchFamily="34" charset="0"/>
                <a:ea typeface="Times New Roman" pitchFamily="34" charset="-122"/>
                <a:cs typeface="Times New Roman" pitchFamily="34" charset="-120"/>
              </a:rPr>
              <a:t>Illustration: types of agriculture</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39</a:t>
            </a:fld>
            <a:endParaRPr lang="en-US"/>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Characteristics</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i="1" dirty="0">
                <a:solidFill>
                  <a:srgbClr val="111111"/>
                </a:solidFill>
                <a:latin typeface="Times New Roman" pitchFamily="34" charset="0"/>
                <a:ea typeface="Times New Roman" pitchFamily="34" charset="-122"/>
                <a:cs typeface="Times New Roman" pitchFamily="34" charset="-120"/>
              </a:rPr>
              <a:t>The systems have the following characteristics:</a:t>
            </a:r>
            <a:endParaRPr lang="en-US" sz="4000" dirty="0"/>
          </a:p>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Intensive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Small farms, much labour or capital, fertilisers and irrigation, as in market gardening.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40</a:t>
            </a:fld>
            <a:endParaRPr lang="en-US"/>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BOARD SUMMARY</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2. General Characteristics (continued)</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Extensive systems: </a:t>
            </a:r>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Large areas, few workers, little capital, as in nomadic herding and wheat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41</a:t>
            </a:fld>
            <a:endParaRPr lang="en-US"/>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1</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Distinguish intensive and extensive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42</a:t>
            </a:fld>
            <a:endParaRPr lang="en-US"/>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many inputs on a small area. Extensive: few inputs on a large area.</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43</a:t>
            </a:fld>
            <a:endParaRPr lang="en-US"/>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Evaluation 2</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Give one example of each.</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44</a:t>
            </a:fld>
            <a:endParaRPr lang="en-US"/>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FORMATIVE EVALUATION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Expected Answer</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Intensive: market gardening. Extensive: nomadic herding.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45</a:t>
            </a:fld>
            <a:endParaRPr lang="en-US"/>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REMEDIATION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Remediation</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Fill in the blanks:</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Growing crops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Rearing animals is ______ farming.</a:t>
            </a:r>
            <a:endParaRPr lang="en-US" sz="4000" dirty="0"/>
          </a:p>
          <a:p>
            <a:pPr algn="l" marL="342900" indent="-342900">
              <a:spcAft>
                <a:spcPts val="800"/>
              </a:spcAft>
              <a:buSzPct val="100000"/>
              <a:buFont typeface="+mj-lt"/>
              <a:buAutoNum type="arabicPeriod" startAt="1"/>
            </a:pPr>
            <a:r>
              <a:rPr lang="en-US" sz="4000" dirty="0">
                <a:solidFill>
                  <a:srgbClr val="111111"/>
                </a:solidFill>
                <a:latin typeface="Times New Roman" pitchFamily="34" charset="0"/>
                <a:ea typeface="Times New Roman" pitchFamily="34" charset="-122"/>
                <a:cs typeface="Times New Roman" pitchFamily="34" charset="-120"/>
              </a:rPr>
              <a:t>Farming for sale is ______ farming.</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46</a:t>
            </a:fld>
            <a:endParaRPr lang="en-US"/>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HOMEWORK</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Homework</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t"/>
          <a:lstStyle/>
          <a:p>
            <a:pPr algn="l" indent="0" marL="0">
              <a:spcAft>
                <a:spcPts val="800"/>
              </a:spcAft>
              <a:buNone/>
            </a:pPr>
            <a:r>
              <a:rPr lang="en-US" sz="4000" dirty="0">
                <a:solidFill>
                  <a:srgbClr val="111111"/>
                </a:solidFill>
                <a:latin typeface="Times New Roman" pitchFamily="34" charset="0"/>
                <a:ea typeface="Times New Roman" pitchFamily="34" charset="-122"/>
                <a:cs typeface="Times New Roman" pitchFamily="34" charset="-120"/>
              </a:rPr>
              <a:t>Classify three farms of your area as intensive or extensive and justify.</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47</a:t>
            </a:fld>
            <a:endParaRPr lang="en-US"/>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name="Slide 48">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NEXT LESSON</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5120640" cy="5833872"/>
          </a:xfrm>
          <a:prstGeom prst="rect">
            <a:avLst/>
          </a:prstGeom>
        </p:spPr>
      </p:pic>
      <p:sp>
        <p:nvSpPr>
          <p:cNvPr id="4" name="Text 1"/>
          <p:cNvSpPr/>
          <p:nvPr/>
        </p:nvSpPr>
        <p:spPr>
          <a:xfrm>
            <a:off x="5349240" y="1005840"/>
            <a:ext cx="652241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Next Lesson</a:t>
            </a:r>
            <a:endParaRPr lang="en-US" sz="3600" dirty="0"/>
          </a:p>
        </p:txBody>
      </p:sp>
      <p:sp>
        <p:nvSpPr>
          <p:cNvPr id="5" name="Text 2"/>
          <p:cNvSpPr/>
          <p:nvPr/>
        </p:nvSpPr>
        <p:spPr>
          <a:xfrm>
            <a:off x="5349240" y="1783080"/>
            <a:ext cx="6522415" cy="4663440"/>
          </a:xfrm>
          <a:prstGeom prst="rect">
            <a:avLst/>
          </a:prstGeom>
          <a:noFill/>
          <a:ln/>
        </p:spPr>
        <p:txBody>
          <a:bodyPr wrap="square" lIns="0" tIns="0" rIns="0" bIns="0" rtlCol="0" anchor="ctr"/>
          <a:lstStyle/>
          <a:p>
            <a:pPr algn="ctr" indent="0" marL="0">
              <a:spcAft>
                <a:spcPts val="800"/>
              </a:spcAft>
              <a:buNone/>
            </a:pPr>
            <a:r>
              <a:rPr lang="en-US" sz="4000" b="1" dirty="0">
                <a:solidFill>
                  <a:srgbClr val="111111"/>
                </a:solidFill>
                <a:latin typeface="Times New Roman" pitchFamily="34" charset="0"/>
                <a:ea typeface="Times New Roman" pitchFamily="34" charset="-122"/>
                <a:cs typeface="Times New Roman" pitchFamily="34" charset="-120"/>
              </a:rPr>
              <a:t>Our next lesson will be on:</a:t>
            </a:r>
            <a:endParaRPr lang="en-US" sz="4000" dirty="0"/>
          </a:p>
          <a:p>
            <a:pPr algn="ctr" indent="0" marL="0">
              <a:spcAft>
                <a:spcPts val="800"/>
              </a:spcAft>
              <a:buNone/>
            </a:pPr>
            <a:r>
              <a:rPr lang="en-US" sz="4000" b="1" dirty="0">
                <a:solidFill>
                  <a:srgbClr val="990011"/>
                </a:solidFill>
                <a:latin typeface="Times New Roman" pitchFamily="34" charset="0"/>
                <a:ea typeface="Times New Roman" pitchFamily="34" charset="-122"/>
                <a:cs typeface="Times New Roman" pitchFamily="34" charset="-120"/>
              </a:rPr>
              <a:t>Lesson 28: Intensive and Extensive Agriculture</a:t>
            </a:r>
            <a:endParaRPr lang="en-US" sz="4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48</a:t>
            </a:fld>
            <a:endParaRPr lang="en-US"/>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name="Slide 49">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BILINGUAL GAME</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Bilingual Game (Jeu Bilingue)</a:t>
            </a:r>
            <a:endParaRPr lang="en-US" sz="3600" dirty="0"/>
          </a:p>
        </p:txBody>
      </p:sp>
      <p:graphicFrame>
        <p:nvGraphicFramePr>
          <p:cNvPr id="50" name="Table 0"/>
          <p:cNvGraphicFramePr>
            <a:graphicFrameLocks noGrp="1"/>
          </p:cNvGraphicFramePr>
          <p:nvPr>
            <p:extLst>
              <p:ext uri="{D42A27DB-BD31-4B8C-83A1-F6EECF244321}">
                <p14:modId xmlns:p14="http://schemas.microsoft.com/office/powerpoint/2010/main" val="1579011935"/>
              </p:ext>
            </p:extLst>
          </p:nvPr>
        </p:nvGraphicFramePr>
        <p:xfrm>
          <a:off x="1706728" y="1783080"/>
          <a:ext cx="8778240" cy="914400"/>
        </p:xfrm>
        <a:graphic>
          <a:graphicData uri="http://schemas.openxmlformats.org/drawingml/2006/table">
            <a:tbl>
              <a:tblPr/>
              <a:tblGrid>
                <a:gridCol w="4389120"/>
                <a:gridCol w="4389120"/>
              </a:tblGrid>
              <a:tr h="0">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English</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c>
                  <a:txBody>
                    <a:bodyPr/>
                    <a:lstStyle/>
                    <a:p>
                      <a:pPr algn="ctr" indent="0" marL="0">
                        <a:buNone/>
                      </a:pPr>
                      <a:r>
                        <a:rPr lang="en-US" sz="2200" b="1" dirty="0">
                          <a:solidFill>
                            <a:srgbClr val="FFFFFF"/>
                          </a:solidFill>
                          <a:latin typeface="Calibri" pitchFamily="34" charset="0"/>
                          <a:ea typeface="Calibri" pitchFamily="34" charset="-122"/>
                          <a:cs typeface="Calibri" pitchFamily="34" charset="-120"/>
                        </a:rPr>
                        <a:t>Français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990011"/>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Arable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Agricole (cultures)</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Pastoral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Intensif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Extensive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Extensif</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Subsistence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La subsistance</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c>
                  <a:txBody>
                    <a:bodyPr/>
                    <a:lstStyle/>
                    <a:p>
                      <a:pPr algn="ctr" indent="0" marL="0">
                        <a:buNone/>
                      </a:pPr>
                      <a:r>
                        <a:rPr lang="en-US" sz="2200" dirty="0">
                          <a:solidFill>
                            <a:srgbClr val="111111"/>
                          </a:solidFill>
                          <a:latin typeface="Calibri" pitchFamily="34" charset="0"/>
                          <a:ea typeface="Calibri" pitchFamily="34" charset="-122"/>
                          <a:cs typeface="Calibri" pitchFamily="34" charset="-120"/>
                        </a:rPr>
                        <a:t>Commercial</a:t>
                      </a:r>
                      <a:endParaRPr lang="en-US" sz="22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49</a:t>
            </a:fld>
            <a:endParaRPr lang="en-US"/>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name="Slide 50">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(1/2)</a:t>
            </a:r>
            <a:endParaRPr lang="en-US" sz="3600" dirty="0"/>
          </a:p>
        </p:txBody>
      </p:sp>
      <p:graphicFrame>
        <p:nvGraphicFramePr>
          <p:cNvPr id="51"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Module / Topic</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Managing Resources for Development through Economic Activities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Lesson Title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Lesson 27: Agricultural Systems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Expected Learning Outcomes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Define an agricultural system. Classify systems into intensive and extensive. Describe the characteristics of each system.</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Competence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Learners are able to classify agricultural systems and describe their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50</a:t>
            </a:fld>
            <a:endParaRPr lang="en-US"/>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name="Slide 51">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LOGBOOK</a:t>
            </a:r>
            <a:endParaRPr lang="en-US" sz="1400" dirty="0"/>
          </a:p>
        </p:txBody>
      </p:sp>
      <p:sp>
        <p:nvSpPr>
          <p:cNvPr id="3" name="Text 1"/>
          <p:cNvSpPr/>
          <p:nvPr/>
        </p:nvSpPr>
        <p:spPr>
          <a:xfrm>
            <a:off x="457200" y="1005840"/>
            <a:ext cx="11277295" cy="731520"/>
          </a:xfrm>
          <a:prstGeom prst="rect">
            <a:avLst/>
          </a:prstGeom>
          <a:noFill/>
          <a:ln/>
        </p:spPr>
        <p:txBody>
          <a:bodyPr wrap="square" lIns="0" tIns="0" rIns="0" bIns="0" rtlCol="0" anchor="ct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Official Logbook (2/2)</a:t>
            </a:r>
            <a:endParaRPr lang="en-US" sz="3600" dirty="0"/>
          </a:p>
        </p:txBody>
      </p:sp>
      <p:graphicFrame>
        <p:nvGraphicFramePr>
          <p:cNvPr id="52" name="Table 0"/>
          <p:cNvGraphicFramePr>
            <a:graphicFrameLocks noGrp="1"/>
          </p:cNvGraphicFramePr>
          <p:nvPr>
            <p:extLst>
              <p:ext uri="{D42A27DB-BD31-4B8C-83A1-F6EECF244321}">
                <p14:modId xmlns:p14="http://schemas.microsoft.com/office/powerpoint/2010/main" val="1579011935"/>
              </p:ext>
            </p:extLst>
          </p:nvPr>
        </p:nvGraphicFramePr>
        <p:xfrm>
          <a:off x="458572" y="1783080"/>
          <a:ext cx="11274552" cy="914400"/>
        </p:xfrm>
        <a:graphic>
          <a:graphicData uri="http://schemas.openxmlformats.org/drawingml/2006/table">
            <a:tbl>
              <a:tblPr/>
              <a:tblGrid>
                <a:gridCol w="3017520"/>
                <a:gridCol w="8257032"/>
              </a:tblGrid>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Matter Taught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DEFINITIONS; Classification; General Characteristics.</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Evaluation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Formative evaluation and remediation exercise.</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Homework</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Classify three farms of your area as intensive or extensive and justify.</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Enrolment / Present / Absent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____ / ____ / ____</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FFFFF"/>
                    </a:solidFill>
                  </a:tcPr>
                </a:tc>
              </a:tr>
              <a:tr h="0">
                <a:tc>
                  <a:txBody>
                    <a:bodyPr/>
                    <a:lstStyle/>
                    <a:p>
                      <a:pPr algn="l" indent="0" marL="0">
                        <a:buNone/>
                      </a:pPr>
                      <a:r>
                        <a:rPr lang="en-US" sz="1600" b="1" dirty="0">
                          <a:solidFill>
                            <a:srgbClr val="FFFFFF"/>
                          </a:solidFill>
                          <a:latin typeface="Calibri" pitchFamily="34" charset="0"/>
                          <a:ea typeface="Calibri" pitchFamily="34" charset="-122"/>
                          <a:cs typeface="Calibri" pitchFamily="34" charset="-120"/>
                        </a:rPr>
                        <a:t>Achievement</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1C3F6E"/>
                    </a:solidFill>
                  </a:tcPr>
                </a:tc>
                <a:tc>
                  <a:txBody>
                    <a:bodyPr/>
                    <a:lstStyle/>
                    <a:p>
                      <a:pPr algn="l" indent="0" marL="0">
                        <a:buNone/>
                      </a:pPr>
                      <a:r>
                        <a:rPr lang="en-US" sz="1600" dirty="0">
                          <a:solidFill>
                            <a:srgbClr val="111111"/>
                          </a:solidFill>
                          <a:latin typeface="Calibri" pitchFamily="34" charset="0"/>
                          <a:ea typeface="Calibri" pitchFamily="34" charset="-122"/>
                          <a:cs typeface="Calibri" pitchFamily="34" charset="-120"/>
                        </a:rPr>
                        <a:t>To be completed after the lesson.</a:t>
                      </a:r>
                      <a:endParaRPr lang="en-US" sz="1600" dirty="0">
                        <a:latin typeface="Calibri" charset="0"/>
                        <a:ea typeface="Calibri" charset="0"/>
                        <a:cs typeface="Calibri" charset="0"/>
                      </a:endParaRPr>
                    </a:p>
                  </a:txBody>
                  <a:tcPr marL="73152" marR="73152" marT="73152" marB="73152" anchor="ctr">
                    <a:lnL w="12700" cap="flat" cmpd="sng" algn="ctr">
                      <a:solidFill>
                        <a:srgbClr val="BBBBBB"/>
                      </a:solidFill>
                      <a:prstDash val="solid"/>
                      <a:round/>
                      <a:headEnd type="none" w="med" len="med"/>
                      <a:tailEnd type="none" w="med" len="med"/>
                    </a:lnL>
                    <a:lnR w="12700" cap="flat" cmpd="sng" algn="ctr">
                      <a:solidFill>
                        <a:srgbClr val="BBBBBB"/>
                      </a:solidFill>
                      <a:prstDash val="solid"/>
                      <a:round/>
                      <a:headEnd type="none" w="med" len="med"/>
                      <a:tailEnd type="none" w="med" len="med"/>
                    </a:lnR>
                    <a:lnT w="12700" cap="flat" cmpd="sng" algn="ctr">
                      <a:solidFill>
                        <a:srgbClr val="BBBBBB"/>
                      </a:solidFill>
                      <a:prstDash val="solid"/>
                      <a:round/>
                      <a:headEnd type="none" w="med" len="med"/>
                      <a:tailEnd type="none" w="med" len="med"/>
                    </a:lnT>
                    <a:lnB w="12700" cap="flat" cmpd="sng" algn="ctr">
                      <a:solidFill>
                        <a:srgbClr val="BBBBBB"/>
                      </a:solidFill>
                      <a:prstDash val="solid"/>
                      <a:round/>
                      <a:headEnd type="none" w="med" len="med"/>
                      <a:tailEnd type="none" w="med" len="med"/>
                    </a:lnB>
                    <a:solidFill>
                      <a:srgbClr val="F2F4F8"/>
                    </a:solidFill>
                  </a:tcPr>
                </a:tc>
              </a:tr>
            </a:tbl>
          </a:graphicData>
        </a:graphic>
      </p:graphicFrame>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51</a:t>
            </a:fld>
            <a:endParaRPr lang="en-US"/>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name="Slide 52">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TEACHER'S NOTE</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Teacher's Note</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Timing: Homework correction, plan, objectives 8 min | Recall, situation, action 10 min | 5 activities 30 min | Board summary (copying) 30 min | Evaluation, remediation 10 min | Homework, next lesson 5 min | Logbook 7 min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1): list farming types.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2): give examples.</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3): describe a market garden.</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4): describe herding in the north.</a:t>
            </a:r>
            <a:endParaRPr lang="en-US" sz="2000" dirty="0"/>
          </a:p>
          <a:p>
            <a:pPr algn="l" marL="342900" indent="-342900">
              <a:spcAft>
                <a:spcPts val="800"/>
              </a:spcAft>
              <a:buSzPct val="100000"/>
              <a:buChar char="•"/>
            </a:pPr>
            <a:r>
              <a:rPr lang="en-US" sz="2000" dirty="0">
                <a:solidFill>
                  <a:srgbClr val="111111"/>
                </a:solidFill>
                <a:latin typeface="Calibri" pitchFamily="34" charset="0"/>
                <a:ea typeface="Calibri" pitchFamily="34" charset="-122"/>
                <a:cs typeface="Calibri" pitchFamily="34" charset="-120"/>
              </a:rPr>
              <a:t>Without the projector (Activity 5): classify local farms.</a:t>
            </a:r>
            <a:endParaRPr lang="en-US" sz="20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52</a:t>
            </a:fld>
            <a:endParaRPr lang="en-US"/>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name="Slide 53">
    <p:spTree>
      <p:nvGrpSpPr>
        <p:cNvPr id="1" name=""/>
        <p:cNvGrpSpPr/>
        <p:nvPr/>
      </p:nvGrpSpPr>
      <p:grpSpPr>
        <a:xfrm>
          <a:off x="0" y="0"/>
          <a:ext cx="0" cy="0"/>
          <a:chOff x="0" y="0"/>
          <a:chExt cx="0" cy="0"/>
        </a:xfrm>
      </p:grpSpPr>
      <p:sp>
        <p:nvSpPr>
          <p:cNvPr id="2" name="Text 0"/>
          <p:cNvSpPr/>
          <p:nvPr/>
        </p:nvSpPr>
        <p:spPr>
          <a:xfrm>
            <a:off x="457200" y="713232"/>
            <a:ext cx="11368735" cy="274320"/>
          </a:xfrm>
          <a:prstGeom prst="rect">
            <a:avLst/>
          </a:prstGeom>
          <a:noFill/>
          <a:ln/>
        </p:spPr>
        <p:txBody>
          <a:bodyPr wrap="square" lIns="0" tIns="0" rIns="0" bIns="0" rtlCol="0" anchor="ctr"/>
          <a:lstStyle/>
          <a:p>
            <a:pPr algn="r" indent="0" marL="0">
              <a:buNone/>
            </a:pPr>
            <a:r>
              <a:rPr lang="en-US" sz="1400" b="1" dirty="0">
                <a:solidFill>
                  <a:srgbClr val="1C3F6E"/>
                </a:solidFill>
                <a:latin typeface="Calibri" pitchFamily="34" charset="0"/>
                <a:ea typeface="Calibri" pitchFamily="34" charset="-122"/>
                <a:cs typeface="Calibri" pitchFamily="34" charset="-120"/>
              </a:rPr>
              <a:t>REFERENCES</a:t>
            </a:r>
            <a:endParaRPr lang="en-US" sz="1400" dirty="0"/>
          </a:p>
        </p:txBody>
      </p:sp>
      <p:pic>
        <p:nvPicPr>
          <p:cNvPr id="3" name="Image 0" descr="/home/claude/f4/img/minesec_sheet.png">    </p:cNvPr>
          <p:cNvPicPr>
            <a:picLocks noChangeAspect="1"/>
          </p:cNvPicPr>
          <p:nvPr/>
        </p:nvPicPr>
        <p:blipFill>
          <a:blip r:embed="rId1"/>
          <a:stretch>
            <a:fillRect/>
          </a:stretch>
        </p:blipFill>
        <p:spPr>
          <a:xfrm>
            <a:off x="0" y="658368"/>
            <a:ext cx="3840480" cy="5833872"/>
          </a:xfrm>
          <a:prstGeom prst="rect">
            <a:avLst/>
          </a:prstGeom>
        </p:spPr>
      </p:pic>
      <p:sp>
        <p:nvSpPr>
          <p:cNvPr id="4" name="Text 1"/>
          <p:cNvSpPr/>
          <p:nvPr/>
        </p:nvSpPr>
        <p:spPr>
          <a:xfrm>
            <a:off x="4069080" y="1005840"/>
            <a:ext cx="7802575" cy="731520"/>
          </a:xfrm>
          <a:prstGeom prst="rect">
            <a:avLst/>
          </a:prstGeom>
          <a:noFill/>
          <a:ln/>
        </p:spPr>
        <p:txBody>
          <a:bodyPr wrap="square" lIns="0" tIns="0" rIns="0" bIns="0" rtlCol="0" anchor="ctr">
            <a:normAutofit/>
          </a:bodyPr>
          <a:lstStyle/>
          <a:p>
            <a:pPr algn="ctr" indent="0" marL="0">
              <a:buNone/>
            </a:pPr>
            <a:r>
              <a:rPr lang="en-US" sz="3600" b="1" dirty="0">
                <a:solidFill>
                  <a:srgbClr val="990011"/>
                </a:solidFill>
                <a:latin typeface="Times New Roman" pitchFamily="34" charset="0"/>
                <a:ea typeface="Times New Roman" pitchFamily="34" charset="-122"/>
                <a:cs typeface="Times New Roman" pitchFamily="34" charset="-120"/>
              </a:rPr>
              <a:t>References</a:t>
            </a:r>
            <a:endParaRPr lang="en-US" sz="3600" dirty="0"/>
          </a:p>
        </p:txBody>
      </p:sp>
      <p:sp>
        <p:nvSpPr>
          <p:cNvPr id="5" name="Text 2"/>
          <p:cNvSpPr/>
          <p:nvPr/>
        </p:nvSpPr>
        <p:spPr>
          <a:xfrm>
            <a:off x="4069080" y="1783080"/>
            <a:ext cx="7802575" cy="4663440"/>
          </a:xfrm>
          <a:prstGeom prst="rect">
            <a:avLst/>
          </a:prstGeom>
          <a:noFill/>
          <a:ln/>
        </p:spPr>
        <p:txBody>
          <a:bodyPr wrap="square" lIns="0" tIns="0" rIns="0" bIns="0" rtlCol="0" anchor="t"/>
          <a:lstStyle/>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Geography Syllabus, Forms I–V, MINESEC (2023) — Form 4, Module II: Development and the Management of Primary Resources.</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2: “Fulani cattle breed of West Africa” by International Livestock Research Institute, CC BY-NC-SA 2.0, via Flickr (https://www.flickr.com/photos/7155605@N03/48125675226)</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3: “Organic farming, vegetable patch” by U.S. Department of Agriculture, CC0 1.0, via rawpixel (https://www.rawpixel.com/image/10995692/organic-farming-vegetable-patch)</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Photo, Activity 4: “Young cattle herders in Sénégal (West Africa)” by gbaku, CC BY-SA 2.0, via Flickr (https://www.flickr.com/photos/72105154@N00/525185172)</a:t>
            </a:r>
            <a:endParaRPr lang="en-US" sz="1800" dirty="0"/>
          </a:p>
          <a:p>
            <a:pPr algn="l" marL="342900" indent="-342900">
              <a:spcAft>
                <a:spcPts val="800"/>
              </a:spcAft>
              <a:buSzPct val="100000"/>
              <a:buChar char="•"/>
            </a:pPr>
            <a:r>
              <a:rPr lang="en-US" sz="1800" dirty="0">
                <a:solidFill>
                  <a:srgbClr val="111111"/>
                </a:solidFill>
                <a:latin typeface="Calibri" pitchFamily="34" charset="0"/>
                <a:ea typeface="Calibri" pitchFamily="34" charset="-122"/>
                <a:cs typeface="Calibri" pitchFamily="34" charset="-120"/>
              </a:rPr>
              <a:t>Diagrams and animations: drawn for this lesson (Geography Department).</a:t>
            </a:r>
            <a:endParaRPr lang="en-US" sz="1800" dirty="0"/>
          </a:p>
        </p:txBody>
      </p:sp>
      <p:sp>
        <p:nvSpPr>
          <p:cNvPr id="25" name="Slide Number Placeholder 0"/>
          <p:cNvSpPr>
            <a:spLocks noGrp="1"/>
          </p:cNvSpPr>
          <p:nvPr>
            <p:ph type="sldNum" sz="quarter" idx="4294967295"/>
          </p:nvPr>
        </p:nvSpPr>
        <p:spPr>
          <a:xfrm>
            <a:off x="27432" y="91440"/>
            <a:ext cx="585216" cy="475488"/>
          </a:xfrm>
          <a:prstGeom prst="rect">
            <a:avLst/>
          </a:prstGeom>
          <a:extLst>
            <a:ext uri="{C572A759-6A51-4108-AA02-DFA0A04FC94B}">
              <ma14:wrappingTextBoxFlag xmlns:ma14="http://schemas.microsoft.com/office/mac/drawingml/2011/main" val="0"/>
            </a:ext>
          </a:extLst>
        </p:spPr>
        <p:txBody>
          <a:bodyPr/>
          <a:lstStyle>
            <a:lvl1pPr>
              <a:defRPr sz="2000">
                <a:solidFill>
                  <a:srgbClr val="FFFFFF"/>
                </a:solidFill>
                <a:latin typeface="Calibri"/>
                <a:ea typeface="Calibri"/>
                <a:cs typeface="Calibri"/>
              </a:defRPr>
            </a:lvl1pPr>
          </a:lstStyle>
          <a:p>
            <a:pPr algn="ctr"/>
            <a:fld id="{F7021451-1387-4CA6-816F-3879F97B5CBC}" type="slidenum">
              <a:rPr b="1" lang="en-US"/>
              <a:t>53</a:t>
            </a:fld>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53</Slides>
  <Notes>53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53</vt:i4>
      </vt:variant>
    </vt:vector>
  </HeadingPairs>
  <TitlesOfParts>
    <vt:vector size="5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lpstr>Slide 48</vt:lpstr>
      <vt:lpstr>Slide 49</vt:lpstr>
      <vt:lpstr>Slide 50</vt:lpstr>
      <vt:lpstr>Slide 51</vt:lpstr>
      <vt:lpstr>Slide 52</vt:lpstr>
      <vt:lpstr>Slide 53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2026-09-28T21:15:05Z</dcterms:created>
  <dcterms:modified xsi:type="dcterms:W3CDTF">2026-09-28T21:15:05Z</dcterms:modified>
</cp:coreProperties>
</file>