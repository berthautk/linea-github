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slideMasters/slideMaster54.xml" ContentType="application/vnd.openxmlformats-officedocument.presentationml.slideMaster+xml"/>
  <Override PartName="/ppt/slides/slide54.xml" ContentType="application/vnd.openxmlformats-officedocument.presentationml.slide+xml"/>
  <Override PartName="/ppt/slideMasters/slideMaster55.xml" ContentType="application/vnd.openxmlformats-officedocument.presentationml.slideMaster+xml"/>
  <Override PartName="/ppt/slides/slide55.xml" ContentType="application/vnd.openxmlformats-officedocument.presentationml.slide+xml"/>
  <Override PartName="/ppt/slideMasters/slideMaster56.xml" ContentType="application/vnd.openxmlformats-officedocument.presentationml.slideMaster+xml"/>
  <Override PartName="/ppt/slides/slide56.xml" ContentType="application/vnd.openxmlformats-officedocument.presentationml.slide+xml"/>
  <Override PartName="/ppt/slideMasters/slideMaster57.xml" ContentType="application/vnd.openxmlformats-officedocument.presentationml.slideMaster+xml"/>
  <Override PartName="/ppt/slides/slide57.xml" ContentType="application/vnd.openxmlformats-officedocument.presentationml.slide+xml"/>
  <Override PartName="/ppt/slideMasters/slideMaster58.xml" ContentType="application/vnd.openxmlformats-officedocument.presentationml.slideMaster+xml"/>
  <Override PartName="/ppt/slides/slide5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Lst>
  <p:notesMasterIdLst>
    <p:notesMasterId r:id="rId6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notesMaster" Target="notesMasters/notesMaster1.xml"/><Relationship Id="rId61" Type="http://schemas.openxmlformats.org/officeDocument/2006/relationships/presProps" Target="presProps.xml"/><Relationship Id="rId62" Type="http://schemas.openxmlformats.org/officeDocument/2006/relationships/viewProps" Target="viewProps.xml"/><Relationship Id="rId63" Type="http://schemas.openxmlformats.org/officeDocument/2006/relationships/theme" Target="theme/theme1.xml"/><Relationship Id="rId6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_rels/notesSlide5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4.xml"/>
		</Relationships>
</file>

<file path=ppt/notesSlides/_rels/notesSlide5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5.xml"/>
		</Relationships>
</file>

<file path=ppt/notesSlides/_rels/notesSlide5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6.xml"/>
		</Relationships>
</file>

<file path=ppt/notesSlides/_rels/notesSlide5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7.xml"/>
		</Relationships>
</file>

<file path=ppt/notesSlides/_rels/notesSlide5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4: The Notion of the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1. It belongs to Module 2: Preservation of the Environment.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Let's Preserve our Environment, and the sub-topic is The Components of the Natural Environment. The key notions we shall use today are: environment, resources, ecosystem, soil, flora, fauna, climate, drainage. At the end, you should be able to do this: learners are able to identify the components of their natural environment and explain how they depend on one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Practical Work 3: Calculation of Time. The question was: List four components of the natural environment.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Climate, relief, soil and drainage (also flora and fauna).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the natural environment. Number 2: identify the components of the natural environment. Number 3: explain what an ecosystem 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Geography studies the Earth and its people. The Earth has land, water and air. Plants and animals live on the Earth.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During a walk near the River Benue, Fadimatou sees trees, grass, birds, fish, sand and water. Her teacher says that all these things form the natural environment. Fadimatou asks: "What is the natural environment made of, and how do its parts depend on one another?"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Fadimatou does not know what the natural environment is made 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Name two living things she sees.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Trees and birds (also fish and grass).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Name two non-living things she sees.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Sand and water.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protect the plants, animals, soil and water around your home and school.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parts of our environment so that we can protect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natural environment in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Name the things you see in this picture.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Grass, trees, animals, the soil and the sky.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natural environment in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Were these things made by people?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No, they are natural: together they form the natural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river.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Rivers, lakes and seas form which component of the environment?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Drainage (water bodies).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animals in the savanna.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do we call all the animals of a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Fauna.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living and non-living things together.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How do the animals depend on the plants and the soil?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Animals eat plants, and plants grow in the soil: they depend on one another in an ecosystem.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Environment and Natural environment.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the definitions. On this slide we have Resources and Ecosystem.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Components of the Natural Environment. The natural environment has the following components. Copy the point on Climate on the left, then draw the diagram on the right: the climates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Relief on the left, then draw the diagram on the right: the relief of Cameroon.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Soil on the left, then draw the diagram on the right: soil.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Drainage on the left, then draw the diagram on the right: a river.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Flora on the left, then draw the diagram on the right: forest vegetation.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Fauna on the left, then draw the diagram on the right: animals of the savanna.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Ecosystems. The components and examples of an ecosystem are the following. Copy the point on Living components on the left, then draw the diagram on the right: the components of an ecosystem.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Ecosystems. On this slide we have Non-living components.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Copy the point on Examples on the left, then draw the diagram on the right: lake Chad, an ecosystem.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Name four components of the natural environment.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climate, soil, drainage and flora (also relief and fauna).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What is an ecosystem?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a community of living things and their surroundings that depend on one another.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flora; number 2, fauna; number 3, drainage.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Name the two natural regions of Cameroon.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5: Natural Regions (Bio-climatic Zones) of Cameroon.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1</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4: THE NOTION OF THE ENVIRONMENT</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image" Target="../media/image-49-1.png"/><Relationship Id="rId2" Type="http://schemas.openxmlformats.org/officeDocument/2006/relationships/slideLayout" Target="../slideLayouts/slideLayout2.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image" Target="../media/image-50-1.png"/><Relationship Id="rId2" Type="http://schemas.openxmlformats.org/officeDocument/2006/relationships/slideLayout" Target="../slideLayouts/slideLayout2.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image" Target="../media/image-51-1.png"/><Relationship Id="rId2" Type="http://schemas.openxmlformats.org/officeDocument/2006/relationships/slideLayout" Target="../slideLayouts/slideLayout2.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image" Target="../media/image-56-1.png"/><Relationship Id="rId2" Type="http://schemas.openxmlformats.org/officeDocument/2006/relationships/slideLayout" Target="../slideLayouts/slideLayout2.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image" Target="../media/image-57-1.png"/><Relationship Id="rId2" Type="http://schemas.openxmlformats.org/officeDocument/2006/relationships/slideLayout" Target="../slideLayouts/slideLayout2.xml"/><Relationship Id="rId3"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image" Target="../media/image-58-1.png"/><Relationship Id="rId2" Type="http://schemas.openxmlformats.org/officeDocument/2006/relationships/slideLayout" Target="../slideLayouts/slideLayout2.xml"/><Relationship Id="rId3" Type="http://schemas.openxmlformats.org/officeDocument/2006/relationships/notesSlide" Target="../notesSlides/notesSlide5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1</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4</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The Notion of the Environment</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1</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2: Preservation of the 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Let's Preserve our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Components of the Natural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4: The Notion of the Environment</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Environment, resources, ecosystem, soil, flora, fauna, climate, drainage.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the natural environment; components; ecosystems.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identify the components of their natural environment and explain how they depend on one another.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(Practical Work 3: Calculation of Time):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List four components of the natural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relief, soil and drainage (also flora and fauna).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the natural environment.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Identify the components of the natural environment.</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Explain what an ecosystem is.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Geography studies the Earth and its people.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Earth has land, water and air.</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Plants and animals live on the Earth.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During a walk near the River Benue, Fadimatou sees trees, grass, birds, fish, sand and water. Her teacher says that all these things form the natural environment. Fadimatou asks: "What is the natural environment made of, and how do its parts depend on one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Fadimatou does not know what the natural environment is made of.</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living things she sees.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Trees and birds (also fish and grass).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two non-living things she sees.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Sand and water.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Protect the plants, animals, soil and water around your home and school.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parts of our environment so that we can protect them.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ENVIRONMENT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natural environment in 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things you see in this picture.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Grass, trees, animals, the soil and the sky.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ENVIRONMENT</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savanna.jpg">    </p:cNvPr>
          <p:cNvPicPr>
            <a:picLocks noChangeAspect="1"/>
          </p:cNvPicPr>
          <p:nvPr/>
        </p:nvPicPr>
        <p:blipFill>
          <a:blip r:embed="rId1"/>
          <a:stretch>
            <a:fillRect/>
          </a:stretch>
        </p:blipFill>
        <p:spPr>
          <a:xfrm>
            <a:off x="281042" y="1783080"/>
            <a:ext cx="11629612"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natural environment in 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Were these things made by people?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 OF THE ENVIRONMENT</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No, they are natural: together they form the natural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DRAINAGE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2t_benu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river.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Rivers, lakes and seas form which component of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DRAINAGE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Drainage (water bodies).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FLORA AND FAUNA</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f2t_elephants.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Animals in the savanna.</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FLORA AND FAUNA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we call all the animals of a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COMPONENTS: FLORA AND FAUNA</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Fauna.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ECOSYSTEMS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ecosystem_compon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Living and non-living things together.</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How do the animals depend on the plants and the soil?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ECOSYSTEMS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Animals eat plants, and plants grow in the soil: they depend on one another in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Let's Preserve our Environment</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The Components of the Natural Environment</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4: The Notion of the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everything that surrounds us.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Natural environment: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everything around us that is not made by people, such as land, water, air, plants and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 (continued)</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Resources: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useful things that people get from the environment, such as water, soil and wood.</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Ecosystem: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community of living things and their non-living surroundings that depend on one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of the Natural Environment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natural environment has the following components:</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average weather of a place over a long time, with its temperature, rainfall and winds.</a:t>
            </a:r>
            <a:endParaRPr lang="en-US" sz="3600" dirty="0"/>
          </a:p>
        </p:txBody>
      </p:sp>
      <p:pic>
        <p:nvPicPr>
          <p:cNvPr id="5" name="Image 0" descr="/home/claude/f4/img/v2/cameroon_climate_big.png">    </p:cNvPr>
          <p:cNvPicPr>
            <a:picLocks noChangeAspect="1"/>
          </p:cNvPicPr>
          <p:nvPr/>
        </p:nvPicPr>
        <p:blipFill>
          <a:blip r:embed="rId1"/>
          <a:stretch>
            <a:fillRect/>
          </a:stretch>
        </p:blipFill>
        <p:spPr>
          <a:xfrm>
            <a:off x="5349240" y="2253310"/>
            <a:ext cx="6659575" cy="3329788"/>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climates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of the Natural Environment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Relief: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shape of the land: mountains, plateaux, plains and valleys.</a:t>
            </a:r>
            <a:endParaRPr lang="en-US" sz="3600" dirty="0"/>
          </a:p>
        </p:txBody>
      </p:sp>
      <p:pic>
        <p:nvPicPr>
          <p:cNvPr id="5" name="Image 0" descr="/home/claude/f4/img/v2/cameroon_relief_big.png">    </p:cNvPr>
          <p:cNvPicPr>
            <a:picLocks noChangeAspect="1"/>
          </p:cNvPicPr>
          <p:nvPr/>
        </p:nvPicPr>
        <p:blipFill>
          <a:blip r:embed="rId1"/>
          <a:stretch>
            <a:fillRect/>
          </a:stretch>
        </p:blipFill>
        <p:spPr>
          <a:xfrm>
            <a:off x="5349240" y="2045198"/>
            <a:ext cx="6659575" cy="3746011"/>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relief of Cameroon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of the Natural Environment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Soil: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the top layer of the land in which plants grow.</a:t>
            </a:r>
            <a:endParaRPr lang="en-US" sz="3600" dirty="0"/>
          </a:p>
        </p:txBody>
      </p:sp>
      <p:pic>
        <p:nvPicPr>
          <p:cNvPr id="5" name="Image 0" descr="/home/claude/f4/img/v2/f2t_black_soil.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soil</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of the Natural Environment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Drainage: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all the rivers, lakes and seas of a place.</a:t>
            </a:r>
            <a:endParaRPr lang="en-US" sz="3600" dirty="0"/>
          </a:p>
        </p:txBody>
      </p:sp>
      <p:pic>
        <p:nvPicPr>
          <p:cNvPr id="5" name="Image 0" descr="/home/claude/f4/img/v2/f2t_benue.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 river</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of the Natural Environment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Flora: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all the plants of a place (vegetation).</a:t>
            </a:r>
            <a:endParaRPr lang="en-US" sz="3600" dirty="0"/>
          </a:p>
        </p:txBody>
      </p:sp>
      <p:pic>
        <p:nvPicPr>
          <p:cNvPr id="5" name="Image 0" descr="/home/claude/f4/img/v2/f2t_rainforest.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forest vegetation</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Components of the Natural Environment</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Fauna: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It is all the animals of a place.</a:t>
            </a:r>
            <a:endParaRPr lang="en-US" sz="3600" dirty="0"/>
          </a:p>
        </p:txBody>
      </p:sp>
      <p:pic>
        <p:nvPicPr>
          <p:cNvPr id="5" name="Image 0" descr="/home/claude/f4/img/v2/f2t_elephants.jpg">    </p:cNvPr>
          <p:cNvPicPr>
            <a:picLocks noChangeAspect="1"/>
          </p:cNvPicPr>
          <p:nvPr/>
        </p:nvPicPr>
        <p:blipFill>
          <a:blip r:embed="rId1"/>
          <a:stretch>
            <a:fillRect/>
          </a:stretch>
        </p:blipFill>
        <p:spPr>
          <a:xfrm>
            <a:off x="5349240" y="2069407"/>
            <a:ext cx="6659575" cy="3697594"/>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animals of the savanna</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Ecosystems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i="1" dirty="0">
                <a:solidFill>
                  <a:srgbClr val="111111"/>
                </a:solidFill>
                <a:latin typeface="Times New Roman" pitchFamily="34" charset="0"/>
                <a:ea typeface="Times New Roman" pitchFamily="34" charset="-122"/>
                <a:cs typeface="Times New Roman" pitchFamily="34" charset="-120"/>
              </a:rPr>
              <a:t>The components and examples of an ecosystem are the following:</a:t>
            </a:r>
            <a:endParaRPr lang="en-US" sz="3600" dirty="0"/>
          </a:p>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Living components: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They are plants, animals and people.</a:t>
            </a:r>
            <a:endParaRPr lang="en-US" sz="3600" dirty="0"/>
          </a:p>
        </p:txBody>
      </p:sp>
      <p:pic>
        <p:nvPicPr>
          <p:cNvPr id="5" name="Image 0" descr="/home/claude/f4/img/v2/ecosystem_components_big.png">    </p:cNvPr>
          <p:cNvPicPr>
            <a:picLocks noChangeAspect="1"/>
          </p:cNvPicPr>
          <p:nvPr/>
        </p:nvPicPr>
        <p:blipFill>
          <a:blip r:embed="rId1"/>
          <a:stretch>
            <a:fillRect/>
          </a:stretch>
        </p:blipFill>
        <p:spPr>
          <a:xfrm>
            <a:off x="5349240" y="2617506"/>
            <a:ext cx="6659575" cy="2601397"/>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the components of an ecosystem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Ecosystems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Non-living components: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are the soil, water, air, sunlight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365760" y="1005840"/>
            <a:ext cx="11460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Ecosystems</a:t>
            </a:r>
            <a:endParaRPr lang="en-US" sz="3600" dirty="0"/>
          </a:p>
        </p:txBody>
      </p:sp>
      <p:sp>
        <p:nvSpPr>
          <p:cNvPr id="4" name="Text 2"/>
          <p:cNvSpPr/>
          <p:nvPr/>
        </p:nvSpPr>
        <p:spPr>
          <a:xfrm>
            <a:off x="365760" y="1783080"/>
            <a:ext cx="4846320" cy="4617720"/>
          </a:xfrm>
          <a:prstGeom prst="rect">
            <a:avLst/>
          </a:prstGeom>
          <a:noFill/>
          <a:ln/>
        </p:spPr>
        <p:txBody>
          <a:bodyPr wrap="square" lIns="0" tIns="0" rIns="0" bIns="0" rtlCol="0" anchor="t"/>
          <a:lstStyle/>
          <a:p>
            <a:pPr algn="l" indent="0" marL="0">
              <a:spcAft>
                <a:spcPts val="800"/>
              </a:spcAft>
              <a:buNone/>
            </a:pPr>
            <a:r>
              <a:rPr lang="en-US" sz="3600" b="1" dirty="0">
                <a:solidFill>
                  <a:srgbClr val="111111"/>
                </a:solidFill>
                <a:latin typeface="Times New Roman" pitchFamily="34" charset="0"/>
                <a:ea typeface="Times New Roman" pitchFamily="34" charset="-122"/>
                <a:cs typeface="Times New Roman" pitchFamily="34" charset="-120"/>
              </a:rPr>
              <a:t>Examples: </a:t>
            </a:r>
            <a:pPr algn="l" indent="0" marL="0">
              <a:spcAft>
                <a:spcPts val="800"/>
              </a:spcAft>
              <a:buNone/>
            </a:pPr>
            <a:r>
              <a:rPr lang="en-US" sz="3600" dirty="0">
                <a:solidFill>
                  <a:srgbClr val="111111"/>
                </a:solidFill>
                <a:latin typeface="Times New Roman" pitchFamily="34" charset="0"/>
                <a:ea typeface="Times New Roman" pitchFamily="34" charset="-122"/>
                <a:cs typeface="Times New Roman" pitchFamily="34" charset="-120"/>
              </a:rPr>
              <a:t>A forest, a savanna, a lake and a river are ecosystems.</a:t>
            </a:r>
            <a:endParaRPr lang="en-US" sz="3600" dirty="0"/>
          </a:p>
        </p:txBody>
      </p:sp>
      <p:pic>
        <p:nvPicPr>
          <p:cNvPr id="5" name="Image 0" descr="/home/claude/f4/img/v2/f2t_lake_chad.jpg">    </p:cNvPr>
          <p:cNvPicPr>
            <a:picLocks noChangeAspect="1"/>
          </p:cNvPicPr>
          <p:nvPr/>
        </p:nvPicPr>
        <p:blipFill>
          <a:blip r:embed="rId1"/>
          <a:stretch>
            <a:fillRect/>
          </a:stretch>
        </p:blipFill>
        <p:spPr>
          <a:xfrm>
            <a:off x="5349240" y="2071212"/>
            <a:ext cx="6659575" cy="3693983"/>
          </a:xfrm>
          <a:prstGeom prst="rect">
            <a:avLst/>
          </a:prstGeom>
        </p:spPr>
      </p:pic>
      <p:sp>
        <p:nvSpPr>
          <p:cNvPr id="6" name="Text 3"/>
          <p:cNvSpPr/>
          <p:nvPr/>
        </p:nvSpPr>
        <p:spPr>
          <a:xfrm>
            <a:off x="5349240" y="6089904"/>
            <a:ext cx="6659575" cy="347472"/>
          </a:xfrm>
          <a:prstGeom prst="rect">
            <a:avLst/>
          </a:prstGeom>
          <a:noFill/>
          <a:ln/>
        </p:spPr>
        <p:txBody>
          <a:bodyPr wrap="square" lIns="0" tIns="0" rIns="0" bIns="0" rtlCol="0" anchor="ctr"/>
          <a:lstStyle/>
          <a:p>
            <a:pPr algn="ctr" indent="0" marL="0">
              <a:buNone/>
            </a:pPr>
            <a:r>
              <a:rPr lang="en-US" sz="1600" i="1" dirty="0">
                <a:solidFill>
                  <a:srgbClr val="555555"/>
                </a:solidFill>
                <a:latin typeface="Times New Roman" pitchFamily="34" charset="0"/>
                <a:ea typeface="Times New Roman" pitchFamily="34" charset="-122"/>
                <a:cs typeface="Times New Roman" pitchFamily="34" charset="-120"/>
              </a:rPr>
              <a:t>Illustration: Lake Chad, an ecosystem</a:t>
            </a:r>
            <a:endParaRPr lang="en-US" sz="16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four components of the natural environment.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Climate, soil, drainage and flora (also relief and fauna).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ecosystem?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community of living things and their surroundings that depend on one another.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All the plants of a place are called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All the animals of a place are called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All the rivers and lakes of a place form the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Name the two natural regions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5: Natural Regions (Bio-climatic Zones) of Cameroon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4"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Environment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L'environnement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Ecosystem</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L'écosystème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Soil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sol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Flora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flore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Fauna</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faune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name="Slide 5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5"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Let's Preserve our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4: The Notion of the Environment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the natural environment. Identify the components of the natural environment. Explain what an ecosystem is.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identify the components of their natural environment and explain how they depend on one another.</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name="Slide 5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6"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Components of the Natural Environment; Ecosystems.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Name the two natural regions of Cameroon.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name="Slide 5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describe the school compound.</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compare a tree and a house.</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name rivers of Cameroon.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list animals of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draw two columns: living and non-living.</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name="Slide 5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1463040" cy="5833872"/>
          </a:xfrm>
          <a:prstGeom prst="rect">
            <a:avLst/>
          </a:prstGeom>
        </p:spPr>
      </p:pic>
      <p:sp>
        <p:nvSpPr>
          <p:cNvPr id="4" name="Text 1"/>
          <p:cNvSpPr/>
          <p:nvPr/>
        </p:nvSpPr>
        <p:spPr>
          <a:xfrm>
            <a:off x="1691640" y="1005840"/>
            <a:ext cx="101800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1691640" y="1783080"/>
            <a:ext cx="101800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1, Module 2: Preservation of the Environment.</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“Blue Wildebeest in the Lowveld” by Martin_Heigan, CC BY-NC-ND 2.0, via Flickr (https://www.flickr.com/photos/97303475@N00/2089079933)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“Niamey, Niger” by LenDog64, CC BY-ND 2.0, via Flickr (https://www.flickr.com/photos/45968460@N03/4422209893)</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“African Bush Elephants, Maasai Mara” by Ray in Manila, CC BY 2.0, via Flickr (https://www.flickr.com/photos/21186555@N07/50627864261)</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(Soil): “My date palm. Cool, huh?” by Hair Squared, CC BY-SA 2.0, via Flickr (https://www.flickr.com/photos/73119211@N00/3804244479)</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(Flora): “Amazon 11” by CIAT International Center for Tropical Agriculture, CC BY-SA 2.0, via Flickr (https://www.flickr.com/photos/38476503@N08/5641587148)</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name="Slide 5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board summary (Examples): “Lake Chad: almost gone” by GRIDArendal, CC BY-NC-SA 2.0, via Flickr (https://www.flickr.com/photos/148768555@N05/32323646926)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58</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58</Slides>
  <Notes>58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58</vt:i4>
      </vt:variant>
    </vt:vector>
  </HeadingPairs>
  <TitlesOfParts>
    <vt:vector size="6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lpstr>Slide 54</vt:lpstr>
      <vt:lpstr>Slide 55</vt:lpstr>
      <vt:lpstr>Slide 56</vt:lpstr>
      <vt:lpstr>Slide 57</vt:lpstr>
      <vt:lpstr>Slide 58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2026-09-28T21:32:27Z</dcterms:created>
  <dcterms:modified xsi:type="dcterms:W3CDTF">2026-09-28T21:32:27Z</dcterms:modified>
</cp:coreProperties>
</file>