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slideMasters/slideMaster35.xml" ContentType="application/vnd.openxmlformats-officedocument.presentationml.slideMaster+xml"/>
  <Override PartName="/ppt/slides/slide35.xml" ContentType="application/vnd.openxmlformats-officedocument.presentationml.slide+xml"/>
  <Override PartName="/ppt/slideMasters/slideMaster36.xml" ContentType="application/vnd.openxmlformats-officedocument.presentationml.slideMaster+xml"/>
  <Override PartName="/ppt/slides/slide36.xml" ContentType="application/vnd.openxmlformats-officedocument.presentationml.slide+xml"/>
  <Override PartName="/ppt/slideMasters/slideMaster37.xml" ContentType="application/vnd.openxmlformats-officedocument.presentationml.slideMaster+xml"/>
  <Override PartName="/ppt/slides/slide37.xml" ContentType="application/vnd.openxmlformats-officedocument.presentationml.slide+xml"/>
  <Override PartName="/ppt/slideMasters/slideMaster38.xml" ContentType="application/vnd.openxmlformats-officedocument.presentationml.slideMaster+xml"/>
  <Override PartName="/ppt/slides/slide38.xml" ContentType="application/vnd.openxmlformats-officedocument.presentationml.slide+xml"/>
  <Override PartName="/ppt/slideMasters/slideMaster39.xml" ContentType="application/vnd.openxmlformats-officedocument.presentationml.slideMaster+xml"/>
  <Override PartName="/ppt/slides/slide39.xml" ContentType="application/vnd.openxmlformats-officedocument.presentationml.slide+xml"/>
  <Override PartName="/ppt/slideMasters/slideMaster40.xml" ContentType="application/vnd.openxmlformats-officedocument.presentationml.slideMaster+xml"/>
  <Override PartName="/ppt/slides/slide40.xml" ContentType="application/vnd.openxmlformats-officedocument.presentationml.slide+xml"/>
  <Override PartName="/ppt/slideMasters/slideMaster41.xml" ContentType="application/vnd.openxmlformats-officedocument.presentationml.slideMaster+xml"/>
  <Override PartName="/ppt/slides/slide41.xml" ContentType="application/vnd.openxmlformats-officedocument.presentationml.slide+xml"/>
  <Override PartName="/ppt/slideMasters/slideMaster42.xml" ContentType="application/vnd.openxmlformats-officedocument.presentationml.slideMaster+xml"/>
  <Override PartName="/ppt/slides/slide42.xml" ContentType="application/vnd.openxmlformats-officedocument.presentationml.slide+xml"/>
  <Override PartName="/ppt/slideMasters/slideMaster43.xml" ContentType="application/vnd.openxmlformats-officedocument.presentationml.slideMaster+xml"/>
  <Override PartName="/ppt/slides/slide43.xml" ContentType="application/vnd.openxmlformats-officedocument.presentationml.slide+xml"/>
  <Override PartName="/ppt/slideMasters/slideMaster44.xml" ContentType="application/vnd.openxmlformats-officedocument.presentationml.slideMaster+xml"/>
  <Override PartName="/ppt/slides/slide44.xml" ContentType="application/vnd.openxmlformats-officedocument.presentationml.slide+xml"/>
  <Override PartName="/ppt/slideMasters/slideMaster45.xml" ContentType="application/vnd.openxmlformats-officedocument.presentationml.slideMaster+xml"/>
  <Override PartName="/ppt/slides/slide45.xml" ContentType="application/vnd.openxmlformats-officedocument.presentationml.slide+xml"/>
  <Override PartName="/ppt/slideMasters/slideMaster46.xml" ContentType="application/vnd.openxmlformats-officedocument.presentationml.slideMaster+xml"/>
  <Override PartName="/ppt/slides/slide46.xml" ContentType="application/vnd.openxmlformats-officedocument.presentationml.slide+xml"/>
  <Override PartName="/ppt/slideMasters/slideMaster47.xml" ContentType="application/vnd.openxmlformats-officedocument.presentationml.slideMaster+xml"/>
  <Override PartName="/ppt/slides/slide47.xml" ContentType="application/vnd.openxmlformats-officedocument.presentationml.slide+xml"/>
  <Override PartName="/ppt/slideMasters/slideMaster48.xml" ContentType="application/vnd.openxmlformats-officedocument.presentationml.slideMaster+xml"/>
  <Override PartName="/ppt/slides/slide48.xml" ContentType="application/vnd.openxmlformats-officedocument.presentationml.slide+xml"/>
  <Override PartName="/ppt/slideMasters/slideMaster49.xml" ContentType="application/vnd.openxmlformats-officedocument.presentationml.slideMaster+xml"/>
  <Override PartName="/ppt/slides/slide49.xml" ContentType="application/vnd.openxmlformats-officedocument.presentationml.slide+xml"/>
  <Override PartName="/ppt/slideMasters/slideMaster50.xml" ContentType="application/vnd.openxmlformats-officedocument.presentationml.slideMaster+xml"/>
  <Override PartName="/ppt/slides/slide50.xml" ContentType="application/vnd.openxmlformats-officedocument.presentationml.slide+xml"/>
  <Override PartName="/ppt/slideMasters/slideMaster51.xml" ContentType="application/vnd.openxmlformats-officedocument.presentationml.slideMaster+xml"/>
  <Override PartName="/ppt/slides/slide51.xml" ContentType="application/vnd.openxmlformats-officedocument.presentationml.slide+xml"/>
  <Override PartName="/ppt/slideMasters/slideMaster52.xml" ContentType="application/vnd.openxmlformats-officedocument.presentationml.slideMaster+xml"/>
  <Override PartName="/ppt/slides/slide5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Lst>
  <p:notesMasterIdLst>
    <p:notesMasterId r:id="rId54"/>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slide" Target="slides/slide38.xml"/><Relationship Id="rId40" Type="http://schemas.openxmlformats.org/officeDocument/2006/relationships/slide" Target="slides/slide39.xml"/><Relationship Id="rId41" Type="http://schemas.openxmlformats.org/officeDocument/2006/relationships/slide" Target="slides/slide40.xml"/><Relationship Id="rId42" Type="http://schemas.openxmlformats.org/officeDocument/2006/relationships/slide" Target="slides/slide41.xml"/><Relationship Id="rId43" Type="http://schemas.openxmlformats.org/officeDocument/2006/relationships/slide" Target="slides/slide42.xml"/><Relationship Id="rId44" Type="http://schemas.openxmlformats.org/officeDocument/2006/relationships/slide" Target="slides/slide43.xml"/><Relationship Id="rId45" Type="http://schemas.openxmlformats.org/officeDocument/2006/relationships/slide" Target="slides/slide44.xml"/><Relationship Id="rId46" Type="http://schemas.openxmlformats.org/officeDocument/2006/relationships/slide" Target="slides/slide45.xml"/><Relationship Id="rId47" Type="http://schemas.openxmlformats.org/officeDocument/2006/relationships/slide" Target="slides/slide46.xml"/><Relationship Id="rId48" Type="http://schemas.openxmlformats.org/officeDocument/2006/relationships/slide" Target="slides/slide47.xml"/><Relationship Id="rId49" Type="http://schemas.openxmlformats.org/officeDocument/2006/relationships/slide" Target="slides/slide48.xml"/><Relationship Id="rId50" Type="http://schemas.openxmlformats.org/officeDocument/2006/relationships/slide" Target="slides/slide49.xml"/><Relationship Id="rId51" Type="http://schemas.openxmlformats.org/officeDocument/2006/relationships/slide" Target="slides/slide50.xml"/><Relationship Id="rId52" Type="http://schemas.openxmlformats.org/officeDocument/2006/relationships/slide" Target="slides/slide51.xml"/><Relationship Id="rId53" Type="http://schemas.openxmlformats.org/officeDocument/2006/relationships/slide" Target="slides/slide52.xml"/><Relationship Id="rId54" Type="http://schemas.openxmlformats.org/officeDocument/2006/relationships/notesMaster" Target="notesMasters/notesMaster1.xml"/><Relationship Id="rId55" Type="http://schemas.openxmlformats.org/officeDocument/2006/relationships/presProps" Target="presProps.xml"/><Relationship Id="rId56" Type="http://schemas.openxmlformats.org/officeDocument/2006/relationships/viewProps" Target="viewProps.xml"/><Relationship Id="rId57" Type="http://schemas.openxmlformats.org/officeDocument/2006/relationships/theme" Target="theme/theme1.xml"/><Relationship Id="rId5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_rels/notesSlide3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5.xml"/>
		</Relationships>
</file>

<file path=ppt/notesSlides/_rels/notesSlide3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6.xml"/>
		</Relationships>
</file>

<file path=ppt/notesSlides/_rels/notesSlide3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7.xml"/>
		</Relationships>
</file>

<file path=ppt/notesSlides/_rels/notesSlide3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8.xml"/>
		</Relationships>
</file>

<file path=ppt/notesSlides/_rels/notesSlide3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9.xml"/>
		</Relationships>
</file>

<file path=ppt/notesSlides/_rels/notesSlide4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0.xml"/>
		</Relationships>
</file>

<file path=ppt/notesSlides/_rels/notesSlide4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1.xml"/>
		</Relationships>
</file>

<file path=ppt/notesSlides/_rels/notesSlide4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2.xml"/>
		</Relationships>
</file>

<file path=ppt/notesSlides/_rels/notesSlide4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3.xml"/>
		</Relationships>
</file>

<file path=ppt/notesSlides/_rels/notesSlide4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4.xml"/>
		</Relationships>
</file>

<file path=ppt/notesSlides/_rels/notesSlide4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5.xml"/>
		</Relationships>
</file>

<file path=ppt/notesSlides/_rels/notesSlide4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6.xml"/>
		</Relationships>
</file>

<file path=ppt/notesSlides/_rels/notesSlide4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7.xml"/>
		</Relationships>
</file>

<file path=ppt/notesSlides/_rels/notesSlide4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8.xml"/>
		</Relationships>
</file>

<file path=ppt/notesSlides/_rels/notesSlide4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9.xml"/>
		</Relationships>
</file>

<file path=ppt/notesSlides/_rels/notesSlide5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0.xml"/>
		</Relationships>
</file>

<file path=ppt/notesSlides/_rels/notesSlide5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1.xml"/>
		</Relationships>
</file>

<file path=ppt/notesSlides/_rels/notesSlide5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morning, class, and welcome to our geography lesson. I am your geography teacher, Mr Kamdem. Today we are starting Lesson 7: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lesson is for Form 1. It belongs to Module 3: Protection from the Wrath of Nature. We shall need 2 periods to cover it.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topic is Protection against the Wrath of Nature, and the sub-topic is Climatic Disturbances. The key notions we shall use today are: the atmosphere, ozone layer, global warming, greenhouse effect. At the end, you should be able to do this: learners are able to describe the composition and layers of the atmosphere and explain why it must be protected.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Before we start the new lesson, let us correct the homework I gave you at the end of Practical Work 5: Solid Waste Management. The question was: Name the two main gases of the atmosphere. Take out your exercise books.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a good answer. Nitrogen (about 78 %) and oxygen (about 21 %). Compare it with your own answer and correct your work in 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plan of our lesson today. First, we shall correct the homework. Then we shall look at the objectives and recall what you already know. After that, we shall study a situation from real life and the action to take, and do the learning activities. Finally, we shall copy the board summary, do the evaluation and the remediation, and I will give you the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By the end of this lesson, you should be able to do three things. Number 1: define the atmosphere. Number 2: give the composition of the atmosphere. Number 3: sketch and describe the structure of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first remember what you already know. The Earth is covered by land, water and air. We breathe oxygen. Clouds and rain form in the sky. Keep this in mind, because we shall build on it today.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Listen carefully to this situation from real life. During a flight from Garoua to Douala, Salif looks through the window. The plane is far above the clouds and the sky is very clear. Salif asks the flight attendant: "What is this air around the Earth made of, and are there layers in it?" Think about it, because I am going to ask you some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1: What is the problem in the situation?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Salif does not know what the air around the Earth is made of and whether it has layers.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2: Where are the clouds?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Below the plane, in the lowest layer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Question 3: What is the name of the layer of air around the Earth? Think for a moment, then raise your hand to answer.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Good.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From this situation, the action we are working towards in this lesson is the following: protect the air: avoid burning plastics and tyres.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Why is this lesson important for you? This lesson helps us to know the air that protects life on the Earth.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1. Look carefully at this picture: the sky seen from an aeroplane.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1: What surrounds the Earth above the ground?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A layer of air called the atmosphere.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2. Look carefully at this diagram: the gases of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2: Which gas forms most of the air?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Nitrogen, about 78 %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3. Look carefully at this diagram: the gases of the air.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3: Which gas do we breathe to live?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Oxygen, about 21 % of the air.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4. Look carefully at this picture: a big storm cloud.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4: In which part of the atmosphere do clouds, rain and wind occur?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In the lowest layer, the troposphere.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Activity 5. Look carefully at this picture: the ozone hole over the South Pole. Observe every detail before I ask the question.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Here is the question for Activity 5: Why is the ozone layer important? Take one minute to think and write your answer in your rough notebook.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check the answer together. It stops the harmful rays of the Sun that cause skin cancer and eye diseases.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we are going to copy the board summary. Write the title and the headings neatly in your notebooks. I will give you enough time for each slide, so do not rush.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the definitions. The key terms of this lesson are defined as follows. On this slide we have Atmosphere and Ozone layer.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Composition of the Atmosphere. The atmosphere is made up of the following elements. Copy the point on Nitrogen on the left, then draw the diagram on the right: the gases of the air.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Composition of the Atmosphere. On this slide we have Oxygen, Carbon dioxide and Water vapour, dust and other gases.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copy Structure of the Atmosphere. The atmosphere has the following layers. Copy the point on Troposphere on the left, then draw the diagram on the right: the layers of the atmosphere.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Stratosphere on the left, then draw the diagram on the right: the ozone layer seen from space.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 continue with Structure of the Atmosphere. On this slide we have Mesosphere. Write each point on a new line, with the key term first, and explain it in your own words when we revise.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Copy the point on Thermosphere on the left, then draw the diagram on the right: an aurora. Give it a title and label it clearly.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1: What is the atmosphere?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the layer of air around the Earth.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Now let us check what you have understood. Question 2: In which layer is the ozone layer? Answer in your exercise book.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expected answer is: in the stratosphere. If you got it right, well done.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those who need more practice, fill in the blanks in your exercise book. The answers are: number 1, nitrogen; number 2, troposphere; number 3, stratosphere.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For your homework: Name the two types of atmospheric pressure. We shall correct it at the beginning of our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Our next lesson will be on Lesson 8: Atmospheric Circulation. Thank you for your attention, and see you next time.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Let us play the bilingual game. I say a word in English, and you give me the French word. Then we do the reverse.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record this information in the official logbook of the class after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 complete the second page of the logbook: the matter taught, the evaluation, the homework and the attendance.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for me, the teacher: it gives the timing of the lesson and what to do if the projector is not available.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 the references and picture credits used to prepare this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image-1003-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ESSON">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640080" cy="658368"/>
          </a:xfrm>
          <a:prstGeom prst="rect">
            <a:avLst/>
          </a:prstGeom>
          <a:solidFill>
            <a:srgbClr val="990011"/>
          </a:solidFill>
          <a:ln w="12700">
            <a:solidFill>
              <a:srgbClr val="990011"/>
            </a:solidFill>
            <a:prstDash val="solid"/>
          </a:ln>
        </p:spPr>
      </p:sp>
      <p:sp>
        <p:nvSpPr>
          <p:cNvPr id="3" name="Text 1"/>
          <p:cNvSpPr/>
          <p:nvPr/>
        </p:nvSpPr>
        <p:spPr>
          <a:xfrm>
            <a:off x="640080" y="0"/>
            <a:ext cx="4754880" cy="658368"/>
          </a:xfrm>
          <a:prstGeom prst="homePlate">
            <a:avLst/>
          </a:prstGeom>
          <a:solidFill>
            <a:srgbClr val="990011"/>
          </a:solidFill>
          <a:ln>
            <a:solidFill>
              <a:srgbClr val="990011"/>
            </a:solidFill>
          </a:ln>
        </p:spPr>
        <p:txBody>
          <a:bodyPr wrap="square" lIns="0" tIns="0" rIns="0" bIns="0" rtlCol="0" anchor="ctr"/>
          <a:lstStyle/>
          <a:p>
            <a:pPr algn="ctr" indent="0" marL="0">
              <a:buNone/>
            </a:pPr>
            <a:r>
              <a:rPr lang="en-US" sz="1800" b="1" dirty="0">
                <a:solidFill>
                  <a:srgbClr val="FFFFFF"/>
                </a:solidFill>
                <a:latin typeface="Calibri" pitchFamily="34" charset="0"/>
                <a:ea typeface="Calibri" pitchFamily="34" charset="-122"/>
                <a:cs typeface="Calibri" pitchFamily="34" charset="-120"/>
              </a:rPr>
              <a:t>GEOGRAPHY / FORM 1</a:t>
            </a:r>
            <a:endParaRPr lang="en-US" sz="1800" dirty="0"/>
          </a:p>
        </p:txBody>
      </p:sp>
      <p:sp>
        <p:nvSpPr>
          <p:cNvPr id="4" name="Text 2"/>
          <p:cNvSpPr/>
          <p:nvPr/>
        </p:nvSpPr>
        <p:spPr>
          <a:xfrm>
            <a:off x="5212080" y="0"/>
            <a:ext cx="6979615" cy="658368"/>
          </a:xfrm>
          <a:prstGeom prst="chevron">
            <a:avLst/>
          </a:prstGeom>
          <a:solidFill>
            <a:srgbClr val="1C3F6E"/>
          </a:solidFill>
          <a:ln>
            <a:solidFill>
              <a:srgbClr val="1C3F6E"/>
            </a:solidFill>
          </a:ln>
        </p:spPr>
        <p:txBody>
          <a:bodyPr wrap="square" lIns="0" tIns="0" rIns="0" bIns="0" rtlCol="0" anchor="ctr"/>
          <a:lstStyle/>
          <a:p>
            <a:pPr algn="ctr" indent="0" marL="0">
              <a:buNone/>
            </a:pPr>
            <a:r>
              <a:rPr lang="en-US" sz="1600" b="1" dirty="0">
                <a:solidFill>
                  <a:srgbClr val="FFFFFF"/>
                </a:solidFill>
                <a:latin typeface="Calibri" pitchFamily="34" charset="0"/>
                <a:ea typeface="Calibri" pitchFamily="34" charset="-122"/>
                <a:cs typeface="Calibri" pitchFamily="34" charset="-120"/>
              </a:rPr>
              <a:t>LESSON 7: THE ATMOSPHERE</a:t>
            </a:r>
            <a:endParaRPr lang="en-US" sz="1600" dirty="0"/>
          </a:p>
        </p:txBody>
      </p:sp>
      <p:sp>
        <p:nvSpPr>
          <p:cNvPr id="5" name="Shape 3"/>
          <p:cNvSpPr/>
          <p:nvPr/>
        </p:nvSpPr>
        <p:spPr>
          <a:xfrm>
            <a:off x="0" y="6492240"/>
            <a:ext cx="2743200" cy="365760"/>
          </a:xfrm>
          <a:prstGeom prst="rect">
            <a:avLst/>
          </a:prstGeom>
          <a:solidFill>
            <a:srgbClr val="1C3F6E"/>
          </a:solidFill>
          <a:ln w="12700">
            <a:solidFill>
              <a:srgbClr val="1C3F6E"/>
            </a:solidFill>
            <a:prstDash val="solid"/>
          </a:ln>
        </p:spPr>
      </p:sp>
      <p:sp>
        <p:nvSpPr>
          <p:cNvPr id="6"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7"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8"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9"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0"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pic>
        <p:nvPicPr>
          <p:cNvPr id="2" name="Image 0" descr="/home/claude/f4/img/minesec_sheet.png">    </p:cNvPr>
          <p:cNvPicPr>
            <a:picLocks noChangeAspect="1"/>
          </p:cNvPicPr>
          <p:nvPr/>
        </p:nvPicPr>
        <p:blipFill>
          <a:blip r:embed="rId1"/>
          <a:stretch>
            <a:fillRect/>
          </a:stretch>
        </p:blipFill>
        <p:spPr>
          <a:xfrm>
            <a:off x="0" y="0"/>
            <a:ext cx="5888736" cy="6492240"/>
          </a:xfrm>
          <a:prstGeom prst="rect">
            <a:avLst/>
          </a:prstGeom>
        </p:spPr>
      </p:pic>
      <p:sp>
        <p:nvSpPr>
          <p:cNvPr id="3" name="Text 0"/>
          <p:cNvSpPr/>
          <p:nvPr/>
        </p:nvSpPr>
        <p:spPr>
          <a:xfrm>
            <a:off x="6126480" y="502920"/>
            <a:ext cx="5760720" cy="822960"/>
          </a:xfrm>
          <a:prstGeom prst="rect">
            <a:avLst/>
          </a:prstGeom>
          <a:noFill/>
          <a:ln/>
        </p:spPr>
        <p:txBody>
          <a:bodyPr wrap="square" lIns="0" tIns="0" rIns="0" bIns="0" rtlCol="0" anchor="ctr"/>
          <a:lstStyle/>
          <a:p>
            <a:pPr algn="ctr" indent="0" marL="0">
              <a:buNone/>
            </a:pPr>
            <a:r>
              <a:rPr lang="en-US" sz="4400" b="1" dirty="0">
                <a:solidFill>
                  <a:srgbClr val="1565C0"/>
                </a:solidFill>
                <a:latin typeface="Times New Roman" pitchFamily="34" charset="0"/>
                <a:ea typeface="Times New Roman" pitchFamily="34" charset="-122"/>
                <a:cs typeface="Times New Roman" pitchFamily="34" charset="-120"/>
              </a:rPr>
              <a:t>MINESEC</a:t>
            </a:r>
            <a:endParaRPr lang="en-US" sz="4400" dirty="0"/>
          </a:p>
        </p:txBody>
      </p:sp>
      <p:sp>
        <p:nvSpPr>
          <p:cNvPr id="4" name="Text 1"/>
          <p:cNvSpPr/>
          <p:nvPr/>
        </p:nvSpPr>
        <p:spPr>
          <a:xfrm>
            <a:off x="6126480" y="1325880"/>
            <a:ext cx="5760720" cy="457200"/>
          </a:xfrm>
          <a:prstGeom prst="rect">
            <a:avLst/>
          </a:prstGeom>
          <a:noFill/>
          <a:ln/>
        </p:spPr>
        <p:txBody>
          <a:bodyPr wrap="square" lIns="0" tIns="0" rIns="0" bIns="0" rtlCol="0" anchor="ctr"/>
          <a:lstStyle/>
          <a:p>
            <a:pPr algn="ctr" indent="0" marL="0">
              <a:buNone/>
            </a:pPr>
            <a:r>
              <a:rPr lang="en-US" sz="1800" b="1" dirty="0">
                <a:solidFill>
                  <a:srgbClr val="1C3F6E"/>
                </a:solidFill>
                <a:latin typeface="Calibri" pitchFamily="34" charset="0"/>
                <a:ea typeface="Calibri" pitchFamily="34" charset="-122"/>
                <a:cs typeface="Calibri" pitchFamily="34" charset="-120"/>
              </a:rPr>
              <a:t>DGCAST-GAROUA  —  GEOGRAPHY DEPARTMENT</a:t>
            </a:r>
            <a:endParaRPr lang="en-US" sz="1800" dirty="0"/>
          </a:p>
        </p:txBody>
      </p:sp>
      <p:sp>
        <p:nvSpPr>
          <p:cNvPr id="5" name="Text 2"/>
          <p:cNvSpPr/>
          <p:nvPr/>
        </p:nvSpPr>
        <p:spPr>
          <a:xfrm>
            <a:off x="6126480" y="5257800"/>
            <a:ext cx="5760720" cy="914400"/>
          </a:xfrm>
          <a:prstGeom prst="rect">
            <a:avLst/>
          </a:prstGeom>
          <a:noFill/>
          <a:ln/>
        </p:spPr>
        <p:txBody>
          <a:bodyPr wrap="square" lIns="0" tIns="0" rIns="0" bIns="0" rtlCol="0" anchor="ctr"/>
          <a:lstStyle/>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KAMDEM Emmanuel Berthaut</a:t>
            </a:r>
            <a:endParaRPr lang="en-US" sz="2000" dirty="0"/>
          </a:p>
          <a:p>
            <a:pPr algn="ctr" indent="0" marL="0">
              <a:buNone/>
            </a:pPr>
            <a:r>
              <a:rPr lang="en-US" sz="2000" b="1" dirty="0">
                <a:solidFill>
                  <a:srgbClr val="111111"/>
                </a:solidFill>
                <a:latin typeface="Times New Roman" pitchFamily="34" charset="0"/>
                <a:ea typeface="Times New Roman" pitchFamily="34" charset="-122"/>
                <a:cs typeface="Times New Roman" pitchFamily="34" charset="-120"/>
              </a:rPr>
              <a:t>Geography Teacher</a:t>
            </a:r>
            <a:endParaRPr lang="en-US" sz="2000" dirty="0"/>
          </a:p>
        </p:txBody>
      </p:sp>
      <p:sp>
        <p:nvSpPr>
          <p:cNvPr id="6" name="Shape 3"/>
          <p:cNvSpPr/>
          <p:nvPr/>
        </p:nvSpPr>
        <p:spPr>
          <a:xfrm>
            <a:off x="0" y="6492240"/>
            <a:ext cx="2743200" cy="365760"/>
          </a:xfrm>
          <a:prstGeom prst="rect">
            <a:avLst/>
          </a:prstGeom>
          <a:solidFill>
            <a:srgbClr val="1C3F6E"/>
          </a:solidFill>
          <a:ln w="12700">
            <a:solidFill>
              <a:srgbClr val="1C3F6E"/>
            </a:solidFill>
            <a:prstDash val="solid"/>
          </a:ln>
        </p:spPr>
      </p:sp>
      <p:sp>
        <p:nvSpPr>
          <p:cNvPr id="7" name="Text 4"/>
          <p:cNvSpPr/>
          <p:nvPr/>
        </p:nvSpPr>
        <p:spPr>
          <a:xfrm>
            <a:off x="137160" y="6492240"/>
            <a:ext cx="2560320" cy="365760"/>
          </a:xfrm>
          <a:prstGeom prst="rect">
            <a:avLst/>
          </a:prstGeom>
          <a:noFill/>
          <a:ln/>
        </p:spPr>
        <p:txBody>
          <a:bodyPr wrap="square" lIns="0" tIns="0" rIns="0" bIns="0" rtlCol="0" anchor="ctr"/>
          <a:lstStyle/>
          <a:p>
            <a:pPr indent="0" marL="0">
              <a:buNone/>
            </a:pPr>
            <a:r>
              <a:rPr lang="en-US" sz="1300" dirty="0">
                <a:solidFill>
                  <a:srgbClr val="FFFFFF"/>
                </a:solidFill>
                <a:latin typeface="Calibri" pitchFamily="34" charset="0"/>
                <a:ea typeface="Calibri" pitchFamily="34" charset="-122"/>
                <a:cs typeface="Calibri" pitchFamily="34" charset="-120"/>
              </a:rPr>
              <a:t>Date: 2026 / 2027</a:t>
            </a:r>
            <a:endParaRPr lang="en-US" sz="1300" dirty="0"/>
          </a:p>
        </p:txBody>
      </p:sp>
      <p:sp>
        <p:nvSpPr>
          <p:cNvPr id="8" name="Shape 5"/>
          <p:cNvSpPr/>
          <p:nvPr/>
        </p:nvSpPr>
        <p:spPr>
          <a:xfrm>
            <a:off x="2743200" y="6492240"/>
            <a:ext cx="6035040" cy="365760"/>
          </a:xfrm>
          <a:prstGeom prst="rect">
            <a:avLst/>
          </a:prstGeom>
          <a:solidFill>
            <a:srgbClr val="B8860B"/>
          </a:solidFill>
          <a:ln w="12700">
            <a:solidFill>
              <a:srgbClr val="B8860B"/>
            </a:solidFill>
            <a:prstDash val="solid"/>
          </a:ln>
        </p:spPr>
      </p:sp>
      <p:sp>
        <p:nvSpPr>
          <p:cNvPr id="9" name="Text 6"/>
          <p:cNvSpPr/>
          <p:nvPr/>
        </p:nvSpPr>
        <p:spPr>
          <a:xfrm>
            <a:off x="2834640" y="6492240"/>
            <a:ext cx="58521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Calibri" pitchFamily="34" charset="0"/>
                <a:ea typeface="Calibri" pitchFamily="34" charset="-122"/>
                <a:cs typeface="Calibri" pitchFamily="34" charset="-120"/>
              </a:rPr>
              <a:t>Copyright MINESEC  —  HOD – DGCAST-GAROUA</a:t>
            </a:r>
            <a:endParaRPr lang="en-US" sz="1300" dirty="0"/>
          </a:p>
        </p:txBody>
      </p:sp>
      <p:sp>
        <p:nvSpPr>
          <p:cNvPr id="10" name="Shape 7"/>
          <p:cNvSpPr/>
          <p:nvPr/>
        </p:nvSpPr>
        <p:spPr>
          <a:xfrm>
            <a:off x="8778240" y="6492240"/>
            <a:ext cx="3413455" cy="365760"/>
          </a:xfrm>
          <a:prstGeom prst="rect">
            <a:avLst/>
          </a:prstGeom>
          <a:solidFill>
            <a:srgbClr val="36454F"/>
          </a:solidFill>
          <a:ln w="12700">
            <a:solidFill>
              <a:srgbClr val="36454F"/>
            </a:solidFill>
            <a:prstDash val="solid"/>
          </a:ln>
        </p:spPr>
      </p:sp>
      <p:sp>
        <p:nvSpPr>
          <p:cNvPr id="11" name="Text 8"/>
          <p:cNvSpPr/>
          <p:nvPr/>
        </p:nvSpPr>
        <p:spPr>
          <a:xfrm>
            <a:off x="8869680" y="6492240"/>
            <a:ext cx="3200400" cy="365760"/>
          </a:xfrm>
          <a:prstGeom prst="rect">
            <a:avLst/>
          </a:prstGeom>
          <a:noFill/>
          <a:ln/>
        </p:spPr>
        <p:txBody>
          <a:bodyPr wrap="square" lIns="0" tIns="0" rIns="0" bIns="0" rtlCol="0" anchor="ctr"/>
          <a:lstStyle/>
          <a:p>
            <a:pPr algn="r" indent="0" marL="0">
              <a:buNone/>
            </a:pPr>
            <a:r>
              <a:rPr lang="en-US" sz="1300" dirty="0">
                <a:solidFill>
                  <a:srgbClr val="FFFFFF"/>
                </a:solidFill>
                <a:latin typeface="Calibri" pitchFamily="34" charset="0"/>
                <a:ea typeface="Calibri" pitchFamily="34" charset="-122"/>
                <a:cs typeface="Calibri" pitchFamily="34" charset="-120"/>
              </a:rPr>
              <a:t>Mr KAMDEM E.  —  Geography</a:t>
            </a:r>
            <a:endParaRPr lang="en-US" sz="13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slideLayout" Target="../slideLayouts/slideLayout2.xml"/><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jpg"/><Relationship Id="rId2" Type="http://schemas.openxmlformats.org/officeDocument/2006/relationships/slideLayout" Target="../slideLayouts/slideLayout2.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slideLayout" Target="../slideLayouts/slideLayout2.xm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2.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image-21-1.png"/><Relationship Id="rId2" Type="http://schemas.openxmlformats.org/officeDocument/2006/relationships/slideLayout" Target="../slideLayouts/slideLayout2.xm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2.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slideLayout" Target="../slideLayouts/slideLayout2.xml"/><Relationship Id="rId3"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slideLayout" Target="../slideLayouts/slideLayout2.xm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image" Target="../media/image-25-1.png"/><Relationship Id="rId2" Type="http://schemas.openxmlformats.org/officeDocument/2006/relationships/slideLayout" Target="../slideLayouts/slideLayout2.xm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image" Target="../media/image-26-1.png"/><Relationship Id="rId2" Type="http://schemas.openxmlformats.org/officeDocument/2006/relationships/slideLayout" Target="../slideLayouts/slideLayout2.xm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jpg"/><Relationship Id="rId2" Type="http://schemas.openxmlformats.org/officeDocument/2006/relationships/slideLayout" Target="../slideLayouts/slideLayout2.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image" Target="../media/image-28-1.png"/><Relationship Id="rId2" Type="http://schemas.openxmlformats.org/officeDocument/2006/relationships/slideLayout" Target="../slideLayouts/slideLayout2.xml"/><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slideLayout" Target="../slideLayouts/slideLayout2.xml"/><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jpg"/><Relationship Id="rId2" Type="http://schemas.openxmlformats.org/officeDocument/2006/relationships/slideLayout" Target="../slideLayouts/slideLayout2.xml"/><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image" Target="../media/image-31-1.png"/><Relationship Id="rId2" Type="http://schemas.openxmlformats.org/officeDocument/2006/relationships/slideLayout" Target="../slideLayouts/slideLayout2.xml"/><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image" Target="../media/image-32-1.png"/><Relationship Id="rId2" Type="http://schemas.openxmlformats.org/officeDocument/2006/relationships/slideLayout" Target="../slideLayouts/slideLayout2.xml"/><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image" Target="../media/image-33-1.png"/><Relationship Id="rId2" Type="http://schemas.openxmlformats.org/officeDocument/2006/relationships/slideLayout" Target="../slideLayouts/slideLayout2.xm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image" Target="../media/image-34-1.png"/><Relationship Id="rId2" Type="http://schemas.openxmlformats.org/officeDocument/2006/relationships/slideLayout" Target="../slideLayouts/slideLayout2.xm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image" Target="../media/image-35-1.png"/><Relationship Id="rId2" Type="http://schemas.openxmlformats.org/officeDocument/2006/relationships/slideLayout" Target="../slideLayouts/slideLayout2.xm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image" Target="../media/image-36-1.png"/><Relationship Id="rId2" Type="http://schemas.openxmlformats.org/officeDocument/2006/relationships/slideLayout" Target="../slideLayouts/slideLayout2.xm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image" Target="../media/image-37-1.png"/><Relationship Id="rId2" Type="http://schemas.openxmlformats.org/officeDocument/2006/relationships/slideLayout" Target="../slideLayouts/slideLayout2.xml"/><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image" Target="../media/image-38-1.jpg"/><Relationship Id="rId2" Type="http://schemas.openxmlformats.org/officeDocument/2006/relationships/slideLayout" Target="../slideLayouts/slideLayout2.xm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image" Target="../media/image-39-1.png"/><Relationship Id="rId2" Type="http://schemas.openxmlformats.org/officeDocument/2006/relationships/slideLayout" Target="../slideLayouts/slideLayout2.xm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image" Target="../media/image-40-1.jpg"/><Relationship Id="rId2" Type="http://schemas.openxmlformats.org/officeDocument/2006/relationships/slideLayout" Target="../slideLayouts/slideLayout2.xml"/><Relationship Id="rId3"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image" Target="../media/image-41-1.png"/><Relationship Id="rId2" Type="http://schemas.openxmlformats.org/officeDocument/2006/relationships/slideLayout" Target="../slideLayouts/slideLayout2.xml"/><Relationship Id="rId3"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image" Target="../media/image-42-1.png"/><Relationship Id="rId2" Type="http://schemas.openxmlformats.org/officeDocument/2006/relationships/slideLayout" Target="../slideLayouts/slideLayout2.xml"/><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image" Target="../media/image-43-1.png"/><Relationship Id="rId2" Type="http://schemas.openxmlformats.org/officeDocument/2006/relationships/slideLayout" Target="../slideLayouts/slideLayout2.xml"/><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image" Target="../media/image-44-1.png"/><Relationship Id="rId2" Type="http://schemas.openxmlformats.org/officeDocument/2006/relationships/slideLayout" Target="../slideLayouts/slideLayout2.xml"/><Relationship Id="rId3"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image" Target="../media/image-45-1.png"/><Relationship Id="rId2" Type="http://schemas.openxmlformats.org/officeDocument/2006/relationships/slideLayout" Target="../slideLayouts/slideLayout2.xml"/><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image" Target="../media/image-46-1.png"/><Relationship Id="rId2" Type="http://schemas.openxmlformats.org/officeDocument/2006/relationships/slideLayout" Target="../slideLayouts/slideLayout2.xml"/><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image" Target="../media/image-47-1.png"/><Relationship Id="rId2" Type="http://schemas.openxmlformats.org/officeDocument/2006/relationships/slideLayout" Target="../slideLayouts/slideLayout2.xml"/><Relationship Id="rId3"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image" Target="../media/image-51-1.png"/><Relationship Id="rId2" Type="http://schemas.openxmlformats.org/officeDocument/2006/relationships/slideLayout" Target="../slideLayouts/slideLayout2.xml"/><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image" Target="../media/image-52-1.png"/><Relationship Id="rId2" Type="http://schemas.openxmlformats.org/officeDocument/2006/relationships/slideLayout" Target="../slideLayouts/slideLayout2.xml"/><Relationship Id="rId3" Type="http://schemas.openxmlformats.org/officeDocument/2006/relationships/notesSlide" Target="../notesSlides/notesSlide52.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nvSpPr>
        <p:spPr>
          <a:xfrm>
            <a:off x="6126480" y="1965960"/>
            <a:ext cx="5760720" cy="1005840"/>
          </a:xfrm>
          <a:prstGeom prst="rect">
            <a:avLst/>
          </a:prstGeom>
          <a:noFill/>
          <a:ln/>
        </p:spPr>
        <p:txBody>
          <a:bodyPr wrap="square" lIns="0" tIns="0" rIns="0" bIns="0" rtlCol="0" anchor="ct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FORM 1</a:t>
            </a:r>
            <a:endParaRPr lang="en-US" sz="2600" dirty="0"/>
          </a:p>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GEOGRAPHY</a:t>
            </a:r>
            <a:endParaRPr lang="en-US" sz="2600" dirty="0"/>
          </a:p>
        </p:txBody>
      </p:sp>
      <p:sp>
        <p:nvSpPr>
          <p:cNvPr id="3" name="Text 1"/>
          <p:cNvSpPr/>
          <p:nvPr/>
        </p:nvSpPr>
        <p:spPr>
          <a:xfrm>
            <a:off x="6126480" y="3063240"/>
            <a:ext cx="5760720" cy="2103120"/>
          </a:xfrm>
          <a:prstGeom prst="rect">
            <a:avLst/>
          </a:prstGeom>
          <a:noFill/>
          <a:ln/>
        </p:spPr>
        <p:txBody>
          <a:bodyPr wrap="square" lIns="0" tIns="0" rIns="0" bIns="0" rtlCol="0" anchor="ctr">
            <a:normAutofit/>
          </a:bodyPr>
          <a:lstStyle/>
          <a:p>
            <a:pPr algn="ctr" indent="0" marL="0">
              <a:buNone/>
            </a:pPr>
            <a:r>
              <a:rPr lang="en-US" sz="2600" b="1" dirty="0">
                <a:solidFill>
                  <a:srgbClr val="111111"/>
                </a:solidFill>
                <a:latin typeface="Times New Roman" pitchFamily="34" charset="0"/>
                <a:ea typeface="Times New Roman" pitchFamily="34" charset="-122"/>
                <a:cs typeface="Times New Roman" pitchFamily="34" charset="-120"/>
              </a:rPr>
              <a:t>Lesson 7</a:t>
            </a:r>
            <a:endParaRPr lang="en-US" sz="2600" dirty="0"/>
          </a:p>
          <a:p>
            <a:pPr algn="ctr" indent="0" marL="0">
              <a:buNone/>
            </a:pPr>
            <a:r>
              <a:rPr lang="en-US" sz="3200" b="1" dirty="0">
                <a:solidFill>
                  <a:srgbClr val="990011"/>
                </a:solidFill>
                <a:latin typeface="Times New Roman" pitchFamily="34" charset="0"/>
                <a:ea typeface="Times New Roman" pitchFamily="34" charset="-122"/>
                <a:cs typeface="Times New Roman" pitchFamily="34" charset="-120"/>
              </a:rPr>
              <a:t>The Atmosphere</a:t>
            </a:r>
            <a:endParaRPr lang="en-US" sz="2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CLASS INFO</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Class, Chapter and Duration</a:t>
            </a:r>
            <a:endParaRPr lang="en-US" sz="3600" dirty="0"/>
          </a:p>
        </p:txBody>
      </p:sp>
      <p:graphicFrame>
        <p:nvGraphicFramePr>
          <p:cNvPr id="3"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Class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Form 1</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Chapter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Module 3: Protection from the Wrath of Nature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2200" b="1" dirty="0">
                          <a:solidFill>
                            <a:srgbClr val="FFFFFF"/>
                          </a:solidFill>
                          <a:latin typeface="Calibri" pitchFamily="34" charset="0"/>
                          <a:ea typeface="Calibri" pitchFamily="34" charset="-122"/>
                          <a:cs typeface="Calibri" pitchFamily="34" charset="-120"/>
                        </a:rPr>
                        <a:t>Duration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2200" dirty="0">
                          <a:solidFill>
                            <a:srgbClr val="111111"/>
                          </a:solidFill>
                          <a:latin typeface="Calibri" pitchFamily="34" charset="0"/>
                          <a:ea typeface="Calibri" pitchFamily="34" charset="-122"/>
                          <a:cs typeface="Calibri" pitchFamily="34" charset="-120"/>
                        </a:rPr>
                        <a:t>2 periods (2 × 50 minutes)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IDENTIFICATION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Identification</a:t>
            </a:r>
            <a:endParaRPr lang="en-US" sz="3600" dirty="0"/>
          </a:p>
        </p:txBody>
      </p:sp>
      <p:graphicFrame>
        <p:nvGraphicFramePr>
          <p:cNvPr id="4"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2377440"/>
                <a:gridCol w="8897112"/>
              </a:tblGrid>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Protection against the Wrath of Nature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Sub-topic</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Climatic Disturbances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Lesson</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Lesson 7: The Atmosphere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Notions / Concepts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The atmosphere, ozone layer, global warming, greenhouse effect.</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Syllabus focus</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Definition; composition; structure.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700" b="1" dirty="0">
                          <a:solidFill>
                            <a:srgbClr val="FFFFFF"/>
                          </a:solidFill>
                          <a:latin typeface="Calibri" pitchFamily="34" charset="0"/>
                          <a:ea typeface="Calibri" pitchFamily="34" charset="-122"/>
                          <a:cs typeface="Calibri" pitchFamily="34" charset="-120"/>
                        </a:rPr>
                        <a:t>Competence</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700" dirty="0">
                          <a:solidFill>
                            <a:srgbClr val="111111"/>
                          </a:solidFill>
                          <a:latin typeface="Calibri" pitchFamily="34" charset="0"/>
                          <a:ea typeface="Calibri" pitchFamily="34" charset="-122"/>
                          <a:cs typeface="Calibri" pitchFamily="34" charset="-120"/>
                        </a:rPr>
                        <a:t>Learners are able to describe the composition and layers of the atmosphere and explain why it must be protected.</a:t>
                      </a:r>
                      <a:endParaRPr lang="en-US" sz="17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of the 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C3F6E"/>
                </a:solidFill>
                <a:latin typeface="Times New Roman" pitchFamily="34" charset="0"/>
                <a:ea typeface="Times New Roman" pitchFamily="34" charset="-122"/>
                <a:cs typeface="Times New Roman" pitchFamily="34" charset="-120"/>
              </a:rPr>
              <a:t>Question (Practical Work 5: Solid Waste Management):</a:t>
            </a:r>
            <a:endParaRPr lang="en-US" sz="4000" dirty="0"/>
          </a:p>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main gases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 CORRECTION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Correction: 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Nitrogen (about 78 %) and oxygen (about 21 %).</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LESSON PLAN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Lesson Plan</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Correction of the homework</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Objectives and recall</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Real-life situation and action to take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Learning activities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Board summary</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Evaluation, remediation and homework</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OBJECTIVES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Objectives</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By the end of this lesson, you should be able to:</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Define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Give the composition of the atmosphere.</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Sketch and describe the structure of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PREVIOUS KNOWLEDGE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Previous Knowledge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The Earth is covered by land, water and air.</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We breathe oxygen.</a:t>
            </a:r>
            <a:endParaRPr lang="en-US" sz="4000" dirty="0"/>
          </a:p>
          <a:p>
            <a:pPr algn="l" marL="342900" indent="-342900">
              <a:spcAft>
                <a:spcPts val="800"/>
              </a:spcAft>
              <a:buSzPct val="100000"/>
              <a:buChar char="•"/>
            </a:pPr>
            <a:r>
              <a:rPr lang="en-US" sz="4000" dirty="0">
                <a:solidFill>
                  <a:srgbClr val="111111"/>
                </a:solidFill>
                <a:latin typeface="Times New Roman" pitchFamily="34" charset="0"/>
                <a:ea typeface="Times New Roman" pitchFamily="34" charset="-122"/>
                <a:cs typeface="Times New Roman" pitchFamily="34" charset="-120"/>
              </a:rPr>
              <a:t>Clouds and rain form in the sky.</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in Real Life</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During a flight from Garoua to Douala, Salif looks through the window. The plane is far above the clouds and the sky is very clear. Salif asks the flight attendant: "What is this air around the Earth made of, and are there layers in it?"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problem in the situation?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Salif does not know what the air around the Earth is made of and whether it has layers.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Where are the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Below the plane, in the lowest layer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Situation: Question 3</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name of 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REAL-LIFE SITUATION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Possible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ACTION TO TAKE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Action to Take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Protect the air: avoid burning plastics and tyres.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JUSTIFICATION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Justification of the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This lesson helps us to know the air that protects life on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a:t>
            </a:r>
            <a:endParaRPr lang="en-US" sz="3600" dirty="0"/>
          </a:p>
        </p:txBody>
      </p:sp>
      <p:pic>
        <p:nvPicPr>
          <p:cNvPr id="4" name="Image 0" descr="/home/claude/f4/img/v2/f4_planewindow.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sky seen from an aeroplane.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surrounds the Earth above the ground?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1. MEANING</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1: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A layer of air called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gases of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forms most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2: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Nitrogen, about 78 %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a:t>
            </a:r>
            <a:endParaRPr lang="en-US" sz="3600" dirty="0"/>
          </a:p>
        </p:txBody>
      </p:sp>
      <p:pic>
        <p:nvPicPr>
          <p:cNvPr id="4" name="Image 0" descr="/home/claude/f4/img/v2/gases_pie_big.png">    </p:cNvPr>
          <p:cNvPicPr>
            <a:picLocks noChangeAspect="1"/>
          </p:cNvPicPr>
          <p:nvPr/>
        </p:nvPicPr>
        <p:blipFill>
          <a:blip r:embed="rId1"/>
          <a:stretch>
            <a:fillRect/>
          </a:stretch>
        </p:blipFill>
        <p:spPr>
          <a:xfrm>
            <a:off x="629930" y="1783080"/>
            <a:ext cx="1093183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gases of the air.</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Which gas do we breathe to live?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2. COMPOSITION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3: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Oxygen, about 21 % of the air.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a:t>
            </a:r>
            <a:endParaRPr lang="en-US" sz="3600" dirty="0"/>
          </a:p>
        </p:txBody>
      </p:sp>
      <p:pic>
        <p:nvPicPr>
          <p:cNvPr id="4" name="Image 0" descr="/home/claude/f4/img/v2/f4_cumulonimbus.jpg">    </p:cNvPr>
          <p:cNvPicPr>
            <a:picLocks noChangeAspect="1"/>
          </p:cNvPicPr>
          <p:nvPr/>
        </p:nvPicPr>
        <p:blipFill>
          <a:blip r:embed="rId1"/>
          <a:stretch>
            <a:fillRect/>
          </a:stretch>
        </p:blipFill>
        <p:spPr>
          <a:xfrm>
            <a:off x="2248777" y="1783080"/>
            <a:ext cx="7694141"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A big storm cloud.</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part of the atmosphere do clouds, rain and wind occur?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4: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lowest layer, the troposphere.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29</a:t>
            </a:fld>
            <a:endParaRPr lang="en-US"/>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a:t>
            </a:r>
            <a:endParaRPr lang="en-US" sz="3600" dirty="0"/>
          </a:p>
        </p:txBody>
      </p:sp>
      <p:pic>
        <p:nvPicPr>
          <p:cNvPr id="4" name="Image 0" descr="/home/claude/f4/img/v2/f4_ozonehole.jpg">    </p:cNvPr>
          <p:cNvPicPr>
            <a:picLocks noChangeAspect="1"/>
          </p:cNvPicPr>
          <p:nvPr/>
        </p:nvPicPr>
        <p:blipFill>
          <a:blip r:embed="rId1"/>
          <a:stretch>
            <a:fillRect/>
          </a:stretch>
        </p:blipFill>
        <p:spPr>
          <a:xfrm>
            <a:off x="2246610" y="1783080"/>
            <a:ext cx="7698475" cy="4270248"/>
          </a:xfrm>
          <a:prstGeom prst="rect">
            <a:avLst/>
          </a:prstGeom>
        </p:spPr>
      </p:pic>
      <p:sp>
        <p:nvSpPr>
          <p:cNvPr id="5" name="Text 2"/>
          <p:cNvSpPr/>
          <p:nvPr/>
        </p:nvSpPr>
        <p:spPr>
          <a:xfrm>
            <a:off x="457200" y="6089904"/>
            <a:ext cx="11277295" cy="347472"/>
          </a:xfrm>
          <a:prstGeom prst="rect">
            <a:avLst/>
          </a:prstGeom>
          <a:noFill/>
          <a:ln/>
        </p:spPr>
        <p:txBody>
          <a:bodyPr wrap="square" lIns="0" tIns="0" rIns="0" bIns="0" rtlCol="0" anchor="ctr"/>
          <a:lstStyle/>
          <a:p>
            <a:pPr algn="ctr" indent="0" marL="0">
              <a:buNone/>
            </a:pPr>
            <a:r>
              <a:rPr lang="en-US" sz="1800" i="1" dirty="0">
                <a:solidFill>
                  <a:srgbClr val="555555"/>
                </a:solidFill>
                <a:latin typeface="Times New Roman" pitchFamily="34" charset="0"/>
                <a:ea typeface="Times New Roman" pitchFamily="34" charset="-122"/>
                <a:cs typeface="Times New Roman" pitchFamily="34" charset="-120"/>
              </a:rPr>
              <a:t>The ozone hole over the South Pole.</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Question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Why is the ozone layer important?</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31</a:t>
            </a:fld>
            <a:endParaRPr lang="en-US"/>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3. STRUCTURE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Activity 5: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stops the harmful rays of the Sun that cause skin cancer and eye diseases.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32</a:t>
            </a:fld>
            <a:endParaRPr lang="en-US"/>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Board Summary</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Topic: Protection against the Wrath of Nature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Sub-topic: Climatic Disturbances</a:t>
            </a:r>
            <a:endParaRPr lang="en-US" sz="4000" dirty="0"/>
          </a:p>
          <a:p>
            <a:pPr algn="l"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7: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33</a:t>
            </a:fld>
            <a:endParaRPr lang="en-US"/>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2468880" cy="5833872"/>
          </a:xfrm>
          <a:prstGeom prst="rect">
            <a:avLst/>
          </a:prstGeom>
        </p:spPr>
      </p:pic>
      <p:sp>
        <p:nvSpPr>
          <p:cNvPr id="4" name="Text 1"/>
          <p:cNvSpPr/>
          <p:nvPr/>
        </p:nvSpPr>
        <p:spPr>
          <a:xfrm>
            <a:off x="2697480" y="1005840"/>
            <a:ext cx="9174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DEFINITIONS</a:t>
            </a:r>
            <a:endParaRPr lang="en-US" sz="3600" dirty="0"/>
          </a:p>
        </p:txBody>
      </p:sp>
      <p:sp>
        <p:nvSpPr>
          <p:cNvPr id="5" name="Text 2"/>
          <p:cNvSpPr/>
          <p:nvPr/>
        </p:nvSpPr>
        <p:spPr>
          <a:xfrm>
            <a:off x="2697480" y="1783080"/>
            <a:ext cx="9174175" cy="4663440"/>
          </a:xfrm>
          <a:prstGeom prst="rect">
            <a:avLst/>
          </a:prstGeom>
          <a:noFill/>
          <a:ln/>
        </p:spPr>
        <p:txBody>
          <a:bodyPr wrap="square" lIns="0" tIns="0" rIns="0" bIns="0" rtlCol="0" anchor="t"/>
          <a:lstStyle/>
          <a:p>
            <a:pPr algn="l" indent="0" marL="0">
              <a:spcAft>
                <a:spcPts val="800"/>
              </a:spcAft>
              <a:buNone/>
            </a:pPr>
            <a:r>
              <a:rPr lang="en-US" sz="4000" i="1" dirty="0">
                <a:solidFill>
                  <a:srgbClr val="111111"/>
                </a:solidFill>
                <a:latin typeface="Times New Roman" pitchFamily="34" charset="0"/>
                <a:ea typeface="Times New Roman" pitchFamily="34" charset="-122"/>
                <a:cs typeface="Times New Roman" pitchFamily="34" charset="-120"/>
              </a:rPr>
              <a:t>The key terms of this lesson are defined as follows:</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Atmosphere: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the layer of air that surrounds the Earth and protects life.</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Ozone layer: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is a layer of ozone gas in the atmosphere that stops harmful rays of the Sun.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34</a:t>
            </a:fld>
            <a:endParaRPr lang="en-US"/>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3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Composition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is made up of the following elements: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Nitrogen: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forms about 78 % of the air.</a:t>
            </a:r>
            <a:endParaRPr lang="en-US" sz="3600" dirty="0"/>
          </a:p>
        </p:txBody>
      </p:sp>
      <p:pic>
        <p:nvPicPr>
          <p:cNvPr id="5" name="Image 0" descr="/home/claude/f4/img/v2/gases_pie_big.png">    </p:cNvPr>
          <p:cNvPicPr>
            <a:picLocks noChangeAspect="1"/>
          </p:cNvPicPr>
          <p:nvPr/>
        </p:nvPicPr>
        <p:blipFill>
          <a:blip r:embed="rId1"/>
          <a:stretch>
            <a:fillRect/>
          </a:stretch>
        </p:blipFill>
        <p:spPr>
          <a:xfrm>
            <a:off x="5349240" y="2617506"/>
            <a:ext cx="6659575" cy="2601397"/>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gases of the air</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35</a:t>
            </a:fld>
            <a:endParaRPr lang="en-US"/>
          </a:p>
        </p:txBody>
      </p:sp>
    </p:spTree>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name="Slide 3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1463040" cy="5833872"/>
          </a:xfrm>
          <a:prstGeom prst="rect">
            <a:avLst/>
          </a:prstGeom>
        </p:spPr>
      </p:pic>
      <p:sp>
        <p:nvSpPr>
          <p:cNvPr id="4" name="Text 1"/>
          <p:cNvSpPr/>
          <p:nvPr/>
        </p:nvSpPr>
        <p:spPr>
          <a:xfrm>
            <a:off x="1691640" y="1005840"/>
            <a:ext cx="101800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1. Composition of the Atmosphere</a:t>
            </a:r>
            <a:endParaRPr lang="en-US" sz="3600" dirty="0"/>
          </a:p>
        </p:txBody>
      </p:sp>
      <p:sp>
        <p:nvSpPr>
          <p:cNvPr id="5" name="Text 2"/>
          <p:cNvSpPr/>
          <p:nvPr/>
        </p:nvSpPr>
        <p:spPr>
          <a:xfrm>
            <a:off x="1691640" y="1783080"/>
            <a:ext cx="101800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Oxygen: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about 21 % of the air. People and animals breathe it.</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Carbon dioxide: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forms a very small part of the air. Plants use it to make food.</a:t>
            </a:r>
            <a:endParaRPr lang="en-US" sz="4000" dirty="0"/>
          </a:p>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Water vapour, dust and other gases: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They form the rest of the air and help to form clouds.</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36</a:t>
            </a:fld>
            <a:endParaRPr lang="en-US"/>
          </a:p>
        </p:txBody>
      </p:sp>
    </p:spTree>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name="Slide 3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i="1" dirty="0">
                <a:solidFill>
                  <a:srgbClr val="111111"/>
                </a:solidFill>
                <a:latin typeface="Times New Roman" pitchFamily="34" charset="0"/>
                <a:ea typeface="Times New Roman" pitchFamily="34" charset="-122"/>
                <a:cs typeface="Times New Roman" pitchFamily="34" charset="-120"/>
              </a:rPr>
              <a:t>The atmosphere has the following layers:</a:t>
            </a:r>
            <a:endParaRPr lang="en-US" sz="3600" dirty="0"/>
          </a:p>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Troposphere: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lowest layer, up to about 12 km. Weather occurs in it.</a:t>
            </a:r>
            <a:endParaRPr lang="en-US" sz="3600" dirty="0"/>
          </a:p>
        </p:txBody>
      </p:sp>
      <p:pic>
        <p:nvPicPr>
          <p:cNvPr id="5" name="Image 0" descr="/home/claude/f4/img/v2/atm_profile_gce.png">    </p:cNvPr>
          <p:cNvPicPr>
            <a:picLocks noChangeAspect="1"/>
          </p:cNvPicPr>
          <p:nvPr/>
        </p:nvPicPr>
        <p:blipFill>
          <a:blip r:embed="rId1"/>
          <a:stretch>
            <a:fillRect/>
          </a:stretch>
        </p:blipFill>
        <p:spPr>
          <a:xfrm>
            <a:off x="6358241" y="1783080"/>
            <a:ext cx="4641574" cy="4270248"/>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layers of the atmosphere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37</a:t>
            </a:fld>
            <a:endParaRPr lang="en-US"/>
          </a:p>
        </p:txBody>
      </p:sp>
    </p:spTree>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name="Slide 3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Stratosphere: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lies between about 12 and 50 km and contains the ozone layer.</a:t>
            </a:r>
            <a:endParaRPr lang="en-US" sz="3600" dirty="0"/>
          </a:p>
        </p:txBody>
      </p:sp>
      <p:pic>
        <p:nvPicPr>
          <p:cNvPr id="5" name="Image 0" descr="/home/claude/f4/img/v2/f4_ozonehole.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the ozone layer seen from space</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38</a:t>
            </a:fld>
            <a:endParaRPr lang="en-US"/>
          </a:p>
        </p:txBody>
      </p:sp>
    </p:spTree>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name="Slide 3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Mesosphere: </a:t>
            </a:r>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It lies between about 50 and 85 km and is very cold.</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39</a:t>
            </a:fld>
            <a:endParaRPr lang="en-US"/>
          </a:p>
        </p:txBody>
      </p:sp>
    </p:spTree>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name="Slide 4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BOARD SUMMARY</a:t>
            </a:r>
            <a:endParaRPr lang="en-US" sz="1400" dirty="0"/>
          </a:p>
        </p:txBody>
      </p:sp>
      <p:sp>
        <p:nvSpPr>
          <p:cNvPr id="3" name="Text 1"/>
          <p:cNvSpPr/>
          <p:nvPr/>
        </p:nvSpPr>
        <p:spPr>
          <a:xfrm>
            <a:off x="365760" y="1005840"/>
            <a:ext cx="114601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2. Structure of the Atmosphere</a:t>
            </a:r>
            <a:endParaRPr lang="en-US" sz="3600" dirty="0"/>
          </a:p>
        </p:txBody>
      </p:sp>
      <p:sp>
        <p:nvSpPr>
          <p:cNvPr id="4" name="Text 2"/>
          <p:cNvSpPr/>
          <p:nvPr/>
        </p:nvSpPr>
        <p:spPr>
          <a:xfrm>
            <a:off x="365760" y="1783080"/>
            <a:ext cx="4846320" cy="4617720"/>
          </a:xfrm>
          <a:prstGeom prst="rect">
            <a:avLst/>
          </a:prstGeom>
          <a:noFill/>
          <a:ln/>
        </p:spPr>
        <p:txBody>
          <a:bodyPr wrap="square" lIns="0" tIns="0" rIns="0" bIns="0" rtlCol="0" anchor="t"/>
          <a:lstStyle/>
          <a:p>
            <a:pPr algn="l" indent="0" marL="0">
              <a:spcAft>
                <a:spcPts val="800"/>
              </a:spcAft>
              <a:buNone/>
            </a:pPr>
            <a:r>
              <a:rPr lang="en-US" sz="3600" b="1" dirty="0">
                <a:solidFill>
                  <a:srgbClr val="111111"/>
                </a:solidFill>
                <a:latin typeface="Times New Roman" pitchFamily="34" charset="0"/>
                <a:ea typeface="Times New Roman" pitchFamily="34" charset="-122"/>
                <a:cs typeface="Times New Roman" pitchFamily="34" charset="-120"/>
              </a:rPr>
              <a:t>Thermosphere: </a:t>
            </a:r>
            <a:pPr algn="l" indent="0" marL="0">
              <a:spcAft>
                <a:spcPts val="800"/>
              </a:spcAft>
              <a:buNone/>
            </a:pPr>
            <a:r>
              <a:rPr lang="en-US" sz="3600" dirty="0">
                <a:solidFill>
                  <a:srgbClr val="111111"/>
                </a:solidFill>
                <a:latin typeface="Times New Roman" pitchFamily="34" charset="0"/>
                <a:ea typeface="Times New Roman" pitchFamily="34" charset="-122"/>
                <a:cs typeface="Times New Roman" pitchFamily="34" charset="-120"/>
              </a:rPr>
              <a:t>It is the upper layer, above 85 km, where lights called auroras appear.</a:t>
            </a:r>
            <a:endParaRPr lang="en-US" sz="3600" dirty="0"/>
          </a:p>
        </p:txBody>
      </p:sp>
      <p:pic>
        <p:nvPicPr>
          <p:cNvPr id="5" name="Image 0" descr="/home/claude/f4/img/v2/lsa_aurora.jpg">    </p:cNvPr>
          <p:cNvPicPr>
            <a:picLocks noChangeAspect="1"/>
          </p:cNvPicPr>
          <p:nvPr/>
        </p:nvPicPr>
        <p:blipFill>
          <a:blip r:embed="rId1"/>
          <a:stretch>
            <a:fillRect/>
          </a:stretch>
        </p:blipFill>
        <p:spPr>
          <a:xfrm>
            <a:off x="5349240" y="2071212"/>
            <a:ext cx="6659575" cy="3693983"/>
          </a:xfrm>
          <a:prstGeom prst="rect">
            <a:avLst/>
          </a:prstGeom>
        </p:spPr>
      </p:pic>
      <p:sp>
        <p:nvSpPr>
          <p:cNvPr id="6" name="Text 3"/>
          <p:cNvSpPr/>
          <p:nvPr/>
        </p:nvSpPr>
        <p:spPr>
          <a:xfrm>
            <a:off x="5349240" y="6089904"/>
            <a:ext cx="6659575" cy="347472"/>
          </a:xfrm>
          <a:prstGeom prst="rect">
            <a:avLst/>
          </a:prstGeom>
          <a:noFill/>
          <a:ln/>
        </p:spPr>
        <p:txBody>
          <a:bodyPr wrap="square" lIns="0" tIns="0" rIns="0" bIns="0" rtlCol="0" anchor="ctr"/>
          <a:lstStyle/>
          <a:p>
            <a:pPr algn="ctr" indent="0" marL="0">
              <a:buNone/>
            </a:pPr>
            <a:r>
              <a:rPr lang="en-US" sz="1600" i="1" dirty="0">
                <a:solidFill>
                  <a:srgbClr val="555555"/>
                </a:solidFill>
                <a:latin typeface="Times New Roman" pitchFamily="34" charset="0"/>
                <a:ea typeface="Times New Roman" pitchFamily="34" charset="-122"/>
                <a:cs typeface="Times New Roman" pitchFamily="34" charset="-120"/>
              </a:rPr>
              <a:t>Illustration: an aurora</a:t>
            </a:r>
            <a:endParaRPr lang="en-US" sz="16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40</a:t>
            </a:fld>
            <a:endParaRPr lang="en-US"/>
          </a:p>
        </p:txBody>
      </p:sp>
    </p:spTree>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name="Slide 4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1</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What is the atmosphere?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41</a:t>
            </a:fld>
            <a:endParaRPr lang="en-US"/>
          </a:p>
        </p:txBody>
      </p:sp>
    </p:spTree>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name="Slide 4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The layer of air around the Earth.</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42</a:t>
            </a:fld>
            <a:endParaRPr lang="en-US"/>
          </a:p>
        </p:txBody>
      </p:sp>
    </p:spTree>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name="Slide 43">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Evaluation 2</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which layer is the ozone layer?</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43</a:t>
            </a:fld>
            <a:endParaRPr lang="en-US"/>
          </a:p>
        </p:txBody>
      </p:sp>
    </p:spTree>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name="Slide 44">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FORMATIVE EVALUATION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Expected Answer</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In the stratosphere.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44</a:t>
            </a:fld>
            <a:endParaRPr lang="en-US"/>
          </a:p>
        </p:txBody>
      </p:sp>
    </p:spTree>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name="Slide 45">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REMEDIATION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Remediation</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Fill in the blanks:</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gas that forms 78 % of the air is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Weather occurs in the ______.</a:t>
            </a:r>
            <a:endParaRPr lang="en-US" sz="4000" dirty="0"/>
          </a:p>
          <a:p>
            <a:pPr algn="l" marL="342900" indent="-342900">
              <a:spcAft>
                <a:spcPts val="800"/>
              </a:spcAft>
              <a:buSzPct val="100000"/>
              <a:buFont typeface="+mj-lt"/>
              <a:buAutoNum type="arabicPeriod" startAt="1"/>
            </a:pPr>
            <a:r>
              <a:rPr lang="en-US" sz="4000" dirty="0">
                <a:solidFill>
                  <a:srgbClr val="111111"/>
                </a:solidFill>
                <a:latin typeface="Times New Roman" pitchFamily="34" charset="0"/>
                <a:ea typeface="Times New Roman" pitchFamily="34" charset="-122"/>
                <a:cs typeface="Times New Roman" pitchFamily="34" charset="-120"/>
              </a:rPr>
              <a:t>The ozone layer is in the ______.</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45</a:t>
            </a:fld>
            <a:endParaRPr lang="en-US"/>
          </a:p>
        </p:txBody>
      </p:sp>
    </p:spTree>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name="Slide 46">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HOMEWORK</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Homework</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t"/>
          <a:lstStyle/>
          <a:p>
            <a:pPr algn="l" indent="0" marL="0">
              <a:spcAft>
                <a:spcPts val="800"/>
              </a:spcAft>
              <a:buNone/>
            </a:pPr>
            <a:r>
              <a:rPr lang="en-US" sz="4000" dirty="0">
                <a:solidFill>
                  <a:srgbClr val="111111"/>
                </a:solidFill>
                <a:latin typeface="Times New Roman" pitchFamily="34" charset="0"/>
                <a:ea typeface="Times New Roman" pitchFamily="34" charset="-122"/>
                <a:cs typeface="Times New Roman" pitchFamily="34" charset="-120"/>
              </a:rPr>
              <a:t>Name the two types of atmospheric pressure.</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46</a:t>
            </a:fld>
            <a:endParaRPr lang="en-US"/>
          </a:p>
        </p:txBody>
      </p:sp>
    </p:spTree>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name="Slide 47">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NEXT LESSON</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5120640" cy="5833872"/>
          </a:xfrm>
          <a:prstGeom prst="rect">
            <a:avLst/>
          </a:prstGeom>
        </p:spPr>
      </p:pic>
      <p:sp>
        <p:nvSpPr>
          <p:cNvPr id="4" name="Text 1"/>
          <p:cNvSpPr/>
          <p:nvPr/>
        </p:nvSpPr>
        <p:spPr>
          <a:xfrm>
            <a:off x="5349240" y="1005840"/>
            <a:ext cx="652241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Next Lesson</a:t>
            </a:r>
            <a:endParaRPr lang="en-US" sz="3600" dirty="0"/>
          </a:p>
        </p:txBody>
      </p:sp>
      <p:sp>
        <p:nvSpPr>
          <p:cNvPr id="5" name="Text 2"/>
          <p:cNvSpPr/>
          <p:nvPr/>
        </p:nvSpPr>
        <p:spPr>
          <a:xfrm>
            <a:off x="5349240" y="1783080"/>
            <a:ext cx="6522415" cy="4663440"/>
          </a:xfrm>
          <a:prstGeom prst="rect">
            <a:avLst/>
          </a:prstGeom>
          <a:noFill/>
          <a:ln/>
        </p:spPr>
        <p:txBody>
          <a:bodyPr wrap="square" lIns="0" tIns="0" rIns="0" bIns="0" rtlCol="0" anchor="ctr"/>
          <a:lstStyle/>
          <a:p>
            <a:pPr algn="ctr" indent="0" marL="0">
              <a:spcAft>
                <a:spcPts val="800"/>
              </a:spcAft>
              <a:buNone/>
            </a:pPr>
            <a:r>
              <a:rPr lang="en-US" sz="4000" b="1" dirty="0">
                <a:solidFill>
                  <a:srgbClr val="111111"/>
                </a:solidFill>
                <a:latin typeface="Times New Roman" pitchFamily="34" charset="0"/>
                <a:ea typeface="Times New Roman" pitchFamily="34" charset="-122"/>
                <a:cs typeface="Times New Roman" pitchFamily="34" charset="-120"/>
              </a:rPr>
              <a:t>Our next lesson will be on:</a:t>
            </a:r>
            <a:endParaRPr lang="en-US" sz="4000" dirty="0"/>
          </a:p>
          <a:p>
            <a:pPr algn="ctr" indent="0" marL="0">
              <a:spcAft>
                <a:spcPts val="800"/>
              </a:spcAft>
              <a:buNone/>
            </a:pPr>
            <a:r>
              <a:rPr lang="en-US" sz="4000" b="1" dirty="0">
                <a:solidFill>
                  <a:srgbClr val="990011"/>
                </a:solidFill>
                <a:latin typeface="Times New Roman" pitchFamily="34" charset="0"/>
                <a:ea typeface="Times New Roman" pitchFamily="34" charset="-122"/>
                <a:cs typeface="Times New Roman" pitchFamily="34" charset="-120"/>
              </a:rPr>
              <a:t>Lesson 8: Atmospheric Circulation</a:t>
            </a:r>
            <a:endParaRPr lang="en-US" sz="4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47</a:t>
            </a:fld>
            <a:endParaRPr lang="en-US"/>
          </a:p>
        </p:txBody>
      </p:sp>
    </p:spTree>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name="Slide 48">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BILINGUAL GAME</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Bilingual Game (Jeu Bilingue)</a:t>
            </a:r>
            <a:endParaRPr lang="en-US" sz="3600" dirty="0"/>
          </a:p>
        </p:txBody>
      </p:sp>
      <p:graphicFrame>
        <p:nvGraphicFramePr>
          <p:cNvPr id="49" name="Table 0"/>
          <p:cNvGraphicFramePr>
            <a:graphicFrameLocks noGrp="1"/>
          </p:cNvGraphicFramePr>
          <p:nvPr>
            <p:extLst>
              <p:ext uri="{D42A27DB-BD31-4B8C-83A1-F6EECF244321}">
                <p14:modId xmlns:p14="http://schemas.microsoft.com/office/powerpoint/2010/main" val="1579011935"/>
              </p:ext>
            </p:extLst>
          </p:nvPr>
        </p:nvGraphicFramePr>
        <p:xfrm>
          <a:off x="1706728" y="1783080"/>
          <a:ext cx="8778240" cy="914400"/>
        </p:xfrm>
        <a:graphic>
          <a:graphicData uri="http://schemas.openxmlformats.org/drawingml/2006/table">
            <a:tbl>
              <a:tblPr/>
              <a:tblGrid>
                <a:gridCol w="4389120"/>
                <a:gridCol w="4389120"/>
              </a:tblGrid>
              <a:tr h="0">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English</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c>
                  <a:txBody>
                    <a:bodyPr/>
                    <a:lstStyle/>
                    <a:p>
                      <a:pPr algn="ctr" indent="0" marL="0">
                        <a:buNone/>
                      </a:pPr>
                      <a:r>
                        <a:rPr lang="en-US" sz="2200" b="1" dirty="0">
                          <a:solidFill>
                            <a:srgbClr val="FFFFFF"/>
                          </a:solidFill>
                          <a:latin typeface="Calibri" pitchFamily="34" charset="0"/>
                          <a:ea typeface="Calibri" pitchFamily="34" charset="-122"/>
                          <a:cs typeface="Calibri" pitchFamily="34" charset="-120"/>
                        </a:rPr>
                        <a:t>Français</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990011"/>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Atmosphere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L'atmosphère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L'air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Oxygen</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L'oxygène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Layer</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La couche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L'ozone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Cloud</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c>
                  <a:txBody>
                    <a:bodyPr/>
                    <a:lstStyle/>
                    <a:p>
                      <a:pPr algn="ctr" indent="0" marL="0">
                        <a:buNone/>
                      </a:pPr>
                      <a:r>
                        <a:rPr lang="en-US" sz="2200" dirty="0">
                          <a:solidFill>
                            <a:srgbClr val="111111"/>
                          </a:solidFill>
                          <a:latin typeface="Calibri" pitchFamily="34" charset="0"/>
                          <a:ea typeface="Calibri" pitchFamily="34" charset="-122"/>
                          <a:cs typeface="Calibri" pitchFamily="34" charset="-120"/>
                        </a:rPr>
                        <a:t>Le nuage</a:t>
                      </a:r>
                      <a:endParaRPr lang="en-US" sz="22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48</a:t>
            </a:fld>
            <a:endParaRPr lang="en-US"/>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name="Slide 49">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(1/2)</a:t>
            </a:r>
            <a:endParaRPr lang="en-US" sz="3600" dirty="0"/>
          </a:p>
        </p:txBody>
      </p:sp>
      <p:graphicFrame>
        <p:nvGraphicFramePr>
          <p:cNvPr id="50"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Module / Topic</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Protection against the Wrath of Nature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Lesson Title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Lesson 7: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Expected Learning Outcomes</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Define the atmosphere. Give the composition of the atmosphere. Sketch and describe the structure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Competence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Learners are able to describe the composition and layers of the atmosphere and explain why it must be protected.</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49</a:t>
            </a:fld>
            <a:endParaRPr lang="en-US"/>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name="Slide 50">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LOGBOOK</a:t>
            </a:r>
            <a:endParaRPr lang="en-US" sz="1400" dirty="0"/>
          </a:p>
        </p:txBody>
      </p:sp>
      <p:sp>
        <p:nvSpPr>
          <p:cNvPr id="3" name="Text 1"/>
          <p:cNvSpPr/>
          <p:nvPr/>
        </p:nvSpPr>
        <p:spPr>
          <a:xfrm>
            <a:off x="457200" y="1005840"/>
            <a:ext cx="11277295" cy="731520"/>
          </a:xfrm>
          <a:prstGeom prst="rect">
            <a:avLst/>
          </a:prstGeom>
          <a:noFill/>
          <a:ln/>
        </p:spPr>
        <p:txBody>
          <a:bodyPr wrap="square" lIns="0" tIns="0" rIns="0" bIns="0" rtlCol="0" anchor="ct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Official Logbook (2/2)</a:t>
            </a:r>
            <a:endParaRPr lang="en-US" sz="3600" dirty="0"/>
          </a:p>
        </p:txBody>
      </p:sp>
      <p:graphicFrame>
        <p:nvGraphicFramePr>
          <p:cNvPr id="51" name="Table 0"/>
          <p:cNvGraphicFramePr>
            <a:graphicFrameLocks noGrp="1"/>
          </p:cNvGraphicFramePr>
          <p:nvPr>
            <p:extLst>
              <p:ext uri="{D42A27DB-BD31-4B8C-83A1-F6EECF244321}">
                <p14:modId xmlns:p14="http://schemas.microsoft.com/office/powerpoint/2010/main" val="1579011935"/>
              </p:ext>
            </p:extLst>
          </p:nvPr>
        </p:nvGraphicFramePr>
        <p:xfrm>
          <a:off x="458572" y="1783080"/>
          <a:ext cx="11274552" cy="914400"/>
        </p:xfrm>
        <a:graphic>
          <a:graphicData uri="http://schemas.openxmlformats.org/drawingml/2006/table">
            <a:tbl>
              <a:tblPr/>
              <a:tblGrid>
                <a:gridCol w="3017520"/>
                <a:gridCol w="8257032"/>
              </a:tblGrid>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Matter Taught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DEFINITIONS; Composition of the Atmosphere; Structure of the Atmosphere.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Evaluation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Formative evaluation and remediation exercise.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Homework</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Name the two types of atmospheric pressure.</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Enrolment / Present / Absent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____ / ____ / ____</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FFFFF"/>
                    </a:solidFill>
                  </a:tcPr>
                </a:tc>
              </a:tr>
              <a:tr h="0">
                <a:tc>
                  <a:txBody>
                    <a:bodyPr/>
                    <a:lstStyle/>
                    <a:p>
                      <a:pPr algn="l" indent="0" marL="0">
                        <a:buNone/>
                      </a:pPr>
                      <a:r>
                        <a:rPr lang="en-US" sz="1600" b="1" dirty="0">
                          <a:solidFill>
                            <a:srgbClr val="FFFFFF"/>
                          </a:solidFill>
                          <a:latin typeface="Calibri" pitchFamily="34" charset="0"/>
                          <a:ea typeface="Calibri" pitchFamily="34" charset="-122"/>
                          <a:cs typeface="Calibri" pitchFamily="34" charset="-120"/>
                        </a:rPr>
                        <a:t>Achievement</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1C3F6E"/>
                    </a:solidFill>
                  </a:tcPr>
                </a:tc>
                <a:tc>
                  <a:txBody>
                    <a:bodyPr/>
                    <a:lstStyle/>
                    <a:p>
                      <a:pPr algn="l" indent="0" marL="0">
                        <a:buNone/>
                      </a:pPr>
                      <a:r>
                        <a:rPr lang="en-US" sz="1600" dirty="0">
                          <a:solidFill>
                            <a:srgbClr val="111111"/>
                          </a:solidFill>
                          <a:latin typeface="Calibri" pitchFamily="34" charset="0"/>
                          <a:ea typeface="Calibri" pitchFamily="34" charset="-122"/>
                          <a:cs typeface="Calibri" pitchFamily="34" charset="-120"/>
                        </a:rPr>
                        <a:t>To be completed after the lesson.</a:t>
                      </a:r>
                      <a:endParaRPr lang="en-US" sz="1600" dirty="0">
                        <a:latin typeface="Calibri" charset="0"/>
                        <a:ea typeface="Calibri" charset="0"/>
                        <a:cs typeface="Calibri" charset="0"/>
                      </a:endParaRPr>
                    </a:p>
                  </a:txBody>
                  <a:tcPr marL="73152" marR="73152" marT="73152" marB="73152" anchor="ctr">
                    <a:lnL w="12700" cap="flat" cmpd="sng" algn="ctr">
                      <a:solidFill>
                        <a:srgbClr val="BBBBBB"/>
                      </a:solidFill>
                      <a:prstDash val="solid"/>
                      <a:round/>
                      <a:headEnd type="none" w="med" len="med"/>
                      <a:tailEnd type="none" w="med" len="med"/>
                    </a:lnL>
                    <a:lnR w="12700" cap="flat" cmpd="sng" algn="ctr">
                      <a:solidFill>
                        <a:srgbClr val="BBBBBB"/>
                      </a:solidFill>
                      <a:prstDash val="solid"/>
                      <a:round/>
                      <a:headEnd type="none" w="med" len="med"/>
                      <a:tailEnd type="none" w="med" len="med"/>
                    </a:lnR>
                    <a:lnT w="12700" cap="flat" cmpd="sng" algn="ctr">
                      <a:solidFill>
                        <a:srgbClr val="BBBBBB"/>
                      </a:solidFill>
                      <a:prstDash val="solid"/>
                      <a:round/>
                      <a:headEnd type="none" w="med" len="med"/>
                      <a:tailEnd type="none" w="med" len="med"/>
                    </a:lnT>
                    <a:lnB w="12700" cap="flat" cmpd="sng" algn="ctr">
                      <a:solidFill>
                        <a:srgbClr val="BBBBBB"/>
                      </a:solidFill>
                      <a:prstDash val="solid"/>
                      <a:round/>
                      <a:headEnd type="none" w="med" len="med"/>
                      <a:tailEnd type="none" w="med" len="med"/>
                    </a:lnB>
                    <a:solidFill>
                      <a:srgbClr val="F2F4F8"/>
                    </a:solidFill>
                  </a:tcPr>
                </a:tc>
              </a:tr>
            </a:tbl>
          </a:graphicData>
        </a:graphic>
      </p:graphicFrame>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50</a:t>
            </a:fld>
            <a:endParaRPr lang="en-US"/>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name="Slide 51">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TEACHER'S NOTE</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Teacher's Note</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Timing: Homework correction, plan, objectives 8 min | Recall, situation, action 10 min | 5 activities 30 min | Board summary (copying) 30 min | Evaluation, remediation 10 min | Homework, next lesson 5 min | Logbook 7 min</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1): ask learners to breathe deeply: we breathe the atmosphere.</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2): draw a pie chart on the board.</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3): breathe in and out.</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4): describe the clouds seen today.</a:t>
            </a:r>
            <a:endParaRPr lang="en-US" sz="2000" dirty="0"/>
          </a:p>
          <a:p>
            <a:pPr algn="l" marL="342900" indent="-342900">
              <a:spcAft>
                <a:spcPts val="800"/>
              </a:spcAft>
              <a:buSzPct val="100000"/>
              <a:buChar char="•"/>
            </a:pPr>
            <a:r>
              <a:rPr lang="en-US" sz="2000" dirty="0">
                <a:solidFill>
                  <a:srgbClr val="111111"/>
                </a:solidFill>
                <a:latin typeface="Calibri" pitchFamily="34" charset="0"/>
                <a:ea typeface="Calibri" pitchFamily="34" charset="-122"/>
                <a:cs typeface="Calibri" pitchFamily="34" charset="-120"/>
              </a:rPr>
              <a:t>Without the projector (Activity 5): explain the hole in the ozone layer.</a:t>
            </a:r>
            <a:endParaRPr lang="en-US" sz="20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51</a:t>
            </a:fld>
            <a:endParaRPr lang="en-US"/>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name="Slide 52">
    <p:spTree>
      <p:nvGrpSpPr>
        <p:cNvPr id="1" name=""/>
        <p:cNvGrpSpPr/>
        <p:nvPr/>
      </p:nvGrpSpPr>
      <p:grpSpPr>
        <a:xfrm>
          <a:off x="0" y="0"/>
          <a:ext cx="0" cy="0"/>
          <a:chOff x="0" y="0"/>
          <a:chExt cx="0" cy="0"/>
        </a:xfrm>
      </p:grpSpPr>
      <p:sp>
        <p:nvSpPr>
          <p:cNvPr id="2" name="Text 0"/>
          <p:cNvSpPr/>
          <p:nvPr/>
        </p:nvSpPr>
        <p:spPr>
          <a:xfrm>
            <a:off x="457200" y="713232"/>
            <a:ext cx="11368735" cy="274320"/>
          </a:xfrm>
          <a:prstGeom prst="rect">
            <a:avLst/>
          </a:prstGeom>
          <a:noFill/>
          <a:ln/>
        </p:spPr>
        <p:txBody>
          <a:bodyPr wrap="square" lIns="0" tIns="0" rIns="0" bIns="0" rtlCol="0" anchor="ctr"/>
          <a:lstStyle/>
          <a:p>
            <a:pPr algn="r" indent="0" marL="0">
              <a:buNone/>
            </a:pPr>
            <a:r>
              <a:rPr lang="en-US" sz="1400" b="1" dirty="0">
                <a:solidFill>
                  <a:srgbClr val="1C3F6E"/>
                </a:solidFill>
                <a:latin typeface="Calibri" pitchFamily="34" charset="0"/>
                <a:ea typeface="Calibri" pitchFamily="34" charset="-122"/>
                <a:cs typeface="Calibri" pitchFamily="34" charset="-120"/>
              </a:rPr>
              <a:t>REFERENCES</a:t>
            </a:r>
            <a:endParaRPr lang="en-US" sz="1400" dirty="0"/>
          </a:p>
        </p:txBody>
      </p:sp>
      <p:pic>
        <p:nvPicPr>
          <p:cNvPr id="3" name="Image 0" descr="/home/claude/f4/img/minesec_sheet.png">    </p:cNvPr>
          <p:cNvPicPr>
            <a:picLocks noChangeAspect="1"/>
          </p:cNvPicPr>
          <p:nvPr/>
        </p:nvPicPr>
        <p:blipFill>
          <a:blip r:embed="rId1"/>
          <a:stretch>
            <a:fillRect/>
          </a:stretch>
        </p:blipFill>
        <p:spPr>
          <a:xfrm>
            <a:off x="0" y="658368"/>
            <a:ext cx="3840480" cy="5833872"/>
          </a:xfrm>
          <a:prstGeom prst="rect">
            <a:avLst/>
          </a:prstGeom>
        </p:spPr>
      </p:pic>
      <p:sp>
        <p:nvSpPr>
          <p:cNvPr id="4" name="Text 1"/>
          <p:cNvSpPr/>
          <p:nvPr/>
        </p:nvSpPr>
        <p:spPr>
          <a:xfrm>
            <a:off x="4069080" y="1005840"/>
            <a:ext cx="7802575" cy="731520"/>
          </a:xfrm>
          <a:prstGeom prst="rect">
            <a:avLst/>
          </a:prstGeom>
          <a:noFill/>
          <a:ln/>
        </p:spPr>
        <p:txBody>
          <a:bodyPr wrap="square" lIns="0" tIns="0" rIns="0" bIns="0" rtlCol="0" anchor="ctr">
            <a:normAutofit/>
          </a:bodyPr>
          <a:lstStyle/>
          <a:p>
            <a:pPr algn="ctr" indent="0" marL="0">
              <a:buNone/>
            </a:pPr>
            <a:r>
              <a:rPr lang="en-US" sz="3600" b="1" dirty="0">
                <a:solidFill>
                  <a:srgbClr val="990011"/>
                </a:solidFill>
                <a:latin typeface="Times New Roman" pitchFamily="34" charset="0"/>
                <a:ea typeface="Times New Roman" pitchFamily="34" charset="-122"/>
                <a:cs typeface="Times New Roman" pitchFamily="34" charset="-120"/>
              </a:rPr>
              <a:t>References</a:t>
            </a:r>
            <a:endParaRPr lang="en-US" sz="3600" dirty="0"/>
          </a:p>
        </p:txBody>
      </p:sp>
      <p:sp>
        <p:nvSpPr>
          <p:cNvPr id="5" name="Text 2"/>
          <p:cNvSpPr/>
          <p:nvPr/>
        </p:nvSpPr>
        <p:spPr>
          <a:xfrm>
            <a:off x="4069080" y="1783080"/>
            <a:ext cx="7802575" cy="4663440"/>
          </a:xfrm>
          <a:prstGeom prst="rect">
            <a:avLst/>
          </a:prstGeom>
          <a:noFill/>
          <a:ln/>
        </p:spPr>
        <p:txBody>
          <a:bodyPr wrap="square" lIns="0" tIns="0" rIns="0" bIns="0" rtlCol="0" anchor="t"/>
          <a:lstStyle/>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Geography Syllabus, Forms I–V, MINESEC (2023) — Form 1, Module 3: Protection from the Wrath of Nature.</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1: “flying” by { pranav }, CC BY 2.0, via Flickr (https://www.flickr.com/photos/29220600@N08/3469129491)</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4: “06172012 Sunday evening pulse storms/cumulonimbi” by StormRider93 | Into the Storm, CC BY-NC-ND 2.0, via Flickr (https://www.flickr.com/photos/65232104@N04/7395715628)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Activity 5: “Sauron's Eye” by sjrankin, CC BY-NC 2.0, via Flickr (https://www.flickr.com/photos/24354425@N03/15252220086)</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Photo, board summary (Thermosphere): “Aurora Borealis” by Haukur H., CC BY-NC-ND 2.0, via Flickr (https://www.flickr.com/photos/34699962@N04/3256810738)</a:t>
            </a:r>
            <a:endParaRPr lang="en-US" sz="1800" dirty="0"/>
          </a:p>
          <a:p>
            <a:pPr algn="l" marL="342900" indent="-342900">
              <a:spcAft>
                <a:spcPts val="800"/>
              </a:spcAft>
              <a:buSzPct val="100000"/>
              <a:buChar char="•"/>
            </a:pPr>
            <a:r>
              <a:rPr lang="en-US" sz="1800" dirty="0">
                <a:solidFill>
                  <a:srgbClr val="111111"/>
                </a:solidFill>
                <a:latin typeface="Calibri" pitchFamily="34" charset="0"/>
                <a:ea typeface="Calibri" pitchFamily="34" charset="-122"/>
                <a:cs typeface="Calibri" pitchFamily="34" charset="-120"/>
              </a:rPr>
              <a:t>Diagrams and animations: drawn for this lesson (Geography Department).</a:t>
            </a:r>
            <a:endParaRPr lang="en-US" sz="1800" dirty="0"/>
          </a:p>
        </p:txBody>
      </p:sp>
      <p:sp>
        <p:nvSpPr>
          <p:cNvPr id="25" name="Slide Number Placeholder 0"/>
          <p:cNvSpPr>
            <a:spLocks noGrp="1"/>
          </p:cNvSpPr>
          <p:nvPr>
            <p:ph type="sldNum" sz="quarter" idx="4294967295"/>
          </p:nvPr>
        </p:nvSpPr>
        <p:spPr>
          <a:xfrm>
            <a:off x="27432" y="91440"/>
            <a:ext cx="585216" cy="475488"/>
          </a:xfrm>
          <a:prstGeom prst="rect">
            <a:avLst/>
          </a:prstGeom>
          <a:extLst>
            <a:ext uri="{C572A759-6A51-4108-AA02-DFA0A04FC94B}">
              <ma14:wrappingTextBoxFlag xmlns:ma14="http://schemas.microsoft.com/office/mac/drawingml/2011/main" val="0"/>
            </a:ext>
          </a:extLst>
        </p:spPr>
        <p:txBody>
          <a:bodyPr/>
          <a:lstStyle>
            <a:lvl1pPr>
              <a:defRPr sz="2000">
                <a:solidFill>
                  <a:srgbClr val="FFFFFF"/>
                </a:solidFill>
                <a:latin typeface="Calibri"/>
                <a:ea typeface="Calibri"/>
                <a:cs typeface="Calibri"/>
              </a:defRPr>
            </a:lvl1pPr>
          </a:lstStyle>
          <a:p>
            <a:pPr algn="ctr"/>
            <a:fld id="{F7021451-1387-4CA6-816F-3879F97B5CBC}" type="slidenum">
              <a:rPr b="1" lang="en-US"/>
              <a:t>52</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52</Slides>
  <Notes>52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52</vt:i4>
      </vt:variant>
    </vt:vector>
  </HeadingPairs>
  <TitlesOfParts>
    <vt:vector size="5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lpstr>Slide 35</vt:lpstr>
      <vt:lpstr>Slide 36</vt:lpstr>
      <vt:lpstr>Slide 37</vt:lpstr>
      <vt:lpstr>Slide 38</vt:lpstr>
      <vt:lpstr>Slide 39</vt:lpstr>
      <vt:lpstr>Slide 40</vt:lpstr>
      <vt:lpstr>Slide 41</vt:lpstr>
      <vt:lpstr>Slide 42</vt:lpstr>
      <vt:lpstr>Slide 43</vt:lpstr>
      <vt:lpstr>Slide 44</vt:lpstr>
      <vt:lpstr>Slide 45</vt:lpstr>
      <vt:lpstr>Slide 46</vt:lpstr>
      <vt:lpstr>Slide 47</vt:lpstr>
      <vt:lpstr>Slide 48</vt:lpstr>
      <vt:lpstr>Slide 49</vt:lpstr>
      <vt:lpstr>Slide 50</vt:lpstr>
      <vt:lpstr>Slide 51</vt:lpstr>
      <vt:lpstr>Slide 52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2026-10-02T05:13:04Z</dcterms:created>
  <dcterms:modified xsi:type="dcterms:W3CDTF">2026-10-02T05:13:04Z</dcterms:modified>
</cp:coreProperties>
</file>