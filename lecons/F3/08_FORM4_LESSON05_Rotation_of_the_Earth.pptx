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Lst>
  <p:notesMasterIdLst>
    <p:notesMasterId r:id="rId4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notesMaster" Target="notesMasters/notesMaster1.xml"/><Relationship Id="rId50" Type="http://schemas.openxmlformats.org/officeDocument/2006/relationships/presProps" Target="presProps.xml"/><Relationship Id="rId51" Type="http://schemas.openxmlformats.org/officeDocument/2006/relationships/viewProps" Target="viewProps.xml"/><Relationship Id="rId52" Type="http://schemas.openxmlformats.org/officeDocument/2006/relationships/theme" Target="theme/theme1.xml"/><Relationship Id="rId5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Lesson 5: The Rotation of the Earth.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Form 4. It belongs to The Earth as a Planet in the Solar System — Location and Time. We shall need 50 minutes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The Earth as a Planet in the Solar System, and the sub-topic is Location and Time. The key notions we shall use today are: axis, rotation, tides, deflection of winds and ocean currents. At the end, you should be able to do this: learners are able to explain day and night, the rising of the Sun in the east, and the difference in time between places.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Practical Work 2: Calculation of Time and Date. The question was: Define the rotation of the Earth.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It is the turning of the Earth on its axis from west to east.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three things. Number 1: define rotation and the axis of the Earth. Number 2: illustrate the rotation of the Earth. Number 3: explain the effects of rotation.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15° of longitude = 1 hour. Places to the east are ahead in time. Cameroon uses GMT + 1.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Every morning in Garoua, the first light appears in the east, and in the evening the Sun disappears in the west. Oumarou's little sister thinks that the Sun walks around the Earth every day. She asks: "What really moves, and why do we have day and night?"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The sister does not know what really causes day and night.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Where does the Sun rise and set?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It rises in the east and sets in the west.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What really moves?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The Earth turns on itself.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use the rotation of the Earth to explain day, night and time differences.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lesson helps us to understand day and night.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animation: animation: the Earth turns on itself. Watch the animation to the end; it will play again.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Watch Garoua (red dot). Why does it have day and then night?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The Earth turns: Garoua faces the Sun (day), then turns away from it (night).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picture: the Sun low over the savanna.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Why does the Sun seem to rise in the east?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The Earth turns from west to east.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animation: animation: winds are bent by the rotation of the Earth. Watch the animation to the end; it will play again.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In which direction are winds bent in the Northern Hemisphere?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To the right.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the definitions. The key terms of this lesson are defined as follows. On this slide we have Rotation and Axis.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Meaning and Illustration of Rotation. The rotation of the Earth is described as follows. Copy the point on Direction on the left, then draw the diagram on the right: the rotation of the Earth.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Meaning and Illustration of Rotation. On this slide we have Duration, Tilt of the axis and Speed.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Effects of Rotation. The rotation of the Earth has the following effects. Copy the point on Day and night on the left, then draw the diagram on the right: day and night.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Copy the point on Sunrise in the east on the left, then draw the diagram on the right: the Sun low over the savanna.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Effects of Rotation. On this slide we have Difference in time.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Copy the point on Deflection of winds and currents on the left, then draw the diagram on the right: deflection of winds.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Effects of Rotation. On this slide we have Tides.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What is rotation?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the turning of the Earth on its axis.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Give two effects of rotation.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day and night; the Sun seems to rise in the east.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axis; number 2, 24; number 3, east.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State how long the Earth takes to go around the Sun.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Lesson 6: The Revolution of the Earth.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FORM 4</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LESSON 5: THE ROTATION OF THE EARTH</a:t>
            </a:r>
            <a:endParaRPr lang="en-US" sz="16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DGCAST-GAROUA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DGCAST-GAROUA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DGCAST-GAROUA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gif"/><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jp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gif"/><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jp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2.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2.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slideLayout" Target="../slideLayouts/slideLayout2.xml"/><Relationship Id="rId3" Type="http://schemas.openxmlformats.org/officeDocument/2006/relationships/notesSlide" Target="../notesSlides/notesSlide47.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FORM 4</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Lesson 5</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The Rotation of the Earth</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Form 4</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The Earth as a Planet in the Solar System — Location and Time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The Earth as a Planet in the Solar System</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Location and Time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Lesson 5: The Rotation of the Earth</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Axis, rotation, tides, deflection of winds and ocean currents.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Rotation: meaning, illustration and effects.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explain day and night, the rising of the Sun in the east, and the difference in time between places.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(Practical Work 2: Calculation of Time and Date):</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Define the rotation of the Earth.</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turning of the Earth on its axis from west to east.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Define rotation and the axis of the Earth.</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Illustrate the rotation of the Earth.</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Explain the effects of rotation.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15° of longitude = 1 hour.</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Places to the east are ahead in time.</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Cameroon uses GMT + 1.</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Every morning in Garoua, the first light appears in the east, and in the evening the Sun disappears in the west. Oumarou's little sister thinks that the Sun walks around the Earth every day. She asks: "What really moves, and why do we have day and night?"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sister does not know what really causes day and night.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Where does the Sun rise and set?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rises in the east and sets in the west.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really moves?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Earth turns on itself.</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Use the rotation of the Earth to explain day, night and time differences.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lesson helps us to understand day and night.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MEANING OF ROTATION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rotation.gif">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Animation: the Earth turns on itself.</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MEANING OF ROTATION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Watch Garoua (red dot). Why does it have day and then night?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MEANING OF ROTATION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Earth turns: Garoua faces the Sun (day), then turns away from it (night).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EFFECTS OF ROTATION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f4_sunrise.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The Sun low over the savanna.</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EFFECTS OF ROTATION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does the Sun seem to rise in the east?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EFFECTS OF ROTATION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Earth turns from west to east.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EFFECTS OF ROTATION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coriolis.gif">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Animation: winds are bent by the rotation of the Earth.</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EFFECTS OF ROTATION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In which direction are winds bent in the Northern Hemisphere?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EFFECTS OF ROTATION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To the right.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Topic: The Earth as a Planet in the Solar System</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Sub-topic: Location and Time</a:t>
            </a:r>
            <a:endParaRPr lang="en-US" sz="4000" dirty="0"/>
          </a:p>
          <a:p>
            <a:pPr algn="l"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5: The Rotation of the Earth</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DEFINITIONS</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key terms of this lesson are defined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Rotation: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turning of the Earth on its axis from west to east.</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Axis: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imaginary line through the centre of the Earth from the North Pole to the South Pole.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Meaning and Illustration of Rotation</a:t>
            </a:r>
            <a:endParaRPr lang="en-US" sz="3600" dirty="0"/>
          </a:p>
        </p:txBody>
      </p:sp>
      <p:sp>
        <p:nvSpPr>
          <p:cNvPr id="4" name="Text 2"/>
          <p:cNvSpPr/>
          <p:nvPr/>
        </p:nvSpPr>
        <p:spPr>
          <a:xfrm>
            <a:off x="365760" y="1783080"/>
            <a:ext cx="4846320" cy="4617720"/>
          </a:xfrm>
          <a:prstGeom prst="rect">
            <a:avLst/>
          </a:prstGeom>
          <a:noFill/>
          <a:ln/>
        </p:spPr>
        <p:txBody>
          <a:bodyPr wrap="square" lIns="0" tIns="0" rIns="0" bIns="0" rtlCol="0" anchor="t"/>
          <a:lstStyle/>
          <a:p>
            <a:pPr algn="l" indent="0" marL="0">
              <a:spcAft>
                <a:spcPts val="800"/>
              </a:spcAft>
              <a:buNone/>
            </a:pPr>
            <a:r>
              <a:rPr lang="en-US" sz="3600" i="1" dirty="0">
                <a:solidFill>
                  <a:srgbClr val="111111"/>
                </a:solidFill>
                <a:latin typeface="Times New Roman" pitchFamily="34" charset="0"/>
                <a:ea typeface="Times New Roman" pitchFamily="34" charset="-122"/>
                <a:cs typeface="Times New Roman" pitchFamily="34" charset="-120"/>
              </a:rPr>
              <a:t>The rotation of the Earth is described as follows:</a:t>
            </a:r>
            <a:endParaRPr lang="en-US" sz="3600" dirty="0"/>
          </a:p>
          <a:p>
            <a:pPr algn="l" indent="0" marL="0">
              <a:spcAft>
                <a:spcPts val="800"/>
              </a:spcAft>
              <a:buNone/>
            </a:pPr>
            <a:r>
              <a:rPr lang="en-US" sz="3600" b="1" dirty="0">
                <a:solidFill>
                  <a:srgbClr val="111111"/>
                </a:solidFill>
                <a:latin typeface="Times New Roman" pitchFamily="34" charset="0"/>
                <a:ea typeface="Times New Roman" pitchFamily="34" charset="-122"/>
                <a:cs typeface="Times New Roman" pitchFamily="34" charset="-120"/>
              </a:rPr>
              <a:t>Direction: </a:t>
            </a:r>
            <a:pPr algn="l" indent="0" marL="0">
              <a:spcAft>
                <a:spcPts val="800"/>
              </a:spcAft>
              <a:buNone/>
            </a:pPr>
            <a:r>
              <a:rPr lang="en-US" sz="3600" dirty="0">
                <a:solidFill>
                  <a:srgbClr val="111111"/>
                </a:solidFill>
                <a:latin typeface="Times New Roman" pitchFamily="34" charset="0"/>
                <a:ea typeface="Times New Roman" pitchFamily="34" charset="-122"/>
                <a:cs typeface="Times New Roman" pitchFamily="34" charset="-120"/>
              </a:rPr>
              <a:t>The Earth turns from west to east.</a:t>
            </a:r>
            <a:endParaRPr lang="en-US" sz="3600" dirty="0"/>
          </a:p>
        </p:txBody>
      </p:sp>
      <p:pic>
        <p:nvPicPr>
          <p:cNvPr id="5" name="Image 0" descr="/home/claude/f4/img/v2/rotation_mid.png">    </p:cNvPr>
          <p:cNvPicPr>
            <a:picLocks noChangeAspect="1"/>
          </p:cNvPicPr>
          <p:nvPr/>
        </p:nvPicPr>
        <p:blipFill>
          <a:blip r:embed="rId1"/>
          <a:stretch>
            <a:fillRect/>
          </a:stretch>
        </p:blipFill>
        <p:spPr>
          <a:xfrm>
            <a:off x="5349240" y="2617506"/>
            <a:ext cx="6659575" cy="2601397"/>
          </a:xfrm>
          <a:prstGeom prst="rect">
            <a:avLst/>
          </a:prstGeom>
        </p:spPr>
      </p:pic>
      <p:sp>
        <p:nvSpPr>
          <p:cNvPr id="6" name="Text 3"/>
          <p:cNvSpPr/>
          <p:nvPr/>
        </p:nvSpPr>
        <p:spPr>
          <a:xfrm>
            <a:off x="5349240" y="6089904"/>
            <a:ext cx="665957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the rotation of the Earth</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Meaning and Illustration of Rotation</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Duration: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One complete turn takes 24 hours, which is one day.</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Tilt of the axis: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axis is tilted at 23½° from the vertical.</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Speed: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place on the Equator moves at about 1,670 km per hour.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Effects of Rotation</a:t>
            </a:r>
            <a:endParaRPr lang="en-US" sz="3600" dirty="0"/>
          </a:p>
        </p:txBody>
      </p:sp>
      <p:sp>
        <p:nvSpPr>
          <p:cNvPr id="4" name="Text 2"/>
          <p:cNvSpPr/>
          <p:nvPr/>
        </p:nvSpPr>
        <p:spPr>
          <a:xfrm>
            <a:off x="365760" y="1783080"/>
            <a:ext cx="4846320" cy="4617720"/>
          </a:xfrm>
          <a:prstGeom prst="rect">
            <a:avLst/>
          </a:prstGeom>
          <a:noFill/>
          <a:ln/>
        </p:spPr>
        <p:txBody>
          <a:bodyPr wrap="square" lIns="0" tIns="0" rIns="0" bIns="0" rtlCol="0" anchor="t"/>
          <a:lstStyle/>
          <a:p>
            <a:pPr algn="l" indent="0" marL="0">
              <a:spcAft>
                <a:spcPts val="800"/>
              </a:spcAft>
              <a:buNone/>
            </a:pPr>
            <a:r>
              <a:rPr lang="en-US" sz="3600" i="1" dirty="0">
                <a:solidFill>
                  <a:srgbClr val="111111"/>
                </a:solidFill>
                <a:latin typeface="Times New Roman" pitchFamily="34" charset="0"/>
                <a:ea typeface="Times New Roman" pitchFamily="34" charset="-122"/>
                <a:cs typeface="Times New Roman" pitchFamily="34" charset="-120"/>
              </a:rPr>
              <a:t>The rotation of the Earth has the following effects:</a:t>
            </a:r>
            <a:endParaRPr lang="en-US" sz="3600" dirty="0"/>
          </a:p>
          <a:p>
            <a:pPr algn="l" indent="0" marL="0">
              <a:spcAft>
                <a:spcPts val="800"/>
              </a:spcAft>
              <a:buNone/>
            </a:pPr>
            <a:r>
              <a:rPr lang="en-US" sz="3600" b="1" dirty="0">
                <a:solidFill>
                  <a:srgbClr val="111111"/>
                </a:solidFill>
                <a:latin typeface="Times New Roman" pitchFamily="34" charset="0"/>
                <a:ea typeface="Times New Roman" pitchFamily="34" charset="-122"/>
                <a:cs typeface="Times New Roman" pitchFamily="34" charset="-120"/>
              </a:rPr>
              <a:t>Day and night: </a:t>
            </a:r>
            <a:pPr algn="l" indent="0" marL="0">
              <a:spcAft>
                <a:spcPts val="800"/>
              </a:spcAft>
              <a:buNone/>
            </a:pPr>
            <a:r>
              <a:rPr lang="en-US" sz="3600" dirty="0">
                <a:solidFill>
                  <a:srgbClr val="111111"/>
                </a:solidFill>
                <a:latin typeface="Times New Roman" pitchFamily="34" charset="0"/>
                <a:ea typeface="Times New Roman" pitchFamily="34" charset="-122"/>
                <a:cs typeface="Times New Roman" pitchFamily="34" charset="-120"/>
              </a:rPr>
              <a:t>The side facing the Sun has day, while the other side has night.</a:t>
            </a:r>
            <a:endParaRPr lang="en-US" sz="3600" dirty="0"/>
          </a:p>
        </p:txBody>
      </p:sp>
      <p:pic>
        <p:nvPicPr>
          <p:cNvPr id="5" name="Image 0" descr="/home/claude/f4/img/v2/rotation_mid.png">    </p:cNvPr>
          <p:cNvPicPr>
            <a:picLocks noChangeAspect="1"/>
          </p:cNvPicPr>
          <p:nvPr/>
        </p:nvPicPr>
        <p:blipFill>
          <a:blip r:embed="rId1"/>
          <a:stretch>
            <a:fillRect/>
          </a:stretch>
        </p:blipFill>
        <p:spPr>
          <a:xfrm>
            <a:off x="5349240" y="2617506"/>
            <a:ext cx="6659575" cy="2601397"/>
          </a:xfrm>
          <a:prstGeom prst="rect">
            <a:avLst/>
          </a:prstGeom>
        </p:spPr>
      </p:pic>
      <p:sp>
        <p:nvSpPr>
          <p:cNvPr id="6" name="Text 3"/>
          <p:cNvSpPr/>
          <p:nvPr/>
        </p:nvSpPr>
        <p:spPr>
          <a:xfrm>
            <a:off x="5349240" y="6089904"/>
            <a:ext cx="665957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day and night</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Effects of Rotation</a:t>
            </a:r>
            <a:endParaRPr lang="en-US" sz="3600" dirty="0"/>
          </a:p>
        </p:txBody>
      </p:sp>
      <p:sp>
        <p:nvSpPr>
          <p:cNvPr id="4" name="Text 2"/>
          <p:cNvSpPr/>
          <p:nvPr/>
        </p:nvSpPr>
        <p:spPr>
          <a:xfrm>
            <a:off x="365760" y="1783080"/>
            <a:ext cx="4846320" cy="4617720"/>
          </a:xfrm>
          <a:prstGeom prst="rect">
            <a:avLst/>
          </a:prstGeom>
          <a:noFill/>
          <a:ln/>
        </p:spPr>
        <p:txBody>
          <a:bodyPr wrap="square" lIns="0" tIns="0" rIns="0" bIns="0" rtlCol="0" anchor="t"/>
          <a:lstStyle/>
          <a:p>
            <a:pPr algn="l" indent="0" marL="0">
              <a:spcAft>
                <a:spcPts val="800"/>
              </a:spcAft>
              <a:buNone/>
            </a:pPr>
            <a:r>
              <a:rPr lang="en-US" sz="3600" b="1" dirty="0">
                <a:solidFill>
                  <a:srgbClr val="111111"/>
                </a:solidFill>
                <a:latin typeface="Times New Roman" pitchFamily="34" charset="0"/>
                <a:ea typeface="Times New Roman" pitchFamily="34" charset="-122"/>
                <a:cs typeface="Times New Roman" pitchFamily="34" charset="-120"/>
              </a:rPr>
              <a:t>Sunrise in the east: </a:t>
            </a:r>
            <a:pPr algn="l" indent="0" marL="0">
              <a:spcAft>
                <a:spcPts val="800"/>
              </a:spcAft>
              <a:buNone/>
            </a:pPr>
            <a:r>
              <a:rPr lang="en-US" sz="3600" dirty="0">
                <a:solidFill>
                  <a:srgbClr val="111111"/>
                </a:solidFill>
                <a:latin typeface="Times New Roman" pitchFamily="34" charset="0"/>
                <a:ea typeface="Times New Roman" pitchFamily="34" charset="-122"/>
                <a:cs typeface="Times New Roman" pitchFamily="34" charset="-120"/>
              </a:rPr>
              <a:t>The Sun seems to rise in the east and set in the west because the Earth turns eastwards.</a:t>
            </a:r>
            <a:endParaRPr lang="en-US" sz="3600" dirty="0"/>
          </a:p>
        </p:txBody>
      </p:sp>
      <p:pic>
        <p:nvPicPr>
          <p:cNvPr id="5" name="Image 0" descr="/home/claude/f4/img/v2/f4_sunrise.jpg">    </p:cNvPr>
          <p:cNvPicPr>
            <a:picLocks noChangeAspect="1"/>
          </p:cNvPicPr>
          <p:nvPr/>
        </p:nvPicPr>
        <p:blipFill>
          <a:blip r:embed="rId1"/>
          <a:stretch>
            <a:fillRect/>
          </a:stretch>
        </p:blipFill>
        <p:spPr>
          <a:xfrm>
            <a:off x="5349240" y="2071212"/>
            <a:ext cx="6659575" cy="3693983"/>
          </a:xfrm>
          <a:prstGeom prst="rect">
            <a:avLst/>
          </a:prstGeom>
        </p:spPr>
      </p:pic>
      <p:sp>
        <p:nvSpPr>
          <p:cNvPr id="6" name="Text 3"/>
          <p:cNvSpPr/>
          <p:nvPr/>
        </p:nvSpPr>
        <p:spPr>
          <a:xfrm>
            <a:off x="5349240" y="6089904"/>
            <a:ext cx="665957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the Sun low over the savanna</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Effects of Rotation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Difference in time: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Places to the east see the Sun first, so they are ahead in time.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Effects of Rotation</a:t>
            </a:r>
            <a:endParaRPr lang="en-US" sz="3600" dirty="0"/>
          </a:p>
        </p:txBody>
      </p:sp>
      <p:sp>
        <p:nvSpPr>
          <p:cNvPr id="4" name="Text 2"/>
          <p:cNvSpPr/>
          <p:nvPr/>
        </p:nvSpPr>
        <p:spPr>
          <a:xfrm>
            <a:off x="365760" y="1783080"/>
            <a:ext cx="4846320" cy="4617720"/>
          </a:xfrm>
          <a:prstGeom prst="rect">
            <a:avLst/>
          </a:prstGeom>
          <a:noFill/>
          <a:ln/>
        </p:spPr>
        <p:txBody>
          <a:bodyPr wrap="square" lIns="0" tIns="0" rIns="0" bIns="0" rtlCol="0" anchor="t"/>
          <a:lstStyle/>
          <a:p>
            <a:pPr algn="l" indent="0" marL="0">
              <a:spcAft>
                <a:spcPts val="800"/>
              </a:spcAft>
              <a:buNone/>
            </a:pPr>
            <a:r>
              <a:rPr lang="en-US" sz="3600" b="1" dirty="0">
                <a:solidFill>
                  <a:srgbClr val="111111"/>
                </a:solidFill>
                <a:latin typeface="Times New Roman" pitchFamily="34" charset="0"/>
                <a:ea typeface="Times New Roman" pitchFamily="34" charset="-122"/>
                <a:cs typeface="Times New Roman" pitchFamily="34" charset="-120"/>
              </a:rPr>
              <a:t>Deflection of winds and currents: </a:t>
            </a:r>
            <a:pPr algn="l" indent="0" marL="0">
              <a:spcAft>
                <a:spcPts val="800"/>
              </a:spcAft>
              <a:buNone/>
            </a:pPr>
            <a:r>
              <a:rPr lang="en-US" sz="3600" dirty="0">
                <a:solidFill>
                  <a:srgbClr val="111111"/>
                </a:solidFill>
                <a:latin typeface="Times New Roman" pitchFamily="34" charset="0"/>
                <a:ea typeface="Times New Roman" pitchFamily="34" charset="-122"/>
                <a:cs typeface="Times New Roman" pitchFamily="34" charset="-120"/>
              </a:rPr>
              <a:t>Winds and ocean currents are bent to the right in the Northern Hemisphere and to the left in the Southern Hemisphere.</a:t>
            </a:r>
            <a:endParaRPr lang="en-US" sz="3600" dirty="0"/>
          </a:p>
        </p:txBody>
      </p:sp>
      <p:pic>
        <p:nvPicPr>
          <p:cNvPr id="5" name="Image 0" descr="/home/claude/f4/img/v2/coriolis_last.png">    </p:cNvPr>
          <p:cNvPicPr>
            <a:picLocks noChangeAspect="1"/>
          </p:cNvPicPr>
          <p:nvPr/>
        </p:nvPicPr>
        <p:blipFill>
          <a:blip r:embed="rId1"/>
          <a:stretch>
            <a:fillRect/>
          </a:stretch>
        </p:blipFill>
        <p:spPr>
          <a:xfrm>
            <a:off x="5349240" y="2617506"/>
            <a:ext cx="6659575" cy="2601397"/>
          </a:xfrm>
          <a:prstGeom prst="rect">
            <a:avLst/>
          </a:prstGeom>
        </p:spPr>
      </p:pic>
      <p:sp>
        <p:nvSpPr>
          <p:cNvPr id="6" name="Text 3"/>
          <p:cNvSpPr/>
          <p:nvPr/>
        </p:nvSpPr>
        <p:spPr>
          <a:xfrm>
            <a:off x="5349240" y="6089904"/>
            <a:ext cx="665957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deflection of winds</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Effects of Rotation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Tides: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Rotation, with the pull of the Moon, gives two high tides and two low tides a day.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rotation?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turning of the Earth on its axis.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two effects of rotation.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Day and night; the Sun seems to rise in the east.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The Earth turns on its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One rotation takes ______ hours.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The Earth turns from west to ______.</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State how long the Earth takes to go around the Sun.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6: The Revolution of the Earth</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44"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Rotation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rotation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Axis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L'axe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Day</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jour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Night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nuit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Sunrise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lever du soleil</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Sunset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coucher du soleil</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Deflection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déviation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Ocean current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courant marin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45"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The Earth as a Planet in the Solar System</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Lesson 5: The Rotation of the Earth</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Define rotation and the axis of the Earth. Illustrate the rotation of the Earth. Explain the effects of rotation.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explain day and night, the rising of the Sun in the east, and the difference in time between places.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46"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DEFINITIONS; Meaning and Illustration of Rotation; Effects of Rotation.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State how long the Earth takes to go around the Sun.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4 min | Recall, situation, action 6 min | 3 activities 12 min | Board summary (copying) 15 min | Evaluation, remediation 5 min | Homework, next lesson 3 min | Logbook 5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Activities 1 and 3 are animations (GIF): it plays automatically in slide-show mode.</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turn a ball with a mark on it in front of a torch.</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ask learners where the Sun rises in Garoua.</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draw a curved arrow on a circle.</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National Geography Syllabus (MINESEC), Form 4 — The Earth as a Planet in the Solar System.</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Teacher's lesson notes (Form 4), checked and corrected where necessary.</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2: “African Sunrise, Amboseli National Park” by Ray in Manila, CC BY 2.0, via Flickr (https://www.flickr.com/photos/21186555@N07/30385097358)</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47</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47</Slides>
  <Notes>47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47</vt:i4>
      </vt:variant>
    </vt:vector>
  </HeadingPairs>
  <TitlesOfParts>
    <vt:vector size="5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2026-10-02T05:13:52Z</dcterms:created>
  <dcterms:modified xsi:type="dcterms:W3CDTF">2026-10-02T05:13:52Z</dcterms:modified>
</cp:coreProperties>
</file>