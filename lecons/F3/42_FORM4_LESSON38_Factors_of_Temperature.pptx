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Lst>
  <p:notesMasterIdLst>
    <p:notesMasterId r:id="rId4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notesMaster" Target="notesMasters/notesMaster1.xml"/><Relationship Id="rId49" Type="http://schemas.openxmlformats.org/officeDocument/2006/relationships/presProps" Target="presProps.xml"/><Relationship Id="rId50" Type="http://schemas.openxmlformats.org/officeDocument/2006/relationships/viewProps" Target="viewProps.xml"/><Relationship Id="rId51" Type="http://schemas.openxmlformats.org/officeDocument/2006/relationships/theme" Target="theme/theme1.xml"/><Relationship Id="rId5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class, and welcome to our geography lesson. I am your geography teacher, Mr Kamdem. Today we are starting Lesson 38: Factors of Temperature.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lesson is for Form 4. It belongs to Module 3: Weather and Climate — Adaptation to Climatic Excesses. We shall need 50 minutes to cover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topic is The Earth-Atmosphere System, and the sub-topic is Basic Notions of Climate. The key notions we shall use today are: weather and climate. At the end, you should be able to do this: learners are able to explain why one place is hotter or cooler than another, and to choose shade, trees and building materials that reduce heat.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start the new lesson, let us correct the homework I gave you at the end of Lesson 37: Local Winds. The question was: Give two factors of temperature. Take out your exercise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good answer. Latitude and altitude (also cloud cover, winds, ocean currents and vegetation). Compare it with your own answer and correct your work in 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plan of our lesson today. First, we shall correct the homework. Then we shall look at the objectives and recall what you already know. After that, we shall study a situation from real life and the action to take, and do the learning activities. Finally, we shall copy the board summary, do the evaluation and the remediation, and I will give you the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your time to copy this part; we will continue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this lesson, you should be able to do three things. Number 1: identify the main factors that affect temperature. Number 2: explain how each factor makes a place hotter or cooler. Number 3: use these factors to compare temperatures in Cameroon.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first remember what you already know. Local winds are caused by unequal heating of land and sea, or slopes and valleys. Land heats and cools faster than water. Temperature falls with height in the troposphere. Keep this in mind, because we shall build on it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 carefully to this situation from real life. Oumar travels from Garoua to Ngaoundéré, only about 270 km away. In Garoua it is 35 °C, but in Ngaoundéré, in the evening, he needs a sweater. He asks: "Why can two towns so close to each other have such different temperatures?" Think about it, because I am going to ask you some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What is the problem in the situation?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Oumar does not know what makes temperatures different from place to place.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2: Which town is hotter?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Garoua.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3: What is different about Ngaoundéré?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It is much higher (on the Adamawa Plateau).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this situation, the action we are working towards in this lesson is the following: plant trees to make our towns cooler.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is this lesson important for you? This lesson helps us to know why temperatures change from place to place.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1. Look carefully at this diagram: the Sun's rays reach the Earth.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1: Why is it hotter near the Equator than near the poles?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The Sun's rays are direct near the Equator and slanting near the poles.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2. Look carefully at this picture: snow on Mount Kilimanjaro.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2: Why is there snow on a mountain near the Equator?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It is very high, and temperature falls with height.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3. Look carefully at this picture: cattle under trees.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3: Why is it cooler under trees?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The leaves stop the Sun's rays and give shade.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are going to copy the board summary. Write the title and the headings neatly in your notebooks. I will give you enough time for each slide, so do not rush.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the definitions. The key terms of this lesson are defined as follows. On this slide we have Factor of temperature and Lapse rate.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Factors of Temperature. Temperature is affected by the following factors. Copy the point on 1. Latitude on the left, then draw the diagram on the right: the Sun's rays and latitude.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Copy the point on 2. Altitude on the left, then draw the diagram on the right: temperature and altitude.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Factors of Temperature. On this slide we have 3. Cloud cover and 4. Air masses and winds.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Copy the point on 5. Ocean currents and distance from the sea on the left, then draw the diagram on the right: ocean currents.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Factors of Temperature. On this slide we have 6. Vegetation and 7. Human activities.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1: Why is Ngaoundéré cooler than Garoua?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it is higher (altitude).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2: Why is Douala's temperature range small?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it is near the sea.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those who need more practice, fill in the blanks in your exercise book. The answers are: number 1, altitude; number 2, direct; number 3, small.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your homework: Name the four main stages of the water cycle. We shall correct it at the beginning of our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next lesson will be on Lesson 39: The Hydrological Cycle. Thank you for your attention, and see you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play the bilingual game. I say a word in English, and you give me the French word. Then we do the reverse.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record this information in the official logbook of the class after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complete the second page of the logbook: the matter taught, the evaluation, the homework and the attendance.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for me, the teacher: it gives the timing of the lesson and what to do if the projector is not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references and picture credits used to prepare this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ESSON">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0" cy="658368"/>
          </a:xfrm>
          <a:prstGeom prst="rect">
            <a:avLst/>
          </a:prstGeom>
          <a:solidFill>
            <a:srgbClr val="990011"/>
          </a:solidFill>
          <a:ln w="12700">
            <a:solidFill>
              <a:srgbClr val="990011"/>
            </a:solidFill>
            <a:prstDash val="solid"/>
          </a:ln>
        </p:spPr>
      </p:sp>
      <p:sp>
        <p:nvSpPr>
          <p:cNvPr id="3" name="Text 1"/>
          <p:cNvSpPr/>
          <p:nvPr/>
        </p:nvSpPr>
        <p:spPr>
          <a:xfrm>
            <a:off x="640080" y="0"/>
            <a:ext cx="4754880" cy="658368"/>
          </a:xfrm>
          <a:prstGeom prst="homePlate">
            <a:avLst/>
          </a:prstGeom>
          <a:solidFill>
            <a:srgbClr val="990011"/>
          </a:solidFill>
          <a:ln>
            <a:solidFill>
              <a:srgbClr val="990011"/>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GEOGRAPHY / FORM 4</a:t>
            </a:r>
            <a:endParaRPr lang="en-US" sz="1800" dirty="0"/>
          </a:p>
        </p:txBody>
      </p:sp>
      <p:sp>
        <p:nvSpPr>
          <p:cNvPr id="4" name="Text 2"/>
          <p:cNvSpPr/>
          <p:nvPr/>
        </p:nvSpPr>
        <p:spPr>
          <a:xfrm>
            <a:off x="5212080" y="0"/>
            <a:ext cx="6979615" cy="658368"/>
          </a:xfrm>
          <a:prstGeom prst="chevron">
            <a:avLst/>
          </a:prstGeom>
          <a:solidFill>
            <a:srgbClr val="1C3F6E"/>
          </a:solidFill>
          <a:ln>
            <a:solidFill>
              <a:srgbClr val="1C3F6E"/>
            </a:solid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LESSON 38: FACTORS OF TEMPERATURE</a:t>
            </a:r>
            <a:endParaRPr lang="en-US" sz="1600" dirty="0"/>
          </a:p>
        </p:txBody>
      </p:sp>
      <p:sp>
        <p:nvSpPr>
          <p:cNvPr id="5" name="Shape 3"/>
          <p:cNvSpPr/>
          <p:nvPr/>
        </p:nvSpPr>
        <p:spPr>
          <a:xfrm>
            <a:off x="0" y="6492240"/>
            <a:ext cx="2743200" cy="365760"/>
          </a:xfrm>
          <a:prstGeom prst="rect">
            <a:avLst/>
          </a:prstGeom>
          <a:solidFill>
            <a:srgbClr val="1C3F6E"/>
          </a:solidFill>
          <a:ln w="12700">
            <a:solidFill>
              <a:srgbClr val="1C3F6E"/>
            </a:solidFill>
            <a:prstDash val="solid"/>
          </a:ln>
        </p:spPr>
      </p:sp>
      <p:sp>
        <p:nvSpPr>
          <p:cNvPr id="6"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7"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8"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DGCAST-GAROUA</a:t>
            </a:r>
            <a:endParaRPr lang="en-US" sz="1300" dirty="0"/>
          </a:p>
        </p:txBody>
      </p:sp>
      <p:sp>
        <p:nvSpPr>
          <p:cNvPr id="9"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0"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pic>
        <p:nvPicPr>
          <p:cNvPr id="2" name="Image 0" descr="/home/claude/f4/img/minesec_sheet.png">    </p:cNvPr>
          <p:cNvPicPr>
            <a:picLocks noChangeAspect="1"/>
          </p:cNvPicPr>
          <p:nvPr/>
        </p:nvPicPr>
        <p:blipFill>
          <a:blip r:embed="rId1"/>
          <a:stretch>
            <a:fillRect/>
          </a:stretch>
        </p:blipFill>
        <p:spPr>
          <a:xfrm>
            <a:off x="0" y="0"/>
            <a:ext cx="5888736" cy="6492240"/>
          </a:xfrm>
          <a:prstGeom prst="rect">
            <a:avLst/>
          </a:prstGeom>
        </p:spPr>
      </p:pic>
      <p:sp>
        <p:nvSpPr>
          <p:cNvPr id="3" name="Text 0"/>
          <p:cNvSpPr/>
          <p:nvPr/>
        </p:nvSpPr>
        <p:spPr>
          <a:xfrm>
            <a:off x="6126480" y="502920"/>
            <a:ext cx="5760720" cy="822960"/>
          </a:xfrm>
          <a:prstGeom prst="rect">
            <a:avLst/>
          </a:prstGeom>
          <a:noFill/>
          <a:ln/>
        </p:spPr>
        <p:txBody>
          <a:bodyPr wrap="square" lIns="0" tIns="0" rIns="0" bIns="0" rtlCol="0" anchor="ctr"/>
          <a:lstStyle/>
          <a:p>
            <a:pPr algn="ctr" indent="0" marL="0">
              <a:buNone/>
            </a:pPr>
            <a:r>
              <a:rPr lang="en-US" sz="4400" b="1" dirty="0">
                <a:solidFill>
                  <a:srgbClr val="1565C0"/>
                </a:solidFill>
                <a:latin typeface="Times New Roman" pitchFamily="34" charset="0"/>
                <a:ea typeface="Times New Roman" pitchFamily="34" charset="-122"/>
                <a:cs typeface="Times New Roman" pitchFamily="34" charset="-120"/>
              </a:rPr>
              <a:t>MINESEC</a:t>
            </a:r>
            <a:endParaRPr lang="en-US" sz="4400" dirty="0"/>
          </a:p>
        </p:txBody>
      </p:sp>
      <p:sp>
        <p:nvSpPr>
          <p:cNvPr id="4" name="Text 1"/>
          <p:cNvSpPr/>
          <p:nvPr/>
        </p:nvSpPr>
        <p:spPr>
          <a:xfrm>
            <a:off x="6126480" y="1325880"/>
            <a:ext cx="5760720" cy="457200"/>
          </a:xfrm>
          <a:prstGeom prst="rect">
            <a:avLst/>
          </a:prstGeom>
          <a:noFill/>
          <a:ln/>
        </p:spPr>
        <p:txBody>
          <a:bodyPr wrap="square" lIns="0" tIns="0" rIns="0" bIns="0" rtlCol="0" anchor="ctr"/>
          <a:lstStyle/>
          <a:p>
            <a:pPr algn="ctr" indent="0" marL="0">
              <a:buNone/>
            </a:pPr>
            <a:r>
              <a:rPr lang="en-US" sz="1800" b="1" dirty="0">
                <a:solidFill>
                  <a:srgbClr val="1C3F6E"/>
                </a:solidFill>
                <a:latin typeface="Calibri" pitchFamily="34" charset="0"/>
                <a:ea typeface="Calibri" pitchFamily="34" charset="-122"/>
                <a:cs typeface="Calibri" pitchFamily="34" charset="-120"/>
              </a:rPr>
              <a:t>DGCAST-GAROUA  —  GEOGRAPHY DEPARTMENT</a:t>
            </a:r>
            <a:endParaRPr lang="en-US" sz="1800" dirty="0"/>
          </a:p>
        </p:txBody>
      </p:sp>
      <p:sp>
        <p:nvSpPr>
          <p:cNvPr id="5" name="Text 2"/>
          <p:cNvSpPr/>
          <p:nvPr/>
        </p:nvSpPr>
        <p:spPr>
          <a:xfrm>
            <a:off x="6126480" y="5257800"/>
            <a:ext cx="5760720" cy="914400"/>
          </a:xfrm>
          <a:prstGeom prst="rect">
            <a:avLst/>
          </a:prstGeom>
          <a:noFill/>
          <a:ln/>
        </p:spPr>
        <p:txBody>
          <a:bodyPr wrap="square" lIns="0" tIns="0" rIns="0" bIns="0" rtlCol="0" anchor="ctr"/>
          <a:lstStyle/>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KAMDEM Emmanuel Berthaut</a:t>
            </a:r>
            <a:endParaRPr lang="en-US" sz="2000" dirty="0"/>
          </a:p>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Geography Teacher</a:t>
            </a:r>
            <a:endParaRPr lang="en-US" sz="2000" dirty="0"/>
          </a:p>
        </p:txBody>
      </p:sp>
      <p:sp>
        <p:nvSpPr>
          <p:cNvPr id="6" name="Shape 3"/>
          <p:cNvSpPr/>
          <p:nvPr/>
        </p:nvSpPr>
        <p:spPr>
          <a:xfrm>
            <a:off x="0" y="6492240"/>
            <a:ext cx="2743200" cy="365760"/>
          </a:xfrm>
          <a:prstGeom prst="rect">
            <a:avLst/>
          </a:prstGeom>
          <a:solidFill>
            <a:srgbClr val="1C3F6E"/>
          </a:solidFill>
          <a:ln w="12700">
            <a:solidFill>
              <a:srgbClr val="1C3F6E"/>
            </a:solidFill>
            <a:prstDash val="solid"/>
          </a:ln>
        </p:spPr>
      </p:sp>
      <p:sp>
        <p:nvSpPr>
          <p:cNvPr id="7"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8"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9"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DGCAST-GAROUA</a:t>
            </a:r>
            <a:endParaRPr lang="en-US" sz="1300" dirty="0"/>
          </a:p>
        </p:txBody>
      </p:sp>
      <p:sp>
        <p:nvSpPr>
          <p:cNvPr id="10"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1"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jp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jp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2.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2.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2.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2.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2.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2.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2.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2.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slideLayout" Target="../slideLayouts/slideLayout2.xml"/><Relationship Id="rId3" Type="http://schemas.openxmlformats.org/officeDocument/2006/relationships/notesSlide" Target="../notesSlides/notesSlide46.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126480" y="1965960"/>
            <a:ext cx="5760720" cy="1005840"/>
          </a:xfrm>
          <a:prstGeom prst="rect">
            <a:avLst/>
          </a:prstGeom>
          <a:noFill/>
          <a:ln/>
        </p:spPr>
        <p:txBody>
          <a:bodyPr wrap="square" lIns="0" tIns="0" rIns="0" bIns="0" rtlCol="0" anchor="ct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FORM 4</a:t>
            </a:r>
            <a:endParaRPr lang="en-US" sz="2600" dirty="0"/>
          </a:p>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GEOGRAPHY</a:t>
            </a:r>
            <a:endParaRPr lang="en-US" sz="2600" dirty="0"/>
          </a:p>
        </p:txBody>
      </p:sp>
      <p:sp>
        <p:nvSpPr>
          <p:cNvPr id="3" name="Text 1"/>
          <p:cNvSpPr/>
          <p:nvPr/>
        </p:nvSpPr>
        <p:spPr>
          <a:xfrm>
            <a:off x="6126480" y="3063240"/>
            <a:ext cx="5760720" cy="2103120"/>
          </a:xfrm>
          <a:prstGeom prst="rect">
            <a:avLst/>
          </a:prstGeom>
          <a:noFill/>
          <a:ln/>
        </p:spPr>
        <p:txBody>
          <a:bodyPr wrap="square" lIns="0" tIns="0" rIns="0" bIns="0" rtlCol="0" anchor="ctr">
            <a:normAutofit/>
          </a:bodyP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Lesson 38</a:t>
            </a:r>
            <a:endParaRPr lang="en-US" sz="2600" dirty="0"/>
          </a:p>
          <a:p>
            <a:pPr algn="ctr" indent="0" marL="0">
              <a:buNone/>
            </a:pPr>
            <a:r>
              <a:rPr lang="en-US" sz="3200" b="1" dirty="0">
                <a:solidFill>
                  <a:srgbClr val="990011"/>
                </a:solidFill>
                <a:latin typeface="Times New Roman" pitchFamily="34" charset="0"/>
                <a:ea typeface="Times New Roman" pitchFamily="34" charset="-122"/>
                <a:cs typeface="Times New Roman" pitchFamily="34" charset="-120"/>
              </a:rPr>
              <a:t>Factors of Temperature</a:t>
            </a:r>
            <a:endParaRPr lang="en-US" sz="2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CLASS INFO</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Class, Chapter and Duration</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Class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Form 4</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Chapter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Module 3: Weather and Climate — Adaptation to Climatic Excesses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Duration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50 minutes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IDENTIFICATION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Identification</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The Earth-Atmosphere System</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Sub-topic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Basic Notions of Climate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Lesson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Lesson 38: Factors of Temperature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Notions / Concepts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Weather and climate.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Syllabus focus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Factors of temperature: latitude, altitude, cloud cover, air masses, ocean currents, vegetation, human activities, etc.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Competence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Learners are able to explain why one place is hotter or cooler than another, and to choose shade, trees and building materials that reduce heat.</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of the 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C3F6E"/>
                </a:solidFill>
                <a:latin typeface="Times New Roman" pitchFamily="34" charset="0"/>
                <a:ea typeface="Times New Roman" pitchFamily="34" charset="-122"/>
                <a:cs typeface="Times New Roman" pitchFamily="34" charset="-120"/>
              </a:rPr>
              <a:t>Question (Lesson 37: Local Winds):</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two factors of temperature.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Latitude and altitude (also cloud cover, winds, ocean currents and vegetation).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LESSON PLAN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Plan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Correction of the homework</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Objectives and recall</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Real-life situation and action to take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Learning activities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Board summary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Evaluation, remediation and homework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By the end of this lesson, you should be able to:</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Identify the main factors that affect temperature.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Explain how each factor makes a place hotter or cooler.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Use these factors to compare temperatures in Cameroon.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PREVIOUS KNOWLEDGE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Previous Knowledge</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Local winds are caused by unequal heating of land and sea, or slopes and valleys.</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Land heats and cools faster than water.</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Temperature falls with height in the troposphere.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Oumar travels from Garoua to Ngaoundéré, only about 270 km away. In Garoua it is 35 °C, but in Ngaoundéré, in the evening, he needs a sweater. He asks: "Why can two towns so close to each other have such different temperatures?"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problem in the situation?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Oumar does not know what makes temperatures different from place to place.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Which town is hotter?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Garoua.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3</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different about Ngaoundéré?</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much higher (on the Adamawa Plateau).</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ACTION TO TAKE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Action to Take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Plant trees to make our towns cooler.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JUSTIFICATION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Justification of the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lesson helps us to know why temperatures change from place to place.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LATITUDE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a:t>
            </a:r>
            <a:endParaRPr lang="en-US" sz="3600" dirty="0"/>
          </a:p>
        </p:txBody>
      </p:sp>
      <p:pic>
        <p:nvPicPr>
          <p:cNvPr id="4" name="Image 0" descr="/home/claude/f4/img/v2/sun_rays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The Sun's rays reach the Earth.</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LATITUDE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is it hotter near the Equator than near the poles?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LATITUDE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Sun's rays are direct near the Equator and slanting near the poles.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ALTITUDE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a:t>
            </a:r>
            <a:endParaRPr lang="en-US" sz="3600" dirty="0"/>
          </a:p>
        </p:txBody>
      </p:sp>
      <p:pic>
        <p:nvPicPr>
          <p:cNvPr id="4" name="Image 0" descr="/home/claude/f4/img/v2/f2t_kilimanjaro.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Snow on Mount Kilimanjaro.</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ALTITUDE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is there snow on a mountain near the Equator?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ALTITUDE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very high, and temperature falls with height.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6. VEGETATION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a:t>
            </a:r>
            <a:endParaRPr lang="en-US" sz="3600" dirty="0"/>
          </a:p>
        </p:txBody>
      </p:sp>
      <p:pic>
        <p:nvPicPr>
          <p:cNvPr id="4" name="Image 0" descr="/home/claude/f4/img/v2/f2t_cattle_field.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Cattle under trees.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6. VEGETATION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is it cooler under trees?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6. VEGETATION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leaves stop the Sun's rays and give shade.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Board Summary</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Topic: The Earth-Atmosphere System</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Sub-topic: Basic Notions of Climate</a:t>
            </a:r>
            <a:endParaRPr lang="en-US" sz="4000" dirty="0"/>
          </a:p>
          <a:p>
            <a:pPr algn="l"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38: Factors of Temperature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1463040" cy="5833872"/>
          </a:xfrm>
          <a:prstGeom prst="rect">
            <a:avLst/>
          </a:prstGeom>
        </p:spPr>
      </p:pic>
      <p:sp>
        <p:nvSpPr>
          <p:cNvPr id="4" name="Text 1"/>
          <p:cNvSpPr/>
          <p:nvPr/>
        </p:nvSpPr>
        <p:spPr>
          <a:xfrm>
            <a:off x="1691640" y="1005840"/>
            <a:ext cx="101800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DEFINITIONS</a:t>
            </a:r>
            <a:endParaRPr lang="en-US" sz="3600" dirty="0"/>
          </a:p>
        </p:txBody>
      </p:sp>
      <p:sp>
        <p:nvSpPr>
          <p:cNvPr id="5" name="Text 2"/>
          <p:cNvSpPr/>
          <p:nvPr/>
        </p:nvSpPr>
        <p:spPr>
          <a:xfrm>
            <a:off x="1691640" y="1783080"/>
            <a:ext cx="1018001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key terms of this lesson are defined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Factor of temperature: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anything that makes a place hotter or cooler than another place.</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Lapse rate: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fall of temperature with height, about 6.5 °C every 1,000 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Factors of Temperature</a:t>
            </a:r>
            <a:endParaRPr lang="en-US" sz="3600" dirty="0"/>
          </a:p>
        </p:txBody>
      </p:sp>
      <p:sp>
        <p:nvSpPr>
          <p:cNvPr id="4" name="Text 2"/>
          <p:cNvSpPr/>
          <p:nvPr/>
        </p:nvSpPr>
        <p:spPr>
          <a:xfrm>
            <a:off x="365760" y="1783080"/>
            <a:ext cx="4846320" cy="4617720"/>
          </a:xfrm>
          <a:prstGeom prst="rect">
            <a:avLst/>
          </a:prstGeom>
          <a:noFill/>
          <a:ln/>
        </p:spPr>
        <p:txBody>
          <a:bodyPr wrap="square" lIns="0" tIns="0" rIns="0" bIns="0" rtlCol="0" anchor="t"/>
          <a:lstStyle/>
          <a:p>
            <a:pPr algn="l" indent="0" marL="0">
              <a:spcAft>
                <a:spcPts val="800"/>
              </a:spcAft>
              <a:buNone/>
            </a:pPr>
            <a:r>
              <a:rPr lang="en-US" sz="3200" i="1" dirty="0">
                <a:solidFill>
                  <a:srgbClr val="111111"/>
                </a:solidFill>
                <a:latin typeface="Times New Roman" pitchFamily="34" charset="0"/>
                <a:ea typeface="Times New Roman" pitchFamily="34" charset="-122"/>
                <a:cs typeface="Times New Roman" pitchFamily="34" charset="-120"/>
              </a:rPr>
              <a:t>Temperature is affected by the following factors:</a:t>
            </a:r>
            <a:endParaRPr lang="en-US" sz="3200" dirty="0"/>
          </a:p>
          <a:p>
            <a:pPr algn="l" indent="0" marL="0">
              <a:spcAft>
                <a:spcPts val="800"/>
              </a:spcAft>
              <a:buNone/>
            </a:pPr>
            <a:r>
              <a:rPr lang="en-US" sz="3200" b="1" dirty="0">
                <a:solidFill>
                  <a:srgbClr val="111111"/>
                </a:solidFill>
                <a:latin typeface="Times New Roman" pitchFamily="34" charset="0"/>
                <a:ea typeface="Times New Roman" pitchFamily="34" charset="-122"/>
                <a:cs typeface="Times New Roman" pitchFamily="34" charset="-120"/>
              </a:rPr>
              <a:t>1. Latitude: </a:t>
            </a:r>
            <a:pPr algn="l" indent="0" marL="0">
              <a:spcAft>
                <a:spcPts val="800"/>
              </a:spcAft>
              <a:buNone/>
            </a:pPr>
            <a:r>
              <a:rPr lang="en-US" sz="3200" dirty="0">
                <a:solidFill>
                  <a:srgbClr val="111111"/>
                </a:solidFill>
                <a:latin typeface="Times New Roman" pitchFamily="34" charset="0"/>
                <a:ea typeface="Times New Roman" pitchFamily="34" charset="-122"/>
                <a:cs typeface="Times New Roman" pitchFamily="34" charset="-120"/>
              </a:rPr>
              <a:t>Near the Equator the Sun's rays are direct and hot, while towards the poles they are slanting and spread over a larger area.</a:t>
            </a:r>
            <a:endParaRPr lang="en-US" sz="3200" dirty="0"/>
          </a:p>
        </p:txBody>
      </p:sp>
      <p:pic>
        <p:nvPicPr>
          <p:cNvPr id="5" name="Image 0" descr="/home/claude/f4/img/v2/sun_rays_big.png">    </p:cNvPr>
          <p:cNvPicPr>
            <a:picLocks noChangeAspect="1"/>
          </p:cNvPicPr>
          <p:nvPr/>
        </p:nvPicPr>
        <p:blipFill>
          <a:blip r:embed="rId1"/>
          <a:stretch>
            <a:fillRect/>
          </a:stretch>
        </p:blipFill>
        <p:spPr>
          <a:xfrm>
            <a:off x="5349240" y="2617506"/>
            <a:ext cx="6659575" cy="2601397"/>
          </a:xfrm>
          <a:prstGeom prst="rect">
            <a:avLst/>
          </a:prstGeom>
        </p:spPr>
      </p:pic>
      <p:sp>
        <p:nvSpPr>
          <p:cNvPr id="6" name="Text 3"/>
          <p:cNvSpPr/>
          <p:nvPr/>
        </p:nvSpPr>
        <p:spPr>
          <a:xfrm>
            <a:off x="5349240" y="6089904"/>
            <a:ext cx="665957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the Sun's rays and latitude</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Factors of Temperature</a:t>
            </a:r>
            <a:endParaRPr lang="en-US" sz="3600" dirty="0"/>
          </a:p>
        </p:txBody>
      </p:sp>
      <p:sp>
        <p:nvSpPr>
          <p:cNvPr id="4" name="Text 2"/>
          <p:cNvSpPr/>
          <p:nvPr/>
        </p:nvSpPr>
        <p:spPr>
          <a:xfrm>
            <a:off x="365760" y="1783080"/>
            <a:ext cx="4846320" cy="4617720"/>
          </a:xfrm>
          <a:prstGeom prst="rect">
            <a:avLst/>
          </a:prstGeom>
          <a:noFill/>
          <a:ln/>
        </p:spPr>
        <p:txBody>
          <a:bodyPr wrap="square" lIns="0" tIns="0" rIns="0" bIns="0" rtlCol="0" anchor="t"/>
          <a:lstStyle/>
          <a:p>
            <a:pPr algn="l" indent="0" marL="0">
              <a:spcAft>
                <a:spcPts val="800"/>
              </a:spcAft>
              <a:buNone/>
            </a:pPr>
            <a:r>
              <a:rPr lang="en-US" sz="3600" b="1" dirty="0">
                <a:solidFill>
                  <a:srgbClr val="111111"/>
                </a:solidFill>
                <a:latin typeface="Times New Roman" pitchFamily="34" charset="0"/>
                <a:ea typeface="Times New Roman" pitchFamily="34" charset="-122"/>
                <a:cs typeface="Times New Roman" pitchFamily="34" charset="-120"/>
              </a:rPr>
              <a:t>2. Altitude: </a:t>
            </a:r>
            <a:pPr algn="l" indent="0" marL="0">
              <a:spcAft>
                <a:spcPts val="800"/>
              </a:spcAft>
              <a:buNone/>
            </a:pPr>
            <a:r>
              <a:rPr lang="en-US" sz="3600" dirty="0">
                <a:solidFill>
                  <a:srgbClr val="111111"/>
                </a:solidFill>
                <a:latin typeface="Times New Roman" pitchFamily="34" charset="0"/>
                <a:ea typeface="Times New Roman" pitchFamily="34" charset="-122"/>
                <a:cs typeface="Times New Roman" pitchFamily="34" charset="-120"/>
              </a:rPr>
              <a:t>Temperature falls by about 6.5 °C for every 1,000 m of height, so Ngaoundéré is cooler than Garoua.</a:t>
            </a:r>
            <a:endParaRPr lang="en-US" sz="3600" dirty="0"/>
          </a:p>
        </p:txBody>
      </p:sp>
      <p:pic>
        <p:nvPicPr>
          <p:cNvPr id="5" name="Image 0" descr="/home/claude/f4/img/v2/lapse_rate_big.png">    </p:cNvPr>
          <p:cNvPicPr>
            <a:picLocks noChangeAspect="1"/>
          </p:cNvPicPr>
          <p:nvPr/>
        </p:nvPicPr>
        <p:blipFill>
          <a:blip r:embed="rId1"/>
          <a:stretch>
            <a:fillRect/>
          </a:stretch>
        </p:blipFill>
        <p:spPr>
          <a:xfrm>
            <a:off x="5349240" y="2617506"/>
            <a:ext cx="6659575" cy="2601397"/>
          </a:xfrm>
          <a:prstGeom prst="rect">
            <a:avLst/>
          </a:prstGeom>
        </p:spPr>
      </p:pic>
      <p:sp>
        <p:nvSpPr>
          <p:cNvPr id="6" name="Text 3"/>
          <p:cNvSpPr/>
          <p:nvPr/>
        </p:nvSpPr>
        <p:spPr>
          <a:xfrm>
            <a:off x="5349240" y="6089904"/>
            <a:ext cx="665957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temperature and altitude</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Factors of Temperature</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3. Cloud cover: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Clouds keep out the Sun by day and keep in the heat at night, so cloudy places have a small range.</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4. Air masses and winds: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Winds bring the temperature of the places they come from, like the dry, cool Harmattan nights.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Factors of Temperature</a:t>
            </a:r>
            <a:endParaRPr lang="en-US" sz="3600" dirty="0"/>
          </a:p>
        </p:txBody>
      </p:sp>
      <p:sp>
        <p:nvSpPr>
          <p:cNvPr id="4" name="Text 2"/>
          <p:cNvSpPr/>
          <p:nvPr/>
        </p:nvSpPr>
        <p:spPr>
          <a:xfrm>
            <a:off x="365760" y="1783080"/>
            <a:ext cx="4846320" cy="4617720"/>
          </a:xfrm>
          <a:prstGeom prst="rect">
            <a:avLst/>
          </a:prstGeom>
          <a:noFill/>
          <a:ln/>
        </p:spPr>
        <p:txBody>
          <a:bodyPr wrap="square" lIns="0" tIns="0" rIns="0" bIns="0" rtlCol="0" anchor="t"/>
          <a:lstStyle/>
          <a:p>
            <a:pPr algn="l" indent="0" marL="0">
              <a:spcAft>
                <a:spcPts val="800"/>
              </a:spcAft>
              <a:buNone/>
            </a:pPr>
            <a:r>
              <a:rPr lang="en-US" sz="3600" b="1" dirty="0">
                <a:solidFill>
                  <a:srgbClr val="111111"/>
                </a:solidFill>
                <a:latin typeface="Times New Roman" pitchFamily="34" charset="0"/>
                <a:ea typeface="Times New Roman" pitchFamily="34" charset="-122"/>
                <a:cs typeface="Times New Roman" pitchFamily="34" charset="-120"/>
              </a:rPr>
              <a:t>5. Ocean currents and distance from the sea: </a:t>
            </a:r>
            <a:pPr algn="l" indent="0" marL="0">
              <a:spcAft>
                <a:spcPts val="800"/>
              </a:spcAft>
              <a:buNone/>
            </a:pPr>
            <a:r>
              <a:rPr lang="en-US" sz="3600" dirty="0">
                <a:solidFill>
                  <a:srgbClr val="111111"/>
                </a:solidFill>
                <a:latin typeface="Times New Roman" pitchFamily="34" charset="0"/>
                <a:ea typeface="Times New Roman" pitchFamily="34" charset="-122"/>
                <a:cs typeface="Times New Roman" pitchFamily="34" charset="-120"/>
              </a:rPr>
              <a:t>Warm currents warm coasts and cold currents cool them, while the sea keeps coastal towns like Douala mild.</a:t>
            </a:r>
            <a:endParaRPr lang="en-US" sz="3600" dirty="0"/>
          </a:p>
        </p:txBody>
      </p:sp>
      <p:pic>
        <p:nvPicPr>
          <p:cNvPr id="5" name="Image 0" descr="/home/claude/f4/img/v2/ocean_currents_big.png">    </p:cNvPr>
          <p:cNvPicPr>
            <a:picLocks noChangeAspect="1"/>
          </p:cNvPicPr>
          <p:nvPr/>
        </p:nvPicPr>
        <p:blipFill>
          <a:blip r:embed="rId1"/>
          <a:stretch>
            <a:fillRect/>
          </a:stretch>
        </p:blipFill>
        <p:spPr>
          <a:xfrm>
            <a:off x="5349240" y="2253310"/>
            <a:ext cx="6659575" cy="3329788"/>
          </a:xfrm>
          <a:prstGeom prst="rect">
            <a:avLst/>
          </a:prstGeom>
        </p:spPr>
      </p:pic>
      <p:sp>
        <p:nvSpPr>
          <p:cNvPr id="6" name="Text 3"/>
          <p:cNvSpPr/>
          <p:nvPr/>
        </p:nvSpPr>
        <p:spPr>
          <a:xfrm>
            <a:off x="5349240" y="6089904"/>
            <a:ext cx="665957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ocean currents</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Factors of Temperature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6. Vegetation: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Forests and trees shade the ground and cool the air.</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7. Human activities: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Towns with concrete, tar, factories and cars are hotter than the countryside.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is Ngaoundéré cooler than Garoua?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higher (altitude).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is Douala's temperature range small?</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near the sea.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1463040" cy="5833872"/>
          </a:xfrm>
          <a:prstGeom prst="rect">
            <a:avLst/>
          </a:prstGeom>
        </p:spPr>
      </p:pic>
      <p:sp>
        <p:nvSpPr>
          <p:cNvPr id="4" name="Text 1"/>
          <p:cNvSpPr/>
          <p:nvPr/>
        </p:nvSpPr>
        <p:spPr>
          <a:xfrm>
            <a:off x="1691640" y="1005840"/>
            <a:ext cx="101800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a:t>
            </a:r>
            <a:endParaRPr lang="en-US" sz="3600" dirty="0"/>
          </a:p>
        </p:txBody>
      </p:sp>
      <p:sp>
        <p:nvSpPr>
          <p:cNvPr id="5" name="Text 2"/>
          <p:cNvSpPr/>
          <p:nvPr/>
        </p:nvSpPr>
        <p:spPr>
          <a:xfrm>
            <a:off x="1691640" y="1783080"/>
            <a:ext cx="101800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Fill in the blanks: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Temperature falls when ______ increases.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At the Equator, the sun rays are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Places near the sea have a ______ temperature range.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Name the four main stages of the water cycle.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NEXT LESSON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Next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ctr"/>
          <a:lstStyle/>
          <a:p>
            <a:pPr algn="ctr"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Our next lesson will be on:</a:t>
            </a:r>
            <a:endParaRPr lang="en-US" sz="4000" dirty="0"/>
          </a:p>
          <a:p>
            <a:pPr algn="ctr"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39: The Hydrological Cycle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BILINGUAL GAME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Bilingual Game (Jeu Bilingue)</a:t>
            </a:r>
            <a:endParaRPr lang="en-US" sz="3600" dirty="0"/>
          </a:p>
        </p:txBody>
      </p:sp>
      <p:graphicFrame>
        <p:nvGraphicFramePr>
          <p:cNvPr id="43" name="Table 0"/>
          <p:cNvGraphicFramePr>
            <a:graphicFrameLocks noGrp="1"/>
          </p:cNvGraphicFramePr>
          <p:nvPr>
            <p:extLst>
              <p:ext uri="{D42A27DB-BD31-4B8C-83A1-F6EECF244321}">
                <p14:modId xmlns:p14="http://schemas.microsoft.com/office/powerpoint/2010/main" val="1579011935"/>
              </p:ext>
            </p:extLst>
          </p:nvPr>
        </p:nvGraphicFramePr>
        <p:xfrm>
          <a:off x="1706728" y="1783080"/>
          <a:ext cx="8778240" cy="914400"/>
        </p:xfrm>
        <a:graphic>
          <a:graphicData uri="http://schemas.openxmlformats.org/drawingml/2006/table">
            <a:tbl>
              <a:tblPr/>
              <a:tblGrid>
                <a:gridCol w="4389120"/>
                <a:gridCol w="4389120"/>
              </a:tblGrid>
              <a:tr h="0">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English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Français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Factor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facteur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Latitude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latitude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Altitude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L'altitude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Cloud cover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nébulosité</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Air mass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masse d'air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Ocean current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courant marin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Vegetation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végétation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Heat island</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L'îlot de chaleur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(1/2)</a:t>
            </a:r>
            <a:endParaRPr lang="en-US" sz="3600" dirty="0"/>
          </a:p>
        </p:txBody>
      </p:sp>
      <p:graphicFrame>
        <p:nvGraphicFramePr>
          <p:cNvPr id="4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Module / Topic</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The Earth-Atmosphere System</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Lesson Title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Lesson 38: Factors of Temperature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Expected Learning Outcomes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Identify the main factors that affect temperature. Explain how each factor makes a place hotter or cooler. Use these factors to compare temperatures in Cameroon.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Competence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Learners are able to explain why one place is hotter or cooler than another, and to choose shade, trees and building materials that reduce heat.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(2/2)</a:t>
            </a:r>
            <a:endParaRPr lang="en-US" sz="3600" dirty="0"/>
          </a:p>
        </p:txBody>
      </p:sp>
      <p:graphicFrame>
        <p:nvGraphicFramePr>
          <p:cNvPr id="45"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Matter Taught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DEFINITIONS; Factors of Temperature.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Evaluation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Formative evaluation and remediation exercise.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Homework</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Name the four main stages of the water cycle.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Enrolment / Present / Absent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____ / ____ / ____</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Achievement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To be completed after the lesson.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TEACHER'S NOTE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Teacher's Note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Timing: Homework correction, plan, objectives 4 min | Recall, situation, action 6 min | 3 activities 12 min | Board summary (copying) 15 min | Evaluation, remediation 5 min | Homework, next lesson 3 min | Logbook 5 min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1): shine a torch straight and at an angle on paper.</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2): compare Garoua and Ngaoundéré.</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3): compare the school yard and a shady place.</a:t>
            </a:r>
            <a:endParaRPr lang="en-US" sz="2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REFERENCES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References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National Geography Syllabus (MINESEC), Form 4 — Module 3: Weather and Climate.</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Teacher's lesson notes (f4.docx), checked and corrected where necessary.</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Climate normals of Garoua, Maroua, Ngaoundéré and Douala (via Wikipedia climate tables: NOAA, WMO).</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2: “Kilimanjaro” by ian 1602, CC BY-NC 2.0, via Flickr (https://www.flickr.com/photos/98181641@N00/2179855841)</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3: “Acacia Tree” by D-Stanley, CC BY 2.0, via Flickr (https://www.flickr.com/photos/79721788@N00/11527335486)</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Diagrams and animations: drawn for this lesson (Geography Department).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46</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46</Slides>
  <Notes>46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46</vt:i4>
      </vt:variant>
    </vt:vector>
  </HeadingPairs>
  <TitlesOfParts>
    <vt:vector size="4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2026-10-02T05:14:02Z</dcterms:created>
  <dcterms:modified xsi:type="dcterms:W3CDTF">2026-10-02T05:14:02Z</dcterms:modified>
</cp:coreProperties>
</file>