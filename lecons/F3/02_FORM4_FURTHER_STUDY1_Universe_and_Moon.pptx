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The Universe and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universe, galaxy, star, satellite, phases of the Moon, tides. At the end, you should be able to do this: learners are able to recognise the phases of the Moon and to explain how the Moon affects tides, calendars and daily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Our Planet, the Earth: Size, Shape and Proofs. The question was: Name the four main phases of the Moon.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New Moon, first quarter, full Moon and last quarter.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universe and a galaxy, and describe the place of the Earth in the universe. Number 2: describe the phases of the Moon. Number 3: explain the impacts of the Moon on the natural environment and 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Many proofs show that the Earth is round, such as the round shadow of the Earth on the Moon. The Earth is one of the eight planets that move around the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Hawaou sits outside with her grandmother. The full Moon lights up the compound, and grandmother says that some crops are planted according to the shape of the Moon. Hawaou asks: "Why does the Moon change its shape, and how does it affect our lives?"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Hawaou does not know why the Moon changes its shape or how it affects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lights up the compound?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full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light of the Moon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Sun: the Moon has no light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the sky and the Moon regularly and use the tides and the phases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universe, the Moon and its effects on 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Milky Way at night.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band of light is made of billions of stars.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Milky Way, our galaxy.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Moon moves around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shape of the Moon seem to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lights half of the Moon, and we see a different part of this lit half as the Moon moves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boats on the sand when the sea is 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these boats on the sand?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sea has gone down: it is low tide.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causes this movement of the sea?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pull (gravity) of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Universe and Galaxy.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Satellite and Phases of the Moon.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of the Universe. The universe is made up of the following elements. Copy the point on Galaxies on the left, then draw the diagram on the right: the Milky Way.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of the Universe. On this slide we have Stars.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solar system on the left, then draw the diagram on the right: the solar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of the Universe. On this slide we have Other bodies.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Links with the Planet Earth. The Earth is linked to the rest of the universe as follows. On this slide we have Light and heat and Movements.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Links with the Planet Earth. On this slide we have Gravity and The place of the Earth.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Phases of the Moon. The Moon shows the following phases during a month of about 29½ days. Copy the point on New Moon on the left, then draw the diagram on the right: the phases of the Moon.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Phases of the Moon. On this slide we have First quarter, Full Moon and Last quarter.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on the Natural Environment. The Moon affects the natural environment as follows. Copy the point on Tides on the left, then draw the diagram on the right: how the Moon causes tides.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on the Natural Environment. On this slide we have Spring and neap tides.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on the Natural Environment. On this slide we have Light at night and Eclipses.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on Human Activities. The Moon affects human socio-economic activities as follows. Copy the point on Fishing on the left, then draw the diagram on the right: boats at low tide.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on Human Activities. On this slide we have Navigation and ports and Calendars and feasts.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on Human Activities. On this slide we have Farming and tradition.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galaxy? Name our galaxy.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huge group of stars. Ours is the Milky 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causes the tides?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pull (gravity) of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Milky; number 2, Full; number 3, 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the value of the Equator and of the Greenwich Meridian.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Earth Divisions: Latitudes and Longitudes.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THE UNIVERSE AND THE MOON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Universe and the Moon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The Universe and the Moon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Universe, galaxy, star, satellite, phases of the Moon, tides.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composition of the universe; links with planet Earth; the Moon: phases and impacts on the natural environment and 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Our Planet, the Earth: Size, Shape and Proofs):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main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Moon, first quarter, full Moon and last quarter.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universe and a galaxy, and describe the place of the Earth in the universe.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the Moon on the natural environment and 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proofs show that the Earth is round, such as the round shadow of the Earth on the Moon.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that move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Hawaou sits outside with her grandmother. The full Moon lights up the compound, and grandmother says that some crops are planted according to the shape of the Moon. Hawaou asks: "Why does the Moon change its shape, and how does it affect our lives?"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Hawaou does not know why the Moon changes its shape or how it affects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lights up the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full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light of the Moon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 the Moon has no light of its 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sky and the Moon regularly and use the tides and the phases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universe, the Moon and its effects on our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ilky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Milky Way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band of light is made of billions of stars.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Milky Way,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oon_phase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Moon moves around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shape of the Moon seem to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lights half of the Moon, and we see a different part of this lit half as the Moon moves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owt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Boats on the sand when the sea is 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these boats on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has gone down: it is low tide.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this movement of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Universe: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of space and everything in it: stars, planets, gases and dust.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Galaxy: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huge group of stars, gas and dust held together by 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Satellite: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body that moves around a planet.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Phases of the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different shapes of the lit part of the Moon that we see during a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Composition of the Universe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universe is made up of the following elements: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Galaxies: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There are billions of galaxies, and our galaxy is the Milky Way.</a:t>
            </a:r>
            <a:endParaRPr lang="en-US" sz="3600" dirty="0"/>
          </a:p>
        </p:txBody>
      </p:sp>
      <p:pic>
        <p:nvPicPr>
          <p:cNvPr id="6" name="Image 0" descr="/home/claude/f4/img/v2/f4_milkyway.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Milky Way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Composition of the Universe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Stars are huge balls of burning gas, and the Sun is our nearest star.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Composition of the Universe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solar system: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Sun with the eight planets and their satellites that move around it.</a:t>
            </a:r>
            <a:endParaRPr lang="en-US" sz="3600" dirty="0"/>
          </a:p>
        </p:txBody>
      </p:sp>
      <p:pic>
        <p:nvPicPr>
          <p:cNvPr id="6" name="Image 0" descr="/home/claude/f4/img/v2/solar_system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solar 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Composition of the Universe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bodies: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Asteroids, comets, gases and dust are also found in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Links with the Planet Earth</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Earth is linked to the rest of the universe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and heat: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gives the Earth the light and heat that make life possible.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around the Sun, which gives the year and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Links with the Planet Earth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and the Moon pull the Earth, and this causes the tides.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place of the Earth: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the third planet from the Sun and the only one known to have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Phases of the Moon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Moon shows the following phases during a month of about 29½ days: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New Moon: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lit side of the Moon faces away from the Earth, so we do not see it.</a:t>
            </a:r>
            <a:endParaRPr lang="en-US" sz="3200" dirty="0"/>
          </a:p>
        </p:txBody>
      </p:sp>
      <p:pic>
        <p:nvPicPr>
          <p:cNvPr id="6" name="Image 0" descr="/home/claude/f4/img/v2/moon_phas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phases of the Moon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Phases of the Moon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right half of the Moon lit by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Full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whole lit face of the Moon faces the Earth, so we see a full circle.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left half of the Moon lit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Impacts on the Natural Environment</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Moon affects the natural environment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pull of the Moon makes the sea rise and fall twice a day.</a:t>
            </a:r>
            <a:endParaRPr lang="en-US" sz="3600" dirty="0"/>
          </a:p>
        </p:txBody>
      </p:sp>
      <p:pic>
        <p:nvPicPr>
          <p:cNvPr id="6" name="Image 0" descr="/home/claude/f4/img/tides.png">    </p:cNvPr>
          <p:cNvPicPr>
            <a:picLocks noChangeAspect="1"/>
          </p:cNvPicPr>
          <p:nvPr/>
        </p:nvPicPr>
        <p:blipFill>
          <a:blip r:embed="rId1"/>
          <a:stretch>
            <a:fillRect/>
          </a:stretch>
        </p:blipFill>
        <p:spPr>
          <a:xfrm>
            <a:off x="5349240" y="2342247"/>
            <a:ext cx="6659575" cy="315191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how the Moon causes tides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B) Impacts on the Natural Environment</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Spring and neap 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new Moon and full Moon, tides are very high (spring tides), and at the quarters they are low (neap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Impacts on the Natural Environment (continued)</a:t>
            </a:r>
            <a:endParaRPr lang="en-US" sz="29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at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full Moon lights the night, and many animals hunt or move by moonlight.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Eclipses: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Moon can hide the Sun (solar eclipse) or enter the shadow of the Earth (lunar eclipse).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Impacts on Human Activities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Moon affects human socio-economic activities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Fishermen go out and come back with the tides, and some fish at night with the full Moon.</a:t>
            </a:r>
            <a:endParaRPr lang="en-US" sz="3200" dirty="0"/>
          </a:p>
        </p:txBody>
      </p:sp>
      <p:pic>
        <p:nvPicPr>
          <p:cNvPr id="6" name="Image 0" descr="/home/claude/f4/img/v2/f4_lowtid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boats at low tide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Impacts on Human Activities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Navigation and 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ships enter shallow ports such as Douala at high tide.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Calendars and feasts: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calendars and feasts, such as Ramadan, follow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Moon, Satellite of the Earth</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400" b="1" dirty="0">
                <a:solidFill>
                  <a:srgbClr val="990011"/>
                </a:solidFill>
                <a:latin typeface="Times New Roman" pitchFamily="34" charset="0"/>
                <a:ea typeface="Times New Roman" pitchFamily="34" charset="-122"/>
                <a:cs typeface="Times New Roman" pitchFamily="34" charset="-120"/>
              </a:rPr>
              <a:t>C) Impacts on Human Activities (continued)</a:t>
            </a:r>
            <a:endParaRPr lang="en-US" sz="24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and tradition: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some villages, people plant or harvest according to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galaxy? Name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huge group of stars. Ours is the Milky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Our galaxy is called the ______ Way.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we see the whole Moon, it is the ______ Moon.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and fall of the sea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value of the Equator and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L'univers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Galaxy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galaxie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L'étoile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Full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pleine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nouvelle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The Universe and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universe and a galaxy, and describe the place of the Earth in the universe. Describe the phases of the Moon. Explain the impacts of the Moon on the natural environment and 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Composition of the Universe; Links with the Planet Earth; The Phases of the Moon; Impacts on the Natural Environment; Impacts 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value of the Equator and of the Greenwich Meridian.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look at the night sky far from town lights.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move a ball around a learner's head in front of a torch.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beach at Kribi in the morning and in the evening.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“Telluride Milky Way Night Sky With Satellite Streak” by wienotfilms, CC BY-NC 2.0, via Flickr (https://www.flickr.com/photos/76583523@N05/14781116206)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“Praia de Itapororoca” by Rodrigo_Soldon, CC BY-ND 2.0, via Flickr (https://www.flickr.com/photos/8865243@N02/10838180494)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2026-09-29T03:12:15Z</dcterms:created>
  <dcterms:modified xsi:type="dcterms:W3CDTF">2026-09-29T03:12:15Z</dcterms:modified>
</cp:coreProperties>
</file>