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1: The Universe and the Moon.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The Earth as a Planet of the Solar System.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The Earth as a Planet of the Solar System. The key notions we shall use today are: universe, galaxy, star, satellite, phases of the Moon, tides. At the end, you should be able to do this: learners are able to recognise the phases of the Moon and to explain how the Moon affects tides, calendars and daily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Our Planet, the Earth: Size, Shape and Proofs. The question was: Name the four main phases of the Moon.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New Moon, first quarter, full Moon and last quarter.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universe and a galaxy, and describe the place of the Earth in the universe. Number 2: describe the phases of the Moon. Number 3: explain the impacts of the Moon on the natural environment and on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an oblate spheroid. Many proofs show that the Earth is round, such as the round shadow of the Earth on the Moon. The Earth is one of the eight planets that move around the Sun.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One evening, Hawaou sits outside with her grandmother. The full Moon lights up the compound, and grandmother says that some crops are planted according to the shape of the Moon. Hawaou asks: "Why does the Moon change its shape, and how does it affect our lives?"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Hawaou does not know why the Moon changes its shape or how it affects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lights up the compound?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full Moon.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does the light of the Moon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the Sun: the Moon has no light of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observe the sky and the Moon regularly and use the tides and the phases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universe, the Moon and its effects on our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Milky Way at night.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This band of light is made of billions of stars. What is it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Milky Way, our galaxy.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the Moon moves around the Earth.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the shape of the Moon seem to change?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Sun lights half of the Moon, and we see a different part of this lit half as the Moon moves around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boats on the sand when the sea is low.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these boats on the sand?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sea has gone down: it is low tide.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causes this movement of the sea?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pull (gravity) of the Moon.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Universe and Galaxy.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Satellite and Phases of the Moon.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Composition of the Universe. The universe is made up of the following elements. Copy the point on Galaxies on the left, then draw the diagram on the right: the Milky Way.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Composition of the Universe. On this slide we have Stars.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solar system on the left, then draw the diagram on the right: the solar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Composition of the Universe. On this slide we have Other bodies.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Links with the Planet Earth. The Earth is linked to the rest of the universe as follows. On this slide we have Light and heat and Movements.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Links with the Planet Earth. On this slide we have Gravity and The place of the Earth.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Phases of the Moon. The Moon shows the following phases during a month of about 29½ days. Copy the point on New Moon on the left, then draw the diagram on the right: the phases of the Moon.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Phases of the Moon. On this slide we have First quarter, Full Moon and Last quarter.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Impacts on the Natural Environment. The Moon affects the natural environment as follows. Copy the point on Tides on the left, then draw the diagram on the right: how the Moon causes tides.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on the Natural Environment. On this slide we have Spring and neap tides.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on the Natural Environment. On this slide we have Light at night and Eclipses.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Impacts on Human Activities. The Moon affects human socio-economic activities as follows. Copy the point on Fishing on the left, then draw the diagram on the right: boats at low tide.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on Human Activities. On this slide we have Navigation and ports and Calendars and feasts.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on Human Activities. On this slide we have Farming and tradition.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galaxy? Name our galaxy.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huge group of stars. Ours is the Milky Way.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causes the tides?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pull (gravity) of the Moon.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Milky; number 2, Full; number 3, tides.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the value of the Equator and of the Greenwich Meridian.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Earth Divisions: Latitudes and Longitudes.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1: THE UNIVERSE AND THE MOON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Universe and the Moon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The Earth as a Planet of the Solar System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of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1: The Universe and the Moon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Universe, galaxy, star, satellite, phases of the Moon, tides.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composition of the universe; links with planet Earth; the Moon: phases and impacts on the natural environment and on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phases of the Moon and to explain how the Moon affects tides, calendars and daily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Our Planet, the Earth: Size, Shape and Proofs):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main phases of the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Moon, first quarter, full Moon and last quarter.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universe and a galaxy, and describe the place of the Earth in the universe.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phases of the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impacts of the Moon on the natural environment and on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an oblate spheroid.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proofs show that the Earth is round, such as the round shadow of the Earth on the Moon.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one of the eight planets that move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evening, Hawaou sits outside with her grandmother. The full Moon lights up the compound, and grandmother says that some crops are planted according to the shape of the Moon. Hawaou asks: "Why does the Moon change its shape, and how does it affect our lives?"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Hawaou does not know why the Moon changes its shape or how it affects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lights up the compound?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full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light of the Moon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Sun: the Moon has no light of its 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sky and the Moon regularly and use the tides and the phases safely.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universe, the Moon and its effects on our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UNIVERSE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milkywa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Milky Way at night.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UNIVERSE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band of light is made of billions of stars. What is it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UNIVERSE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Milky Way, our galaxy.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PHASES OF THE MOON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oon_phases.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Moon moves around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PHASES OF THE MOON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shape of the Moon seem to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PHASES OF THE MOON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lights half of the Moon, and we see a different part of this lit half as the Moon moves around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 OF THE MOON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lowti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Boats on the sand when the sea is low.</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 OF THE MOON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these boats on the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 OF THE MOON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sea has gone down: it is low tide.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 OF THE MOON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this movement of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 OF THE MOON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pull (gravity) of the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Earth as a Planet of the Solar System</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1: The Universe and the Moon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Universe: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all of space and everything in it: stars, planets, gases and dust.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Galaxy: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huge group of stars, gas and dust held together by gravity.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Satellite: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body that moves around a planet.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Phases of the Moon: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different shapes of the lit part of the Moon that we see during a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Universe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Composition of the Universe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universe is made up of the following elements: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Galaxies: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There are billions of galaxies, and our galaxy is the Milky Way.</a:t>
            </a:r>
            <a:endParaRPr lang="en-US" sz="3600" dirty="0"/>
          </a:p>
        </p:txBody>
      </p:sp>
      <p:pic>
        <p:nvPicPr>
          <p:cNvPr id="6" name="Image 0" descr="/home/claude/f4/img/v2/f4_milkyway.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Milky Way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Universe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Composition of the Universe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Stars are huge balls of burning gas, and the Sun is our nearest star.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Universe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Composition of the Universe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solar system: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Sun with the eight planets and their satellites that move around it.</a:t>
            </a:r>
            <a:endParaRPr lang="en-US" sz="3600" dirty="0"/>
          </a:p>
        </p:txBody>
      </p:sp>
      <p:pic>
        <p:nvPicPr>
          <p:cNvPr id="6" name="Image 0" descr="/home/claude/f4/img/v2/solar_system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solar system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Universe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Composition of the Universe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bodies: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Asteroids, comets, gases and dust are also found in space.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Universe</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Links with the Planet Earth</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Earth is linked to the rest of the universe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Light and heat: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gives the Earth the light and heat that make life possible.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Movements: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turns around the Sun, which gives the year and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Universe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Links with the Planet Earth (continued)</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Gravity: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and the Moon pull the Earth, and this causes the tides.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place of the Earth: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is the third planet from the Sun and the only one known to have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Moon, Satellite of the Earth</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Phases of the Moon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Moon shows the following phases during a month of about 29½ days: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New Moon: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lit side of the Moon faces away from the Earth, so we do not see it.</a:t>
            </a:r>
            <a:endParaRPr lang="en-US" sz="3200" dirty="0"/>
          </a:p>
        </p:txBody>
      </p:sp>
      <p:pic>
        <p:nvPicPr>
          <p:cNvPr id="6" name="Image 0" descr="/home/claude/f4/img/v2/moon_phas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phases of the Moon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Moon, Satellite of the Earth</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Phases of the Moon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First quarter: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see the right half of the Moon lit by the Sun.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Full Moon: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whole lit face of the Moon faces the Earth, so we see a full circle.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Last quarter: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see the left half of the Moon lit by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Moon, Satellite of the Earth</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Impacts on the Natural Environment</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Moon affects the natural environment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Tides: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pull of the Moon makes the sea rise and fall twice a day.</a:t>
            </a:r>
            <a:endParaRPr lang="en-US" sz="3600" dirty="0"/>
          </a:p>
        </p:txBody>
      </p:sp>
      <p:pic>
        <p:nvPicPr>
          <p:cNvPr id="6" name="Image 0" descr="/home/claude/f4/img/tides.png">    </p:cNvPr>
          <p:cNvPicPr>
            <a:picLocks noChangeAspect="1"/>
          </p:cNvPicPr>
          <p:nvPr/>
        </p:nvPicPr>
        <p:blipFill>
          <a:blip r:embed="rId1"/>
          <a:stretch>
            <a:fillRect/>
          </a:stretch>
        </p:blipFill>
        <p:spPr>
          <a:xfrm>
            <a:off x="5349240" y="2342247"/>
            <a:ext cx="6659575" cy="315191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how the Moon causes tides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Moon, Satellite of the Earth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B) Impacts on the Natural Environment</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Spring and neap tides: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new Moon and full Moon, tides are very high (spring tides), and at the quarters they are low (neap tides).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Moon, Satellite of the Earth</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2900" b="1" dirty="0">
                <a:solidFill>
                  <a:srgbClr val="990011"/>
                </a:solidFill>
                <a:latin typeface="Times New Roman" pitchFamily="34" charset="0"/>
                <a:ea typeface="Times New Roman" pitchFamily="34" charset="-122"/>
                <a:cs typeface="Times New Roman" pitchFamily="34" charset="-120"/>
              </a:rPr>
              <a:t>B) Impacts on the Natural Environment (continued)</a:t>
            </a:r>
            <a:endParaRPr lang="en-US" sz="29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Light at night: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full Moon lights the night, and many animals hunt or move by moonlight.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Eclipses: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Moon can hide the Sun (solar eclipse) or enter the shadow of the Earth (lunar eclipse).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Moon, Satellite of the Earth</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Impacts on Human Activities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Moon affects human socio-economic activities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Fishing: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Fishermen go out and come back with the tides, and some fish at night with the full Moon.</a:t>
            </a:r>
            <a:endParaRPr lang="en-US" sz="3200" dirty="0"/>
          </a:p>
        </p:txBody>
      </p:sp>
      <p:pic>
        <p:nvPicPr>
          <p:cNvPr id="6" name="Image 0" descr="/home/claude/f4/img/v2/f4_lowtid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boats at low tide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Moon, Satellite of the Earth</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Impacts on Human Activities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Navigation and 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Big ships enter shallow ports such as Douala at high tide.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Calendars and feasts: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calendars and feasts, such as Ramadan, follow the phases of the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Moon, Satellite of the Earth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400" b="1" dirty="0">
                <a:solidFill>
                  <a:srgbClr val="990011"/>
                </a:solidFill>
                <a:latin typeface="Times New Roman" pitchFamily="34" charset="0"/>
                <a:ea typeface="Times New Roman" pitchFamily="34" charset="-122"/>
                <a:cs typeface="Times New Roman" pitchFamily="34" charset="-120"/>
              </a:rPr>
              <a:t>C) Impacts on Human Activities (continued)</a:t>
            </a:r>
            <a:endParaRPr lang="en-US" sz="24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Farming and tradition: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some villages, people plant or harvest according to the phases of the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galaxy? Name our galaxy.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huge group of stars. Ours is the Milky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the tides?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pull (gravity) of the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Our galaxy is called the ______ Way.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When we see the whole Moon, it is the ______ Moon.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rise and fall of the sea are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value of the Equator and of the Greenwich Meridian.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Earth Divisions: Latitudes and Longitudes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Universe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L'univers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Galaxy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galaxie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L'étoile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Satellite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satellite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Full Moon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pleine lune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New Moon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nouvelle lune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marée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Gravity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gravité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1: The Universe and the Moon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universe and a galaxy, and describe the place of the Earth in the universe. Describe the phases of the Moon. Explain the impacts of the Moon on the natural environment and on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phases of the Moon and to explain how the Moon affects tides, calendars and daily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Composition of the Universe; Links with the Planet Earth; The Phases of the Moon; Impacts on the Natural Environment; Impacts on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value of the Equator and of the Greenwich Meridian.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learners to look at the night sky far from town lights.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move a ball around a learner's head in front of a torch.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beach at Kribi in the morning and in the evening.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“Telluride Milky Way Night Sky With Satellite Streak” by wienotfilms, CC BY-NC 2.0, via Flickr (https://www.flickr.com/photos/76583523@N05/14781116206)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“Praia de Itapororoca” by Rodrigo_Soldon, CC BY-ND 2.0, via Flickr (https://www.flickr.com/photos/8865243@N02/10838180494)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2026-10-02T05:13:51Z</dcterms:created>
  <dcterms:modified xsi:type="dcterms:W3CDTF">2026-10-02T05:13:51Z</dcterms:modified>
</cp:coreProperties>
</file>