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Lst>
  <p:notesMasterIdLst>
    <p:notesMasterId r:id="rId5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notesMaster" Target="notesMasters/notesMaster1.xml"/><Relationship Id="rId54" Type="http://schemas.openxmlformats.org/officeDocument/2006/relationships/presProps" Target="presProps.xml"/><Relationship Id="rId55" Type="http://schemas.openxmlformats.org/officeDocument/2006/relationships/viewProps" Target="viewProps.xml"/><Relationship Id="rId56" Type="http://schemas.openxmlformats.org/officeDocument/2006/relationships/theme" Target="theme/theme1.xml"/><Relationship Id="rId5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Lesson 10: Plate Tectonics.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Form 4. It belongs to The Structure of the Earth: Building Processes and Impacts on Man — Structure of the Earth. We shall need 50 minutes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The Structure of the Earth: Building Processes and Impacts on Man, and the sub-topic is Structure of the Earth. The key notions we shall use today are: plate tectonics, plates, plate margins. At the end, you should be able to do this: learners are able to explain why earthquakes and volcanoes happen in some regions of the world, using a map of plates.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Lesson 9: The Theories of the Earth's Structure: Continental Drift. The question was: Listen to the news or ask an adult about a recent earthquake or volcanic eruption in the world. Write the name of the country and what happened.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Answers vary. Example: an earthquake in Turkey in 2023 destroyed many buildings and killed thousands of people.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your time to copy this part; we will continue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define plate tectonics. Number 2: explain the geometric and kinetic ideas of the theory. Number 3: describe the plates, the plate margins and their main landforms.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The continents were once joined in Pangaea. The mantle is very hot rock that flows slowly. Wegener could not explain what moves the continents.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On television, Mariam sees an earthquake in Japan and a volcano in Italy, while the ground in Garoua feels safe. She knows that Mount Cameroon is also an active volcano. She asks: "Why do earthquakes and volcanoes happen in some places and not in others?"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Mariam does not know why earthquakes and volcanoes happen only in some places.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Name one active volcano in Cameroon.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Mount Cameroon.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Where do most earthquakes and volcanoes happen?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At the edges of the plates.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use the theory of plate tectonics to explain earthquakes and volcanoes.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lesson helps us to know the plates of the Earth and how they move.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diagram: the main plates of the Earth.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On which plate is Cameroon?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On the African Plate.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animation: animation: convection currents in the mantle. Watch the animation to the end; it will play again.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What makes the plates move?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Convection currents in the hot mantle.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animation: animation: plates move apart (left) and together (right). Watch the animation to the end; it will play again.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What rises when two plates move apart?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Magma rises and forms new crust.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next question: What happens to one plate when two plates move together?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It sinks under the other plate.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the definitions. The key terms of this lesson are defined as follows. On this slide we have Plate tectonics and Plate.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the definitions. On this slide we have Plate margin.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Main Ideas of the Theory. The theory of plate tectonics has two main ideas. Copy the point on The geometric idea on the left, then draw the diagram on the right: the major plates.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Copy the point on The kinetic idea on the left, then draw the diagram on the right: convection currents in the mantle.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The Plates. The major plates of the Earth are the following. On this slide we have The African Plate and The Eurasian Plate.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The Plates. On this slide we have The American Plates, The Pacific Plate and The Indo-Australian and Antarctic Plates.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Plate Margins and Main Landforms. The margins where plates meet are of three types. Copy the point on Constructive (divergent) margins on the left, then draw the diagram on the right: the three types of plate margins.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Copy the point on Destructive (convergent) margins on the left, then draw the diagram on the right: plates move apart and together.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Plate Margins and Main Landforms. On this slide we have Conservative (transform) margins.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What is a plate?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a large piece of the crust.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What happens at a destructive margin?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plates move together and one sinks under the other.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African; number 2, apart; number 3, side.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Ask your parents or read about Mount Cameroon: when did it last erupt, and what did the lava do?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Lesson 11: Volcanoes.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FORM 4</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LESSON 10: PLATE TECTONICS</a:t>
            </a:r>
            <a:endParaRPr lang="en-US" sz="16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DGCAST-GAROUA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gif"/><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gif"/><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2.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50-1.png"/><Relationship Id="rId2" Type="http://schemas.openxmlformats.org/officeDocument/2006/relationships/slideLayout" Target="../slideLayouts/slideLayout2.xml"/><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image-51-1.png"/><Relationship Id="rId2" Type="http://schemas.openxmlformats.org/officeDocument/2006/relationships/slideLayout" Target="../slideLayouts/slideLayout2.xml"/><Relationship Id="rId3" Type="http://schemas.openxmlformats.org/officeDocument/2006/relationships/notesSlide" Target="../notesSlides/notesSlide5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FORM 4</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Lesson 10</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Plate Tectonics</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Form 4</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The Structure of the Earth: Building Processes and Impacts on Man — Structure of the Earth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The Structure of the Earth: Building Processes and Impacts on Man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Structure of the Earth</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Lesson 10: Plate Tectonics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Plate tectonics, plates, plate margins.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Definition; main ideas (geometric and kinetic); plates and plate margins and main landforms.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explain why earthquakes and volcanoes happen in some regions of the world, using a map of plates.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(Lesson 9: The Theories of the Earth's Structure: Continental Drift):</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Listen to the news or ask an adult about a recent earthquake or volcanic eruption in the world. Write the name of the country and what happened.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Answers vary. Example: an earthquake in Turkey in 2023 destroyed many buildings and killed thousands of people.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Define plate tectonics.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the geometric and kinetic ideas of the theory.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Describe the plates, the plate margins and their main landforms.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The continents were once joined in Pangaea.</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The mantle is very hot rock that flows slowly.</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Wegener could not explain what moves the continents.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On television, Mariam sees an earthquake in Japan and a volcano in Italy, while the ground in Garoua feels safe. She knows that Mount Cameroon is also an active volcano. She asks: "Why do earthquakes and volcanoes happen in some places and not in others?"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Mariam does not know why earthquakes and volcanoes happen only in some places.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Name one active volcano in Cameroon.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Mount Cameroon.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Where do most earthquakes and volcanoes happen?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At the edges of the plates.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Use the theory of plate tectonics to explain earthquakes and volcanoes.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lesson helps us to know the plates of the Earth and how they move.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MAIN IDEAS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plates_big.png">    </p:cNvPr>
          <p:cNvPicPr>
            <a:picLocks noChangeAspect="1"/>
          </p:cNvPicPr>
          <p:nvPr/>
        </p:nvPicPr>
        <p:blipFill>
          <a:blip r:embed="rId1"/>
          <a:stretch>
            <a:fillRect/>
          </a:stretch>
        </p:blipFill>
        <p:spPr>
          <a:xfrm>
            <a:off x="1034813" y="1783080"/>
            <a:ext cx="10122069"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The main plates of the Earth.</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MAIN IDEAS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On which plate is Cameroon?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MAIN IDEAS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On the African Plate.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MAIN IDEAS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mantle_convection.gif">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Animation: convection currents in the mantle.</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MAIN IDEAS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makes the plates move?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MAIN IDEAS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Convection currents in the hot mantle.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PLATE MARGINS AND LANDFORMS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margins.gif">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Animation: plates move apart (left) and together (right).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PLATE MARGINS AND LANDFORMS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rises when two plates move apart?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PLATE MARGINS AND LANDFORMS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Magma rises and forms new crust.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PLATE MARGINS AND LANDFORMS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happens to one plate when two plates move together?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PLATE MARGINS AND LANDFORMS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sinks under the other plate.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Topic: The Structure of the Earth: Building Processes and Impacts on Man</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Sub-topic: Structure of the Earth</a:t>
            </a:r>
            <a:endParaRPr lang="en-US" sz="4000" dirty="0"/>
          </a:p>
          <a:p>
            <a:pPr algn="l"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10: Plate Tectonics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DEFINITIONS</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key terms of this lesson are defined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Plate tectonics: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theory that the outer shell of the Earth is broken into rigid plates that move slowly.</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Plate: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a large, rigid piece of the crust and the upper mantle.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DEFINITIONS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Plate margin: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edge where two plates meet.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Main Ideas of the Theory</a:t>
            </a:r>
            <a:endParaRPr lang="en-US" sz="3600" dirty="0"/>
          </a:p>
        </p:txBody>
      </p:sp>
      <p:sp>
        <p:nvSpPr>
          <p:cNvPr id="4" name="Text 2"/>
          <p:cNvSpPr/>
          <p:nvPr/>
        </p:nvSpPr>
        <p:spPr>
          <a:xfrm>
            <a:off x="365760" y="1783080"/>
            <a:ext cx="4846320" cy="4617720"/>
          </a:xfrm>
          <a:prstGeom prst="rect">
            <a:avLst/>
          </a:prstGeom>
          <a:noFill/>
          <a:ln/>
        </p:spPr>
        <p:txBody>
          <a:bodyPr wrap="square" lIns="0" tIns="0" rIns="0" bIns="0" rtlCol="0" anchor="t"/>
          <a:lstStyle/>
          <a:p>
            <a:pPr algn="l" indent="0" marL="0">
              <a:spcAft>
                <a:spcPts val="800"/>
              </a:spcAft>
              <a:buNone/>
            </a:pPr>
            <a:r>
              <a:rPr lang="en-US" sz="3200" i="1" dirty="0">
                <a:solidFill>
                  <a:srgbClr val="111111"/>
                </a:solidFill>
                <a:latin typeface="Times New Roman" pitchFamily="34" charset="0"/>
                <a:ea typeface="Times New Roman" pitchFamily="34" charset="-122"/>
                <a:cs typeface="Times New Roman" pitchFamily="34" charset="-120"/>
              </a:rPr>
              <a:t>The theory of plate tectonics has two main ideas:</a:t>
            </a:r>
            <a:endParaRPr lang="en-US" sz="3200" dirty="0"/>
          </a:p>
          <a:p>
            <a:pPr algn="l" indent="0" marL="0">
              <a:spcAft>
                <a:spcPts val="800"/>
              </a:spcAft>
              <a:buNone/>
            </a:pPr>
            <a:r>
              <a:rPr lang="en-US" sz="3200" b="1" dirty="0">
                <a:solidFill>
                  <a:srgbClr val="111111"/>
                </a:solidFill>
                <a:latin typeface="Times New Roman" pitchFamily="34" charset="0"/>
                <a:ea typeface="Times New Roman" pitchFamily="34" charset="-122"/>
                <a:cs typeface="Times New Roman" pitchFamily="34" charset="-120"/>
              </a:rPr>
              <a:t>The geometric idea: </a:t>
            </a:r>
            <a:pPr algn="l" indent="0" marL="0">
              <a:spcAft>
                <a:spcPts val="800"/>
              </a:spcAft>
              <a:buNone/>
            </a:pPr>
            <a:r>
              <a:rPr lang="en-US" sz="3200" dirty="0">
                <a:solidFill>
                  <a:srgbClr val="111111"/>
                </a:solidFill>
                <a:latin typeface="Times New Roman" pitchFamily="34" charset="0"/>
                <a:ea typeface="Times New Roman" pitchFamily="34" charset="-122"/>
                <a:cs typeface="Times New Roman" pitchFamily="34" charset="-120"/>
              </a:rPr>
              <a:t>The outer shell of the Earth is divided into seven major plates and many smaller ones that fit together like a puzzle.</a:t>
            </a:r>
            <a:endParaRPr lang="en-US" sz="3200" dirty="0"/>
          </a:p>
        </p:txBody>
      </p:sp>
      <p:pic>
        <p:nvPicPr>
          <p:cNvPr id="5" name="Image 0" descr="/home/claude/f4/img/v2/plates_big.png">    </p:cNvPr>
          <p:cNvPicPr>
            <a:picLocks noChangeAspect="1"/>
          </p:cNvPicPr>
          <p:nvPr/>
        </p:nvPicPr>
        <p:blipFill>
          <a:blip r:embed="rId1"/>
          <a:stretch>
            <a:fillRect/>
          </a:stretch>
        </p:blipFill>
        <p:spPr>
          <a:xfrm>
            <a:off x="5349240" y="2513450"/>
            <a:ext cx="6659575" cy="2809508"/>
          </a:xfrm>
          <a:prstGeom prst="rect">
            <a:avLst/>
          </a:prstGeom>
        </p:spPr>
      </p:pic>
      <p:sp>
        <p:nvSpPr>
          <p:cNvPr id="6" name="Text 3"/>
          <p:cNvSpPr/>
          <p:nvPr/>
        </p:nvSpPr>
        <p:spPr>
          <a:xfrm>
            <a:off x="5349240" y="6089904"/>
            <a:ext cx="665957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the major plates</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Main Ideas of the Theory</a:t>
            </a:r>
            <a:endParaRPr lang="en-US" sz="3600" dirty="0"/>
          </a:p>
        </p:txBody>
      </p:sp>
      <p:sp>
        <p:nvSpPr>
          <p:cNvPr id="4" name="Text 2"/>
          <p:cNvSpPr/>
          <p:nvPr/>
        </p:nvSpPr>
        <p:spPr>
          <a:xfrm>
            <a:off x="365760" y="1783080"/>
            <a:ext cx="4846320" cy="4617720"/>
          </a:xfrm>
          <a:prstGeom prst="rect">
            <a:avLst/>
          </a:prstGeom>
          <a:noFill/>
          <a:ln/>
        </p:spPr>
        <p:txBody>
          <a:bodyPr wrap="square" lIns="0" tIns="0" rIns="0" bIns="0" rtlCol="0" anchor="t"/>
          <a:lstStyle/>
          <a:p>
            <a:pPr algn="l" indent="0" marL="0">
              <a:spcAft>
                <a:spcPts val="800"/>
              </a:spcAft>
              <a:buNone/>
            </a:pPr>
            <a:r>
              <a:rPr lang="en-US" sz="3600" b="1" dirty="0">
                <a:solidFill>
                  <a:srgbClr val="111111"/>
                </a:solidFill>
                <a:latin typeface="Times New Roman" pitchFamily="34" charset="0"/>
                <a:ea typeface="Times New Roman" pitchFamily="34" charset="-122"/>
                <a:cs typeface="Times New Roman" pitchFamily="34" charset="-120"/>
              </a:rPr>
              <a:t>The kinetic idea: </a:t>
            </a:r>
            <a:pPr algn="l" indent="0" marL="0">
              <a:spcAft>
                <a:spcPts val="800"/>
              </a:spcAft>
              <a:buNone/>
            </a:pPr>
            <a:r>
              <a:rPr lang="en-US" sz="3600" dirty="0">
                <a:solidFill>
                  <a:srgbClr val="111111"/>
                </a:solidFill>
                <a:latin typeface="Times New Roman" pitchFamily="34" charset="0"/>
                <a:ea typeface="Times New Roman" pitchFamily="34" charset="-122"/>
                <a:cs typeface="Times New Roman" pitchFamily="34" charset="-120"/>
              </a:rPr>
              <a:t>The plates move 2 to 10 centimetres a year, pushed by convection currents in the mantle.</a:t>
            </a:r>
            <a:endParaRPr lang="en-US" sz="3600" dirty="0"/>
          </a:p>
        </p:txBody>
      </p:sp>
      <p:pic>
        <p:nvPicPr>
          <p:cNvPr id="5" name="Image 0" descr="/home/claude/f4/img/v2/mantle_convection_mid.png">    </p:cNvPr>
          <p:cNvPicPr>
            <a:picLocks noChangeAspect="1"/>
          </p:cNvPicPr>
          <p:nvPr/>
        </p:nvPicPr>
        <p:blipFill>
          <a:blip r:embed="rId1"/>
          <a:stretch>
            <a:fillRect/>
          </a:stretch>
        </p:blipFill>
        <p:spPr>
          <a:xfrm>
            <a:off x="5349240" y="2617506"/>
            <a:ext cx="6659575" cy="2601397"/>
          </a:xfrm>
          <a:prstGeom prst="rect">
            <a:avLst/>
          </a:prstGeom>
        </p:spPr>
      </p:pic>
      <p:sp>
        <p:nvSpPr>
          <p:cNvPr id="6" name="Text 3"/>
          <p:cNvSpPr/>
          <p:nvPr/>
        </p:nvSpPr>
        <p:spPr>
          <a:xfrm>
            <a:off x="5349240" y="6089904"/>
            <a:ext cx="665957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convection currents in the mantle</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The Plates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major plates of the Earth are the following:</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The African Plate: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carries Africa, including Cameroon.</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The Eurasian Plate: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carries Europe and most of Asia.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The Plates (continued)</a:t>
            </a:r>
            <a:endParaRPr lang="en-US" sz="3600" dirty="0"/>
          </a:p>
        </p:txBody>
      </p:sp>
      <p:sp>
        <p:nvSpPr>
          <p:cNvPr id="5" name="Text 2"/>
          <p:cNvSpPr/>
          <p:nvPr/>
        </p:nvSpPr>
        <p:spPr>
          <a:xfrm>
            <a:off x="1691640" y="1783080"/>
            <a:ext cx="101800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The American Plates: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North American and South American Plates carry the Americas.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The Pacific Plate: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largest plate and lies under the Pacific Ocean.</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The Indo-Australian and Antarctic Plates: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carry India, Australia and Antarctica.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Plate Margins and Main Landforms</a:t>
            </a:r>
            <a:endParaRPr lang="en-US" sz="3600" dirty="0"/>
          </a:p>
        </p:txBody>
      </p:sp>
      <p:sp>
        <p:nvSpPr>
          <p:cNvPr id="4" name="Text 2"/>
          <p:cNvSpPr/>
          <p:nvPr/>
        </p:nvSpPr>
        <p:spPr>
          <a:xfrm>
            <a:off x="365760" y="1783080"/>
            <a:ext cx="4846320" cy="4617720"/>
          </a:xfrm>
          <a:prstGeom prst="rect">
            <a:avLst/>
          </a:prstGeom>
          <a:noFill/>
          <a:ln/>
        </p:spPr>
        <p:txBody>
          <a:bodyPr wrap="square" lIns="0" tIns="0" rIns="0" bIns="0" rtlCol="0" anchor="t"/>
          <a:lstStyle/>
          <a:p>
            <a:pPr algn="l" indent="0" marL="0">
              <a:spcAft>
                <a:spcPts val="800"/>
              </a:spcAft>
              <a:buNone/>
            </a:pPr>
            <a:r>
              <a:rPr lang="en-US" sz="3200" i="1" dirty="0">
                <a:solidFill>
                  <a:srgbClr val="111111"/>
                </a:solidFill>
                <a:latin typeface="Times New Roman" pitchFamily="34" charset="0"/>
                <a:ea typeface="Times New Roman" pitchFamily="34" charset="-122"/>
                <a:cs typeface="Times New Roman" pitchFamily="34" charset="-120"/>
              </a:rPr>
              <a:t>The margins where plates meet are of three types:</a:t>
            </a:r>
            <a:endParaRPr lang="en-US" sz="3200" dirty="0"/>
          </a:p>
          <a:p>
            <a:pPr algn="l" indent="0" marL="0">
              <a:spcAft>
                <a:spcPts val="800"/>
              </a:spcAft>
              <a:buNone/>
            </a:pPr>
            <a:r>
              <a:rPr lang="en-US" sz="3200" b="1" dirty="0">
                <a:solidFill>
                  <a:srgbClr val="111111"/>
                </a:solidFill>
                <a:latin typeface="Times New Roman" pitchFamily="34" charset="0"/>
                <a:ea typeface="Times New Roman" pitchFamily="34" charset="-122"/>
                <a:cs typeface="Times New Roman" pitchFamily="34" charset="-120"/>
              </a:rPr>
              <a:t>Constructive (divergent) margins: </a:t>
            </a:r>
            <a:pPr algn="l" indent="0" marL="0">
              <a:spcAft>
                <a:spcPts val="800"/>
              </a:spcAft>
              <a:buNone/>
            </a:pPr>
            <a:r>
              <a:rPr lang="en-US" sz="3200" dirty="0">
                <a:solidFill>
                  <a:srgbClr val="111111"/>
                </a:solidFill>
                <a:latin typeface="Times New Roman" pitchFamily="34" charset="0"/>
                <a:ea typeface="Times New Roman" pitchFamily="34" charset="-122"/>
                <a:cs typeface="Times New Roman" pitchFamily="34" charset="-120"/>
              </a:rPr>
              <a:t>Plates move apart and magma rises to form new crust. Landforms: ocean ridges and rift valleys, such as the East African Rift Valley.</a:t>
            </a:r>
            <a:endParaRPr lang="en-US" sz="3200" dirty="0"/>
          </a:p>
        </p:txBody>
      </p:sp>
      <p:pic>
        <p:nvPicPr>
          <p:cNvPr id="5" name="Image 0" descr="/home/claude/f4/img/plate_margins.png">    </p:cNvPr>
          <p:cNvPicPr>
            <a:picLocks noChangeAspect="1"/>
          </p:cNvPicPr>
          <p:nvPr/>
        </p:nvPicPr>
        <p:blipFill>
          <a:blip r:embed="rId1"/>
          <a:stretch>
            <a:fillRect/>
          </a:stretch>
        </p:blipFill>
        <p:spPr>
          <a:xfrm>
            <a:off x="5349240" y="2588557"/>
            <a:ext cx="6659575" cy="2659294"/>
          </a:xfrm>
          <a:prstGeom prst="rect">
            <a:avLst/>
          </a:prstGeom>
        </p:spPr>
      </p:pic>
      <p:sp>
        <p:nvSpPr>
          <p:cNvPr id="6" name="Text 3"/>
          <p:cNvSpPr/>
          <p:nvPr/>
        </p:nvSpPr>
        <p:spPr>
          <a:xfrm>
            <a:off x="5349240" y="6089904"/>
            <a:ext cx="665957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the three types of plate margins</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Plate Margins and Main Landforms</a:t>
            </a:r>
            <a:endParaRPr lang="en-US" sz="3600" dirty="0"/>
          </a:p>
        </p:txBody>
      </p:sp>
      <p:sp>
        <p:nvSpPr>
          <p:cNvPr id="4" name="Text 2"/>
          <p:cNvSpPr/>
          <p:nvPr/>
        </p:nvSpPr>
        <p:spPr>
          <a:xfrm>
            <a:off x="365760" y="1783080"/>
            <a:ext cx="4846320" cy="4617720"/>
          </a:xfrm>
          <a:prstGeom prst="rect">
            <a:avLst/>
          </a:prstGeom>
          <a:noFill/>
          <a:ln/>
        </p:spPr>
        <p:txBody>
          <a:bodyPr wrap="square" lIns="0" tIns="0" rIns="0" bIns="0" rtlCol="0" anchor="t"/>
          <a:lstStyle/>
          <a:p>
            <a:pPr algn="l" indent="0" marL="0">
              <a:spcAft>
                <a:spcPts val="800"/>
              </a:spcAft>
              <a:buNone/>
            </a:pPr>
            <a:r>
              <a:rPr lang="en-US" sz="3600" b="1" dirty="0">
                <a:solidFill>
                  <a:srgbClr val="111111"/>
                </a:solidFill>
                <a:latin typeface="Times New Roman" pitchFamily="34" charset="0"/>
                <a:ea typeface="Times New Roman" pitchFamily="34" charset="-122"/>
                <a:cs typeface="Times New Roman" pitchFamily="34" charset="-120"/>
              </a:rPr>
              <a:t>Destructive (convergent) margins: </a:t>
            </a:r>
            <a:pPr algn="l" indent="0" marL="0">
              <a:spcAft>
                <a:spcPts val="800"/>
              </a:spcAft>
              <a:buNone/>
            </a:pPr>
            <a:r>
              <a:rPr lang="en-US" sz="3600" dirty="0">
                <a:solidFill>
                  <a:srgbClr val="111111"/>
                </a:solidFill>
                <a:latin typeface="Times New Roman" pitchFamily="34" charset="0"/>
                <a:ea typeface="Times New Roman" pitchFamily="34" charset="-122"/>
                <a:cs typeface="Times New Roman" pitchFamily="34" charset="-120"/>
              </a:rPr>
              <a:t>Plates move together and one sinks under the other. Landforms: fold mountains, ocean trenches and volcanoes.</a:t>
            </a:r>
            <a:endParaRPr lang="en-US" sz="3600" dirty="0"/>
          </a:p>
        </p:txBody>
      </p:sp>
      <p:pic>
        <p:nvPicPr>
          <p:cNvPr id="5" name="Image 0" descr="/home/claude/f4/img/v2/margins_last.png">    </p:cNvPr>
          <p:cNvPicPr>
            <a:picLocks noChangeAspect="1"/>
          </p:cNvPicPr>
          <p:nvPr/>
        </p:nvPicPr>
        <p:blipFill>
          <a:blip r:embed="rId1"/>
          <a:stretch>
            <a:fillRect/>
          </a:stretch>
        </p:blipFill>
        <p:spPr>
          <a:xfrm>
            <a:off x="5349240" y="2617506"/>
            <a:ext cx="6659575" cy="2601397"/>
          </a:xfrm>
          <a:prstGeom prst="rect">
            <a:avLst/>
          </a:prstGeom>
        </p:spPr>
      </p:pic>
      <p:sp>
        <p:nvSpPr>
          <p:cNvPr id="6" name="Text 3"/>
          <p:cNvSpPr/>
          <p:nvPr/>
        </p:nvSpPr>
        <p:spPr>
          <a:xfrm>
            <a:off x="5349240" y="6089904"/>
            <a:ext cx="665957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plates move apart and together</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Plate Margins and Main Landforms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Conservative (transform) margins: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Plates slide past each other and no crust is made or destroyed. Landforms: faults, with strong earthquakes, such as the San Andreas Fault.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a plate?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large piece of the crust.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happens at a destructive margin?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Plates move together and one sinks under the other.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Cameroon is on the ______ Plate.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At a constructive margin, plates move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At a conservative margin, plates slide ______ by side.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Ask your parents or read about Mount Cameroon: when did it last erupt, and what did the lava do?</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11: Volcanoes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48"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Plate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plaque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Plate margin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limite de plaques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Subduction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subduction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Ridge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dorsale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Rift valley</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vallée du rift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Fold mountains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Les montagnes plissées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Convection current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courant de convection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Fault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faille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49"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The Structure of the Earth: Building Processes and Impacts on Man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Lesson 10: Plate Tectonics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Define plate tectonics. Explain the geometric and kinetic ideas of the theory. Describe the plates, the plate margins and their main landforms.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explain why earthquakes and volcanoes happen in some regions of the world, using a map of plates.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50"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DEFINITIONS; Main Ideas of the Theory; The Plates; Plate Margins and Main Landforms.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Ask your parents or read about Mount Cameroon: when did it last erupt, and what did the lava do?</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4 min | Recall, situation, action 6 min | 3 activities 12 min | Board summary (copying) 15 min | Evaluation, remediation 5 min | Homework, next lesson 3 min | Logbook 5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Activities 2 and 3 are animations (GIF): it plays automatically in slide-show mode.</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break a biscuit into pieces: the pieces are like the plates.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watch rice move in boiling water.</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move two books apart, then push them together.</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National Geography Syllabus (MINESEC), Form 4 — The Structure of the Earth: Building Processes and Impacts on Man.</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Teacher's lesson notes (Form 4), checked and corrected where necessary.</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Plate boundaries: Bird (2003), PB2002 model.</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51</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51</Slides>
  <Notes>51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51</vt:i4>
      </vt:variant>
    </vt:vector>
  </HeadingPairs>
  <TitlesOfParts>
    <vt:vector size="5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2026-09-28T17:10:18Z</dcterms:created>
  <dcterms:modified xsi:type="dcterms:W3CDTF">2026-09-28T17:10:18Z</dcterms:modified>
</cp:coreProperties>
</file>