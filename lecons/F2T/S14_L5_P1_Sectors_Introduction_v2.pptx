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Today we study The Sectors of the Economy, part 1: Introduction, Definitions and Key Concepts.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the homework: five jobs done in the family or neighbourhood.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situation slowly,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show a piece of cloth or a pen: things we can touch are goods.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ask learners to name people who give services in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bring raw cotton and a piece of cloth.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draw four boxes on the board: farmer, factory, trader, researcher.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ask learners what a researcher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Learners copy the board summary now. Give them enough time for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1. goods 2. raw 3. secondary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homework prepares the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English word; learners give the French word, then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gif"/><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201168"/>
          </a:xfrm>
          <a:prstGeom prst="rect">
            <a:avLst/>
          </a:prstGeom>
          <a:solidFill>
            <a:srgbClr val="990011"/>
          </a:solidFill>
          <a:ln w="12700">
            <a:solidFill>
              <a:srgbClr val="990011"/>
            </a:solidFill>
            <a:prstDash val="solid"/>
          </a:ln>
        </p:spPr>
      </p:sp>
      <p:sp>
        <p:nvSpPr>
          <p:cNvPr id="3" name="Shape 1"/>
          <p:cNvSpPr/>
          <p:nvPr/>
        </p:nvSpPr>
        <p:spPr>
          <a:xfrm>
            <a:off x="0" y="6656832"/>
            <a:ext cx="12191695" cy="201168"/>
          </a:xfrm>
          <a:prstGeom prst="rect">
            <a:avLst/>
          </a:prstGeom>
          <a:solidFill>
            <a:srgbClr val="1C3F6E"/>
          </a:solidFill>
          <a:ln w="12700">
            <a:solidFill>
              <a:srgbClr val="1C3F6E"/>
            </a:solidFill>
            <a:prstDash val="solid"/>
          </a:ln>
        </p:spPr>
      </p:sp>
      <p:pic>
        <p:nvPicPr>
          <p:cNvPr id="4" name="Image 0" descr="/home/claude/pw1/logo.png">    </p:cNvPr>
          <p:cNvPicPr>
            <a:picLocks noChangeAspect="1"/>
          </p:cNvPicPr>
          <p:nvPr/>
        </p:nvPicPr>
        <p:blipFill>
          <a:blip r:embed="rId1"/>
          <a:stretch>
            <a:fillRect/>
          </a:stretch>
        </p:blipFill>
        <p:spPr>
          <a:xfrm>
            <a:off x="5409590" y="457200"/>
            <a:ext cx="1371600" cy="1371600"/>
          </a:xfrm>
          <a:prstGeom prst="rect">
            <a:avLst/>
          </a:prstGeom>
        </p:spPr>
      </p:pic>
      <p:sp>
        <p:nvSpPr>
          <p:cNvPr id="5" name="Text 2"/>
          <p:cNvSpPr txBox="1"/>
          <p:nvPr/>
        </p:nvSpPr>
        <p:spPr>
          <a:xfrm>
            <a:off x="731520" y="1965960"/>
            <a:ext cx="10725912" cy="640080"/>
          </a:xfrm>
          <a:prstGeom prst="rect">
            <a:avLst/>
          </a:prstGeom>
          <a:noFill/>
          <a:ln/>
        </p:spPr>
        <p:txBody>
          <a:bodyPr wrap="square" lIns="0" tIns="0" rIns="0" bIns="0" rtlCol="0" anchor="ctr"/>
          <a:lstStyle/>
          <a:p>
            <a:pPr algn="ctr" indent="0" marL="0">
              <a:buNone/>
            </a:pPr>
            <a:r>
              <a:rPr lang="en-US" sz="2000" b="1" dirty="0">
                <a:solidFill>
                  <a:srgbClr val="1C3F6E"/>
                </a:solidFill>
                <a:latin typeface="Cambria" pitchFamily="34" charset="0"/>
                <a:ea typeface="Cambria" pitchFamily="34" charset="-122"/>
                <a:cs typeface="Cambria" pitchFamily="34" charset="-120"/>
              </a:rPr>
              <a:t>DIVINE GRACE COLLEGE OF ARTS, SCIENCE AND TECHNOLOGY</a:t>
            </a:r>
            <a:endParaRPr lang="en-US" sz="2000" dirty="0"/>
          </a:p>
        </p:txBody>
      </p:sp>
      <p:sp>
        <p:nvSpPr>
          <p:cNvPr id="6" name="Text 3"/>
          <p:cNvSpPr txBox="1"/>
          <p:nvPr/>
        </p:nvSpPr>
        <p:spPr>
          <a:xfrm>
            <a:off x="914400" y="2606040"/>
            <a:ext cx="10360152" cy="411480"/>
          </a:xfrm>
          <a:prstGeom prst="rect">
            <a:avLst/>
          </a:prstGeom>
          <a:noFill/>
          <a:ln/>
        </p:spPr>
        <p:txBody>
          <a:bodyPr wrap="square" lIns="0" tIns="0" rIns="0" bIns="0" rtlCol="0" anchor="ctr"/>
          <a:lstStyle/>
          <a:p>
            <a:pPr algn="ctr" indent="0" marL="0">
              <a:buNone/>
            </a:pPr>
            <a:r>
              <a:rPr lang="en-US" sz="1500" dirty="0">
                <a:solidFill>
                  <a:srgbClr val="1A1A1A"/>
                </a:solidFill>
                <a:latin typeface="Calibri" pitchFamily="34" charset="0"/>
                <a:ea typeface="Calibri" pitchFamily="34" charset="-122"/>
                <a:cs typeface="Calibri" pitchFamily="34" charset="-120"/>
              </a:rPr>
              <a:t>(DGCAST) — GAROUA   |   GEOGRAPHY DEPARTMENT</a:t>
            </a:r>
            <a:endParaRPr lang="en-US" sz="1500" dirty="0"/>
          </a:p>
        </p:txBody>
      </p:sp>
      <p:sp>
        <p:nvSpPr>
          <p:cNvPr id="7" name="Text 4"/>
          <p:cNvSpPr txBox="1"/>
          <p:nvPr/>
        </p:nvSpPr>
        <p:spPr>
          <a:xfrm>
            <a:off x="914400" y="3200400"/>
            <a:ext cx="10360152" cy="685800"/>
          </a:xfrm>
          <a:prstGeom prst="rect">
            <a:avLst/>
          </a:prstGeom>
          <a:noFill/>
          <a:ln/>
        </p:spPr>
        <p:txBody>
          <a:bodyPr wrap="square" lIns="0" tIns="0" rIns="0" bIns="0" rtlCol="0" anchor="ctr"/>
          <a:lstStyle/>
          <a:p>
            <a:pPr algn="ctr" indent="0" marL="0">
              <a:buNone/>
            </a:pPr>
            <a:r>
              <a:rPr lang="en-US" sz="3400" b="1" dirty="0">
                <a:solidFill>
                  <a:srgbClr val="990011"/>
                </a:solidFill>
                <a:latin typeface="Cambria" pitchFamily="34" charset="0"/>
                <a:ea typeface="Cambria" pitchFamily="34" charset="-122"/>
                <a:cs typeface="Cambria" pitchFamily="34" charset="-120"/>
              </a:rPr>
              <a:t>FORM 2 TECHNICAL  —  LESSON 5 (PART 1)</a:t>
            </a:r>
            <a:endParaRPr lang="en-US" sz="3400" dirty="0"/>
          </a:p>
        </p:txBody>
      </p:sp>
      <p:sp>
        <p:nvSpPr>
          <p:cNvPr id="8" name="Text 5"/>
          <p:cNvSpPr txBox="1"/>
          <p:nvPr/>
        </p:nvSpPr>
        <p:spPr>
          <a:xfrm>
            <a:off x="914400" y="3931920"/>
            <a:ext cx="10360152" cy="548640"/>
          </a:xfrm>
          <a:prstGeom prst="rect">
            <a:avLst/>
          </a:prstGeom>
          <a:noFill/>
          <a:ln/>
        </p:spPr>
        <p:txBody>
          <a:bodyPr wrap="square" lIns="0" tIns="0" rIns="0" bIns="0" rtlCol="0" anchor="ctr"/>
          <a:lstStyle/>
          <a:p>
            <a:pPr algn="ctr" indent="0" marL="0">
              <a:buNone/>
            </a:pPr>
            <a:r>
              <a:rPr lang="en-US" sz="2100" b="1" dirty="0">
                <a:solidFill>
                  <a:srgbClr val="B8860B"/>
                </a:solidFill>
                <a:latin typeface="Calibri" pitchFamily="34" charset="0"/>
                <a:ea typeface="Calibri" pitchFamily="34" charset="-122"/>
                <a:cs typeface="Calibri" pitchFamily="34" charset="-120"/>
              </a:rPr>
              <a:t>The Sectors of the Economy: Introduction, Definitions and Key Concepts</a:t>
            </a:r>
            <a:endParaRPr lang="en-US" sz="2100" dirty="0"/>
          </a:p>
        </p:txBody>
      </p:sp>
      <p:sp>
        <p:nvSpPr>
          <p:cNvPr id="9" name="Text 6"/>
          <p:cNvSpPr txBox="1"/>
          <p:nvPr/>
        </p:nvSpPr>
        <p:spPr>
          <a:xfrm>
            <a:off x="914400" y="5394960"/>
            <a:ext cx="10360152" cy="914400"/>
          </a:xfrm>
          <a:prstGeom prst="rect">
            <a:avLst/>
          </a:prstGeom>
          <a:noFill/>
          <a:ln/>
        </p:spPr>
        <p:txBody>
          <a:bodyPr wrap="square" lIns="0" tIns="0" rIns="0" bIns="0" rtlCol="0" anchor="ctr"/>
          <a:lstStyle/>
          <a:p>
            <a:pPr algn="ctr" indent="0" marL="0">
              <a:buNone/>
            </a:pPr>
            <a:r>
              <a:rPr lang="en-US" sz="1600" b="1" dirty="0">
                <a:solidFill>
                  <a:srgbClr val="1A1A1A"/>
                </a:solidFill>
                <a:latin typeface="Calibri" pitchFamily="34" charset="0"/>
                <a:ea typeface="Calibri" pitchFamily="34" charset="-122"/>
                <a:cs typeface="Calibri" pitchFamily="34" charset="-120"/>
              </a:rPr>
              <a:t>Mr KAMDEM EMMANUEL</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Geography Teacher — PLEG</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Academic Year 2026 / 2027</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CLASS INFO</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Class, Chapter &amp; Duration</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Class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Form 2 Technical</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Chapter</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Economic Geography — Sectors of the Economy</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Duration</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2 periods (2 × 50 minutes)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IDENTIFICATION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Lesson Identification</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Sub-topic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Sectors of the Economy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Lesson 5: The Sectors of the Economy — Part 1: Introduction, Definitions and Key Concepts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Notions / Concepts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Economy, economic activity, goods, services, raw material, production, sector of the economy.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Syllabus focus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Introduction to the sectors of the economy; definitions of terms; key concepts (activities and examples).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Learners are able to classify the jobs of people around them into the four sectors of the economy.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OBJECTIVES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Learning Objectives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200" b="1" dirty="0">
                <a:solidFill>
                  <a:srgbClr val="111111"/>
                </a:solidFill>
                <a:latin typeface="Calibri" pitchFamily="34" charset="0"/>
                <a:ea typeface="Calibri" pitchFamily="34" charset="-122"/>
                <a:cs typeface="Calibri" pitchFamily="34" charset="-120"/>
              </a:rPr>
              <a:t>By the end of the lesson, the learner should be able to:</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Define economy, economic activity, goods and services.</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Define a sector of the economy.</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Name the four sectors of the economy and give an example of each.</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RECALL</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Recall</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In Lessons 1 to 4, we studied the natural regions of the world.</a:t>
            </a:r>
            <a:endParaRPr lang="en-US" sz="2400" dirty="0"/>
          </a:p>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In each region, people carry out activities such as farming, rearing, mining and tourism.</a:t>
            </a:r>
            <a:endParaRPr lang="en-US" sz="2400" dirty="0"/>
          </a:p>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These activities help them to earn a living.</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Real-Life Situation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Ahmadou's father grows cotton near Garoua. His uncle works in the CICAM factory, where cotton becomes cloth. His aunt sells cloth in the market. His cousin looks for better cotton seeds in a research centre.</a:t>
            </a:r>
            <a:endParaRPr lang="en-US" sz="4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Ahmadou does not know how to group the jobs of his family.</a:t>
            </a:r>
            <a:endParaRPr lang="en-US" sz="4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works with cotton first?</a:t>
            </a:r>
            <a:endParaRPr lang="en-US" sz="4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His father, who grows it.</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3</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links all these jobs?</a:t>
            </a:r>
            <a:endParaRPr lang="en-US" sz="4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all work with cotton, one after the other.</a:t>
            </a:r>
            <a:endParaRPr lang="en-US" sz="4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JUSTIFICATION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main groups of jobs in a country.</a:t>
            </a:r>
            <a:endParaRPr lang="en-US" sz="4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DEFINITIONS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13" name="Image 0" descr="/home/claude/f4/img/v2/f2t_tailor.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A tailor at work.</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DEFINITIONS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tailor makes a dress. Can we touch it? Is it a good or a service?</a:t>
            </a:r>
            <a:endParaRPr lang="en-US" sz="4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DEFINITIONS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Yes, we can touch it. It is a good.</a:t>
            </a:r>
            <a:endParaRPr lang="en-US" sz="4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DEFINITIONS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13" name="Image 0" descr="/home/claude/f4/img/v2/f2t_doctor.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A health worker with a patient.</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DEFINITIONS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doctor treats a patient. Is this a good or a service?</a:t>
            </a:r>
            <a:endParaRPr lang="en-US" sz="4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DEFINITIONS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service: work done for other people.</a:t>
            </a:r>
            <a:endParaRPr lang="en-US" sz="4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DEFINITIONS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13" name="Image 0" descr="/home/claude/f4/img/v2/f2t_cotton_harvest2.jpg">    </p:cNvPr>
          <p:cNvPicPr>
            <a:picLocks noChangeAspect="1"/>
          </p:cNvPicPr>
          <p:nvPr/>
        </p:nvPicPr>
        <p:blipFill>
          <a:blip r:embed="rId1"/>
          <a:stretch>
            <a:fillRect/>
          </a:stretch>
        </p:blipFill>
        <p:spPr>
          <a:xfrm>
            <a:off x="2018433" y="1691640"/>
            <a:ext cx="8152085"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Raw cotton after the harvest.</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DEFINITIONS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Cotton is used to make cloth. What do we call it?</a:t>
            </a:r>
            <a:endParaRPr lang="en-US" sz="4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DEFINITIONS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raw material.</a:t>
            </a:r>
            <a:endParaRPr lang="en-US" sz="4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THE FOUR SECTORS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13" name="Image 0" descr="/home/claude/f4/img/v2/cotton_journey.gif">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Animation: the journey of cotton.</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THE FOUR SECTORS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sectors in the order of the journey of cotton.</a:t>
            </a:r>
            <a:endParaRPr lang="en-US" sz="4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THE FOUR SECTORS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Primary, secondary, tertiary and quaternary.</a:t>
            </a:r>
            <a:endParaRPr lang="en-US" sz="4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THE FOUR SECTORS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13" name="Image 0" descr="/home/claude/f4/img/v2/f2t_researcher.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A scientist in a laboratory.</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THE FOUR SECTORS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Ahmadou's cousin looks for better seeds. In which sector does she work?</a:t>
            </a:r>
            <a:endParaRPr lang="en-US" sz="4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THE FOUR SECTORS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quaternary sector.</a:t>
            </a:r>
            <a:endParaRPr lang="en-US" sz="4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The Sectors of the Economy</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Economic Activities</a:t>
            </a:r>
            <a:endParaRPr lang="en-US" sz="3200" dirty="0"/>
          </a:p>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Sectors of the Economy</a:t>
            </a:r>
            <a:endParaRPr lang="en-US" sz="3200" dirty="0"/>
          </a:p>
          <a:p>
            <a:pPr indent="0" marL="0">
              <a:lnSpc>
                <a:spcPct val="100000"/>
              </a:lnSpc>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5: The Sectors of the Economy — Part 1: Introduction, Definitions and Key Concepts</a:t>
            </a:r>
            <a:endParaRPr lang="en-US" sz="3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 Definitions (1/2)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Economy: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all the work people do to produce, sell and buy.</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Goods: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They are things we can touch, like food.</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Services: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They are work done for others, like teaching.</a:t>
            </a:r>
            <a:endParaRPr lang="en-US" sz="4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 Definitions (2/2)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Raw material: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a natural product used to make goods.</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Sector: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a group of jobs of the same kind.</a:t>
            </a:r>
            <a:endParaRPr lang="en-US" sz="4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The Four Sectors (1/2)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Primary: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takes products from nature.</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Secondary: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makes goods in factories.</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 Tertiary: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gives services.</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D. Quaternary: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creates knowledge.</a:t>
            </a:r>
            <a:endParaRPr lang="en-US" sz="4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The Four Sectors (2/2)</a:t>
            </a:r>
            <a:endParaRPr lang="en-US" sz="3600" dirty="0"/>
          </a:p>
        </p:txBody>
      </p:sp>
      <p:pic>
        <p:nvPicPr>
          <p:cNvPr id="13" name="Image 0" descr="/home/claude/f4/img/v2/cotton_journey_last.png">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Copy the journey of cotton.</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a good and a service?</a:t>
            </a:r>
            <a:endParaRPr lang="en-US" sz="4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good can be touched; a service is work done for others.</a:t>
            </a:r>
            <a:endParaRPr lang="en-US" sz="4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sectors of the economy.</a:t>
            </a:r>
            <a:endParaRPr lang="en-US" sz="4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Primary, secondary, tertiary and quaternary.</a:t>
            </a:r>
            <a:endParaRPr lang="en-US" sz="4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REMEDIATION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Fill in the blanks:</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Things that we can touch are ______.</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A natural product used to make goods is a ______ material.</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The sector that makes goods in factories is the ______ sector.</a:t>
            </a:r>
            <a:endParaRPr lang="en-US" sz="36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HOMEWORK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two workers in your area: one who works for a registered company and one who works alone in the street (for example a moto-taxi driver). Write one difference between them.</a:t>
            </a:r>
            <a:endParaRPr lang="en-US" sz="4000" dirty="0"/>
          </a:p>
          <a:p>
            <a:pPr indent="0" marL="0">
              <a:lnSpc>
                <a:spcPct val="100000"/>
              </a:lnSpc>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This prepares Part 2: The Formal and Informal Sectors of the Economy.</a:t>
            </a:r>
            <a:endParaRPr lang="en-US" sz="4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BILINGUAL GAME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Bilingual Game (Jeu Bilingue)</a:t>
            </a:r>
            <a:endParaRPr lang="en-US" sz="30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2011680" y="1783080"/>
          <a:ext cx="8138160" cy="914400"/>
        </p:xfrm>
        <a:graphic>
          <a:graphicData uri="http://schemas.openxmlformats.org/drawingml/2006/table">
            <a:tbl>
              <a:tblPr/>
              <a:tblGrid>
                <a:gridCol w="4069080"/>
                <a:gridCol w="4069080"/>
              </a:tblGrid>
              <a:tr h="0">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Français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Economy</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L'économie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Goods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Les biens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Services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Les services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Raw material</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matière première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Primary sector</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secteur primaire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Secondary sector</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secteur secondaire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Tertiary sector</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secteur tertiaire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Quaternary sector</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secteur quaternaire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(1/2)</a:t>
            </a:r>
            <a:endParaRPr lang="en-US" sz="30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Module / Topic</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Economic Activities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Lesson Title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Lesson 5: The Sectors of the Economy — Part 1: Introduction, Definitions and Key Concepts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Expected Learning Outcomes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Define economy, economic activity, goods and services. Define a sector of the economy. Name the four sectors of the economy and give an example of each.</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Competence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Learners are able to classify the jobs of people around them into the four sectors of the economy.</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(2/2)</a:t>
            </a:r>
            <a:endParaRPr lang="en-US" sz="30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Matter Taught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I. Definitions: Economy, Goods, Services, Raw material, Sector; II. The Four Sectors: Primary, Secondary, Tertiary, Quaternary.</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Evaluation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Formative evaluation (3 questions) and remediation exercise.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Homework</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Observe two workers in your area: one who works for a registered company and one who works alone in the street (for example a moto-taxi driver). Write one difference between them.</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Enrolment / Present / Absent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____ / ____ / ____</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Achievement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To be completed by the teacher after the lesson.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TEACHER'S NOTE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Teacher's Note</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000" dirty="0">
                <a:solidFill>
                  <a:srgbClr val="111111"/>
                </a:solidFill>
                <a:latin typeface="Calibri" pitchFamily="34" charset="0"/>
                <a:ea typeface="Calibri" pitchFamily="34" charset="-122"/>
                <a:cs typeface="Calibri" pitchFamily="34" charset="-120"/>
              </a:rPr>
              <a:t>Timing: Set-up, recall 8 min | Situation 8 min | 5 activities 25 min | Board summary (copying) 30 min | Evaluation, remediation 10 min | Homework 4 min | Logbook 10 min | Spare 5 min</a:t>
            </a:r>
            <a:endParaRPr lang="en-US" sz="2000" dirty="0"/>
          </a:p>
          <a:p>
            <a:pPr indent="0" marL="0">
              <a:lnSpc>
                <a:spcPct val="100000"/>
              </a:lnSpc>
              <a:spcAft>
                <a:spcPts val="800"/>
              </a:spcAft>
              <a:buNone/>
            </a:pPr>
            <a:r>
              <a:rPr lang="en-US" sz="2000" dirty="0">
                <a:solidFill>
                  <a:srgbClr val="111111"/>
                </a:solidFill>
                <a:latin typeface="Calibri" pitchFamily="34" charset="0"/>
                <a:ea typeface="Calibri" pitchFamily="34" charset="-122"/>
                <a:cs typeface="Calibri" pitchFamily="34" charset="-120"/>
              </a:rPr>
              <a:t>CICAM (Cotonnière Industrielle du Cameroun) spins and weaves cotton in Garoua.</a:t>
            </a:r>
            <a:endParaRPr lang="en-US" sz="2000" dirty="0"/>
          </a:p>
          <a:p>
            <a:pPr indent="0" marL="0">
              <a:lnSpc>
                <a:spcPct val="100000"/>
              </a:lnSpc>
              <a:spcAft>
                <a:spcPts val="800"/>
              </a:spcAft>
              <a:buNone/>
            </a:pPr>
            <a:r>
              <a:rPr lang="en-US" sz="2000" dirty="0">
                <a:solidFill>
                  <a:srgbClr val="111111"/>
                </a:solidFill>
                <a:latin typeface="Calibri" pitchFamily="34" charset="0"/>
                <a:ea typeface="Calibri" pitchFamily="34" charset="-122"/>
                <a:cs typeface="Calibri" pitchFamily="34" charset="-120"/>
              </a:rPr>
              <a:t>Activity 4 is an animation (GIF): it plays automatically in slide-show mode.</a:t>
            </a:r>
            <a:endParaRPr lang="en-US" sz="2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ECO. GEOGRAPHY — FORM 2 TECH</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REFERENCES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References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1: “A tailor of Wa” by 10b travelling / Carsten ten Brink, CC BY-NC-ND 2.0, via Flickr (https://www.flickr.com/photos/77334245@N00/8154947468)</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2: “Medical Readiness and Training Exercise 15-3” by US Army Africa, CC BY 2.0, via Flickr (https://www.flickr.com/photos/36281822@N08/16958932197)</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3: “Women carrying cotton” by CIFOR, CC BY-NC-ND 2.0, via Flickr (https://www.flickr.com/photos/45423546@N07/35706852432)</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5: “USAMRUK Malaria Diagnostics and Control Center of Excellence microscop” by US Army Africa, CC BY 2.0, via Flickr (https://www.flickr.com/photos/36281822@N08/4077018383)</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Diagrams and animations: drawn for this lesson (DGCAST Geography Department).</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2026-09-26T10:44:18Z</dcterms:created>
  <dcterms:modified xsi:type="dcterms:W3CDTF">2026-09-26T10:44:18Z</dcterms:modified>
</cp:coreProperties>
</file>