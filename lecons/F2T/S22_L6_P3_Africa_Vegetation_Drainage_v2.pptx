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Lst>
  <p:notesMasterIdLst>
    <p:notesMasterId r:id="rId4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notesMaster" Target="notesMasters/notesMaster1.xml"/><Relationship Id="rId47" Type="http://schemas.openxmlformats.org/officeDocument/2006/relationships/presProps" Target="presProps.xml"/><Relationship Id="rId48" Type="http://schemas.openxmlformats.org/officeDocument/2006/relationships/viewProps" Target="viewProps.xml"/><Relationship Id="rId49" Type="http://schemas.openxmlformats.org/officeDocument/2006/relationships/theme" Target="theme/theme1.xml"/><Relationship Id="rId5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class. Today we study Africa, part 3: Vegetation and Drainage of Africa.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Check the homework: three big rivers and their mouths.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situation slowly, twice.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Without the projector: draw the bands of vegetation on the board.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Without the projector: compare the forest of the South with the savanna of Garoua.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Without the projector: draw the four rivers on a sketch of Africa.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Without the projector: ask learners where the Benue flows after Garoua.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Without the projector: draw a big lake and a small lake on the board.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Learners copy the board summary now. Give them enough time for each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1. Nile 2. tributary 3. Chad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homework prepares the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the English word; learners give the French word, then the reverse.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jp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jpg"/><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jpg"/><Relationship Id="rId2" Type="http://schemas.openxmlformats.org/officeDocument/2006/relationships/slideLayout" Target="../slideLayouts/slideLayout1.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1.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201168"/>
          </a:xfrm>
          <a:prstGeom prst="rect">
            <a:avLst/>
          </a:prstGeom>
          <a:solidFill>
            <a:srgbClr val="990011"/>
          </a:solidFill>
          <a:ln w="12700">
            <a:solidFill>
              <a:srgbClr val="990011"/>
            </a:solidFill>
            <a:prstDash val="solid"/>
          </a:ln>
        </p:spPr>
      </p:sp>
      <p:sp>
        <p:nvSpPr>
          <p:cNvPr id="3" name="Shape 1"/>
          <p:cNvSpPr/>
          <p:nvPr/>
        </p:nvSpPr>
        <p:spPr>
          <a:xfrm>
            <a:off x="0" y="6656832"/>
            <a:ext cx="12191695" cy="201168"/>
          </a:xfrm>
          <a:prstGeom prst="rect">
            <a:avLst/>
          </a:prstGeom>
          <a:solidFill>
            <a:srgbClr val="1C3F6E"/>
          </a:solidFill>
          <a:ln w="12700">
            <a:solidFill>
              <a:srgbClr val="1C3F6E"/>
            </a:solidFill>
            <a:prstDash val="solid"/>
          </a:ln>
        </p:spPr>
      </p:sp>
      <p:pic>
        <p:nvPicPr>
          <p:cNvPr id="4" name="Image 0" descr="/home/claude/pw1/logo.png">    </p:cNvPr>
          <p:cNvPicPr>
            <a:picLocks noChangeAspect="1"/>
          </p:cNvPicPr>
          <p:nvPr/>
        </p:nvPicPr>
        <p:blipFill>
          <a:blip r:embed="rId1"/>
          <a:stretch>
            <a:fillRect/>
          </a:stretch>
        </p:blipFill>
        <p:spPr>
          <a:xfrm>
            <a:off x="5409590" y="457200"/>
            <a:ext cx="1371600" cy="1371600"/>
          </a:xfrm>
          <a:prstGeom prst="rect">
            <a:avLst/>
          </a:prstGeom>
        </p:spPr>
      </p:pic>
      <p:sp>
        <p:nvSpPr>
          <p:cNvPr id="5" name="Text 2"/>
          <p:cNvSpPr txBox="1"/>
          <p:nvPr/>
        </p:nvSpPr>
        <p:spPr>
          <a:xfrm>
            <a:off x="731520" y="1965960"/>
            <a:ext cx="10725912" cy="640080"/>
          </a:xfrm>
          <a:prstGeom prst="rect">
            <a:avLst/>
          </a:prstGeom>
          <a:noFill/>
          <a:ln/>
        </p:spPr>
        <p:txBody>
          <a:bodyPr wrap="square" lIns="0" tIns="0" rIns="0" bIns="0" rtlCol="0" anchor="ctr"/>
          <a:lstStyle/>
          <a:p>
            <a:pPr algn="ctr" indent="0" marL="0">
              <a:buNone/>
            </a:pPr>
            <a:r>
              <a:rPr lang="en-US" sz="2000" b="1" dirty="0">
                <a:solidFill>
                  <a:srgbClr val="1C3F6E"/>
                </a:solidFill>
                <a:latin typeface="Cambria" pitchFamily="34" charset="0"/>
                <a:ea typeface="Cambria" pitchFamily="34" charset="-122"/>
                <a:cs typeface="Cambria" pitchFamily="34" charset="-120"/>
              </a:rPr>
              <a:t>DIVINE GRACE COLLEGE OF ARTS, SCIENCE AND TECHNOLOGY</a:t>
            </a:r>
            <a:endParaRPr lang="en-US" sz="2000" dirty="0"/>
          </a:p>
        </p:txBody>
      </p:sp>
      <p:sp>
        <p:nvSpPr>
          <p:cNvPr id="6" name="Text 3"/>
          <p:cNvSpPr txBox="1"/>
          <p:nvPr/>
        </p:nvSpPr>
        <p:spPr>
          <a:xfrm>
            <a:off x="914400" y="2606040"/>
            <a:ext cx="10360152" cy="411480"/>
          </a:xfrm>
          <a:prstGeom prst="rect">
            <a:avLst/>
          </a:prstGeom>
          <a:noFill/>
          <a:ln/>
        </p:spPr>
        <p:txBody>
          <a:bodyPr wrap="square" lIns="0" tIns="0" rIns="0" bIns="0" rtlCol="0" anchor="ctr"/>
          <a:lstStyle/>
          <a:p>
            <a:pPr algn="ctr" indent="0" marL="0">
              <a:buNone/>
            </a:pPr>
            <a:r>
              <a:rPr lang="en-US" sz="1500" dirty="0">
                <a:solidFill>
                  <a:srgbClr val="1A1A1A"/>
                </a:solidFill>
                <a:latin typeface="Calibri" pitchFamily="34" charset="0"/>
                <a:ea typeface="Calibri" pitchFamily="34" charset="-122"/>
                <a:cs typeface="Calibri" pitchFamily="34" charset="-120"/>
              </a:rPr>
              <a:t>(DGCAST) — GAROUA   |   GEOGRAPHY DEPARTMENT</a:t>
            </a:r>
            <a:endParaRPr lang="en-US" sz="1500" dirty="0"/>
          </a:p>
        </p:txBody>
      </p:sp>
      <p:sp>
        <p:nvSpPr>
          <p:cNvPr id="7" name="Text 4"/>
          <p:cNvSpPr txBox="1"/>
          <p:nvPr/>
        </p:nvSpPr>
        <p:spPr>
          <a:xfrm>
            <a:off x="914400" y="3200400"/>
            <a:ext cx="10360152" cy="685800"/>
          </a:xfrm>
          <a:prstGeom prst="rect">
            <a:avLst/>
          </a:prstGeom>
          <a:noFill/>
          <a:ln/>
        </p:spPr>
        <p:txBody>
          <a:bodyPr wrap="square" lIns="0" tIns="0" rIns="0" bIns="0" rtlCol="0" anchor="ctr"/>
          <a:lstStyle/>
          <a:p>
            <a:pPr algn="ctr" indent="0" marL="0">
              <a:buNone/>
            </a:pPr>
            <a:r>
              <a:rPr lang="en-US" sz="3400" b="1" dirty="0">
                <a:solidFill>
                  <a:srgbClr val="990011"/>
                </a:solidFill>
                <a:latin typeface="Cambria" pitchFamily="34" charset="0"/>
                <a:ea typeface="Cambria" pitchFamily="34" charset="-122"/>
                <a:cs typeface="Cambria" pitchFamily="34" charset="-120"/>
              </a:rPr>
              <a:t>FORM 2 TECHNICAL  —  LESSON 6 (PART 3)</a:t>
            </a:r>
            <a:endParaRPr lang="en-US" sz="3400" dirty="0"/>
          </a:p>
        </p:txBody>
      </p:sp>
      <p:sp>
        <p:nvSpPr>
          <p:cNvPr id="8" name="Text 5"/>
          <p:cNvSpPr txBox="1"/>
          <p:nvPr/>
        </p:nvSpPr>
        <p:spPr>
          <a:xfrm>
            <a:off x="914400" y="3931920"/>
            <a:ext cx="10360152" cy="548640"/>
          </a:xfrm>
          <a:prstGeom prst="rect">
            <a:avLst/>
          </a:prstGeom>
          <a:noFill/>
          <a:ln/>
        </p:spPr>
        <p:txBody>
          <a:bodyPr wrap="square" lIns="0" tIns="0" rIns="0" bIns="0" rtlCol="0" anchor="ctr"/>
          <a:lstStyle/>
          <a:p>
            <a:pPr algn="ctr" indent="0" marL="0">
              <a:buNone/>
            </a:pPr>
            <a:r>
              <a:rPr lang="en-US" sz="2100" b="1" dirty="0">
                <a:solidFill>
                  <a:srgbClr val="B8860B"/>
                </a:solidFill>
                <a:latin typeface="Calibri" pitchFamily="34" charset="0"/>
                <a:ea typeface="Calibri" pitchFamily="34" charset="-122"/>
                <a:cs typeface="Calibri" pitchFamily="34" charset="-120"/>
              </a:rPr>
              <a:t>Africa: Vegetation and Drainage of Africa</a:t>
            </a:r>
            <a:endParaRPr lang="en-US" sz="2100" dirty="0"/>
          </a:p>
        </p:txBody>
      </p:sp>
      <p:sp>
        <p:nvSpPr>
          <p:cNvPr id="9" name="Text 6"/>
          <p:cNvSpPr txBox="1"/>
          <p:nvPr/>
        </p:nvSpPr>
        <p:spPr>
          <a:xfrm>
            <a:off x="914400" y="5394960"/>
            <a:ext cx="10360152" cy="914400"/>
          </a:xfrm>
          <a:prstGeom prst="rect">
            <a:avLst/>
          </a:prstGeom>
          <a:noFill/>
          <a:ln/>
        </p:spPr>
        <p:txBody>
          <a:bodyPr wrap="square" lIns="0" tIns="0" rIns="0" bIns="0" rtlCol="0" anchor="ctr"/>
          <a:lstStyle/>
          <a:p>
            <a:pPr algn="ctr" indent="0" marL="0">
              <a:buNone/>
            </a:pPr>
            <a:r>
              <a:rPr lang="en-US" sz="1600" b="1" dirty="0">
                <a:solidFill>
                  <a:srgbClr val="1A1A1A"/>
                </a:solidFill>
                <a:latin typeface="Calibri" pitchFamily="34" charset="0"/>
                <a:ea typeface="Calibri" pitchFamily="34" charset="-122"/>
                <a:cs typeface="Calibri" pitchFamily="34" charset="-120"/>
              </a:rPr>
              <a:t>Mr KAMDEM EMMANUEL</a:t>
            </a:r>
            <a:endParaRPr lang="en-US" sz="1600" dirty="0"/>
          </a:p>
          <a:p>
            <a:pPr algn="ctr" indent="0" marL="0">
              <a:buNone/>
            </a:pPr>
            <a:r>
              <a:rPr lang="en-US" sz="1600" dirty="0">
                <a:solidFill>
                  <a:srgbClr val="1A1A1A"/>
                </a:solidFill>
                <a:latin typeface="Calibri" pitchFamily="34" charset="0"/>
                <a:ea typeface="Calibri" pitchFamily="34" charset="-122"/>
                <a:cs typeface="Calibri" pitchFamily="34" charset="-120"/>
              </a:rPr>
              <a:t>Geography Teacher — PLEG</a:t>
            </a:r>
            <a:endParaRPr lang="en-US" sz="1600" dirty="0"/>
          </a:p>
          <a:p>
            <a:pPr algn="ctr" indent="0" marL="0">
              <a:buNone/>
            </a:pPr>
            <a:r>
              <a:rPr lang="en-US" sz="1600" dirty="0">
                <a:solidFill>
                  <a:srgbClr val="1A1A1A"/>
                </a:solidFill>
                <a:latin typeface="Calibri" pitchFamily="34" charset="0"/>
                <a:ea typeface="Calibri" pitchFamily="34" charset="-122"/>
                <a:cs typeface="Calibri" pitchFamily="34" charset="-120"/>
              </a:rPr>
              <a:t>Academic Year 2026 / 2027</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ECO. GEOGRAPHY — FORM 2 TECH</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CLASS INFO</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2</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000" b="1" dirty="0">
                <a:solidFill>
                  <a:srgbClr val="990011"/>
                </a:solidFill>
                <a:latin typeface="Cambria" pitchFamily="34" charset="0"/>
                <a:ea typeface="Cambria" pitchFamily="34" charset="-122"/>
                <a:cs typeface="Cambria" pitchFamily="34" charset="-120"/>
              </a:rPr>
              <a:t>Class, Chapter &amp; Duration</a:t>
            </a:r>
            <a:endParaRPr lang="en-US" sz="30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7200" y="1783080"/>
          <a:ext cx="11274552" cy="914400"/>
        </p:xfrm>
        <a:graphic>
          <a:graphicData uri="http://schemas.openxmlformats.org/drawingml/2006/table">
            <a:tbl>
              <a:tblPr/>
              <a:tblGrid>
                <a:gridCol w="2377440"/>
                <a:gridCol w="8897112"/>
              </a:tblGrid>
              <a:tr h="0">
                <a:tc>
                  <a:txBody>
                    <a:bodyPr/>
                    <a:lstStyle/>
                    <a:p>
                      <a:pPr indent="0" marL="0">
                        <a:buNone/>
                      </a:pPr>
                      <a:r>
                        <a:rPr lang="en-US" sz="2000" b="1" dirty="0">
                          <a:solidFill>
                            <a:srgbClr val="FFFFFF"/>
                          </a:solidFill>
                          <a:latin typeface="Calibri" pitchFamily="34" charset="0"/>
                          <a:ea typeface="Calibri" pitchFamily="34" charset="-122"/>
                          <a:cs typeface="Calibri" pitchFamily="34" charset="-120"/>
                        </a:rPr>
                        <a:t>Class</a:t>
                      </a:r>
                      <a:endParaRPr lang="en-US" sz="20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indent="0" marL="0">
                        <a:buNone/>
                      </a:pPr>
                      <a:r>
                        <a:rPr lang="en-US" sz="2000" dirty="0">
                          <a:solidFill>
                            <a:srgbClr val="111111"/>
                          </a:solidFill>
                          <a:latin typeface="Calibri" pitchFamily="34" charset="0"/>
                          <a:ea typeface="Calibri" pitchFamily="34" charset="-122"/>
                          <a:cs typeface="Calibri" pitchFamily="34" charset="-120"/>
                        </a:rPr>
                        <a:t>Form 2 Technical</a:t>
                      </a:r>
                      <a:endParaRPr lang="en-US" sz="20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indent="0" marL="0">
                        <a:buNone/>
                      </a:pPr>
                      <a:r>
                        <a:rPr lang="en-US" sz="2000" b="1" dirty="0">
                          <a:solidFill>
                            <a:srgbClr val="FFFFFF"/>
                          </a:solidFill>
                          <a:latin typeface="Calibri" pitchFamily="34" charset="0"/>
                          <a:ea typeface="Calibri" pitchFamily="34" charset="-122"/>
                          <a:cs typeface="Calibri" pitchFamily="34" charset="-120"/>
                        </a:rPr>
                        <a:t>Chapter</a:t>
                      </a:r>
                      <a:endParaRPr lang="en-US" sz="20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indent="0" marL="0">
                        <a:buNone/>
                      </a:pPr>
                      <a:r>
                        <a:rPr lang="en-US" sz="2000" dirty="0">
                          <a:solidFill>
                            <a:srgbClr val="111111"/>
                          </a:solidFill>
                          <a:latin typeface="Calibri" pitchFamily="34" charset="0"/>
                          <a:ea typeface="Calibri" pitchFamily="34" charset="-122"/>
                          <a:cs typeface="Calibri" pitchFamily="34" charset="-120"/>
                        </a:rPr>
                        <a:t>Economic Geography — Africa</a:t>
                      </a:r>
                      <a:endParaRPr lang="en-US" sz="20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indent="0" marL="0">
                        <a:buNone/>
                      </a:pPr>
                      <a:r>
                        <a:rPr lang="en-US" sz="2000" b="1" dirty="0">
                          <a:solidFill>
                            <a:srgbClr val="FFFFFF"/>
                          </a:solidFill>
                          <a:latin typeface="Calibri" pitchFamily="34" charset="0"/>
                          <a:ea typeface="Calibri" pitchFamily="34" charset="-122"/>
                          <a:cs typeface="Calibri" pitchFamily="34" charset="-120"/>
                        </a:rPr>
                        <a:t>Duration</a:t>
                      </a:r>
                      <a:endParaRPr lang="en-US" sz="20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indent="0" marL="0">
                        <a:buNone/>
                      </a:pPr>
                      <a:r>
                        <a:rPr lang="en-US" sz="2000" dirty="0">
                          <a:solidFill>
                            <a:srgbClr val="111111"/>
                          </a:solidFill>
                          <a:latin typeface="Calibri" pitchFamily="34" charset="0"/>
                          <a:ea typeface="Calibri" pitchFamily="34" charset="-122"/>
                          <a:cs typeface="Calibri" pitchFamily="34" charset="-120"/>
                        </a:rPr>
                        <a:t>2 periods (2 × 50 minutes)</a:t>
                      </a:r>
                      <a:endParaRPr lang="en-US" sz="20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ECO. GEOGRAPHY — FORM 2 TECH</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IDENTIFICATION</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3</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000" b="1" dirty="0">
                <a:solidFill>
                  <a:srgbClr val="990011"/>
                </a:solidFill>
                <a:latin typeface="Cambria" pitchFamily="34" charset="0"/>
                <a:ea typeface="Cambria" pitchFamily="34" charset="-122"/>
                <a:cs typeface="Cambria" pitchFamily="34" charset="-120"/>
              </a:rPr>
              <a:t>Lesson Identification</a:t>
            </a:r>
            <a:endParaRPr lang="en-US" sz="30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7200" y="1783080"/>
          <a:ext cx="11274552" cy="914400"/>
        </p:xfrm>
        <a:graphic>
          <a:graphicData uri="http://schemas.openxmlformats.org/drawingml/2006/table">
            <a:tbl>
              <a:tblPr/>
              <a:tblGrid>
                <a:gridCol w="2377440"/>
                <a:gridCol w="8897112"/>
              </a:tblGrid>
              <a:tr h="0">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Topic</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indent="0" marL="0">
                        <a:buNone/>
                      </a:pPr>
                      <a:r>
                        <a:rPr lang="en-US" sz="1600" dirty="0">
                          <a:solidFill>
                            <a:srgbClr val="111111"/>
                          </a:solidFill>
                          <a:latin typeface="Calibri" pitchFamily="34" charset="0"/>
                          <a:ea typeface="Calibri" pitchFamily="34" charset="-122"/>
                          <a:cs typeface="Calibri" pitchFamily="34" charset="-120"/>
                        </a:rPr>
                        <a:t>Regional Geography</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Sub-topic</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indent="0" marL="0">
                        <a:buNone/>
                      </a:pPr>
                      <a:r>
                        <a:rPr lang="en-US" sz="1600" dirty="0">
                          <a:solidFill>
                            <a:srgbClr val="111111"/>
                          </a:solidFill>
                          <a:latin typeface="Calibri" pitchFamily="34" charset="0"/>
                          <a:ea typeface="Calibri" pitchFamily="34" charset="-122"/>
                          <a:cs typeface="Calibri" pitchFamily="34" charset="-120"/>
                        </a:rPr>
                        <a:t>Africa</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Lesson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indent="0" marL="0">
                        <a:buNone/>
                      </a:pPr>
                      <a:r>
                        <a:rPr lang="en-US" sz="1600" dirty="0">
                          <a:solidFill>
                            <a:srgbClr val="111111"/>
                          </a:solidFill>
                          <a:latin typeface="Calibri" pitchFamily="34" charset="0"/>
                          <a:ea typeface="Calibri" pitchFamily="34" charset="-122"/>
                          <a:cs typeface="Calibri" pitchFamily="34" charset="-120"/>
                        </a:rPr>
                        <a:t>Lesson 6: Africa — Part 3: Vegetation and Drainage of Africa</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Notions / Concepts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indent="0" marL="0">
                        <a:buNone/>
                      </a:pPr>
                      <a:r>
                        <a:rPr lang="en-US" sz="1600" dirty="0">
                          <a:solidFill>
                            <a:srgbClr val="111111"/>
                          </a:solidFill>
                          <a:latin typeface="Calibri" pitchFamily="34" charset="0"/>
                          <a:ea typeface="Calibri" pitchFamily="34" charset="-122"/>
                          <a:cs typeface="Calibri" pitchFamily="34" charset="-120"/>
                        </a:rPr>
                        <a:t>Vegetation zone, drainage, river basin, mouth, delta, waterfall, inland drainage.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Syllabus focus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indent="0" marL="0">
                        <a:buNone/>
                      </a:pPr>
                      <a:r>
                        <a:rPr lang="en-US" sz="1600" dirty="0">
                          <a:solidFill>
                            <a:srgbClr val="111111"/>
                          </a:solidFill>
                          <a:latin typeface="Calibri" pitchFamily="34" charset="0"/>
                          <a:ea typeface="Calibri" pitchFamily="34" charset="-122"/>
                          <a:cs typeface="Calibri" pitchFamily="34" charset="-120"/>
                        </a:rPr>
                        <a:t>Vegetation and drainage of Africa.</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Competence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indent="0" marL="0">
                        <a:buNone/>
                      </a:pPr>
                      <a:r>
                        <a:rPr lang="en-US" sz="1600" dirty="0">
                          <a:solidFill>
                            <a:srgbClr val="111111"/>
                          </a:solidFill>
                          <a:latin typeface="Calibri" pitchFamily="34" charset="0"/>
                          <a:ea typeface="Calibri" pitchFamily="34" charset="-122"/>
                          <a:cs typeface="Calibri" pitchFamily="34" charset="-120"/>
                        </a:rPr>
                        <a:t>Learners are able to name the main vegetation zones, rivers and lakes of Africa and explain how people use rivers and lakes.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ECO. GEOGRAPHY — FORM 2 TECH</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OBJECTIVES</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4</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000" b="1" dirty="0">
                <a:solidFill>
                  <a:srgbClr val="990011"/>
                </a:solidFill>
                <a:latin typeface="Cambria" pitchFamily="34" charset="0"/>
                <a:ea typeface="Cambria" pitchFamily="34" charset="-122"/>
                <a:cs typeface="Cambria" pitchFamily="34" charset="-120"/>
              </a:rPr>
              <a:t>Learning Objectives</a:t>
            </a:r>
            <a:endParaRPr lang="en-US" sz="3000" dirty="0"/>
          </a:p>
        </p:txBody>
      </p:sp>
      <p:sp>
        <p:nvSpPr>
          <p:cNvPr id="13" name="Text 11"/>
          <p:cNvSpPr txBox="1"/>
          <p:nvPr/>
        </p:nvSpPr>
        <p:spPr>
          <a:xfrm>
            <a:off x="457200" y="1783080"/>
            <a:ext cx="11274552" cy="4663440"/>
          </a:xfrm>
          <a:prstGeom prst="rect">
            <a:avLst/>
          </a:prstGeom>
          <a:noFill/>
          <a:ln/>
        </p:spPr>
        <p:txBody>
          <a:bodyPr wrap="square" lIns="0" tIns="0" rIns="0" bIns="0" rtlCol="0" anchor="t"/>
          <a:lstStyle/>
          <a:p>
            <a:pPr indent="0" marL="0">
              <a:lnSpc>
                <a:spcPct val="100000"/>
              </a:lnSpc>
              <a:spcAft>
                <a:spcPts val="800"/>
              </a:spcAft>
              <a:buNone/>
            </a:pPr>
            <a:r>
              <a:rPr lang="en-US" sz="2200" b="1" dirty="0">
                <a:solidFill>
                  <a:srgbClr val="111111"/>
                </a:solidFill>
                <a:latin typeface="Calibri" pitchFamily="34" charset="0"/>
                <a:ea typeface="Calibri" pitchFamily="34" charset="-122"/>
                <a:cs typeface="Calibri" pitchFamily="34" charset="-120"/>
              </a:rPr>
              <a:t>By the end of the lesson, the learner should be able to:</a:t>
            </a:r>
            <a:endParaRPr lang="en-US" sz="2200" dirty="0"/>
          </a:p>
          <a:p>
            <a:pPr marL="342900" indent="-342900">
              <a:lnSpc>
                <a:spcPct val="100000"/>
              </a:lnSpc>
              <a:spcAft>
                <a:spcPts val="800"/>
              </a:spcAft>
              <a:buSzPct val="100000"/>
              <a:buFont typeface="+mj-lt"/>
              <a:buAutoNum type="arabicPeriod" startAt="1"/>
            </a:pPr>
            <a:r>
              <a:rPr lang="en-US" sz="2200" dirty="0">
                <a:solidFill>
                  <a:srgbClr val="111111"/>
                </a:solidFill>
                <a:latin typeface="Calibri" pitchFamily="34" charset="0"/>
                <a:ea typeface="Calibri" pitchFamily="34" charset="-122"/>
                <a:cs typeface="Calibri" pitchFamily="34" charset="-120"/>
              </a:rPr>
              <a:t>Describe the main vegetation zones of Africa.</a:t>
            </a:r>
            <a:endParaRPr lang="en-US" sz="2200" dirty="0"/>
          </a:p>
          <a:p>
            <a:pPr marL="342900" indent="-342900">
              <a:lnSpc>
                <a:spcPct val="100000"/>
              </a:lnSpc>
              <a:spcAft>
                <a:spcPts val="800"/>
              </a:spcAft>
              <a:buSzPct val="100000"/>
              <a:buFont typeface="+mj-lt"/>
              <a:buAutoNum type="arabicPeriod" startAt="1"/>
            </a:pPr>
            <a:r>
              <a:rPr lang="en-US" sz="2200" dirty="0">
                <a:solidFill>
                  <a:srgbClr val="111111"/>
                </a:solidFill>
                <a:latin typeface="Calibri" pitchFamily="34" charset="0"/>
                <a:ea typeface="Calibri" pitchFamily="34" charset="-122"/>
                <a:cs typeface="Calibri" pitchFamily="34" charset="-120"/>
              </a:rPr>
              <a:t>Name the main rivers and lakes of Africa and locate them.</a:t>
            </a:r>
            <a:endParaRPr lang="en-US" sz="2200" dirty="0"/>
          </a:p>
          <a:p>
            <a:pPr marL="342900" indent="-342900">
              <a:lnSpc>
                <a:spcPct val="100000"/>
              </a:lnSpc>
              <a:spcAft>
                <a:spcPts val="800"/>
              </a:spcAft>
              <a:buSzPct val="100000"/>
              <a:buFont typeface="+mj-lt"/>
              <a:buAutoNum type="arabicPeriod" startAt="1"/>
            </a:pPr>
            <a:r>
              <a:rPr lang="en-US" sz="2200" dirty="0">
                <a:solidFill>
                  <a:srgbClr val="111111"/>
                </a:solidFill>
                <a:latin typeface="Calibri" pitchFamily="34" charset="0"/>
                <a:ea typeface="Calibri" pitchFamily="34" charset="-122"/>
                <a:cs typeface="Calibri" pitchFamily="34" charset="-120"/>
              </a:rPr>
              <a:t>Explain the importance of African rivers and lakes.</a:t>
            </a:r>
            <a:endParaRPr lang="en-US" sz="2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ECO. GEOGRAPHY — FORM 2 TECH</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RECALL</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5</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000" b="1" dirty="0">
                <a:solidFill>
                  <a:srgbClr val="990011"/>
                </a:solidFill>
                <a:latin typeface="Cambria" pitchFamily="34" charset="0"/>
                <a:ea typeface="Cambria" pitchFamily="34" charset="-122"/>
                <a:cs typeface="Cambria" pitchFamily="34" charset="-120"/>
              </a:rPr>
              <a:t>Recall</a:t>
            </a:r>
            <a:endParaRPr lang="en-US" sz="3000" dirty="0"/>
          </a:p>
        </p:txBody>
      </p:sp>
      <p:sp>
        <p:nvSpPr>
          <p:cNvPr id="13" name="Text 11"/>
          <p:cNvSpPr txBox="1"/>
          <p:nvPr/>
        </p:nvSpPr>
        <p:spPr>
          <a:xfrm>
            <a:off x="457200" y="1783080"/>
            <a:ext cx="11274552" cy="4663440"/>
          </a:xfrm>
          <a:prstGeom prst="rect">
            <a:avLst/>
          </a:prstGeom>
          <a:noFill/>
          <a:ln/>
        </p:spPr>
        <p:txBody>
          <a:bodyPr wrap="square" lIns="0" tIns="0" rIns="0" bIns="0" rtlCol="0" anchor="t"/>
          <a:lstStyle/>
          <a:p>
            <a:pPr marL="342900" indent="-342900">
              <a:lnSpc>
                <a:spcPct val="100000"/>
              </a:lnSpc>
              <a:spcAft>
                <a:spcPts val="800"/>
              </a:spcAft>
              <a:buSzPct val="100000"/>
              <a:buChar char="•"/>
            </a:pPr>
            <a:r>
              <a:rPr lang="en-US" sz="2400" dirty="0">
                <a:solidFill>
                  <a:srgbClr val="111111"/>
                </a:solidFill>
                <a:latin typeface="Calibri" pitchFamily="34" charset="0"/>
                <a:ea typeface="Calibri" pitchFamily="34" charset="-122"/>
                <a:cs typeface="Calibri" pitchFamily="34" charset="-120"/>
              </a:rPr>
              <a:t>The climatic zones of Africa are repeated north and south of the Equator.</a:t>
            </a:r>
            <a:endParaRPr lang="en-US" sz="2400" dirty="0"/>
          </a:p>
          <a:p>
            <a:pPr marL="342900" indent="-342900">
              <a:lnSpc>
                <a:spcPct val="100000"/>
              </a:lnSpc>
              <a:spcAft>
                <a:spcPts val="800"/>
              </a:spcAft>
              <a:buSzPct val="100000"/>
              <a:buChar char="•"/>
            </a:pPr>
            <a:r>
              <a:rPr lang="en-US" sz="2400" dirty="0">
                <a:solidFill>
                  <a:srgbClr val="111111"/>
                </a:solidFill>
                <a:latin typeface="Calibri" pitchFamily="34" charset="0"/>
                <a:ea typeface="Calibri" pitchFamily="34" charset="-122"/>
                <a:cs typeface="Calibri" pitchFamily="34" charset="-120"/>
              </a:rPr>
              <a:t>Africa has plateaux, basins, mountains and the Great Rift Valley.</a:t>
            </a:r>
            <a:endParaRPr lang="en-US" sz="2400" dirty="0"/>
          </a:p>
          <a:p>
            <a:pPr marL="342900" indent="-342900">
              <a:lnSpc>
                <a:spcPct val="100000"/>
              </a:lnSpc>
              <a:spcAft>
                <a:spcPts val="800"/>
              </a:spcAft>
              <a:buSzPct val="100000"/>
              <a:buChar char="•"/>
            </a:pPr>
            <a:r>
              <a:rPr lang="en-US" sz="2400" dirty="0">
                <a:solidFill>
                  <a:srgbClr val="111111"/>
                </a:solidFill>
                <a:latin typeface="Calibri" pitchFamily="34" charset="0"/>
                <a:ea typeface="Calibri" pitchFamily="34" charset="-122"/>
                <a:cs typeface="Calibri" pitchFamily="34" charset="-120"/>
              </a:rPr>
              <a:t>Its soils include ferrallitic, ferruginous, desert, volcanic and alluvial soils.</a:t>
            </a:r>
            <a:endParaRPr lang="en-US" sz="2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ECO. GEOGRAPHY — FORM 2 TECH</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REAL-LIFE SITUATION</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6</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Real-Life Situation</a:t>
            </a:r>
            <a:endParaRPr lang="en-US" sz="3600" dirty="0"/>
          </a:p>
        </p:txBody>
      </p:sp>
      <p:sp>
        <p:nvSpPr>
          <p:cNvPr id="13" name="Text 11"/>
          <p:cNvSpPr txBox="1"/>
          <p:nvPr/>
        </p:nvSpPr>
        <p:spPr>
          <a:xfrm>
            <a:off x="457200" y="1783080"/>
            <a:ext cx="11274552" cy="4663440"/>
          </a:xfrm>
          <a:prstGeom prst="rect">
            <a:avLst/>
          </a:prstGeom>
          <a:noFill/>
          <a:ln/>
        </p:spPr>
        <p:txBody>
          <a:bodyPr wrap="square" lIns="0" tIns="0" rIns="0" bIns="0" rtlCol="0" anchor="t"/>
          <a:lstStyle/>
          <a:p>
            <a:pPr indent="0" marL="0">
              <a:lnSpc>
                <a:spcPct val="100000"/>
              </a:lnSpc>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Lake Chad, north of Cameroon, is much smaller today than sixty years ago. Many fishermen and farmers who lived near it have lost their work. Mariam wonders why the lake is shrinking.</a:t>
            </a:r>
            <a:endParaRPr lang="en-US" sz="4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ECO. GEOGRAPHY — FORM 2 TECH</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REAL-LIFE SITUATION</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7</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 Question 1</a:t>
            </a:r>
            <a:endParaRPr lang="en-US" sz="3600" dirty="0"/>
          </a:p>
        </p:txBody>
      </p:sp>
      <p:sp>
        <p:nvSpPr>
          <p:cNvPr id="13" name="Text 11"/>
          <p:cNvSpPr txBox="1"/>
          <p:nvPr/>
        </p:nvSpPr>
        <p:spPr>
          <a:xfrm>
            <a:off x="457200" y="1783080"/>
            <a:ext cx="11274552" cy="4663440"/>
          </a:xfrm>
          <a:prstGeom prst="rect">
            <a:avLst/>
          </a:prstGeom>
          <a:noFill/>
          <a:ln/>
        </p:spPr>
        <p:txBody>
          <a:bodyPr wrap="square" lIns="0" tIns="0" rIns="0" bIns="0" rtlCol="0" anchor="t"/>
          <a:lstStyle/>
          <a:p>
            <a:pPr indent="0" marL="0">
              <a:lnSpc>
                <a:spcPct val="100000"/>
              </a:lnSpc>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problem in the situation?</a:t>
            </a:r>
            <a:endParaRPr lang="en-US" sz="4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ECO. GEOGRAPHY — FORM 2 TECH</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REAL-LIFE SITUATION</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8</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13" name="Text 11"/>
          <p:cNvSpPr txBox="1"/>
          <p:nvPr/>
        </p:nvSpPr>
        <p:spPr>
          <a:xfrm>
            <a:off x="457200" y="1783080"/>
            <a:ext cx="11274552" cy="4663440"/>
          </a:xfrm>
          <a:prstGeom prst="rect">
            <a:avLst/>
          </a:prstGeom>
          <a:noFill/>
          <a:ln/>
        </p:spPr>
        <p:txBody>
          <a:bodyPr wrap="square" lIns="0" tIns="0" rIns="0" bIns="0" rtlCol="0" anchor="t"/>
          <a:lstStyle/>
          <a:p>
            <a:pPr indent="0" marL="0">
              <a:lnSpc>
                <a:spcPct val="100000"/>
              </a:lnSpc>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Lake Chad is getting smaller.</a:t>
            </a:r>
            <a:endParaRPr lang="en-US" sz="4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ECO. GEOGRAPHY — FORM 2 TECH</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REAL-LIFE SITUATION</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9</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 Question 2</a:t>
            </a:r>
            <a:endParaRPr lang="en-US" sz="3600" dirty="0"/>
          </a:p>
        </p:txBody>
      </p:sp>
      <p:sp>
        <p:nvSpPr>
          <p:cNvPr id="13" name="Text 11"/>
          <p:cNvSpPr txBox="1"/>
          <p:nvPr/>
        </p:nvSpPr>
        <p:spPr>
          <a:xfrm>
            <a:off x="457200" y="1783080"/>
            <a:ext cx="11274552" cy="4663440"/>
          </a:xfrm>
          <a:prstGeom prst="rect">
            <a:avLst/>
          </a:prstGeom>
          <a:noFill/>
          <a:ln/>
        </p:spPr>
        <p:txBody>
          <a:bodyPr wrap="square" lIns="0" tIns="0" rIns="0" bIns="0" rtlCol="0" anchor="t"/>
          <a:lstStyle/>
          <a:p>
            <a:pPr indent="0" marL="0">
              <a:lnSpc>
                <a:spcPct val="100000"/>
              </a:lnSpc>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Who suffers from this problem?</a:t>
            </a:r>
            <a:endParaRPr lang="en-US" sz="4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ECO. GEOGRAPHY — FORM 2 TECH</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REAL-LIFE SITUATION</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10</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13" name="Text 11"/>
          <p:cNvSpPr txBox="1"/>
          <p:nvPr/>
        </p:nvSpPr>
        <p:spPr>
          <a:xfrm>
            <a:off x="457200" y="1783080"/>
            <a:ext cx="11274552" cy="4663440"/>
          </a:xfrm>
          <a:prstGeom prst="rect">
            <a:avLst/>
          </a:prstGeom>
          <a:noFill/>
          <a:ln/>
        </p:spPr>
        <p:txBody>
          <a:bodyPr wrap="square" lIns="0" tIns="0" rIns="0" bIns="0" rtlCol="0" anchor="t"/>
          <a:lstStyle/>
          <a:p>
            <a:pPr indent="0" marL="0">
              <a:lnSpc>
                <a:spcPct val="100000"/>
              </a:lnSpc>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Fishermen and farmers near the lake.</a:t>
            </a:r>
            <a:endParaRPr lang="en-US" sz="4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ECO. GEOGRAPHY — FORM 2 TECH</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REAL-LIFE SITUATION</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11</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 Question 3</a:t>
            </a:r>
            <a:endParaRPr lang="en-US" sz="3600" dirty="0"/>
          </a:p>
        </p:txBody>
      </p:sp>
      <p:sp>
        <p:nvSpPr>
          <p:cNvPr id="13" name="Text 11"/>
          <p:cNvSpPr txBox="1"/>
          <p:nvPr/>
        </p:nvSpPr>
        <p:spPr>
          <a:xfrm>
            <a:off x="457200" y="1783080"/>
            <a:ext cx="11274552" cy="4663440"/>
          </a:xfrm>
          <a:prstGeom prst="rect">
            <a:avLst/>
          </a:prstGeom>
          <a:noFill/>
          <a:ln/>
        </p:spPr>
        <p:txBody>
          <a:bodyPr wrap="square" lIns="0" tIns="0" rIns="0" bIns="0" rtlCol="0" anchor="t"/>
          <a:lstStyle/>
          <a:p>
            <a:pPr indent="0" marL="0">
              <a:lnSpc>
                <a:spcPct val="100000"/>
              </a:lnSpc>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is the lake shrinking?</a:t>
            </a:r>
            <a:endParaRPr lang="en-US" sz="4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ECO. GEOGRAPHY — FORM 2 TECH</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REAL-LIFE SITUATION</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12</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Possible Answer</a:t>
            </a:r>
            <a:endParaRPr lang="en-US" sz="3600" dirty="0"/>
          </a:p>
        </p:txBody>
      </p:sp>
      <p:sp>
        <p:nvSpPr>
          <p:cNvPr id="13" name="Text 11"/>
          <p:cNvSpPr txBox="1"/>
          <p:nvPr/>
        </p:nvSpPr>
        <p:spPr>
          <a:xfrm>
            <a:off x="457200" y="1783080"/>
            <a:ext cx="11274552" cy="4663440"/>
          </a:xfrm>
          <a:prstGeom prst="rect">
            <a:avLst/>
          </a:prstGeom>
          <a:noFill/>
          <a:ln/>
        </p:spPr>
        <p:txBody>
          <a:bodyPr wrap="square" lIns="0" tIns="0" rIns="0" bIns="0" rtlCol="0" anchor="t"/>
          <a:lstStyle/>
          <a:p>
            <a:pPr indent="0" marL="0">
              <a:lnSpc>
                <a:spcPct val="100000"/>
              </a:lnSpc>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Less rain and too much water taken for farms.</a:t>
            </a:r>
            <a:endParaRPr lang="en-US" sz="4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ECO. GEOGRAPHY — FORM 2 TECH</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JUSTIFICATION</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13</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Justification of the Lesson</a:t>
            </a:r>
            <a:endParaRPr lang="en-US" sz="3600" dirty="0"/>
          </a:p>
        </p:txBody>
      </p:sp>
      <p:sp>
        <p:nvSpPr>
          <p:cNvPr id="13" name="Text 11"/>
          <p:cNvSpPr txBox="1"/>
          <p:nvPr/>
        </p:nvSpPr>
        <p:spPr>
          <a:xfrm>
            <a:off x="457200" y="1783080"/>
            <a:ext cx="11274552" cy="4663440"/>
          </a:xfrm>
          <a:prstGeom prst="rect">
            <a:avLst/>
          </a:prstGeom>
          <a:noFill/>
          <a:ln/>
        </p:spPr>
        <p:txBody>
          <a:bodyPr wrap="square" lIns="0" tIns="0" rIns="0" bIns="0" rtlCol="0" anchor="t"/>
          <a:lstStyle/>
          <a:p>
            <a:pPr indent="0" marL="0">
              <a:lnSpc>
                <a:spcPct val="100000"/>
              </a:lnSpc>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lesson helps us to know the vegetation, rivers and lakes of Africa.</a:t>
            </a:r>
            <a:endParaRPr lang="en-US" sz="4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ECO. GEOGRAPHY — FORM 2 TECH</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I. VEGETATION</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14</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a:t>
            </a:r>
            <a:endParaRPr lang="en-US" sz="3600" dirty="0"/>
          </a:p>
        </p:txBody>
      </p:sp>
      <p:pic>
        <p:nvPicPr>
          <p:cNvPr id="13" name="Image 0" descr="/home/claude/f4/img/v2/africa_vegetation_big.png">    </p:cNvPr>
          <p:cNvPicPr>
            <a:picLocks noChangeAspect="1"/>
          </p:cNvPicPr>
          <p:nvPr/>
        </p:nvPicPr>
        <p:blipFill>
          <a:blip r:embed="rId1"/>
          <a:stretch>
            <a:fillRect/>
          </a:stretch>
        </p:blipFill>
        <p:spPr>
          <a:xfrm>
            <a:off x="2071116" y="1691640"/>
            <a:ext cx="8046720" cy="4526280"/>
          </a:xfrm>
          <a:prstGeom prst="rect">
            <a:avLst/>
          </a:prstGeom>
        </p:spPr>
      </p:pic>
      <p:sp>
        <p:nvSpPr>
          <p:cNvPr id="14" name="Text 11"/>
          <p:cNvSpPr txBox="1"/>
          <p:nvPr/>
        </p:nvSpPr>
        <p:spPr>
          <a:xfrm>
            <a:off x="457200" y="6245352"/>
            <a:ext cx="11274552" cy="274320"/>
          </a:xfrm>
          <a:prstGeom prst="rect">
            <a:avLst/>
          </a:prstGeom>
          <a:noFill/>
          <a:ln/>
        </p:spPr>
        <p:txBody>
          <a:bodyPr wrap="square" lIns="0" tIns="0" rIns="0" bIns="0" rtlCol="0" anchor="ctr"/>
          <a:lstStyle/>
          <a:p>
            <a:pPr algn="ctr" indent="0" marL="0">
              <a:buNone/>
            </a:pPr>
            <a:r>
              <a:rPr lang="en-US" sz="1400" i="1" dirty="0">
                <a:solidFill>
                  <a:srgbClr val="555555"/>
                </a:solidFill>
                <a:latin typeface="Times New Roman" pitchFamily="34" charset="0"/>
                <a:ea typeface="Times New Roman" pitchFamily="34" charset="-122"/>
                <a:cs typeface="Times New Roman" pitchFamily="34" charset="-120"/>
              </a:rPr>
              <a:t>The vegetation of Africa.</a:t>
            </a:r>
            <a:endParaRPr lang="en-US" sz="14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ECO. GEOGRAPHY — FORM 2 TECH</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I. VEGETATION</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15</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Question</a:t>
            </a:r>
            <a:endParaRPr lang="en-US" sz="3600" dirty="0"/>
          </a:p>
        </p:txBody>
      </p:sp>
      <p:sp>
        <p:nvSpPr>
          <p:cNvPr id="13" name="Text 11"/>
          <p:cNvSpPr txBox="1"/>
          <p:nvPr/>
        </p:nvSpPr>
        <p:spPr>
          <a:xfrm>
            <a:off x="457200" y="1783080"/>
            <a:ext cx="11274552" cy="4663440"/>
          </a:xfrm>
          <a:prstGeom prst="rect">
            <a:avLst/>
          </a:prstGeom>
          <a:noFill/>
          <a:ln/>
        </p:spPr>
        <p:txBody>
          <a:bodyPr wrap="square" lIns="0" tIns="0" rIns="0" bIns="0" rtlCol="0" anchor="t"/>
          <a:lstStyle/>
          <a:p>
            <a:pPr indent="0" marL="0">
              <a:lnSpc>
                <a:spcPct val="100000"/>
              </a:lnSpc>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Which vegetation covers the Congo Basin? Which covers most of Africa?</a:t>
            </a:r>
            <a:endParaRPr lang="en-US" sz="4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ECO. GEOGRAPHY — FORM 2 TECH</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I. VEGETATION</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16</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13" name="Text 11"/>
          <p:cNvSpPr txBox="1"/>
          <p:nvPr/>
        </p:nvSpPr>
        <p:spPr>
          <a:xfrm>
            <a:off x="457200" y="1783080"/>
            <a:ext cx="11274552" cy="4663440"/>
          </a:xfrm>
          <a:prstGeom prst="rect">
            <a:avLst/>
          </a:prstGeom>
          <a:noFill/>
          <a:ln/>
        </p:spPr>
        <p:txBody>
          <a:bodyPr wrap="square" lIns="0" tIns="0" rIns="0" bIns="0" rtlCol="0" anchor="t"/>
          <a:lstStyle/>
          <a:p>
            <a:pPr indent="0" marL="0">
              <a:lnSpc>
                <a:spcPct val="100000"/>
              </a:lnSpc>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Rainforest in the Congo Basin; savanna in most of Africa.</a:t>
            </a:r>
            <a:endParaRPr lang="en-US" sz="40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ECO. GEOGRAPHY — FORM 2 TECH</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I. VEGETATION</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17</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a:t>
            </a:r>
            <a:endParaRPr lang="en-US" sz="3600" dirty="0"/>
          </a:p>
        </p:txBody>
      </p:sp>
      <p:pic>
        <p:nvPicPr>
          <p:cNvPr id="13" name="Image 0" descr="/home/claude/f4/img/v2/f2t_rainforest.jpg">    </p:cNvPr>
          <p:cNvPicPr>
            <a:picLocks noChangeAspect="1"/>
          </p:cNvPicPr>
          <p:nvPr/>
        </p:nvPicPr>
        <p:blipFill>
          <a:blip r:embed="rId1"/>
          <a:stretch>
            <a:fillRect/>
          </a:stretch>
        </p:blipFill>
        <p:spPr>
          <a:xfrm>
            <a:off x="2014449" y="1691640"/>
            <a:ext cx="8160054" cy="4526280"/>
          </a:xfrm>
          <a:prstGeom prst="rect">
            <a:avLst/>
          </a:prstGeom>
        </p:spPr>
      </p:pic>
      <p:sp>
        <p:nvSpPr>
          <p:cNvPr id="14" name="Text 11"/>
          <p:cNvSpPr txBox="1"/>
          <p:nvPr/>
        </p:nvSpPr>
        <p:spPr>
          <a:xfrm>
            <a:off x="457200" y="6245352"/>
            <a:ext cx="11274552" cy="274320"/>
          </a:xfrm>
          <a:prstGeom prst="rect">
            <a:avLst/>
          </a:prstGeom>
          <a:noFill/>
          <a:ln/>
        </p:spPr>
        <p:txBody>
          <a:bodyPr wrap="square" lIns="0" tIns="0" rIns="0" bIns="0" rtlCol="0" anchor="ctr"/>
          <a:lstStyle/>
          <a:p>
            <a:pPr algn="ctr" indent="0" marL="0">
              <a:buNone/>
            </a:pPr>
            <a:r>
              <a:rPr lang="en-US" sz="1400" i="1" dirty="0">
                <a:solidFill>
                  <a:srgbClr val="555555"/>
                </a:solidFill>
                <a:latin typeface="Times New Roman" pitchFamily="34" charset="0"/>
                <a:ea typeface="Times New Roman" pitchFamily="34" charset="-122"/>
                <a:cs typeface="Times New Roman" pitchFamily="34" charset="-120"/>
              </a:rPr>
              <a:t>The rainforest seen from the sky.</a:t>
            </a:r>
            <a:endParaRPr lang="en-US" sz="14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ECO. GEOGRAPHY — FORM 2 TECH</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I. VEGETATION</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18</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Question</a:t>
            </a:r>
            <a:endParaRPr lang="en-US" sz="3600" dirty="0"/>
          </a:p>
        </p:txBody>
      </p:sp>
      <p:sp>
        <p:nvSpPr>
          <p:cNvPr id="13" name="Text 11"/>
          <p:cNvSpPr txBox="1"/>
          <p:nvPr/>
        </p:nvSpPr>
        <p:spPr>
          <a:xfrm>
            <a:off x="457200" y="1783080"/>
            <a:ext cx="11274552" cy="4663440"/>
          </a:xfrm>
          <a:prstGeom prst="rect">
            <a:avLst/>
          </a:prstGeom>
          <a:noFill/>
          <a:ln/>
        </p:spPr>
        <p:txBody>
          <a:bodyPr wrap="square" lIns="0" tIns="0" rIns="0" bIns="0" rtlCol="0" anchor="t"/>
          <a:lstStyle/>
          <a:p>
            <a:pPr indent="0" marL="0">
              <a:lnSpc>
                <a:spcPct val="100000"/>
              </a:lnSpc>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is the forest so thick here?</a:t>
            </a:r>
            <a:endParaRPr lang="en-US" sz="40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ECO. GEOGRAPHY — FORM 2 TECH</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I. VEGETATION</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19</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13" name="Text 11"/>
          <p:cNvSpPr txBox="1"/>
          <p:nvPr/>
        </p:nvSpPr>
        <p:spPr>
          <a:xfrm>
            <a:off x="457200" y="1783080"/>
            <a:ext cx="11274552" cy="4663440"/>
          </a:xfrm>
          <a:prstGeom prst="rect">
            <a:avLst/>
          </a:prstGeom>
          <a:noFill/>
          <a:ln/>
        </p:spPr>
        <p:txBody>
          <a:bodyPr wrap="square" lIns="0" tIns="0" rIns="0" bIns="0" rtlCol="0" anchor="t"/>
          <a:lstStyle/>
          <a:p>
            <a:pPr indent="0" marL="0">
              <a:lnSpc>
                <a:spcPct val="100000"/>
              </a:lnSpc>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hot and wet all year near the Equator.</a:t>
            </a:r>
            <a:endParaRPr lang="en-US" sz="40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ECO. GEOGRAPHY — FORM 2 TECH</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II. DRAINAGE</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20</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a:t>
            </a:r>
            <a:endParaRPr lang="en-US" sz="3600" dirty="0"/>
          </a:p>
        </p:txBody>
      </p:sp>
      <p:pic>
        <p:nvPicPr>
          <p:cNvPr id="13" name="Image 0" descr="/home/claude/f4/img/v2/africa_drainage_big.png">    </p:cNvPr>
          <p:cNvPicPr>
            <a:picLocks noChangeAspect="1"/>
          </p:cNvPicPr>
          <p:nvPr/>
        </p:nvPicPr>
        <p:blipFill>
          <a:blip r:embed="rId1"/>
          <a:stretch>
            <a:fillRect/>
          </a:stretch>
        </p:blipFill>
        <p:spPr>
          <a:xfrm>
            <a:off x="2071116" y="1691640"/>
            <a:ext cx="8046720" cy="4526280"/>
          </a:xfrm>
          <a:prstGeom prst="rect">
            <a:avLst/>
          </a:prstGeom>
        </p:spPr>
      </p:pic>
      <p:sp>
        <p:nvSpPr>
          <p:cNvPr id="14" name="Text 11"/>
          <p:cNvSpPr txBox="1"/>
          <p:nvPr/>
        </p:nvSpPr>
        <p:spPr>
          <a:xfrm>
            <a:off x="457200" y="6245352"/>
            <a:ext cx="11274552" cy="274320"/>
          </a:xfrm>
          <a:prstGeom prst="rect">
            <a:avLst/>
          </a:prstGeom>
          <a:noFill/>
          <a:ln/>
        </p:spPr>
        <p:txBody>
          <a:bodyPr wrap="square" lIns="0" tIns="0" rIns="0" bIns="0" rtlCol="0" anchor="ctr"/>
          <a:lstStyle/>
          <a:p>
            <a:pPr algn="ctr" indent="0" marL="0">
              <a:buNone/>
            </a:pPr>
            <a:r>
              <a:rPr lang="en-US" sz="1400" i="1" dirty="0">
                <a:solidFill>
                  <a:srgbClr val="555555"/>
                </a:solidFill>
                <a:latin typeface="Times New Roman" pitchFamily="34" charset="0"/>
                <a:ea typeface="Times New Roman" pitchFamily="34" charset="-122"/>
                <a:cs typeface="Times New Roman" pitchFamily="34" charset="-120"/>
              </a:rPr>
              <a:t>The main rivers and lakes of Africa.</a:t>
            </a:r>
            <a:endParaRPr lang="en-US" sz="14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ECO. GEOGRAPHY — FORM 2 TECH</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II. DRAINAGE</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21</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Question</a:t>
            </a:r>
            <a:endParaRPr lang="en-US" sz="3600" dirty="0"/>
          </a:p>
        </p:txBody>
      </p:sp>
      <p:sp>
        <p:nvSpPr>
          <p:cNvPr id="13" name="Text 11"/>
          <p:cNvSpPr txBox="1"/>
          <p:nvPr/>
        </p:nvSpPr>
        <p:spPr>
          <a:xfrm>
            <a:off x="457200" y="1783080"/>
            <a:ext cx="11274552" cy="4663440"/>
          </a:xfrm>
          <a:prstGeom prst="rect">
            <a:avLst/>
          </a:prstGeom>
          <a:noFill/>
          <a:ln/>
        </p:spPr>
        <p:txBody>
          <a:bodyPr wrap="square" lIns="0" tIns="0" rIns="0" bIns="0" rtlCol="0" anchor="t"/>
          <a:lstStyle/>
          <a:p>
            <a:pPr indent="0" marL="0">
              <a:lnSpc>
                <a:spcPct val="100000"/>
              </a:lnSpc>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Name four big rivers of Africa.</a:t>
            </a:r>
            <a:endParaRPr lang="en-US" sz="40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ECO. GEOGRAPHY — FORM 2 TECH</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II. DRAINAGE</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22</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13" name="Text 11"/>
          <p:cNvSpPr txBox="1"/>
          <p:nvPr/>
        </p:nvSpPr>
        <p:spPr>
          <a:xfrm>
            <a:off x="457200" y="1783080"/>
            <a:ext cx="11274552" cy="4663440"/>
          </a:xfrm>
          <a:prstGeom prst="rect">
            <a:avLst/>
          </a:prstGeom>
          <a:noFill/>
          <a:ln/>
        </p:spPr>
        <p:txBody>
          <a:bodyPr wrap="square" lIns="0" tIns="0" rIns="0" bIns="0" rtlCol="0" anchor="t"/>
          <a:lstStyle/>
          <a:p>
            <a:pPr indent="0" marL="0">
              <a:lnSpc>
                <a:spcPct val="100000"/>
              </a:lnSpc>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Nile, the Congo, the Niger and the Zambezi.</a:t>
            </a:r>
            <a:endParaRPr lang="en-US" sz="40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ECO. GEOGRAPHY — FORM 2 TECH</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II. DRAINAGE</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23</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a:t>
            </a:r>
            <a:endParaRPr lang="en-US" sz="3600" dirty="0"/>
          </a:p>
        </p:txBody>
      </p:sp>
      <p:pic>
        <p:nvPicPr>
          <p:cNvPr id="13" name="Image 0" descr="/home/claude/f4/img/v2/f2t_benue.jpg">    </p:cNvPr>
          <p:cNvPicPr>
            <a:picLocks noChangeAspect="1"/>
          </p:cNvPicPr>
          <p:nvPr/>
        </p:nvPicPr>
        <p:blipFill>
          <a:blip r:embed="rId1"/>
          <a:stretch>
            <a:fillRect/>
          </a:stretch>
        </p:blipFill>
        <p:spPr>
          <a:xfrm>
            <a:off x="2014449" y="1691640"/>
            <a:ext cx="8160054" cy="4526280"/>
          </a:xfrm>
          <a:prstGeom prst="rect">
            <a:avLst/>
          </a:prstGeom>
        </p:spPr>
      </p:pic>
      <p:sp>
        <p:nvSpPr>
          <p:cNvPr id="14" name="Text 11"/>
          <p:cNvSpPr txBox="1"/>
          <p:nvPr/>
        </p:nvSpPr>
        <p:spPr>
          <a:xfrm>
            <a:off x="457200" y="6245352"/>
            <a:ext cx="11274552" cy="274320"/>
          </a:xfrm>
          <a:prstGeom prst="rect">
            <a:avLst/>
          </a:prstGeom>
          <a:noFill/>
          <a:ln/>
        </p:spPr>
        <p:txBody>
          <a:bodyPr wrap="square" lIns="0" tIns="0" rIns="0" bIns="0" rtlCol="0" anchor="ctr"/>
          <a:lstStyle/>
          <a:p>
            <a:pPr algn="ctr" indent="0" marL="0">
              <a:buNone/>
            </a:pPr>
            <a:r>
              <a:rPr lang="en-US" sz="1400" i="1" dirty="0">
                <a:solidFill>
                  <a:srgbClr val="555555"/>
                </a:solidFill>
                <a:latin typeface="Times New Roman" pitchFamily="34" charset="0"/>
                <a:ea typeface="Times New Roman" pitchFamily="34" charset="-122"/>
                <a:cs typeface="Times New Roman" pitchFamily="34" charset="-120"/>
              </a:rPr>
              <a:t>A big river of West Africa in the dry season.</a:t>
            </a:r>
            <a:endParaRPr lang="en-US" sz="14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ECO. GEOGRAPHY — FORM 2 TECH</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II. DRAINAGE</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24</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Question</a:t>
            </a:r>
            <a:endParaRPr lang="en-US" sz="3600" dirty="0"/>
          </a:p>
        </p:txBody>
      </p:sp>
      <p:sp>
        <p:nvSpPr>
          <p:cNvPr id="13" name="Text 11"/>
          <p:cNvSpPr txBox="1"/>
          <p:nvPr/>
        </p:nvSpPr>
        <p:spPr>
          <a:xfrm>
            <a:off x="457200" y="1783080"/>
            <a:ext cx="11274552" cy="4663440"/>
          </a:xfrm>
          <a:prstGeom prst="rect">
            <a:avLst/>
          </a:prstGeom>
          <a:noFill/>
          <a:ln/>
        </p:spPr>
        <p:txBody>
          <a:bodyPr wrap="square" lIns="0" tIns="0" rIns="0" bIns="0" rtlCol="0" anchor="t"/>
          <a:lstStyle/>
          <a:p>
            <a:pPr indent="0" marL="0">
              <a:lnSpc>
                <a:spcPct val="100000"/>
              </a:lnSpc>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Benue flows through Garoua. It joins which big river?</a:t>
            </a:r>
            <a:endParaRPr lang="en-US" sz="40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ECO. GEOGRAPHY — FORM 2 TECH</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II. DRAINAGE</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25</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13" name="Text 11"/>
          <p:cNvSpPr txBox="1"/>
          <p:nvPr/>
        </p:nvSpPr>
        <p:spPr>
          <a:xfrm>
            <a:off x="457200" y="1783080"/>
            <a:ext cx="11274552" cy="4663440"/>
          </a:xfrm>
          <a:prstGeom prst="rect">
            <a:avLst/>
          </a:prstGeom>
          <a:noFill/>
          <a:ln/>
        </p:spPr>
        <p:txBody>
          <a:bodyPr wrap="square" lIns="0" tIns="0" rIns="0" bIns="0" rtlCol="0" anchor="t"/>
          <a:lstStyle/>
          <a:p>
            <a:pPr indent="0" marL="0">
              <a:lnSpc>
                <a:spcPct val="100000"/>
              </a:lnSpc>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River Niger.</a:t>
            </a:r>
            <a:endParaRPr lang="en-US" sz="40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ECO. GEOGRAPHY — FORM 2 TECH</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II. DRAINAGE</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26</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a:t>
            </a:r>
            <a:endParaRPr lang="en-US" sz="3600" dirty="0"/>
          </a:p>
        </p:txBody>
      </p:sp>
      <p:pic>
        <p:nvPicPr>
          <p:cNvPr id="13" name="Image 0" descr="/home/claude/f4/img/v2/f2t_lake_chad.jpg">    </p:cNvPr>
          <p:cNvPicPr>
            <a:picLocks noChangeAspect="1"/>
          </p:cNvPicPr>
          <p:nvPr/>
        </p:nvPicPr>
        <p:blipFill>
          <a:blip r:embed="rId1"/>
          <a:stretch>
            <a:fillRect/>
          </a:stretch>
        </p:blipFill>
        <p:spPr>
          <a:xfrm>
            <a:off x="2014449" y="1691640"/>
            <a:ext cx="8160054" cy="4526280"/>
          </a:xfrm>
          <a:prstGeom prst="rect">
            <a:avLst/>
          </a:prstGeom>
        </p:spPr>
      </p:pic>
      <p:sp>
        <p:nvSpPr>
          <p:cNvPr id="14" name="Text 11"/>
          <p:cNvSpPr txBox="1"/>
          <p:nvPr/>
        </p:nvSpPr>
        <p:spPr>
          <a:xfrm>
            <a:off x="457200" y="6245352"/>
            <a:ext cx="11274552" cy="274320"/>
          </a:xfrm>
          <a:prstGeom prst="rect">
            <a:avLst/>
          </a:prstGeom>
          <a:noFill/>
          <a:ln/>
        </p:spPr>
        <p:txBody>
          <a:bodyPr wrap="square" lIns="0" tIns="0" rIns="0" bIns="0" rtlCol="0" anchor="ctr"/>
          <a:lstStyle/>
          <a:p>
            <a:pPr algn="ctr" indent="0" marL="0">
              <a:buNone/>
            </a:pPr>
            <a:r>
              <a:rPr lang="en-US" sz="1400" i="1" dirty="0">
                <a:solidFill>
                  <a:srgbClr val="555555"/>
                </a:solidFill>
                <a:latin typeface="Times New Roman" pitchFamily="34" charset="0"/>
                <a:ea typeface="Times New Roman" pitchFamily="34" charset="-122"/>
                <a:cs typeface="Times New Roman" pitchFamily="34" charset="-120"/>
              </a:rPr>
              <a:t>Lake Chad from 1963 to 2007 (maps made from satellite images).</a:t>
            </a:r>
            <a:endParaRPr lang="en-US" sz="14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ECO. GEOGRAPHY — FORM 2 TECH</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II. DRAINAGE</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27</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Question</a:t>
            </a:r>
            <a:endParaRPr lang="en-US" sz="3600" dirty="0"/>
          </a:p>
        </p:txBody>
      </p:sp>
      <p:sp>
        <p:nvSpPr>
          <p:cNvPr id="13" name="Text 11"/>
          <p:cNvSpPr txBox="1"/>
          <p:nvPr/>
        </p:nvSpPr>
        <p:spPr>
          <a:xfrm>
            <a:off x="457200" y="1783080"/>
            <a:ext cx="11274552" cy="4663440"/>
          </a:xfrm>
          <a:prstGeom prst="rect">
            <a:avLst/>
          </a:prstGeom>
          <a:noFill/>
          <a:ln/>
        </p:spPr>
        <p:txBody>
          <a:bodyPr wrap="square" lIns="0" tIns="0" rIns="0" bIns="0" rtlCol="0" anchor="t"/>
          <a:lstStyle/>
          <a:p>
            <a:pPr indent="0" marL="0">
              <a:lnSpc>
                <a:spcPct val="100000"/>
              </a:lnSpc>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has happened to Lake Chad?</a:t>
            </a:r>
            <a:endParaRPr lang="en-US" sz="40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ECO. GEOGRAPHY — FORM 2 TECH</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II. DRAINAGE</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28</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13" name="Text 11"/>
          <p:cNvSpPr txBox="1"/>
          <p:nvPr/>
        </p:nvSpPr>
        <p:spPr>
          <a:xfrm>
            <a:off x="457200" y="1783080"/>
            <a:ext cx="11274552" cy="4663440"/>
          </a:xfrm>
          <a:prstGeom prst="rect">
            <a:avLst/>
          </a:prstGeom>
          <a:noFill/>
          <a:ln/>
        </p:spPr>
        <p:txBody>
          <a:bodyPr wrap="square" lIns="0" tIns="0" rIns="0" bIns="0" rtlCol="0" anchor="t"/>
          <a:lstStyle/>
          <a:p>
            <a:pPr indent="0" marL="0">
              <a:lnSpc>
                <a:spcPct val="100000"/>
              </a:lnSpc>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has become much smaller.</a:t>
            </a:r>
            <a:endParaRPr lang="en-US" sz="40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ECO. GEOGRAPHY — FORM 2 TECH</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BOARD SUMMARY</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29</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Africa</a:t>
            </a:r>
            <a:endParaRPr lang="en-US" sz="3600" dirty="0"/>
          </a:p>
        </p:txBody>
      </p:sp>
      <p:sp>
        <p:nvSpPr>
          <p:cNvPr id="13" name="Text 11"/>
          <p:cNvSpPr txBox="1"/>
          <p:nvPr/>
        </p:nvSpPr>
        <p:spPr>
          <a:xfrm>
            <a:off x="457200" y="1783080"/>
            <a:ext cx="11274552" cy="4663440"/>
          </a:xfrm>
          <a:prstGeom prst="rect">
            <a:avLst/>
          </a:prstGeom>
          <a:noFill/>
          <a:ln/>
        </p:spPr>
        <p:txBody>
          <a:bodyPr wrap="square" lIns="0" tIns="0" rIns="0" bIns="0" rtlCol="0" anchor="t"/>
          <a:lstStyle/>
          <a:p>
            <a:pPr indent="0" marL="0">
              <a:lnSpc>
                <a:spcPct val="100000"/>
              </a:lnSpc>
              <a:spcAft>
                <a:spcPts val="800"/>
              </a:spcAft>
              <a:buNone/>
            </a:pPr>
            <a:r>
              <a:rPr lang="en-US" sz="3200" b="1" dirty="0">
                <a:solidFill>
                  <a:srgbClr val="111111"/>
                </a:solidFill>
                <a:latin typeface="Times New Roman" pitchFamily="34" charset="0"/>
                <a:ea typeface="Times New Roman" pitchFamily="34" charset="-122"/>
                <a:cs typeface="Times New Roman" pitchFamily="34" charset="-120"/>
              </a:rPr>
              <a:t>Topic: Regional Geography</a:t>
            </a:r>
            <a:endParaRPr lang="en-US" sz="3200" dirty="0"/>
          </a:p>
          <a:p>
            <a:pPr indent="0" marL="0">
              <a:lnSpc>
                <a:spcPct val="100000"/>
              </a:lnSpc>
              <a:spcAft>
                <a:spcPts val="800"/>
              </a:spcAft>
              <a:buNone/>
            </a:pPr>
            <a:r>
              <a:rPr lang="en-US" sz="3200" b="1" dirty="0">
                <a:solidFill>
                  <a:srgbClr val="111111"/>
                </a:solidFill>
                <a:latin typeface="Times New Roman" pitchFamily="34" charset="0"/>
                <a:ea typeface="Times New Roman" pitchFamily="34" charset="-122"/>
                <a:cs typeface="Times New Roman" pitchFamily="34" charset="-120"/>
              </a:rPr>
              <a:t>Sub-topic: Africa</a:t>
            </a:r>
            <a:endParaRPr lang="en-US" sz="3200" dirty="0"/>
          </a:p>
          <a:p>
            <a:pPr indent="0" marL="0">
              <a:lnSpc>
                <a:spcPct val="100000"/>
              </a:lnSpc>
              <a:spcAft>
                <a:spcPts val="800"/>
              </a:spcAft>
              <a:buNone/>
            </a:pPr>
            <a:r>
              <a:rPr lang="en-US" sz="3200" b="1" dirty="0">
                <a:solidFill>
                  <a:srgbClr val="990011"/>
                </a:solidFill>
                <a:latin typeface="Times New Roman" pitchFamily="34" charset="0"/>
                <a:ea typeface="Times New Roman" pitchFamily="34" charset="-122"/>
                <a:cs typeface="Times New Roman" pitchFamily="34" charset="-120"/>
              </a:rPr>
              <a:t>Lesson 6: Africa — Part 3: Vegetation and Drainage of Africa</a:t>
            </a:r>
            <a:endParaRPr lang="en-US" sz="32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ECO. GEOGRAPHY — FORM 2 TECH</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BOARD SUMMARY</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30</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I. Definitions</a:t>
            </a:r>
            <a:endParaRPr lang="en-US" sz="3600" dirty="0"/>
          </a:p>
        </p:txBody>
      </p:sp>
      <p:sp>
        <p:nvSpPr>
          <p:cNvPr id="13" name="Text 11"/>
          <p:cNvSpPr txBox="1"/>
          <p:nvPr/>
        </p:nvSpPr>
        <p:spPr>
          <a:xfrm>
            <a:off x="457200" y="1783080"/>
            <a:ext cx="11274552" cy="4663440"/>
          </a:xfrm>
          <a:prstGeom prst="rect">
            <a:avLst/>
          </a:prstGeom>
          <a:noFill/>
          <a:ln/>
        </p:spPr>
        <p:txBody>
          <a:bodyPr wrap="square" lIns="0" tIns="0" rIns="0" bIns="0" rtlCol="0" anchor="t"/>
          <a:lstStyle/>
          <a:p>
            <a:pPr indent="0" marL="0">
              <a:spcAft>
                <a:spcPts val="1000"/>
              </a:spcAft>
              <a:buNone/>
            </a:pPr>
            <a:r>
              <a:rPr lang="en-US" sz="4000" b="1" dirty="0">
                <a:solidFill>
                  <a:srgbClr val="990011"/>
                </a:solidFill>
                <a:latin typeface="Times New Roman" pitchFamily="34" charset="0"/>
                <a:ea typeface="Times New Roman" pitchFamily="34" charset="-122"/>
                <a:cs typeface="Times New Roman" pitchFamily="34" charset="-120"/>
              </a:rPr>
              <a:t>Vegetation: </a:t>
            </a:r>
            <a:pPr indent="0" marL="0">
              <a:spcAft>
                <a:spcPts val="1000"/>
              </a:spcAft>
              <a:buNone/>
            </a:pPr>
            <a:r>
              <a:rPr lang="en-US" sz="4000" dirty="0">
                <a:solidFill>
                  <a:srgbClr val="111111"/>
                </a:solidFill>
                <a:latin typeface="Times New Roman" pitchFamily="34" charset="0"/>
                <a:ea typeface="Times New Roman" pitchFamily="34" charset="-122"/>
                <a:cs typeface="Times New Roman" pitchFamily="34" charset="-120"/>
              </a:rPr>
              <a:t>It is all the plants of a place.</a:t>
            </a:r>
            <a:endParaRPr lang="en-US" sz="4000" dirty="0"/>
          </a:p>
          <a:p>
            <a:pPr indent="0" marL="0">
              <a:spcAft>
                <a:spcPts val="1000"/>
              </a:spcAft>
              <a:buNone/>
            </a:pPr>
            <a:r>
              <a:rPr lang="en-US" sz="4000" b="1" dirty="0">
                <a:solidFill>
                  <a:srgbClr val="990011"/>
                </a:solidFill>
                <a:latin typeface="Times New Roman" pitchFamily="34" charset="0"/>
                <a:ea typeface="Times New Roman" pitchFamily="34" charset="-122"/>
                <a:cs typeface="Times New Roman" pitchFamily="34" charset="-120"/>
              </a:rPr>
              <a:t>Drainage: </a:t>
            </a:r>
            <a:pPr indent="0" marL="0">
              <a:spcAft>
                <a:spcPts val="1000"/>
              </a:spcAft>
              <a:buNone/>
            </a:pPr>
            <a:r>
              <a:rPr lang="en-US" sz="4000" dirty="0">
                <a:solidFill>
                  <a:srgbClr val="111111"/>
                </a:solidFill>
                <a:latin typeface="Times New Roman" pitchFamily="34" charset="0"/>
                <a:ea typeface="Times New Roman" pitchFamily="34" charset="-122"/>
                <a:cs typeface="Times New Roman" pitchFamily="34" charset="-120"/>
              </a:rPr>
              <a:t>It is all the rivers and lakes of a place.</a:t>
            </a:r>
            <a:endParaRPr lang="en-US" sz="4000" dirty="0"/>
          </a:p>
          <a:p>
            <a:pPr indent="0" marL="0">
              <a:spcAft>
                <a:spcPts val="1000"/>
              </a:spcAft>
              <a:buNone/>
            </a:pPr>
            <a:r>
              <a:rPr lang="en-US" sz="4000" b="1" dirty="0">
                <a:solidFill>
                  <a:srgbClr val="990011"/>
                </a:solidFill>
                <a:latin typeface="Times New Roman" pitchFamily="34" charset="0"/>
                <a:ea typeface="Times New Roman" pitchFamily="34" charset="-122"/>
                <a:cs typeface="Times New Roman" pitchFamily="34" charset="-120"/>
              </a:rPr>
              <a:t>Tributary: </a:t>
            </a:r>
            <a:pPr indent="0" marL="0">
              <a:spcAft>
                <a:spcPts val="1000"/>
              </a:spcAft>
              <a:buNone/>
            </a:pPr>
            <a:r>
              <a:rPr lang="en-US" sz="4000" dirty="0">
                <a:solidFill>
                  <a:srgbClr val="111111"/>
                </a:solidFill>
                <a:latin typeface="Times New Roman" pitchFamily="34" charset="0"/>
                <a:ea typeface="Times New Roman" pitchFamily="34" charset="-122"/>
                <a:cs typeface="Times New Roman" pitchFamily="34" charset="-120"/>
              </a:rPr>
              <a:t>It is a river that joins a bigger river.</a:t>
            </a:r>
            <a:endParaRPr lang="en-US" sz="40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ECO. GEOGRAPHY — FORM 2 TECH</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BOARD SUMMARY</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31</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II. Vegetation (1/2)</a:t>
            </a:r>
            <a:endParaRPr lang="en-US" sz="3600" dirty="0"/>
          </a:p>
        </p:txBody>
      </p:sp>
      <p:sp>
        <p:nvSpPr>
          <p:cNvPr id="13" name="Text 11"/>
          <p:cNvSpPr txBox="1"/>
          <p:nvPr/>
        </p:nvSpPr>
        <p:spPr>
          <a:xfrm>
            <a:off x="457200" y="1783080"/>
            <a:ext cx="11274552" cy="4663440"/>
          </a:xfrm>
          <a:prstGeom prst="rect">
            <a:avLst/>
          </a:prstGeom>
          <a:noFill/>
          <a:ln/>
        </p:spPr>
        <p:txBody>
          <a:bodyPr wrap="square" lIns="0" tIns="0" rIns="0" bIns="0" rtlCol="0" anchor="t"/>
          <a:lstStyle/>
          <a:p>
            <a:pPr indent="0" marL="0">
              <a:spcAft>
                <a:spcPts val="1000"/>
              </a:spcAft>
              <a:buNone/>
            </a:pPr>
            <a:r>
              <a:rPr lang="en-US" sz="4000" b="1" dirty="0">
                <a:solidFill>
                  <a:srgbClr val="990011"/>
                </a:solidFill>
                <a:latin typeface="Times New Roman" pitchFamily="34" charset="0"/>
                <a:ea typeface="Times New Roman" pitchFamily="34" charset="-122"/>
                <a:cs typeface="Times New Roman" pitchFamily="34" charset="-120"/>
              </a:rPr>
              <a:t>A. Rainforest: </a:t>
            </a:r>
            <a:pPr indent="0" marL="0">
              <a:spcAft>
                <a:spcPts val="1000"/>
              </a:spcAft>
              <a:buNone/>
            </a:pPr>
            <a:r>
              <a:rPr lang="en-US" sz="4000" dirty="0">
                <a:solidFill>
                  <a:srgbClr val="111111"/>
                </a:solidFill>
                <a:latin typeface="Times New Roman" pitchFamily="34" charset="0"/>
                <a:ea typeface="Times New Roman" pitchFamily="34" charset="-122"/>
                <a:cs typeface="Times New Roman" pitchFamily="34" charset="-120"/>
              </a:rPr>
              <a:t>Congo Basin and southern Cameroon.</a:t>
            </a:r>
            <a:endParaRPr lang="en-US" sz="4000" dirty="0"/>
          </a:p>
          <a:p>
            <a:pPr indent="0" marL="0">
              <a:spcAft>
                <a:spcPts val="1000"/>
              </a:spcAft>
              <a:buNone/>
            </a:pPr>
            <a:r>
              <a:rPr lang="en-US" sz="4000" b="1" dirty="0">
                <a:solidFill>
                  <a:srgbClr val="990011"/>
                </a:solidFill>
                <a:latin typeface="Times New Roman" pitchFamily="34" charset="0"/>
                <a:ea typeface="Times New Roman" pitchFamily="34" charset="-122"/>
                <a:cs typeface="Times New Roman" pitchFamily="34" charset="-120"/>
              </a:rPr>
              <a:t>B. Savanna: </a:t>
            </a:r>
            <a:pPr indent="0" marL="0">
              <a:spcAft>
                <a:spcPts val="1000"/>
              </a:spcAft>
              <a:buNone/>
            </a:pPr>
            <a:r>
              <a:rPr lang="en-US" sz="4000" dirty="0">
                <a:solidFill>
                  <a:srgbClr val="111111"/>
                </a:solidFill>
                <a:latin typeface="Times New Roman" pitchFamily="34" charset="0"/>
                <a:ea typeface="Times New Roman" pitchFamily="34" charset="-122"/>
                <a:cs typeface="Times New Roman" pitchFamily="34" charset="-120"/>
              </a:rPr>
              <a:t>It covers most of Africa.</a:t>
            </a:r>
            <a:endParaRPr lang="en-US" sz="4000" dirty="0"/>
          </a:p>
          <a:p>
            <a:pPr indent="0" marL="0">
              <a:spcAft>
                <a:spcPts val="1000"/>
              </a:spcAft>
              <a:buNone/>
            </a:pPr>
            <a:r>
              <a:rPr lang="en-US" sz="4000" b="1" dirty="0">
                <a:solidFill>
                  <a:srgbClr val="990011"/>
                </a:solidFill>
                <a:latin typeface="Times New Roman" pitchFamily="34" charset="0"/>
                <a:ea typeface="Times New Roman" pitchFamily="34" charset="-122"/>
                <a:cs typeface="Times New Roman" pitchFamily="34" charset="-120"/>
              </a:rPr>
              <a:t>C. Semi-desert and desert: </a:t>
            </a:r>
            <a:pPr indent="0" marL="0">
              <a:spcAft>
                <a:spcPts val="1000"/>
              </a:spcAft>
              <a:buNone/>
            </a:pPr>
            <a:r>
              <a:rPr lang="en-US" sz="4000" dirty="0">
                <a:solidFill>
                  <a:srgbClr val="111111"/>
                </a:solidFill>
                <a:latin typeface="Times New Roman" pitchFamily="34" charset="0"/>
                <a:ea typeface="Times New Roman" pitchFamily="34" charset="-122"/>
                <a:cs typeface="Times New Roman" pitchFamily="34" charset="-120"/>
              </a:rPr>
              <a:t>Thorny bushes or no plants.</a:t>
            </a:r>
            <a:endParaRPr lang="en-US" sz="4000" dirty="0"/>
          </a:p>
          <a:p>
            <a:pPr indent="0" marL="0">
              <a:spcAft>
                <a:spcPts val="1000"/>
              </a:spcAft>
              <a:buNone/>
            </a:pPr>
            <a:r>
              <a:rPr lang="en-US" sz="4000" b="1" dirty="0">
                <a:solidFill>
                  <a:srgbClr val="990011"/>
                </a:solidFill>
                <a:latin typeface="Times New Roman" pitchFamily="34" charset="0"/>
                <a:ea typeface="Times New Roman" pitchFamily="34" charset="-122"/>
                <a:cs typeface="Times New Roman" pitchFamily="34" charset="-120"/>
              </a:rPr>
              <a:t>D. Mediterranean: </a:t>
            </a:r>
            <a:pPr indent="0" marL="0">
              <a:spcAft>
                <a:spcPts val="1000"/>
              </a:spcAft>
              <a:buNone/>
            </a:pPr>
            <a:r>
              <a:rPr lang="en-US" sz="4000" dirty="0">
                <a:solidFill>
                  <a:srgbClr val="111111"/>
                </a:solidFill>
                <a:latin typeface="Times New Roman" pitchFamily="34" charset="0"/>
                <a:ea typeface="Times New Roman" pitchFamily="34" charset="-122"/>
                <a:cs typeface="Times New Roman" pitchFamily="34" charset="-120"/>
              </a:rPr>
              <a:t>Bushes in the far north and south.</a:t>
            </a:r>
            <a:endParaRPr lang="en-US" sz="40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ECO. GEOGRAPHY — FORM 2 TECH</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BOARD SUMMARY</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32</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II. Vegetation (2/2)</a:t>
            </a:r>
            <a:endParaRPr lang="en-US" sz="3600" dirty="0"/>
          </a:p>
        </p:txBody>
      </p:sp>
      <p:pic>
        <p:nvPicPr>
          <p:cNvPr id="13" name="Image 0" descr="/home/claude/f4/img/v2/africa_vegetation_big.png">    </p:cNvPr>
          <p:cNvPicPr>
            <a:picLocks noChangeAspect="1"/>
          </p:cNvPicPr>
          <p:nvPr/>
        </p:nvPicPr>
        <p:blipFill>
          <a:blip r:embed="rId1"/>
          <a:stretch>
            <a:fillRect/>
          </a:stretch>
        </p:blipFill>
        <p:spPr>
          <a:xfrm>
            <a:off x="2071116" y="1691640"/>
            <a:ext cx="8046720" cy="4526280"/>
          </a:xfrm>
          <a:prstGeom prst="rect">
            <a:avLst/>
          </a:prstGeom>
        </p:spPr>
      </p:pic>
      <p:sp>
        <p:nvSpPr>
          <p:cNvPr id="14" name="Text 11"/>
          <p:cNvSpPr txBox="1"/>
          <p:nvPr/>
        </p:nvSpPr>
        <p:spPr>
          <a:xfrm>
            <a:off x="457200" y="6245352"/>
            <a:ext cx="11274552" cy="274320"/>
          </a:xfrm>
          <a:prstGeom prst="rect">
            <a:avLst/>
          </a:prstGeom>
          <a:noFill/>
          <a:ln/>
        </p:spPr>
        <p:txBody>
          <a:bodyPr wrap="square" lIns="0" tIns="0" rIns="0" bIns="0" rtlCol="0" anchor="ctr"/>
          <a:lstStyle/>
          <a:p>
            <a:pPr algn="ctr" indent="0" marL="0">
              <a:buNone/>
            </a:pPr>
            <a:r>
              <a:rPr lang="en-US" sz="1400" i="1" dirty="0">
                <a:solidFill>
                  <a:srgbClr val="555555"/>
                </a:solidFill>
                <a:latin typeface="Times New Roman" pitchFamily="34" charset="0"/>
                <a:ea typeface="Times New Roman" pitchFamily="34" charset="-122"/>
                <a:cs typeface="Times New Roman" pitchFamily="34" charset="-120"/>
              </a:rPr>
              <a:t>Copy the main vegetation zones.</a:t>
            </a:r>
            <a:endParaRPr lang="en-US" sz="14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ECO. GEOGRAPHY — FORM 2 TECH</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BOARD SUMMARY</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33</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III. Drainage</a:t>
            </a:r>
            <a:endParaRPr lang="en-US" sz="3600" dirty="0"/>
          </a:p>
        </p:txBody>
      </p:sp>
      <p:sp>
        <p:nvSpPr>
          <p:cNvPr id="13" name="Text 11"/>
          <p:cNvSpPr txBox="1"/>
          <p:nvPr/>
        </p:nvSpPr>
        <p:spPr>
          <a:xfrm>
            <a:off x="457200" y="1783080"/>
            <a:ext cx="11274552" cy="4663440"/>
          </a:xfrm>
          <a:prstGeom prst="rect">
            <a:avLst/>
          </a:prstGeom>
          <a:noFill/>
          <a:ln/>
        </p:spPr>
        <p:txBody>
          <a:bodyPr wrap="square" lIns="0" tIns="0" rIns="0" bIns="0" rtlCol="0" anchor="t"/>
          <a:lstStyle/>
          <a:p>
            <a:pPr indent="0" marL="0">
              <a:spcAft>
                <a:spcPts val="1000"/>
              </a:spcAft>
              <a:buNone/>
            </a:pPr>
            <a:r>
              <a:rPr lang="en-US" sz="4000" b="1" dirty="0">
                <a:solidFill>
                  <a:srgbClr val="990011"/>
                </a:solidFill>
                <a:latin typeface="Times New Roman" pitchFamily="34" charset="0"/>
                <a:ea typeface="Times New Roman" pitchFamily="34" charset="-122"/>
                <a:cs typeface="Times New Roman" pitchFamily="34" charset="-120"/>
              </a:rPr>
              <a:t>A. The Nile: </a:t>
            </a:r>
            <a:pPr indent="0" marL="0">
              <a:spcAft>
                <a:spcPts val="1000"/>
              </a:spcAft>
              <a:buNone/>
            </a:pPr>
            <a:r>
              <a:rPr lang="en-US" sz="4000" dirty="0">
                <a:solidFill>
                  <a:srgbClr val="111111"/>
                </a:solidFill>
                <a:latin typeface="Times New Roman" pitchFamily="34" charset="0"/>
                <a:ea typeface="Times New Roman" pitchFamily="34" charset="-122"/>
                <a:cs typeface="Times New Roman" pitchFamily="34" charset="-120"/>
              </a:rPr>
              <a:t>The longest river; it flows to the Mediterranean.</a:t>
            </a:r>
            <a:endParaRPr lang="en-US" sz="4000" dirty="0"/>
          </a:p>
          <a:p>
            <a:pPr indent="0" marL="0">
              <a:spcAft>
                <a:spcPts val="1000"/>
              </a:spcAft>
              <a:buNone/>
            </a:pPr>
            <a:r>
              <a:rPr lang="en-US" sz="4000" b="1" dirty="0">
                <a:solidFill>
                  <a:srgbClr val="990011"/>
                </a:solidFill>
                <a:latin typeface="Times New Roman" pitchFamily="34" charset="0"/>
                <a:ea typeface="Times New Roman" pitchFamily="34" charset="-122"/>
                <a:cs typeface="Times New Roman" pitchFamily="34" charset="-120"/>
              </a:rPr>
              <a:t>B. The Congo: </a:t>
            </a:r>
            <a:pPr indent="0" marL="0">
              <a:spcAft>
                <a:spcPts val="1000"/>
              </a:spcAft>
              <a:buNone/>
            </a:pPr>
            <a:r>
              <a:rPr lang="en-US" sz="4000" dirty="0">
                <a:solidFill>
                  <a:srgbClr val="111111"/>
                </a:solidFill>
                <a:latin typeface="Times New Roman" pitchFamily="34" charset="0"/>
                <a:ea typeface="Times New Roman" pitchFamily="34" charset="-122"/>
                <a:cs typeface="Times New Roman" pitchFamily="34" charset="-120"/>
              </a:rPr>
              <a:t>It carries the most water.</a:t>
            </a:r>
            <a:endParaRPr lang="en-US" sz="4000" dirty="0"/>
          </a:p>
          <a:p>
            <a:pPr indent="0" marL="0">
              <a:spcAft>
                <a:spcPts val="1000"/>
              </a:spcAft>
              <a:buNone/>
            </a:pPr>
            <a:r>
              <a:rPr lang="en-US" sz="4000" b="1" dirty="0">
                <a:solidFill>
                  <a:srgbClr val="990011"/>
                </a:solidFill>
                <a:latin typeface="Times New Roman" pitchFamily="34" charset="0"/>
                <a:ea typeface="Times New Roman" pitchFamily="34" charset="-122"/>
                <a:cs typeface="Times New Roman" pitchFamily="34" charset="-120"/>
              </a:rPr>
              <a:t>C. The Niger: </a:t>
            </a:r>
            <a:pPr indent="0" marL="0">
              <a:spcAft>
                <a:spcPts val="1000"/>
              </a:spcAft>
              <a:buNone/>
            </a:pPr>
            <a:r>
              <a:rPr lang="en-US" sz="4000" dirty="0">
                <a:solidFill>
                  <a:srgbClr val="111111"/>
                </a:solidFill>
                <a:latin typeface="Times New Roman" pitchFamily="34" charset="0"/>
                <a:ea typeface="Times New Roman" pitchFamily="34" charset="-122"/>
                <a:cs typeface="Times New Roman" pitchFamily="34" charset="-120"/>
              </a:rPr>
              <a:t>The Benue joins it.</a:t>
            </a:r>
            <a:endParaRPr lang="en-US" sz="4000" dirty="0"/>
          </a:p>
          <a:p>
            <a:pPr indent="0" marL="0">
              <a:spcAft>
                <a:spcPts val="1000"/>
              </a:spcAft>
              <a:buNone/>
            </a:pPr>
            <a:r>
              <a:rPr lang="en-US" sz="4000" b="1" dirty="0">
                <a:solidFill>
                  <a:srgbClr val="990011"/>
                </a:solidFill>
                <a:latin typeface="Times New Roman" pitchFamily="34" charset="0"/>
                <a:ea typeface="Times New Roman" pitchFamily="34" charset="-122"/>
                <a:cs typeface="Times New Roman" pitchFamily="34" charset="-120"/>
              </a:rPr>
              <a:t>D. Lakes: </a:t>
            </a:r>
            <a:pPr indent="0" marL="0">
              <a:spcAft>
                <a:spcPts val="1000"/>
              </a:spcAft>
              <a:buNone/>
            </a:pPr>
            <a:r>
              <a:rPr lang="en-US" sz="4000" dirty="0">
                <a:solidFill>
                  <a:srgbClr val="111111"/>
                </a:solidFill>
                <a:latin typeface="Times New Roman" pitchFamily="34" charset="0"/>
                <a:ea typeface="Times New Roman" pitchFamily="34" charset="-122"/>
                <a:cs typeface="Times New Roman" pitchFamily="34" charset="-120"/>
              </a:rPr>
              <a:t>Victoria is the largest; Chad is shrinking.</a:t>
            </a:r>
            <a:endParaRPr lang="en-US" sz="4000" dirty="0"/>
          </a:p>
          <a:p>
            <a:pPr indent="0" marL="0">
              <a:spcAft>
                <a:spcPts val="1000"/>
              </a:spcAft>
              <a:buNone/>
            </a:pPr>
            <a:r>
              <a:rPr lang="en-US" sz="4000" b="1" dirty="0">
                <a:solidFill>
                  <a:srgbClr val="990011"/>
                </a:solidFill>
                <a:latin typeface="Times New Roman" pitchFamily="34" charset="0"/>
                <a:ea typeface="Times New Roman" pitchFamily="34" charset="-122"/>
                <a:cs typeface="Times New Roman" pitchFamily="34" charset="-120"/>
              </a:rPr>
              <a:t>E. Uses: </a:t>
            </a:r>
            <a:pPr indent="0" marL="0">
              <a:spcAft>
                <a:spcPts val="1000"/>
              </a:spcAft>
              <a:buNone/>
            </a:pPr>
            <a:r>
              <a:rPr lang="en-US" sz="4000" dirty="0">
                <a:solidFill>
                  <a:srgbClr val="111111"/>
                </a:solidFill>
                <a:latin typeface="Times New Roman" pitchFamily="34" charset="0"/>
                <a:ea typeface="Times New Roman" pitchFamily="34" charset="-122"/>
                <a:cs typeface="Times New Roman" pitchFamily="34" charset="-120"/>
              </a:rPr>
              <a:t>Fishing, irrigation and electricity.</a:t>
            </a:r>
            <a:endParaRPr lang="en-US" sz="40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ECO. GEOGRAPHY — FORM 2 TECH</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FORMATIVE EVALUATION</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34</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Formative Evaluation 1</a:t>
            </a:r>
            <a:endParaRPr lang="en-US" sz="3600" dirty="0"/>
          </a:p>
        </p:txBody>
      </p:sp>
      <p:sp>
        <p:nvSpPr>
          <p:cNvPr id="13" name="Text 11"/>
          <p:cNvSpPr txBox="1"/>
          <p:nvPr/>
        </p:nvSpPr>
        <p:spPr>
          <a:xfrm>
            <a:off x="457200" y="1783080"/>
            <a:ext cx="11274552" cy="4663440"/>
          </a:xfrm>
          <a:prstGeom prst="rect">
            <a:avLst/>
          </a:prstGeom>
          <a:noFill/>
          <a:ln/>
        </p:spPr>
        <p:txBody>
          <a:bodyPr wrap="square" lIns="0" tIns="0" rIns="0" bIns="0" rtlCol="0" anchor="t"/>
          <a:lstStyle/>
          <a:p>
            <a:pPr indent="0" marL="0">
              <a:lnSpc>
                <a:spcPct val="100000"/>
              </a:lnSpc>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Which vegetation covers most of Africa?</a:t>
            </a:r>
            <a:endParaRPr lang="en-US" sz="40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ECO. GEOGRAPHY — FORM 2 TECH</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FORMATIVE EVALUATION</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35</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13" name="Text 11"/>
          <p:cNvSpPr txBox="1"/>
          <p:nvPr/>
        </p:nvSpPr>
        <p:spPr>
          <a:xfrm>
            <a:off x="457200" y="1783080"/>
            <a:ext cx="11274552" cy="4663440"/>
          </a:xfrm>
          <a:prstGeom prst="rect">
            <a:avLst/>
          </a:prstGeom>
          <a:noFill/>
          <a:ln/>
        </p:spPr>
        <p:txBody>
          <a:bodyPr wrap="square" lIns="0" tIns="0" rIns="0" bIns="0" rtlCol="0" anchor="t"/>
          <a:lstStyle/>
          <a:p>
            <a:pPr indent="0" marL="0">
              <a:lnSpc>
                <a:spcPct val="100000"/>
              </a:lnSpc>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savanna.</a:t>
            </a:r>
            <a:endParaRPr lang="en-US" sz="40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ECO. GEOGRAPHY — FORM 2 TECH</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FORMATIVE EVALUATION</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36</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Formative Evaluation 2</a:t>
            </a:r>
            <a:endParaRPr lang="en-US" sz="3600" dirty="0"/>
          </a:p>
        </p:txBody>
      </p:sp>
      <p:sp>
        <p:nvSpPr>
          <p:cNvPr id="13" name="Text 11"/>
          <p:cNvSpPr txBox="1"/>
          <p:nvPr/>
        </p:nvSpPr>
        <p:spPr>
          <a:xfrm>
            <a:off x="457200" y="1783080"/>
            <a:ext cx="11274552" cy="4663440"/>
          </a:xfrm>
          <a:prstGeom prst="rect">
            <a:avLst/>
          </a:prstGeom>
          <a:noFill/>
          <a:ln/>
        </p:spPr>
        <p:txBody>
          <a:bodyPr wrap="square" lIns="0" tIns="0" rIns="0" bIns="0" rtlCol="0" anchor="t"/>
          <a:lstStyle/>
          <a:p>
            <a:pPr indent="0" marL="0">
              <a:lnSpc>
                <a:spcPct val="100000"/>
              </a:lnSpc>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Benue is a tributary of which river?</a:t>
            </a:r>
            <a:endParaRPr lang="en-US" sz="40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ECO. GEOGRAPHY — FORM 2 TECH</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FORMATIVE EVALUATION</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37</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13" name="Text 11"/>
          <p:cNvSpPr txBox="1"/>
          <p:nvPr/>
        </p:nvSpPr>
        <p:spPr>
          <a:xfrm>
            <a:off x="457200" y="1783080"/>
            <a:ext cx="11274552" cy="4663440"/>
          </a:xfrm>
          <a:prstGeom prst="rect">
            <a:avLst/>
          </a:prstGeom>
          <a:noFill/>
          <a:ln/>
        </p:spPr>
        <p:txBody>
          <a:bodyPr wrap="square" lIns="0" tIns="0" rIns="0" bIns="0" rtlCol="0" anchor="t"/>
          <a:lstStyle/>
          <a:p>
            <a:pPr indent="0" marL="0">
              <a:lnSpc>
                <a:spcPct val="100000"/>
              </a:lnSpc>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Niger.</a:t>
            </a:r>
            <a:endParaRPr lang="en-US" sz="40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ECO. GEOGRAPHY — FORM 2 TECH</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REMEDIATION</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38</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a:t>
            </a:r>
            <a:endParaRPr lang="en-US" sz="3600" dirty="0"/>
          </a:p>
        </p:txBody>
      </p:sp>
      <p:sp>
        <p:nvSpPr>
          <p:cNvPr id="13" name="Text 11"/>
          <p:cNvSpPr txBox="1"/>
          <p:nvPr/>
        </p:nvSpPr>
        <p:spPr>
          <a:xfrm>
            <a:off x="457200" y="1783080"/>
            <a:ext cx="11274552" cy="4663440"/>
          </a:xfrm>
          <a:prstGeom prst="rect">
            <a:avLst/>
          </a:prstGeom>
          <a:noFill/>
          <a:ln/>
        </p:spPr>
        <p:txBody>
          <a:bodyPr wrap="square" lIns="0" tIns="0" rIns="0" bIns="0" rtlCol="0" anchor="t"/>
          <a:lstStyle/>
          <a:p>
            <a:pPr indent="0" marL="0">
              <a:lnSpc>
                <a:spcPct val="100000"/>
              </a:lnSpc>
              <a:spcAft>
                <a:spcPts val="800"/>
              </a:spcAft>
              <a:buNone/>
            </a:pPr>
            <a:r>
              <a:rPr lang="en-US" sz="3600" b="1" dirty="0">
                <a:solidFill>
                  <a:srgbClr val="111111"/>
                </a:solidFill>
                <a:latin typeface="Times New Roman" pitchFamily="34" charset="0"/>
                <a:ea typeface="Times New Roman" pitchFamily="34" charset="-122"/>
                <a:cs typeface="Times New Roman" pitchFamily="34" charset="-120"/>
              </a:rPr>
              <a:t>Fill in the blanks:</a:t>
            </a:r>
            <a:endParaRPr lang="en-US" sz="3600" dirty="0"/>
          </a:p>
          <a:p>
            <a:pPr marL="342900" indent="-342900">
              <a:lnSpc>
                <a:spcPct val="100000"/>
              </a:lnSpc>
              <a:spcAft>
                <a:spcPts val="800"/>
              </a:spcAft>
              <a:buSzPct val="100000"/>
              <a:buFont typeface="+mj-lt"/>
              <a:buAutoNum type="arabicPeriod" startAt="1"/>
            </a:pPr>
            <a:r>
              <a:rPr lang="en-US" sz="3600" dirty="0">
                <a:solidFill>
                  <a:srgbClr val="111111"/>
                </a:solidFill>
                <a:latin typeface="Times New Roman" pitchFamily="34" charset="0"/>
                <a:ea typeface="Times New Roman" pitchFamily="34" charset="-122"/>
                <a:cs typeface="Times New Roman" pitchFamily="34" charset="-120"/>
              </a:rPr>
              <a:t>The longest river of Africa is the ______.</a:t>
            </a:r>
            <a:endParaRPr lang="en-US" sz="3600" dirty="0"/>
          </a:p>
          <a:p>
            <a:pPr marL="342900" indent="-342900">
              <a:lnSpc>
                <a:spcPct val="100000"/>
              </a:lnSpc>
              <a:spcAft>
                <a:spcPts val="800"/>
              </a:spcAft>
              <a:buSzPct val="100000"/>
              <a:buFont typeface="+mj-lt"/>
              <a:buAutoNum type="arabicPeriod" startAt="1"/>
            </a:pPr>
            <a:r>
              <a:rPr lang="en-US" sz="3600" dirty="0">
                <a:solidFill>
                  <a:srgbClr val="111111"/>
                </a:solidFill>
                <a:latin typeface="Times New Roman" pitchFamily="34" charset="0"/>
                <a:ea typeface="Times New Roman" pitchFamily="34" charset="-122"/>
                <a:cs typeface="Times New Roman" pitchFamily="34" charset="-120"/>
              </a:rPr>
              <a:t>A river that joins a bigger river is a ______.</a:t>
            </a:r>
            <a:endParaRPr lang="en-US" sz="3600" dirty="0"/>
          </a:p>
          <a:p>
            <a:pPr marL="342900" indent="-342900">
              <a:lnSpc>
                <a:spcPct val="100000"/>
              </a:lnSpc>
              <a:spcAft>
                <a:spcPts val="800"/>
              </a:spcAft>
              <a:buSzPct val="100000"/>
              <a:buFont typeface="+mj-lt"/>
              <a:buAutoNum type="arabicPeriod" startAt="1"/>
            </a:pPr>
            <a:r>
              <a:rPr lang="en-US" sz="3600" dirty="0">
                <a:solidFill>
                  <a:srgbClr val="111111"/>
                </a:solidFill>
                <a:latin typeface="Times New Roman" pitchFamily="34" charset="0"/>
                <a:ea typeface="Times New Roman" pitchFamily="34" charset="-122"/>
                <a:cs typeface="Times New Roman" pitchFamily="34" charset="-120"/>
              </a:rPr>
              <a:t>The lake north of Cameroon that is shrinking is Lake ______.</a:t>
            </a:r>
            <a:endParaRPr lang="en-US" sz="36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ECO. GEOGRAPHY — FORM 2 TECH</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HOMEWORK</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39</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Homework</a:t>
            </a:r>
            <a:endParaRPr lang="en-US" sz="3600" dirty="0"/>
          </a:p>
        </p:txBody>
      </p:sp>
      <p:sp>
        <p:nvSpPr>
          <p:cNvPr id="13" name="Text 11"/>
          <p:cNvSpPr txBox="1"/>
          <p:nvPr/>
        </p:nvSpPr>
        <p:spPr>
          <a:xfrm>
            <a:off x="457200" y="1783080"/>
            <a:ext cx="11274552" cy="4663440"/>
          </a:xfrm>
          <a:prstGeom prst="rect">
            <a:avLst/>
          </a:prstGeom>
          <a:noFill/>
          <a:ln/>
        </p:spPr>
        <p:txBody>
          <a:bodyPr wrap="square" lIns="0" tIns="0" rIns="0" bIns="0" rtlCol="0" anchor="t"/>
          <a:lstStyle/>
          <a:p>
            <a:pPr indent="0" marL="0">
              <a:lnSpc>
                <a:spcPct val="100000"/>
              </a:lnSpc>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Revise Lesson 6 on Africa. Draw a simple map of Africa and mark the Equator, the Nile, the Congo, the Niger, Lake Victoria and Cameroon.</a:t>
            </a:r>
            <a:endParaRPr lang="en-US" sz="4000" dirty="0"/>
          </a:p>
          <a:p>
            <a:pPr indent="0" marL="0">
              <a:lnSpc>
                <a:spcPct val="100000"/>
              </a:lnSpc>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This closes the Form 2 Technical programme.</a:t>
            </a:r>
            <a:endParaRPr lang="en-US" sz="40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ECO. GEOGRAPHY — FORM 2 TECH</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BILINGUAL GAME</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40</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000" b="1" dirty="0">
                <a:solidFill>
                  <a:srgbClr val="990011"/>
                </a:solidFill>
                <a:latin typeface="Cambria" pitchFamily="34" charset="0"/>
                <a:ea typeface="Cambria" pitchFamily="34" charset="-122"/>
                <a:cs typeface="Cambria" pitchFamily="34" charset="-120"/>
              </a:rPr>
              <a:t>Bilingual Game (Jeu Bilingue)</a:t>
            </a:r>
            <a:endParaRPr lang="en-US" sz="3000" dirty="0"/>
          </a:p>
        </p:txBody>
      </p:sp>
      <p:graphicFrame>
        <p:nvGraphicFramePr>
          <p:cNvPr id="41" name="Table 0"/>
          <p:cNvGraphicFramePr>
            <a:graphicFrameLocks noGrp="1"/>
          </p:cNvGraphicFramePr>
          <p:nvPr>
            <p:extLst>
              <p:ext uri="{D42A27DB-BD31-4B8C-83A1-F6EECF244321}">
                <p14:modId xmlns:p14="http://schemas.microsoft.com/office/powerpoint/2010/main" val="1579011935"/>
              </p:ext>
            </p:extLst>
          </p:nvPr>
        </p:nvGraphicFramePr>
        <p:xfrm>
          <a:off x="2011680" y="1783080"/>
          <a:ext cx="8138160" cy="914400"/>
        </p:xfrm>
        <a:graphic>
          <a:graphicData uri="http://schemas.openxmlformats.org/drawingml/2006/table">
            <a:tbl>
              <a:tblPr/>
              <a:tblGrid>
                <a:gridCol w="4069080"/>
                <a:gridCol w="4069080"/>
              </a:tblGrid>
              <a:tr h="0">
                <a:tc>
                  <a:txBody>
                    <a:bodyPr/>
                    <a:lstStyle/>
                    <a:p>
                      <a:pPr algn="ctr" indent="0" marL="0">
                        <a:buNone/>
                      </a:pPr>
                      <a:r>
                        <a:rPr lang="en-US" sz="1800" b="1" dirty="0">
                          <a:solidFill>
                            <a:srgbClr val="FFFFFF"/>
                          </a:solidFill>
                          <a:latin typeface="Calibri" pitchFamily="34" charset="0"/>
                          <a:ea typeface="Calibri" pitchFamily="34" charset="-122"/>
                          <a:cs typeface="Calibri" pitchFamily="34" charset="-120"/>
                        </a:rPr>
                        <a:t>English</a:t>
                      </a:r>
                      <a:endParaRPr lang="en-US" sz="1800" dirty="0">
                        <a:latin typeface="Calibri" charset="0"/>
                        <a:ea typeface="Calibri" charset="0"/>
                        <a:cs typeface="Calibri" charset="0"/>
                      </a:endParaRPr>
                    </a:p>
                  </a:txBody>
                  <a:tcPr marL="54864" marR="54864" marT="54864" marB="54864">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c>
                  <a:txBody>
                    <a:bodyPr/>
                    <a:lstStyle/>
                    <a:p>
                      <a:pPr algn="ctr" indent="0" marL="0">
                        <a:buNone/>
                      </a:pPr>
                      <a:r>
                        <a:rPr lang="en-US" sz="1800" b="1" dirty="0">
                          <a:solidFill>
                            <a:srgbClr val="FFFFFF"/>
                          </a:solidFill>
                          <a:latin typeface="Calibri" pitchFamily="34" charset="0"/>
                          <a:ea typeface="Calibri" pitchFamily="34" charset="-122"/>
                          <a:cs typeface="Calibri" pitchFamily="34" charset="-120"/>
                        </a:rPr>
                        <a:t>Français</a:t>
                      </a:r>
                      <a:endParaRPr lang="en-US" sz="1800" dirty="0">
                        <a:latin typeface="Calibri" charset="0"/>
                        <a:ea typeface="Calibri" charset="0"/>
                        <a:cs typeface="Calibri" charset="0"/>
                      </a:endParaRPr>
                    </a:p>
                  </a:txBody>
                  <a:tcPr marL="54864" marR="54864" marT="54864" marB="54864">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r>
              <a:tr h="0">
                <a:tc>
                  <a:txBody>
                    <a:bodyPr/>
                    <a:lstStyle/>
                    <a:p>
                      <a:pPr algn="ctr" indent="0" marL="0">
                        <a:buNone/>
                      </a:pPr>
                      <a:r>
                        <a:rPr lang="en-US" sz="1800" dirty="0">
                          <a:solidFill>
                            <a:srgbClr val="111111"/>
                          </a:solidFill>
                          <a:latin typeface="Calibri" pitchFamily="34" charset="0"/>
                          <a:ea typeface="Calibri" pitchFamily="34" charset="-122"/>
                          <a:cs typeface="Calibri" pitchFamily="34" charset="-120"/>
                        </a:rPr>
                        <a:t>Vegetation</a:t>
                      </a:r>
                      <a:endParaRPr lang="en-US" sz="1800" dirty="0">
                        <a:latin typeface="Calibri" charset="0"/>
                        <a:ea typeface="Calibri" charset="0"/>
                        <a:cs typeface="Calibri" charset="0"/>
                      </a:endParaRPr>
                    </a:p>
                  </a:txBody>
                  <a:tcPr marL="54864" marR="54864" marT="54864" marB="54864">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1800" dirty="0">
                          <a:solidFill>
                            <a:srgbClr val="111111"/>
                          </a:solidFill>
                          <a:latin typeface="Calibri" pitchFamily="34" charset="0"/>
                          <a:ea typeface="Calibri" pitchFamily="34" charset="-122"/>
                          <a:cs typeface="Calibri" pitchFamily="34" charset="-120"/>
                        </a:rPr>
                        <a:t>La végétation</a:t>
                      </a:r>
                      <a:endParaRPr lang="en-US" sz="1800" dirty="0">
                        <a:latin typeface="Calibri" charset="0"/>
                        <a:ea typeface="Calibri" charset="0"/>
                        <a:cs typeface="Calibri" charset="0"/>
                      </a:endParaRPr>
                    </a:p>
                  </a:txBody>
                  <a:tcPr marL="54864" marR="54864" marT="54864" marB="54864">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1800" dirty="0">
                          <a:solidFill>
                            <a:srgbClr val="111111"/>
                          </a:solidFill>
                          <a:latin typeface="Calibri" pitchFamily="34" charset="0"/>
                          <a:ea typeface="Calibri" pitchFamily="34" charset="-122"/>
                          <a:cs typeface="Calibri" pitchFamily="34" charset="-120"/>
                        </a:rPr>
                        <a:t>Rainforest</a:t>
                      </a:r>
                      <a:endParaRPr lang="en-US" sz="1800" dirty="0">
                        <a:latin typeface="Calibri" charset="0"/>
                        <a:ea typeface="Calibri" charset="0"/>
                        <a:cs typeface="Calibri" charset="0"/>
                      </a:endParaRPr>
                    </a:p>
                  </a:txBody>
                  <a:tcPr marL="54864" marR="54864" marT="54864" marB="54864">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1800" dirty="0">
                          <a:solidFill>
                            <a:srgbClr val="111111"/>
                          </a:solidFill>
                          <a:latin typeface="Calibri" pitchFamily="34" charset="0"/>
                          <a:ea typeface="Calibri" pitchFamily="34" charset="-122"/>
                          <a:cs typeface="Calibri" pitchFamily="34" charset="-120"/>
                        </a:rPr>
                        <a:t>La forêt dense</a:t>
                      </a:r>
                      <a:endParaRPr lang="en-US" sz="1800" dirty="0">
                        <a:latin typeface="Calibri" charset="0"/>
                        <a:ea typeface="Calibri" charset="0"/>
                        <a:cs typeface="Calibri" charset="0"/>
                      </a:endParaRPr>
                    </a:p>
                  </a:txBody>
                  <a:tcPr marL="54864" marR="54864" marT="54864" marB="54864">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1800" dirty="0">
                          <a:solidFill>
                            <a:srgbClr val="111111"/>
                          </a:solidFill>
                          <a:latin typeface="Calibri" pitchFamily="34" charset="0"/>
                          <a:ea typeface="Calibri" pitchFamily="34" charset="-122"/>
                          <a:cs typeface="Calibri" pitchFamily="34" charset="-120"/>
                        </a:rPr>
                        <a:t>River</a:t>
                      </a:r>
                      <a:endParaRPr lang="en-US" sz="1800" dirty="0">
                        <a:latin typeface="Calibri" charset="0"/>
                        <a:ea typeface="Calibri" charset="0"/>
                        <a:cs typeface="Calibri" charset="0"/>
                      </a:endParaRPr>
                    </a:p>
                  </a:txBody>
                  <a:tcPr marL="54864" marR="54864" marT="54864" marB="54864">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1800" dirty="0">
                          <a:solidFill>
                            <a:srgbClr val="111111"/>
                          </a:solidFill>
                          <a:latin typeface="Calibri" pitchFamily="34" charset="0"/>
                          <a:ea typeface="Calibri" pitchFamily="34" charset="-122"/>
                          <a:cs typeface="Calibri" pitchFamily="34" charset="-120"/>
                        </a:rPr>
                        <a:t>Le fleuve</a:t>
                      </a:r>
                      <a:endParaRPr lang="en-US" sz="1800" dirty="0">
                        <a:latin typeface="Calibri" charset="0"/>
                        <a:ea typeface="Calibri" charset="0"/>
                        <a:cs typeface="Calibri" charset="0"/>
                      </a:endParaRPr>
                    </a:p>
                  </a:txBody>
                  <a:tcPr marL="54864" marR="54864" marT="54864" marB="54864">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1800" dirty="0">
                          <a:solidFill>
                            <a:srgbClr val="111111"/>
                          </a:solidFill>
                          <a:latin typeface="Calibri" pitchFamily="34" charset="0"/>
                          <a:ea typeface="Calibri" pitchFamily="34" charset="-122"/>
                          <a:cs typeface="Calibri" pitchFamily="34" charset="-120"/>
                        </a:rPr>
                        <a:t>Tributary</a:t>
                      </a:r>
                      <a:endParaRPr lang="en-US" sz="1800" dirty="0">
                        <a:latin typeface="Calibri" charset="0"/>
                        <a:ea typeface="Calibri" charset="0"/>
                        <a:cs typeface="Calibri" charset="0"/>
                      </a:endParaRPr>
                    </a:p>
                  </a:txBody>
                  <a:tcPr marL="54864" marR="54864" marT="54864" marB="54864">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1800" dirty="0">
                          <a:solidFill>
                            <a:srgbClr val="111111"/>
                          </a:solidFill>
                          <a:latin typeface="Calibri" pitchFamily="34" charset="0"/>
                          <a:ea typeface="Calibri" pitchFamily="34" charset="-122"/>
                          <a:cs typeface="Calibri" pitchFamily="34" charset="-120"/>
                        </a:rPr>
                        <a:t>L'affluent</a:t>
                      </a:r>
                      <a:endParaRPr lang="en-US" sz="1800" dirty="0">
                        <a:latin typeface="Calibri" charset="0"/>
                        <a:ea typeface="Calibri" charset="0"/>
                        <a:cs typeface="Calibri" charset="0"/>
                      </a:endParaRPr>
                    </a:p>
                  </a:txBody>
                  <a:tcPr marL="54864" marR="54864" marT="54864" marB="54864">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1800" dirty="0">
                          <a:solidFill>
                            <a:srgbClr val="111111"/>
                          </a:solidFill>
                          <a:latin typeface="Calibri" pitchFamily="34" charset="0"/>
                          <a:ea typeface="Calibri" pitchFamily="34" charset="-122"/>
                          <a:cs typeface="Calibri" pitchFamily="34" charset="-120"/>
                        </a:rPr>
                        <a:t>Mouth</a:t>
                      </a:r>
                      <a:endParaRPr lang="en-US" sz="1800" dirty="0">
                        <a:latin typeface="Calibri" charset="0"/>
                        <a:ea typeface="Calibri" charset="0"/>
                        <a:cs typeface="Calibri" charset="0"/>
                      </a:endParaRPr>
                    </a:p>
                  </a:txBody>
                  <a:tcPr marL="54864" marR="54864" marT="54864" marB="54864">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1800" dirty="0">
                          <a:solidFill>
                            <a:srgbClr val="111111"/>
                          </a:solidFill>
                          <a:latin typeface="Calibri" pitchFamily="34" charset="0"/>
                          <a:ea typeface="Calibri" pitchFamily="34" charset="-122"/>
                          <a:cs typeface="Calibri" pitchFamily="34" charset="-120"/>
                        </a:rPr>
                        <a:t>L'embouchure</a:t>
                      </a:r>
                      <a:endParaRPr lang="en-US" sz="1800" dirty="0">
                        <a:latin typeface="Calibri" charset="0"/>
                        <a:ea typeface="Calibri" charset="0"/>
                        <a:cs typeface="Calibri" charset="0"/>
                      </a:endParaRPr>
                    </a:p>
                  </a:txBody>
                  <a:tcPr marL="54864" marR="54864" marT="54864" marB="54864">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1800" dirty="0">
                          <a:solidFill>
                            <a:srgbClr val="111111"/>
                          </a:solidFill>
                          <a:latin typeface="Calibri" pitchFamily="34" charset="0"/>
                          <a:ea typeface="Calibri" pitchFamily="34" charset="-122"/>
                          <a:cs typeface="Calibri" pitchFamily="34" charset="-120"/>
                        </a:rPr>
                        <a:t>Lake</a:t>
                      </a:r>
                      <a:endParaRPr lang="en-US" sz="1800" dirty="0">
                        <a:latin typeface="Calibri" charset="0"/>
                        <a:ea typeface="Calibri" charset="0"/>
                        <a:cs typeface="Calibri" charset="0"/>
                      </a:endParaRPr>
                    </a:p>
                  </a:txBody>
                  <a:tcPr marL="54864" marR="54864" marT="54864" marB="54864">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1800" dirty="0">
                          <a:solidFill>
                            <a:srgbClr val="111111"/>
                          </a:solidFill>
                          <a:latin typeface="Calibri" pitchFamily="34" charset="0"/>
                          <a:ea typeface="Calibri" pitchFamily="34" charset="-122"/>
                          <a:cs typeface="Calibri" pitchFamily="34" charset="-120"/>
                        </a:rPr>
                        <a:t>Le lac</a:t>
                      </a:r>
                      <a:endParaRPr lang="en-US" sz="1800" dirty="0">
                        <a:latin typeface="Calibri" charset="0"/>
                        <a:ea typeface="Calibri" charset="0"/>
                        <a:cs typeface="Calibri" charset="0"/>
                      </a:endParaRPr>
                    </a:p>
                  </a:txBody>
                  <a:tcPr marL="54864" marR="54864" marT="54864" marB="54864">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1800" dirty="0">
                          <a:solidFill>
                            <a:srgbClr val="111111"/>
                          </a:solidFill>
                          <a:latin typeface="Calibri" pitchFamily="34" charset="0"/>
                          <a:ea typeface="Calibri" pitchFamily="34" charset="-122"/>
                          <a:cs typeface="Calibri" pitchFamily="34" charset="-120"/>
                        </a:rPr>
                        <a:t>Waterfall</a:t>
                      </a:r>
                      <a:endParaRPr lang="en-US" sz="1800" dirty="0">
                        <a:latin typeface="Calibri" charset="0"/>
                        <a:ea typeface="Calibri" charset="0"/>
                        <a:cs typeface="Calibri" charset="0"/>
                      </a:endParaRPr>
                    </a:p>
                  </a:txBody>
                  <a:tcPr marL="54864" marR="54864" marT="54864" marB="54864">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1800" dirty="0">
                          <a:solidFill>
                            <a:srgbClr val="111111"/>
                          </a:solidFill>
                          <a:latin typeface="Calibri" pitchFamily="34" charset="0"/>
                          <a:ea typeface="Calibri" pitchFamily="34" charset="-122"/>
                          <a:cs typeface="Calibri" pitchFamily="34" charset="-120"/>
                        </a:rPr>
                        <a:t>La chute d'eau</a:t>
                      </a:r>
                      <a:endParaRPr lang="en-US" sz="1800" dirty="0">
                        <a:latin typeface="Calibri" charset="0"/>
                        <a:ea typeface="Calibri" charset="0"/>
                        <a:cs typeface="Calibri" charset="0"/>
                      </a:endParaRPr>
                    </a:p>
                  </a:txBody>
                  <a:tcPr marL="54864" marR="54864" marT="54864" marB="54864">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1800" dirty="0">
                          <a:solidFill>
                            <a:srgbClr val="111111"/>
                          </a:solidFill>
                          <a:latin typeface="Calibri" pitchFamily="34" charset="0"/>
                          <a:ea typeface="Calibri" pitchFamily="34" charset="-122"/>
                          <a:cs typeface="Calibri" pitchFamily="34" charset="-120"/>
                        </a:rPr>
                        <a:t>Drainage</a:t>
                      </a:r>
                      <a:endParaRPr lang="en-US" sz="1800" dirty="0">
                        <a:latin typeface="Calibri" charset="0"/>
                        <a:ea typeface="Calibri" charset="0"/>
                        <a:cs typeface="Calibri" charset="0"/>
                      </a:endParaRPr>
                    </a:p>
                  </a:txBody>
                  <a:tcPr marL="54864" marR="54864" marT="54864" marB="54864">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1800" dirty="0">
                          <a:solidFill>
                            <a:srgbClr val="111111"/>
                          </a:solidFill>
                          <a:latin typeface="Calibri" pitchFamily="34" charset="0"/>
                          <a:ea typeface="Calibri" pitchFamily="34" charset="-122"/>
                          <a:cs typeface="Calibri" pitchFamily="34" charset="-120"/>
                        </a:rPr>
                        <a:t>Le réseau hydrographique</a:t>
                      </a:r>
                      <a:endParaRPr lang="en-US" sz="1800" dirty="0">
                        <a:latin typeface="Calibri" charset="0"/>
                        <a:ea typeface="Calibri" charset="0"/>
                        <a:cs typeface="Calibri" charset="0"/>
                      </a:endParaRPr>
                    </a:p>
                  </a:txBody>
                  <a:tcPr marL="54864" marR="54864" marT="54864" marB="54864">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ECO. GEOGRAPHY — FORM 2 TECH</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LOGBOOK</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41</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000" b="1" dirty="0">
                <a:solidFill>
                  <a:srgbClr val="990011"/>
                </a:solidFill>
                <a:latin typeface="Cambria" pitchFamily="34" charset="0"/>
                <a:ea typeface="Cambria" pitchFamily="34" charset="-122"/>
                <a:cs typeface="Cambria" pitchFamily="34" charset="-120"/>
              </a:rPr>
              <a:t>Official Logbook (1/2)</a:t>
            </a:r>
            <a:endParaRPr lang="en-US" sz="3000" dirty="0"/>
          </a:p>
        </p:txBody>
      </p:sp>
      <p:graphicFrame>
        <p:nvGraphicFramePr>
          <p:cNvPr id="42" name="Table 0"/>
          <p:cNvGraphicFramePr>
            <a:graphicFrameLocks noGrp="1"/>
          </p:cNvGraphicFramePr>
          <p:nvPr>
            <p:extLst>
              <p:ext uri="{D42A27DB-BD31-4B8C-83A1-F6EECF244321}">
                <p14:modId xmlns:p14="http://schemas.microsoft.com/office/powerpoint/2010/main" val="1579011935"/>
              </p:ext>
            </p:extLst>
          </p:nvPr>
        </p:nvGraphicFramePr>
        <p:xfrm>
          <a:off x="457200" y="1783080"/>
          <a:ext cx="11274552" cy="914400"/>
        </p:xfrm>
        <a:graphic>
          <a:graphicData uri="http://schemas.openxmlformats.org/drawingml/2006/table">
            <a:tbl>
              <a:tblPr/>
              <a:tblGrid>
                <a:gridCol w="2926080"/>
                <a:gridCol w="8348472"/>
              </a:tblGrid>
              <a:tr h="0">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Module / Topic</a:t>
                      </a:r>
                      <a:endParaRPr lang="en-US" sz="15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indent="0" marL="0">
                        <a:buNone/>
                      </a:pPr>
                      <a:r>
                        <a:rPr lang="en-US" sz="1500" dirty="0">
                          <a:solidFill>
                            <a:srgbClr val="111111"/>
                          </a:solidFill>
                          <a:latin typeface="Calibri" pitchFamily="34" charset="0"/>
                          <a:ea typeface="Calibri" pitchFamily="34" charset="-122"/>
                          <a:cs typeface="Calibri" pitchFamily="34" charset="-120"/>
                        </a:rPr>
                        <a:t>Regional Geography</a:t>
                      </a:r>
                      <a:endParaRPr lang="en-US" sz="15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Lesson Title</a:t>
                      </a:r>
                      <a:endParaRPr lang="en-US" sz="15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indent="0" marL="0">
                        <a:buNone/>
                      </a:pPr>
                      <a:r>
                        <a:rPr lang="en-US" sz="1500" dirty="0">
                          <a:solidFill>
                            <a:srgbClr val="111111"/>
                          </a:solidFill>
                          <a:latin typeface="Calibri" pitchFamily="34" charset="0"/>
                          <a:ea typeface="Calibri" pitchFamily="34" charset="-122"/>
                          <a:cs typeface="Calibri" pitchFamily="34" charset="-120"/>
                        </a:rPr>
                        <a:t>Lesson 6: Africa — Part 3: Vegetation and Drainage of Africa</a:t>
                      </a:r>
                      <a:endParaRPr lang="en-US" sz="15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Expected Learning Outcomes</a:t>
                      </a:r>
                      <a:endParaRPr lang="en-US" sz="15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indent="0" marL="0">
                        <a:buNone/>
                      </a:pPr>
                      <a:r>
                        <a:rPr lang="en-US" sz="1500" dirty="0">
                          <a:solidFill>
                            <a:srgbClr val="111111"/>
                          </a:solidFill>
                          <a:latin typeface="Calibri" pitchFamily="34" charset="0"/>
                          <a:ea typeface="Calibri" pitchFamily="34" charset="-122"/>
                          <a:cs typeface="Calibri" pitchFamily="34" charset="-120"/>
                        </a:rPr>
                        <a:t>Describe the main vegetation zones of Africa. Name the main rivers and lakes of Africa and locate them. Explain the importance of African rivers and lakes.</a:t>
                      </a:r>
                      <a:endParaRPr lang="en-US" sz="15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Competence</a:t>
                      </a:r>
                      <a:endParaRPr lang="en-US" sz="15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indent="0" marL="0">
                        <a:buNone/>
                      </a:pPr>
                      <a:r>
                        <a:rPr lang="en-US" sz="1500" dirty="0">
                          <a:solidFill>
                            <a:srgbClr val="111111"/>
                          </a:solidFill>
                          <a:latin typeface="Calibri" pitchFamily="34" charset="0"/>
                          <a:ea typeface="Calibri" pitchFamily="34" charset="-122"/>
                          <a:cs typeface="Calibri" pitchFamily="34" charset="-120"/>
                        </a:rPr>
                        <a:t>Learners are able to name the main vegetation zones, rivers and lakes of Africa and explain how people use rivers and lakes.</a:t>
                      </a:r>
                      <a:endParaRPr lang="en-US" sz="15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ECO. GEOGRAPHY — FORM 2 TECH</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LOGBOOK</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42</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000" b="1" dirty="0">
                <a:solidFill>
                  <a:srgbClr val="990011"/>
                </a:solidFill>
                <a:latin typeface="Cambria" pitchFamily="34" charset="0"/>
                <a:ea typeface="Cambria" pitchFamily="34" charset="-122"/>
                <a:cs typeface="Cambria" pitchFamily="34" charset="-120"/>
              </a:rPr>
              <a:t>Official Logbook (2/2)</a:t>
            </a:r>
            <a:endParaRPr lang="en-US" sz="3000" dirty="0"/>
          </a:p>
        </p:txBody>
      </p:sp>
      <p:graphicFrame>
        <p:nvGraphicFramePr>
          <p:cNvPr id="43" name="Table 0"/>
          <p:cNvGraphicFramePr>
            <a:graphicFrameLocks noGrp="1"/>
          </p:cNvGraphicFramePr>
          <p:nvPr>
            <p:extLst>
              <p:ext uri="{D42A27DB-BD31-4B8C-83A1-F6EECF244321}">
                <p14:modId xmlns:p14="http://schemas.microsoft.com/office/powerpoint/2010/main" val="1579011935"/>
              </p:ext>
            </p:extLst>
          </p:nvPr>
        </p:nvGraphicFramePr>
        <p:xfrm>
          <a:off x="457200" y="1783080"/>
          <a:ext cx="11274552" cy="914400"/>
        </p:xfrm>
        <a:graphic>
          <a:graphicData uri="http://schemas.openxmlformats.org/drawingml/2006/table">
            <a:tbl>
              <a:tblPr/>
              <a:tblGrid>
                <a:gridCol w="2926080"/>
                <a:gridCol w="8348472"/>
              </a:tblGrid>
              <a:tr h="0">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Matter Taught</a:t>
                      </a:r>
                      <a:endParaRPr lang="en-US" sz="15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indent="0" marL="0">
                        <a:buNone/>
                      </a:pPr>
                      <a:r>
                        <a:rPr lang="en-US" sz="1500" dirty="0">
                          <a:solidFill>
                            <a:srgbClr val="111111"/>
                          </a:solidFill>
                          <a:latin typeface="Calibri" pitchFamily="34" charset="0"/>
                          <a:ea typeface="Calibri" pitchFamily="34" charset="-122"/>
                          <a:cs typeface="Calibri" pitchFamily="34" charset="-120"/>
                        </a:rPr>
                        <a:t>I. Definitions: Vegetation, Drainage, Tributary; II. Vegetation: Rainforest, Savanna, Semi-desert and desert, Mediterranean; III. Drainage: The Nile, The Congo, The Niger, Lakes, Uses.</a:t>
                      </a:r>
                      <a:endParaRPr lang="en-US" sz="15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Evaluation</a:t>
                      </a:r>
                      <a:endParaRPr lang="en-US" sz="15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indent="0" marL="0">
                        <a:buNone/>
                      </a:pPr>
                      <a:r>
                        <a:rPr lang="en-US" sz="1500" dirty="0">
                          <a:solidFill>
                            <a:srgbClr val="111111"/>
                          </a:solidFill>
                          <a:latin typeface="Calibri" pitchFamily="34" charset="0"/>
                          <a:ea typeface="Calibri" pitchFamily="34" charset="-122"/>
                          <a:cs typeface="Calibri" pitchFamily="34" charset="-120"/>
                        </a:rPr>
                        <a:t>Formative evaluation (3 questions) and remediation exercise.</a:t>
                      </a:r>
                      <a:endParaRPr lang="en-US" sz="15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Homework</a:t>
                      </a:r>
                      <a:endParaRPr lang="en-US" sz="15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indent="0" marL="0">
                        <a:buNone/>
                      </a:pPr>
                      <a:r>
                        <a:rPr lang="en-US" sz="1500" dirty="0">
                          <a:solidFill>
                            <a:srgbClr val="111111"/>
                          </a:solidFill>
                          <a:latin typeface="Calibri" pitchFamily="34" charset="0"/>
                          <a:ea typeface="Calibri" pitchFamily="34" charset="-122"/>
                          <a:cs typeface="Calibri" pitchFamily="34" charset="-120"/>
                        </a:rPr>
                        <a:t>Revise Lesson 6 on Africa. Draw a simple map of Africa and mark the Equator, the Nile, the Congo, the Niger, Lake Victoria and Cameroon.</a:t>
                      </a:r>
                      <a:endParaRPr lang="en-US" sz="15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Enrolment / Present / Absent</a:t>
                      </a:r>
                      <a:endParaRPr lang="en-US" sz="15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indent="0" marL="0">
                        <a:buNone/>
                      </a:pPr>
                      <a:r>
                        <a:rPr lang="en-US" sz="1500" dirty="0">
                          <a:solidFill>
                            <a:srgbClr val="111111"/>
                          </a:solidFill>
                          <a:latin typeface="Calibri" pitchFamily="34" charset="0"/>
                          <a:ea typeface="Calibri" pitchFamily="34" charset="-122"/>
                          <a:cs typeface="Calibri" pitchFamily="34" charset="-120"/>
                        </a:rPr>
                        <a:t>____ / ____ / ____</a:t>
                      </a:r>
                      <a:endParaRPr lang="en-US" sz="15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Achievement</a:t>
                      </a:r>
                      <a:endParaRPr lang="en-US" sz="15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indent="0" marL="0">
                        <a:buNone/>
                      </a:pPr>
                      <a:r>
                        <a:rPr lang="en-US" sz="1500" dirty="0">
                          <a:solidFill>
                            <a:srgbClr val="111111"/>
                          </a:solidFill>
                          <a:latin typeface="Calibri" pitchFamily="34" charset="0"/>
                          <a:ea typeface="Calibri" pitchFamily="34" charset="-122"/>
                          <a:cs typeface="Calibri" pitchFamily="34" charset="-120"/>
                        </a:rPr>
                        <a:t>To be completed by the teacher after the lesson.</a:t>
                      </a:r>
                      <a:endParaRPr lang="en-US" sz="15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ECO. GEOGRAPHY — FORM 2 TECH</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TEACHER'S NOTE</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43</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000" b="1" dirty="0">
                <a:solidFill>
                  <a:srgbClr val="990011"/>
                </a:solidFill>
                <a:latin typeface="Cambria" pitchFamily="34" charset="0"/>
                <a:ea typeface="Cambria" pitchFamily="34" charset="-122"/>
                <a:cs typeface="Cambria" pitchFamily="34" charset="-120"/>
              </a:rPr>
              <a:t>Teacher's Note</a:t>
            </a:r>
            <a:endParaRPr lang="en-US" sz="3000" dirty="0"/>
          </a:p>
        </p:txBody>
      </p:sp>
      <p:sp>
        <p:nvSpPr>
          <p:cNvPr id="13" name="Text 11"/>
          <p:cNvSpPr txBox="1"/>
          <p:nvPr/>
        </p:nvSpPr>
        <p:spPr>
          <a:xfrm>
            <a:off x="457200" y="1783080"/>
            <a:ext cx="11274552" cy="4663440"/>
          </a:xfrm>
          <a:prstGeom prst="rect">
            <a:avLst/>
          </a:prstGeom>
          <a:noFill/>
          <a:ln/>
        </p:spPr>
        <p:txBody>
          <a:bodyPr wrap="square" lIns="0" tIns="0" rIns="0" bIns="0" rtlCol="0" anchor="t"/>
          <a:lstStyle/>
          <a:p>
            <a:pPr indent="0" marL="0">
              <a:lnSpc>
                <a:spcPct val="100000"/>
              </a:lnSpc>
              <a:spcAft>
                <a:spcPts val="800"/>
              </a:spcAft>
              <a:buNone/>
            </a:pPr>
            <a:r>
              <a:rPr lang="en-US" sz="2000" dirty="0">
                <a:solidFill>
                  <a:srgbClr val="111111"/>
                </a:solidFill>
                <a:latin typeface="Calibri" pitchFamily="34" charset="0"/>
                <a:ea typeface="Calibri" pitchFamily="34" charset="-122"/>
                <a:cs typeface="Calibri" pitchFamily="34" charset="-120"/>
              </a:rPr>
              <a:t>Timing: Set-up, recall 8 min | Situation 8 min | 5 activities 25 min | Board summary (copying) 30 min | Evaluation, remediation 10 min | Homework 4 min | Logbook 10 min | Spare 5 min</a:t>
            </a:r>
            <a:endParaRPr lang="en-US" sz="20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ECO. GEOGRAPHY — FORM 2 TECH</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REFERENCES</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44</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000" b="1" dirty="0">
                <a:solidFill>
                  <a:srgbClr val="990011"/>
                </a:solidFill>
                <a:latin typeface="Cambria" pitchFamily="34" charset="0"/>
                <a:ea typeface="Cambria" pitchFamily="34" charset="-122"/>
                <a:cs typeface="Cambria" pitchFamily="34" charset="-120"/>
              </a:rPr>
              <a:t>References</a:t>
            </a:r>
            <a:endParaRPr lang="en-US" sz="3000" dirty="0"/>
          </a:p>
        </p:txBody>
      </p:sp>
      <p:sp>
        <p:nvSpPr>
          <p:cNvPr id="13" name="Text 11"/>
          <p:cNvSpPr txBox="1"/>
          <p:nvPr/>
        </p:nvSpPr>
        <p:spPr>
          <a:xfrm>
            <a:off x="457200" y="1783080"/>
            <a:ext cx="11274552" cy="4663440"/>
          </a:xfrm>
          <a:prstGeom prst="rect">
            <a:avLst/>
          </a:prstGeom>
          <a:noFill/>
          <a:ln/>
        </p:spPr>
        <p:txBody>
          <a:bodyPr wrap="square" lIns="0" tIns="0" rIns="0" bIns="0" rtlCol="0" anchor="t"/>
          <a:lstStyle/>
          <a:p>
            <a:pPr indent="0" marL="0">
              <a:lnSpc>
                <a:spcPct val="100000"/>
              </a:lnSpc>
              <a:spcAft>
                <a:spcPts val="800"/>
              </a:spcAft>
              <a:buNone/>
            </a:pPr>
            <a:r>
              <a:rPr lang="en-US" sz="1800" dirty="0">
                <a:solidFill>
                  <a:srgbClr val="111111"/>
                </a:solidFill>
                <a:latin typeface="Calibri" pitchFamily="34" charset="0"/>
                <a:ea typeface="Calibri" pitchFamily="34" charset="-122"/>
                <a:cs typeface="Calibri" pitchFamily="34" charset="-120"/>
              </a:rPr>
              <a:t>Harmonised Progression Sheet, Economic Geography (5051), Form 2.</a:t>
            </a:r>
            <a:endParaRPr lang="en-US" sz="1800" dirty="0"/>
          </a:p>
          <a:p>
            <a:pPr indent="0" marL="0">
              <a:lnSpc>
                <a:spcPct val="100000"/>
              </a:lnSpc>
              <a:spcAft>
                <a:spcPts val="800"/>
              </a:spcAft>
              <a:buNone/>
            </a:pPr>
            <a:r>
              <a:rPr lang="en-US" sz="1800" dirty="0">
                <a:solidFill>
                  <a:srgbClr val="111111"/>
                </a:solidFill>
                <a:latin typeface="Calibri" pitchFamily="34" charset="0"/>
                <a:ea typeface="Calibri" pitchFamily="34" charset="-122"/>
                <a:cs typeface="Calibri" pitchFamily="34" charset="-120"/>
              </a:rPr>
              <a:t>Photo, Activity 2: “Amazon 11” by CIAT International Center for Tropical Agriculture, CC BY-SA 2.0, via Flickr (https://www.flickr.com/photos/38476503@N08/5641587148)</a:t>
            </a:r>
            <a:endParaRPr lang="en-US" sz="1800" dirty="0"/>
          </a:p>
          <a:p>
            <a:pPr indent="0" marL="0">
              <a:lnSpc>
                <a:spcPct val="100000"/>
              </a:lnSpc>
              <a:spcAft>
                <a:spcPts val="800"/>
              </a:spcAft>
              <a:buNone/>
            </a:pPr>
            <a:r>
              <a:rPr lang="en-US" sz="1800" dirty="0">
                <a:solidFill>
                  <a:srgbClr val="111111"/>
                </a:solidFill>
                <a:latin typeface="Calibri" pitchFamily="34" charset="0"/>
                <a:ea typeface="Calibri" pitchFamily="34" charset="-122"/>
                <a:cs typeface="Calibri" pitchFamily="34" charset="-120"/>
              </a:rPr>
              <a:t>Photo, Activity 4: “Niamey, Niger” by LenDog64, CC BY-ND 2.0, via Flickr (https://www.flickr.com/photos/45968460@N03/4422209893)</a:t>
            </a:r>
            <a:endParaRPr lang="en-US" sz="1800" dirty="0"/>
          </a:p>
          <a:p>
            <a:pPr indent="0" marL="0">
              <a:lnSpc>
                <a:spcPct val="100000"/>
              </a:lnSpc>
              <a:spcAft>
                <a:spcPts val="800"/>
              </a:spcAft>
              <a:buNone/>
            </a:pPr>
            <a:r>
              <a:rPr lang="en-US" sz="1800" dirty="0">
                <a:solidFill>
                  <a:srgbClr val="111111"/>
                </a:solidFill>
                <a:latin typeface="Calibri" pitchFamily="34" charset="0"/>
                <a:ea typeface="Calibri" pitchFamily="34" charset="-122"/>
                <a:cs typeface="Calibri" pitchFamily="34" charset="-120"/>
              </a:rPr>
              <a:t>Photo, Activity 5: “Lake Chad: almost gone” by GRIDArendal, CC BY-NC-SA 2.0, via Flickr (https://www.flickr.com/photos/148768555@N05/32323646926)</a:t>
            </a:r>
            <a:endParaRPr lang="en-US" sz="1800" dirty="0"/>
          </a:p>
          <a:p>
            <a:pPr indent="0" marL="0">
              <a:lnSpc>
                <a:spcPct val="100000"/>
              </a:lnSpc>
              <a:spcAft>
                <a:spcPts val="800"/>
              </a:spcAft>
              <a:buNone/>
            </a:pPr>
            <a:r>
              <a:rPr lang="en-US" sz="1800" dirty="0">
                <a:solidFill>
                  <a:srgbClr val="111111"/>
                </a:solidFill>
                <a:latin typeface="Calibri" pitchFamily="34" charset="0"/>
                <a:ea typeface="Calibri" pitchFamily="34" charset="-122"/>
                <a:cs typeface="Calibri" pitchFamily="34" charset="-120"/>
              </a:rPr>
              <a:t>Diagrams and animations: drawn for this lesson (DGCAST Geography Department).</a:t>
            </a:r>
            <a:endParaRPr lang="en-US" sz="1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44</Slides>
  <Notes>44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44</vt:i4>
      </vt:variant>
    </vt:vector>
  </HeadingPairs>
  <TitlesOfParts>
    <vt:vector size="4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2026-09-26T10:44:19Z</dcterms:created>
  <dcterms:modified xsi:type="dcterms:W3CDTF">2026-09-26T10:44:19Z</dcterms:modified>
</cp:coreProperties>
</file>