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Lst>
  <p:notesMasterIdLst>
    <p:notesMasterId r:id="rId5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notesMaster" Target="notesMasters/notesMaster1.xml"/><Relationship Id="rId57" Type="http://schemas.openxmlformats.org/officeDocument/2006/relationships/presProps" Target="presProps.xml"/><Relationship Id="rId58" Type="http://schemas.openxmlformats.org/officeDocument/2006/relationships/viewProps" Target="viewProps.xml"/><Relationship Id="rId59" Type="http://schemas.openxmlformats.org/officeDocument/2006/relationships/theme" Target="theme/theme1.xml"/><Relationship Id="rId6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4 (Part 2): The Temperate Region: Characteristics (Soils and Vegetation).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2 Technical. It belongs to Economic Geography — Natural Regions: 4. The Temperate Region.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Man in His Environment, and the sub-topic is Natural Regions. The key notions we shall use today are: deciduous forest, coniferous forest, Mediterranean vegetation, temperate grassland, brown forest soil, podzol, chernozem. At the end, you should be able to do this: learners are able to recognise pine and eucalyptus trees planted in Cameroon as temperate trees, and explain why temperate grasslands feed the world.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4 (Part 1): The Temperate Region: Location, Types and Characteristics (Climate). The question was: Define a deciduous tree.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It is a tree that loses its leaves in one season.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describe the vegetation of the three types of temperate region. Number 2: explain how temperate plants are adapted to their climate. Number 3: describe the main temperate soils.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The temperate region lies between 30° and 60° north and south of the Equator. It has four seasons: spring, summer, autumn and winter. Its three types of climate are oceanic, Mediterranean and continental.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On a trip to Europe in November, Samuel sees a forest with yellow and red leaves falling to the ground. In January, the trees have no leaves at all, but some pine trees are still green. Samuel asks: "Why do some trees lose their leaves in winter and others do not?"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Samuel does not know how temperate plants are adapted to winter.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colour are the leaves in November?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Yellow and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Which trees are still green in January?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Pine trees (conifers).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recognise the products of temperate forests and soils in our markets.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know the plants and soils of the temperate region.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a forest in autumn.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Why do these trees lose their leaves in autumn?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To survive the cold winter.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conifers with needle leaves.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How do needle leaves help conifers in winter?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They lose little water, and the snow slides off.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an olive tree.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How do small, hard leaves help the olive tree in the dry summer?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They lose little water.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a grassland.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Why are there almost no trees here?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There is too little rain for trees.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a black soil.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Why is this black soil good for wheat?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is full of humus, so it is very fertile.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Deciduous tree and Conifer.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Vegetation. The temperate region has the following vegetation. Copy the point on Deciduous forests on the left, then draw the diagram on the right: a forest in autumn.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Coniferous forests on the left, then draw the diagram on the right: conifers.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Vegetation. On this slide we have Mediterranean vegetation.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Temperate grasslands on the left, then draw the diagram on the right: a temperate grassland.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Soils. The temperate region has the following soils. On this slide we have Brown forest soils and Podzols.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Black soils (chernozems) on the left, then draw the diagram on the right: a black soil.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Soils. On this slide we have Red Mediterranean soils.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Why do deciduous trees lose their leaves in autumn?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to survive the cold winter.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Why is the chernozem good for wheat?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it is black and full of humus, so it is very fertile.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deciduous; number 2, needle; number 3, chernozem.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Define mixed farming.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4 (Part 3): The Temperate Region: Human Activities (Farming).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2 TECHNICAL</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LESSON 4 (PART 2): THE TEMPERATE REGION: CHARACTERISTICS (SOILS AND VEGETATION)</a:t>
            </a:r>
            <a:endParaRPr lang="en-US" sz="12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jp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jp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jp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jp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2 TECHNICAL</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4 (Part 2)</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The Temperate Region: Characteristics (Soils and Vegetation)</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2 Technical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Economic Geography — Natural Regions: 4. The Temperate Region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Man in His Environment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Natural Regions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4 (Part 2): The Temperate Region: Characteristics (Soils and Vegetation)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Deciduous forest, coniferous forest, Mediterranean vegetation, temperate grassland, brown forest soil, podzol, chernozem.</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Characteristics of the soils and vegetation of the temperate region.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recognise pine and eucalyptus trees planted in Cameroon as temperate trees, and explain why temperate grasslands feed the world.</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4 (Part 1): The Temperate Region: Location, Types and Characteristics (Climate)):</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Define a deciduous tree.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tree that loses its leaves in one season.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vegetation of the three types of temperate region.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how temperate plants are adapted to their climate.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main temperate soils.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temperate region lies between 30° and 60° north and south of the Equator.</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It has four seasons: spring, summer, autumn and winter.</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Its three types of climate are oceanic, Mediterranean and continental.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 a trip to Europe in November, Samuel sees a forest with yellow and red leaves falling to the ground. In January, the trees have no leaves at all, but some pine trees are still green. Samuel asks: "Why do some trees lose their leaves in winter and others do not?"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Samuel does not know how temperate plants are adapted to winter.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colour are the leaves in November?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Yellow and red.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trees are still green in January?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Pine trees (conifers).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Recognise the products of temperate forests and soils in our markets.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know the plants and soils of the temperate region.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VEGETATION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f2t_autumn_forest.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forest in autumn.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VEGETATION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 these trees lose their leaves in autumn?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VEGETATION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 survive the cold winter.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VEGETATION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2t_conifer.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Conifers with needle leaves.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VEGETATION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 needle leaves help conifers in winter?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VEGETATION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lose little water, and the snow slides off.</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VEGETATION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2t_olive_tree.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 olive tree.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VEGETATION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 small, hard leaves help the olive tree in the dry summer?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VEGETATION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lose little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VEGETATION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f2t_prairie.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grassland.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VEGETATION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are there almost no trees here?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VEGETATION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There is too little rain for trees.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SOILS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2t_black_soil.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black soil.</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SOILS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this black soil good for wheat?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SOILS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full of humus, so it is very fertile.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Man in His Environment</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Natural Regions</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Lesson 4 (Part 2): The Temperate Region: Characteristics (Soils and Vegetation)</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Deciduous tree: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It is a tree that loses its leaves in one season.</a:t>
            </a:r>
            <a:endParaRPr lang="en-US" sz="4000" dirty="0"/>
          </a:p>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Conifer: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It is a tree with needle leaves and cones.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Vegetation</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The temperate region has the following vegetation:</a:t>
            </a:r>
            <a:endParaRPr lang="en-US" sz="3600" dirty="0"/>
          </a:p>
          <a:p>
            <a:pPr algn="l" marL="342900" indent="-342900">
              <a:spcAft>
                <a:spcPts val="800"/>
              </a:spcAft>
              <a:buSzPct val="100000"/>
              <a:buChar char="•"/>
            </a:pPr>
            <a:r>
              <a:rPr lang="en-US" sz="3600" b="1" dirty="0">
                <a:solidFill>
                  <a:srgbClr val="111111"/>
                </a:solidFill>
                <a:latin typeface="Times New Roman" pitchFamily="34" charset="0"/>
                <a:ea typeface="Times New Roman" pitchFamily="34" charset="-122"/>
                <a:cs typeface="Times New Roman" pitchFamily="34" charset="-120"/>
              </a:rPr>
              <a:t>Deciduous forests: </a:t>
            </a:r>
            <a:pPr algn="l" marL="342900" indent="-342900">
              <a:spcAft>
                <a:spcPts val="800"/>
              </a:spcAft>
              <a:buSzPct val="100000"/>
              <a:buChar char="•"/>
            </a:pPr>
            <a:r>
              <a:rPr lang="en-US" sz="3600" dirty="0">
                <a:solidFill>
                  <a:srgbClr val="111111"/>
                </a:solidFill>
                <a:latin typeface="Times New Roman" pitchFamily="34" charset="0"/>
                <a:ea typeface="Times New Roman" pitchFamily="34" charset="-122"/>
                <a:cs typeface="Times New Roman" pitchFamily="34" charset="-120"/>
              </a:rPr>
              <a:t>Oak and beech lose their leaves in autumn.</a:t>
            </a:r>
            <a:endParaRPr lang="en-US" sz="3600" dirty="0"/>
          </a:p>
        </p:txBody>
      </p:sp>
      <p:pic>
        <p:nvPicPr>
          <p:cNvPr id="5" name="Image 0" descr="/home/claude/f4/img/v2/f2t_autumn_forest.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forest in autumn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Vegetation</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marL="342900" indent="-342900">
              <a:spcAft>
                <a:spcPts val="800"/>
              </a:spcAft>
              <a:buSzPct val="100000"/>
              <a:buChar char="•"/>
            </a:pPr>
            <a:r>
              <a:rPr lang="en-US" sz="3600" b="1" dirty="0">
                <a:solidFill>
                  <a:srgbClr val="111111"/>
                </a:solidFill>
                <a:latin typeface="Times New Roman" pitchFamily="34" charset="0"/>
                <a:ea typeface="Times New Roman" pitchFamily="34" charset="-122"/>
                <a:cs typeface="Times New Roman" pitchFamily="34" charset="-120"/>
              </a:rPr>
              <a:t>Coniferous forests: </a:t>
            </a:r>
            <a:pPr algn="l" marL="342900" indent="-342900">
              <a:spcAft>
                <a:spcPts val="800"/>
              </a:spcAft>
              <a:buSzPct val="100000"/>
              <a:buChar char="•"/>
            </a:pPr>
            <a:r>
              <a:rPr lang="en-US" sz="3600" dirty="0">
                <a:solidFill>
                  <a:srgbClr val="111111"/>
                </a:solidFill>
                <a:latin typeface="Times New Roman" pitchFamily="34" charset="0"/>
                <a:ea typeface="Times New Roman" pitchFamily="34" charset="-122"/>
                <a:cs typeface="Times New Roman" pitchFamily="34" charset="-120"/>
              </a:rPr>
              <a:t>Pine and fir keep their needle leaves.</a:t>
            </a:r>
            <a:endParaRPr lang="en-US" sz="3600" dirty="0"/>
          </a:p>
        </p:txBody>
      </p:sp>
      <p:pic>
        <p:nvPicPr>
          <p:cNvPr id="5" name="Image 0" descr="/home/claude/f4/img/v2/f2t_conifer.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conifers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Vegetation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Mediterranean vegetation: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Olive trees and shrubs with small, hard leaves.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Vegetation</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marL="342900" indent="-342900">
              <a:spcAft>
                <a:spcPts val="800"/>
              </a:spcAft>
              <a:buSzPct val="100000"/>
              <a:buChar char="•"/>
            </a:pPr>
            <a:r>
              <a:rPr lang="en-US" sz="3600" b="1" dirty="0">
                <a:solidFill>
                  <a:srgbClr val="111111"/>
                </a:solidFill>
                <a:latin typeface="Times New Roman" pitchFamily="34" charset="0"/>
                <a:ea typeface="Times New Roman" pitchFamily="34" charset="-122"/>
                <a:cs typeface="Times New Roman" pitchFamily="34" charset="-120"/>
              </a:rPr>
              <a:t>Temperate grasslands: </a:t>
            </a:r>
            <a:pPr algn="l" marL="342900" indent="-342900">
              <a:spcAft>
                <a:spcPts val="800"/>
              </a:spcAft>
              <a:buSzPct val="100000"/>
              <a:buChar char="•"/>
            </a:pPr>
            <a:r>
              <a:rPr lang="en-US" sz="3600" dirty="0">
                <a:solidFill>
                  <a:srgbClr val="111111"/>
                </a:solidFill>
                <a:latin typeface="Times New Roman" pitchFamily="34" charset="0"/>
                <a:ea typeface="Times New Roman" pitchFamily="34" charset="-122"/>
                <a:cs typeface="Times New Roman" pitchFamily="34" charset="-120"/>
              </a:rPr>
              <a:t>Prairies and steppes with few trees.</a:t>
            </a:r>
            <a:endParaRPr lang="en-US" sz="3600" dirty="0"/>
          </a:p>
        </p:txBody>
      </p:sp>
      <p:pic>
        <p:nvPicPr>
          <p:cNvPr id="5" name="Image 0" descr="/home/claude/f4/img/v2/f2t_prairie.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temperate grassland</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Soils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temperate region has the following soils:</a:t>
            </a:r>
            <a:endParaRPr lang="en-US" sz="4000" dirty="0"/>
          </a:p>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Brown forest soils: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Fertile soils under deciduous forests.</a:t>
            </a:r>
            <a:endParaRPr lang="en-US" sz="4000" dirty="0"/>
          </a:p>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Podzols: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Grey, acid soils under conifers.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Soils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marL="342900" indent="-342900">
              <a:spcAft>
                <a:spcPts val="800"/>
              </a:spcAft>
              <a:buSzPct val="100000"/>
              <a:buChar char="•"/>
            </a:pPr>
            <a:r>
              <a:rPr lang="en-US" sz="3600" b="1" dirty="0">
                <a:solidFill>
                  <a:srgbClr val="111111"/>
                </a:solidFill>
                <a:latin typeface="Times New Roman" pitchFamily="34" charset="0"/>
                <a:ea typeface="Times New Roman" pitchFamily="34" charset="-122"/>
                <a:cs typeface="Times New Roman" pitchFamily="34" charset="-120"/>
              </a:rPr>
              <a:t>Black soils (chernozems): </a:t>
            </a:r>
            <a:pPr algn="l" marL="342900" indent="-342900">
              <a:spcAft>
                <a:spcPts val="800"/>
              </a:spcAft>
              <a:buSzPct val="100000"/>
              <a:buChar char="•"/>
            </a:pPr>
            <a:r>
              <a:rPr lang="en-US" sz="3600" dirty="0">
                <a:solidFill>
                  <a:srgbClr val="111111"/>
                </a:solidFill>
                <a:latin typeface="Times New Roman" pitchFamily="34" charset="0"/>
                <a:ea typeface="Times New Roman" pitchFamily="34" charset="-122"/>
                <a:cs typeface="Times New Roman" pitchFamily="34" charset="-120"/>
              </a:rPr>
              <a:t>Very fertile grassland soils, good for wheat.</a:t>
            </a:r>
            <a:endParaRPr lang="en-US" sz="3600" dirty="0"/>
          </a:p>
        </p:txBody>
      </p:sp>
      <p:pic>
        <p:nvPicPr>
          <p:cNvPr id="5" name="Image 0" descr="/home/claude/f4/img/v2/f2t_black_soil.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black soil</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Soils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Red Mediterranean soils: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Soils good for olives and grapes.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 deciduous trees lose their leaves in autumn?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 survive the cold winter.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the chernozem good for wheat?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black and full of humus, so it is very fertile.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Trees that lose their leaves in autumn form a ______ forest.</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Pine trees have ______ leaves.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black, rich soil of grasslands is the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Define mixed farming.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4 (Part 3): The Temperate Region: Human Activities (Farming)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Forest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forêt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Deciduous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À feuilles caduques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Coniferous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Conifère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Pine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pin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Oak</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chêne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Olive tree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L'olivier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Grassland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prairie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Humus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L'humus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Man in His Environment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4 (Part 2): The Temperate Region: Characteristics (Soils and Vegetation)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Describe the vegetation of the three types of temperate region. Explain how temperate plants are adapted to their climate. Describe the main temperate soils.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recognise pine and eucalyptus trees planted in Cameroon as temperate trees, and explain why temperate grasslands feed the world.</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Vegetation; Soils.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mixed farming.</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describe dry-season trees.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draw a needle leaf.</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show olive oil.</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describe a grassland.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show dark garden soil.</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Harmonised Progression Sheet, Economic Geography (5051), Form 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Class textbook: The major biomes of the world (temperate regions).</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“David R. Johnson Natural Area (3)” by Nicholas_T, CC BY 2.0, via Flickr (https://www.flickr.com/photos/14922165@N00/10682288495)</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“Battleship Lake” by `James Wheeler, CC BY-NC-SA 2.0, via Flickr (https://www.flickr.com/photos/24128704@N08/16587218945)</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“Close up of an Olive Tree” by Ian W Scott, CC BY-SA 2.0, via Flickr (https://www.flickr.com/photos/38000818@N06/5767827378)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“Saskatchewan field in August, Alfalfa Medicago sativa” by ocean.flynn, CC BY-NC-SA 2.0, via Flickr (https://www.flickr.com/photos/89488115@N00/1535397596)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“My date palm. Cool, huh?” by Hair Squared, CC BY-SA 2.0, via Flickr (https://www.flickr.com/photos/73119211@N00/3804244479)</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54</Slides>
  <Notes>54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54</vt:i4>
      </vt:variant>
    </vt:vector>
  </HeadingPairs>
  <TitlesOfParts>
    <vt:vector size="5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2026-09-29T03:12:31Z</dcterms:created>
  <dcterms:modified xsi:type="dcterms:W3CDTF">2026-09-29T03:12:31Z</dcterms:modified>
</cp:coreProperties>
</file>