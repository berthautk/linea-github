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Today we finish Lesson 1 on the Equatorial Region with its problems and the solutions people have tried.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learners to recall the resources and human activities studied in week 5. Check the homework on problems caused by forestry, farming and hunting.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situation slowly,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ask learners to describe the roads of their village in August.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show a real mosquito net in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ask learners where the wood of their school desks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pour water on bare soil and on soil with grass.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ask learners if they have ever planted a tree.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copy the board summary now. Give them enough time for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deforestation 2. malaria 3. reforestation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homework prepares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English word; learners give the French word, then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gif"/><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990011"/>
          </a:solidFill>
          <a:ln w="12700">
            <a:solidFill>
              <a:srgbClr val="990011"/>
            </a:solidFill>
            <a:prstDash val="solid"/>
          </a:ln>
        </p:spPr>
      </p:sp>
      <p:sp>
        <p:nvSpPr>
          <p:cNvPr id="3" name="Shape 1"/>
          <p:cNvSpPr/>
          <p:nvPr/>
        </p:nvSpPr>
        <p:spPr>
          <a:xfrm>
            <a:off x="0" y="6656832"/>
            <a:ext cx="12191695" cy="201168"/>
          </a:xfrm>
          <a:prstGeom prst="rect">
            <a:avLst/>
          </a:prstGeom>
          <a:solidFill>
            <a:srgbClr val="1C3F6E"/>
          </a:solidFill>
          <a:ln w="12700">
            <a:solidFill>
              <a:srgbClr val="1C3F6E"/>
            </a:solidFill>
            <a:prstDash val="solid"/>
          </a:ln>
        </p:spPr>
      </p:sp>
      <p:pic>
        <p:nvPicPr>
          <p:cNvPr id="4" name="Image 0" descr="/home/claude/pw1/logo.png">    </p:cNvPr>
          <p:cNvPicPr>
            <a:picLocks noChangeAspect="1"/>
          </p:cNvPicPr>
          <p:nvPr/>
        </p:nvPicPr>
        <p:blipFill>
          <a:blip r:embed="rId1"/>
          <a:stretch>
            <a:fillRect/>
          </a:stretch>
        </p:blipFill>
        <p:spPr>
          <a:xfrm>
            <a:off x="5409590" y="457200"/>
            <a:ext cx="1371600" cy="1371600"/>
          </a:xfrm>
          <a:prstGeom prst="rect">
            <a:avLst/>
          </a:prstGeom>
        </p:spPr>
      </p:pic>
      <p:sp>
        <p:nvSpPr>
          <p:cNvPr id="5" name="Text 2"/>
          <p:cNvSpPr txBox="1"/>
          <p:nvPr/>
        </p:nvSpPr>
        <p:spPr>
          <a:xfrm>
            <a:off x="731520" y="1965960"/>
            <a:ext cx="10725912" cy="640080"/>
          </a:xfrm>
          <a:prstGeom prst="rect">
            <a:avLst/>
          </a:prstGeom>
          <a:noFill/>
          <a:ln/>
        </p:spPr>
        <p:txBody>
          <a:bodyPr wrap="square" lIns="0" tIns="0" rIns="0" bIns="0" rtlCol="0" anchor="ctr"/>
          <a:lstStyle/>
          <a:p>
            <a:pPr algn="ctr" indent="0" marL="0">
              <a:buNone/>
            </a:pPr>
            <a:r>
              <a:rPr lang="en-US" sz="2000" b="1" dirty="0">
                <a:solidFill>
                  <a:srgbClr val="1C3F6E"/>
                </a:solidFill>
                <a:latin typeface="Cambria" pitchFamily="34" charset="0"/>
                <a:ea typeface="Cambria" pitchFamily="34" charset="-122"/>
                <a:cs typeface="Cambria" pitchFamily="34" charset="-120"/>
              </a:rPr>
              <a:t>DIVINE GRACE COLLEGE OF ARTS, SCIENCE AND TECHNOLOGY</a:t>
            </a:r>
            <a:endParaRPr lang="en-US" sz="2000" dirty="0"/>
          </a:p>
        </p:txBody>
      </p:sp>
      <p:sp>
        <p:nvSpPr>
          <p:cNvPr id="6" name="Text 3"/>
          <p:cNvSpPr txBox="1"/>
          <p:nvPr/>
        </p:nvSpPr>
        <p:spPr>
          <a:xfrm>
            <a:off x="914400" y="2606040"/>
            <a:ext cx="10360152" cy="41148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(DGCAST) — GAROUA   |   GEOGRAPHY DEPARTMENT</a:t>
            </a:r>
            <a:endParaRPr lang="en-US" sz="1500" dirty="0"/>
          </a:p>
        </p:txBody>
      </p:sp>
      <p:sp>
        <p:nvSpPr>
          <p:cNvPr id="7" name="Text 4"/>
          <p:cNvSpPr txBox="1"/>
          <p:nvPr/>
        </p:nvSpPr>
        <p:spPr>
          <a:xfrm>
            <a:off x="914400" y="3200400"/>
            <a:ext cx="10360152" cy="685800"/>
          </a:xfrm>
          <a:prstGeom prst="rect">
            <a:avLst/>
          </a:prstGeom>
          <a:noFill/>
          <a:ln/>
        </p:spPr>
        <p:txBody>
          <a:bodyPr wrap="square" lIns="0" tIns="0" rIns="0" bIns="0" rtlCol="0" anchor="ctr"/>
          <a:lstStyle/>
          <a:p>
            <a:pPr algn="ctr" indent="0" marL="0">
              <a:buNone/>
            </a:pPr>
            <a:r>
              <a:rPr lang="en-US" sz="3400" b="1" dirty="0">
                <a:solidFill>
                  <a:srgbClr val="990011"/>
                </a:solidFill>
                <a:latin typeface="Cambria" pitchFamily="34" charset="0"/>
                <a:ea typeface="Cambria" pitchFamily="34" charset="-122"/>
                <a:cs typeface="Cambria" pitchFamily="34" charset="-120"/>
              </a:rPr>
              <a:t>FORM 2 TECHNICAL  —  LESSON 1 (WEEK 7)</a:t>
            </a:r>
            <a:endParaRPr lang="en-US" sz="3400" dirty="0"/>
          </a:p>
        </p:txBody>
      </p:sp>
      <p:sp>
        <p:nvSpPr>
          <p:cNvPr id="8" name="Text 5"/>
          <p:cNvSpPr txBox="1"/>
          <p:nvPr/>
        </p:nvSpPr>
        <p:spPr>
          <a:xfrm>
            <a:off x="914400" y="3931920"/>
            <a:ext cx="10360152" cy="548640"/>
          </a:xfrm>
          <a:prstGeom prst="rect">
            <a:avLst/>
          </a:prstGeom>
          <a:noFill/>
          <a:ln/>
        </p:spPr>
        <p:txBody>
          <a:bodyPr wrap="square" lIns="0" tIns="0" rIns="0" bIns="0" rtlCol="0" anchor="ctr"/>
          <a:lstStyle/>
          <a:p>
            <a:pPr algn="ctr" indent="0" marL="0">
              <a:buNone/>
            </a:pPr>
            <a:r>
              <a:rPr lang="en-US" sz="2100" b="1" dirty="0">
                <a:solidFill>
                  <a:srgbClr val="B8860B"/>
                </a:solidFill>
                <a:latin typeface="Calibri" pitchFamily="34" charset="0"/>
                <a:ea typeface="Calibri" pitchFamily="34" charset="-122"/>
                <a:cs typeface="Calibri" pitchFamily="34" charset="-120"/>
              </a:rPr>
              <a:t>The Equatorial Region: Problems Faced, Problems Caused and Attempted Solutions</a:t>
            </a:r>
            <a:endParaRPr lang="en-US" sz="2100" dirty="0"/>
          </a:p>
        </p:txBody>
      </p:sp>
      <p:sp>
        <p:nvSpPr>
          <p:cNvPr id="9" name="Text 6"/>
          <p:cNvSpPr txBox="1"/>
          <p:nvPr/>
        </p:nvSpPr>
        <p:spPr>
          <a:xfrm>
            <a:off x="914400" y="5394960"/>
            <a:ext cx="10360152" cy="914400"/>
          </a:xfrm>
          <a:prstGeom prst="rect">
            <a:avLst/>
          </a:prstGeom>
          <a:noFill/>
          <a:ln/>
        </p:spPr>
        <p:txBody>
          <a:bodyPr wrap="square" lIns="0" tIns="0" rIns="0" bIns="0" rtlCol="0" anchor="ctr"/>
          <a:lstStyle/>
          <a:p>
            <a:pPr algn="ctr" indent="0" marL="0">
              <a:buNone/>
            </a:pPr>
            <a:r>
              <a:rPr lang="en-US" sz="1600" b="1" dirty="0">
                <a:solidFill>
                  <a:srgbClr val="1A1A1A"/>
                </a:solidFill>
                <a:latin typeface="Calibri" pitchFamily="34" charset="0"/>
                <a:ea typeface="Calibri" pitchFamily="34" charset="-122"/>
                <a:cs typeface="Calibri" pitchFamily="34" charset="-120"/>
              </a:rPr>
              <a:t>Mr KAMDEM EMMANUEL</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Geography Teacher — PLEG</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Academic Year 2026 / 2027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CLASS INFO</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Class, Chapter &amp; Duration</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Class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Form 2 Technical</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Chapter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Economic Geography — Natural Regions: 1. Equatorial Regions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Duration</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2 periods (2 × 50 minutes)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IDENTIFICATION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Lesson Identification</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Natural Regions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Lesson 1: The Equatorial Region — Problems Faced, Problems Caused and Attempted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Notions /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Deforestation, soil erosion, loss of biodiversity, conservation, reforestation.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Syllabus focus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Problems faced by man, problems caused by man and attempted solutions in the Equatorial region (progression sheet, week 7).</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Learners are able to recognise the damage caused by cutting down trees around them and take simple actions to protect trees, soils and rivers.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OBJECTIVES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Learning Objectives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200" b="1" dirty="0">
                <a:solidFill>
                  <a:srgbClr val="111111"/>
                </a:solidFill>
                <a:latin typeface="Calibri" pitchFamily="34" charset="0"/>
                <a:ea typeface="Calibri" pitchFamily="34" charset="-122"/>
                <a:cs typeface="Calibri" pitchFamily="34" charset="-120"/>
              </a:rPr>
              <a:t>By the end of the lesson, the learner should be able to:</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Identify the problems that the Equatorial environment creates for people.</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Identify the problems that human activities cause to the Equatorial environment.</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Describe the solutions that have been attempted to solve these problems.</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RECALL</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Recall</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The Equatorial region is hot and wet all year, with a thick evergreen forest and poor ferrallitic soils.</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Its resources are timber, water, minerals, wildlife and farmland.</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People exploit them through lumbering, plantation farming, hunting and mining.</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Real-Life Situation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visits his uncle in a village of the East Region. A logging company has cut many trees near the village. After a heavy rain, muddy water runs into the village stream. Now the water is dirty and there are fewer fish.</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village stream is muddy and has fewer fish.</a:t>
            </a:r>
            <a:endParaRPr lang="en-US" sz="4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mud go into the stream?</a:t>
            </a:r>
            <a:endParaRPr lang="en-US" sz="4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trees were cut, so the rain washed the bare soil into the stream.</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the village do?</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can plant trees and keep the trees along the stream.</a:t>
            </a:r>
            <a:endParaRPr lang="en-US" sz="4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JUSTIFICATION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problems of the forest region and how to solve them.</a:t>
            </a:r>
            <a:endParaRPr lang="en-US" sz="4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PROBLEMS FACED BY MAN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13" name="Image 0" descr="/home/claude/f4/img/v2/f2t_muddy_road.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road after heavy rain in Cameroon.</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PROBLEMS FACED BY MAN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the road. What problem does heavy rain cause for transport?</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PROBLEMS FACED BY MAN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road becomes muddy. Cars and people move with difficulty.</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PROBLEMS FACED BY MAN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13" name="Image 0" descr="/home/claude/f4/img/v2/f2t_mosquito_net.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bed with a mosquito net.</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PROBLEMS FACED BY MAN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people sleep under a net like this? Which disease does it prevent?</a:t>
            </a:r>
            <a:endParaRPr lang="en-US" sz="4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PROBLEMS FACED BY MAN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net stops mosquitoes. It prevents malaria.</a:t>
            </a: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PROBLEMS CAUSED BY MAN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13" name="Image 0" descr="/home/claude/f4/img/v2/f2t_logging_truck.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lorry carries big logs in the East Region of Cameroon.</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PROBLEMS CAUSED BY MAN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these logs come from? What happens to the forest?</a:t>
            </a:r>
            <a:endParaRPr lang="en-US" sz="4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PROBLEMS CAUSED BY MAN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come from the forest. The trees are cut: this is deforestation.</a:t>
            </a:r>
            <a:endParaRPr lang="en-US" sz="4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PROBLEMS CAUSED BY MAN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13" name="Image 0" descr="/home/claude/f4/img/v2/erosion_rain.gif">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Animation: rain on bare soil (left) and on soil covered with plants (right).</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PROBLEMS CAUSED BY MAN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side does the rain wash the soil away? Why?</a:t>
            </a:r>
            <a:endParaRPr lang="en-US" sz="4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PROBLEMS CAUSED BY MAN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left, because the soil is bare. The plants protect the soil on the right.</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ATTEMPTED SOLUTIONS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13" name="Image 0" descr="/home/claude/f4/img/v2/f2t_tree_planting.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girl holds a young tree to plant it.</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ATTEMPTED SOLUTIONS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she going to do? How does it help the forest?</a:t>
            </a:r>
            <a:endParaRPr lang="en-US" sz="4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ATTEMPTED SOLUTIONS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will plant the young tree. New trees bring the forest back.</a:t>
            </a:r>
            <a:endParaRPr lang="en-US" sz="4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The Equatorial Region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indent="0" marL="0">
              <a:lnSpc>
                <a:spcPct val="100000"/>
              </a:lnSpc>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 The Equatorial Region — Problems Faced, Problems Caused and Attempted Solutions</a:t>
            </a:r>
            <a:endParaRPr lang="en-US" sz="3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Deforestation: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cutting down of forests.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Soil erosion: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washing away of soil by rain or wind.</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Reforestation: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planting of new trees.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Conservation: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protection of nature for the future.</a:t>
            </a:r>
            <a:endParaRPr lang="en-US" sz="4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Problems Faced by Man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 main problems are:</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Transport: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Heavy rain makes the roads muddy.</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Diseases: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Mosquitoes carry malaria.</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The thick forest: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hard to clear for farms and roads.</a:t>
            </a:r>
            <a:endParaRPr lang="en-US" sz="4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Problems Faced by Man (2/2)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D. Poor soils: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Rain washes the plant food out of the soil.</a:t>
            </a:r>
            <a:endParaRPr lang="en-US" sz="4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Problems Caused by Man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 main problems are:</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Deforestation: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People cut too many trees.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Soil erosion: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Rain washes away the bare soil.</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Loss of animals: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Gorillas and elephants become rare.</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D. Water pollution: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Mining makes the rivers dirty.</a:t>
            </a:r>
            <a:endParaRPr lang="en-US" sz="4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IV. Attempted Solutions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 main solutions are:</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Reforestation: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People plant new trees.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Protected areas: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Parks like the Dja protect plants and animals.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Selective logging: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Companies cut only some big trees.</a:t>
            </a:r>
            <a:endParaRPr lang="en-US" sz="4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IV. Attempted Solutions (2/2)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D. Health care: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 government gives mosquito nets.</a:t>
            </a:r>
            <a:endParaRPr lang="en-US" sz="4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faced by man in the forest region.</a:t>
            </a:r>
            <a:endParaRPr lang="en-US" sz="4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Muddy roads and diseases like malaria.</a:t>
            </a:r>
            <a:endParaRPr lang="en-US" sz="4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 to deforestation.</a:t>
            </a:r>
            <a:endParaRPr lang="en-US" sz="4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Planting new trees and creating protected areas.</a:t>
            </a:r>
            <a:endParaRPr lang="en-US" sz="4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REMEDIATION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Fill in the blanks: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The cutting down of forests is called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Mosquitoes carry a disease called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The planting of new trees is called ______.</a:t>
            </a:r>
            <a:endParaRPr lang="en-US" sz="36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HOMEWORK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vegetation around your home in Garoua. Are there tall trees growing close together, or grasses with scattered trees? Write two sentences to describe it.</a:t>
            </a:r>
            <a:endParaRPr lang="en-US" sz="4000" dirty="0"/>
          </a:p>
          <a:p>
            <a:pPr indent="0" marL="0">
              <a:lnSpc>
                <a:spcPct val="100000"/>
              </a:lnSpc>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This prepares Lesson 2: The Tropical Grassland Region (location and climate).</a:t>
            </a:r>
            <a:endParaRPr lang="en-US" sz="4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BILINGUAL GAME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Bilingual Game (Jeu Bilingue)</a:t>
            </a:r>
            <a:endParaRPr lang="en-US" sz="30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2011680" y="1783080"/>
          <a:ext cx="8138160" cy="914400"/>
        </p:xfrm>
        <a:graphic>
          <a:graphicData uri="http://schemas.openxmlformats.org/drawingml/2006/table">
            <a:tbl>
              <a:tblPr/>
              <a:tblGrid>
                <a:gridCol w="4069080"/>
                <a:gridCol w="4069080"/>
              </a:tblGrid>
              <a:tr h="0">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Français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Deforestation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déforestation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Soil erosion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L'érosion des sols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Biodiversity</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biodiversité</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Poaching</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braconnage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Reforestation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reboisement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Protected area</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L'aire protégée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Conservation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conservation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Mosquito net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moustiquaire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(1/2)</a:t>
            </a:r>
            <a:endParaRPr lang="en-US" sz="3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Module / Topic</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Man in His Environment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Lesson Title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Lesson 1: The Equatorial Region — Problems Faced, Problems Caused and Attempted Solutions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Expected Learning Outcomes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Identify the problems that the Equatorial environment creates for people. Identify the problems that human activities cause to the Equatorial environment. Describe the solutions that have been attempted to solve these problems.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Competence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Learners are able to recognise the damage caused by cutting down trees around them and take simple actions to protect trees, soils and rivers.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(2/2)</a:t>
            </a:r>
            <a:endParaRPr lang="en-US" sz="30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Matter Taught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I. Definitions: Deforestation, Soil erosion, Reforestation, Conservation; II. Problems Faced by Man: Transport, Diseases, The thick forest, Poor soils; III. Problems Caused by Man: Deforestation, Soil erosion, Loss of animals, Water pollution; IV. Attempted Solutions: Reforestation, Protected areas, Selective logging, Health care.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Evaluation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Formative evaluation (3 questions) and remediation exercise.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Homework</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Observe the vegetation around your home in Garoua. Are there tall trees growing close together, or grasses with scattered trees? Write two sentences to describe it.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Enrolment / Present / Absent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____ / ____ / ____</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Achievement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To be completed by the teacher after the lesson.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TEACHER'S NOTE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Teacher's Note</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Timing: Set-up, recall 8 min | Situation 8 min | 5 activities 25 min | Board summary (copying) 30 min | Evaluation, remediation 10 min | Homework 4 min | Logbook 10 min | Spare 5 min</a:t>
            </a:r>
            <a:endParaRPr lang="en-US" sz="2000" dirty="0"/>
          </a:p>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Dja Faunal Reserve: UNESCO World Heritage site since 1987. Forestry Law No. 94/01 of 20 January 1994 obliges logging companies to follow a management plan.</a:t>
            </a:r>
            <a:endParaRPr lang="en-US" sz="2000" dirty="0"/>
          </a:p>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Activity 4 is an animation (GIF): it plays automatically in slide-show mode.</a:t>
            </a:r>
            <a:endParaRPr lang="en-US" sz="2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REFERENCES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References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 — week 7.</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Lesson 1 document: The Equatorial Region (teacher's file).</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UNESCO: Dja Faunal Reserve (1987); Cameroon Forestry Law No. 94/01 of 20 January 1994.</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1: “Cameroon - UN Women's Gender Road Project” by UN Women Gallery, CC BY-NC-ND 2.0, via Flickr (https://www.flickr.com/photos/51431730@N04/40672356003)</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2: “On Vacation in Africa” by orkomedix, CC BY-NC-SA 2.0, via Flickr (https://www.flickr.com/photos/30717090@N06/6741038415)</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3: “Logging truck, Cameroon” by World Resources, CC BY-NC-SA 2.0, via Flickr (https://www.flickr.com/photos/26107309@N05/4764354366)</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5: “Haitian Students Breathe New Life into Depleted Pine Forest” by United Nations Photo, CC BY-NC-ND 2.0, via Flickr (https://www.flickr.com/photos/35483578@N03/5860275159)</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Diagrams and animations: drawn for this lesson (DGCAST Geography Department).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2026-09-27T04:25:08Z</dcterms:created>
  <dcterms:modified xsi:type="dcterms:W3CDTF">2026-09-27T04:25:08Z</dcterms:modified>
</cp:coreProperties>
</file>