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Lst>
  <p:notesMasterIdLst>
    <p:notesMasterId r:id="rId7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notesMaster" Target="notesMasters/notesMaster1.xml"/><Relationship Id="rId75" Type="http://schemas.openxmlformats.org/officeDocument/2006/relationships/presProps" Target="presProps.xml"/><Relationship Id="rId76" Type="http://schemas.openxmlformats.org/officeDocument/2006/relationships/viewProps" Target="viewProps.xml"/><Relationship Id="rId77" Type="http://schemas.openxmlformats.org/officeDocument/2006/relationships/theme" Target="theme/theme1.xml"/><Relationship Id="rId7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7: Towns in Africa.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2. It belongs to Module 2: Space Occupation.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Space Occupation, and the sub-topic is Towns and Country Sides of Africa. The key notions we shall use today are: town, urban landscape, city, informal sector, megalopolis. At the end, you should be able to do this: learners are able to identify, classify and describe African towns, their activities and their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6: Country Sides in Africa. The question was: Describe your village or a village you know: its fields, its houses and two attractive aspects.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Answers vary. Example: fields of maize and cotton around the village; round mud houses with grass roofs grouped around the chief's compound; fresh food and solidarity at harvest time.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the urban landscape of African towns and classify towns. Number 2: identify informal activities in towns. Number 3: explain the problems of African towns and cities.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Towns have many people and buildings. Douala and Yaoundé are big cities. Many young people move to towns.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Ibrahim visits Douala for the first time. He admires the tall buildings and the busy port, but he also sees street sellers everywhere, traffic jams and quarters with poor houses and dirty gutters. He asks his uncle: "Why does such a rich town also have so many problems?"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Ibrahim does not understand why a big, rich town also has many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Name two things he admires.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Tall buildings and the busy 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Name two problems of the town.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Traffic jams and poor quarters with dirty gutters.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keep your town clean and respect traffic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life and problems in African towns.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yaoundé.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shows that this place is a town and not a village?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Tall buildings, many roads and cars, and dense housing.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the main towns of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Which are the two largest towns of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Douala and Yaoundé.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next question: Is Garoua bigger or smaller than them?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Smaller: it is a medium-sized town.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street seller roasting maize.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Does this seller have a shop, a contract or a registered business?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No: he works on the street without registration; this is an informal activity.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traffic jam.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are there traffic jams in big African towns?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There are too many vehicles for narrow and badly maintained roads.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crowded poor quarter.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problem of African towns does this picture show?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Poor housing: a slum, crowded and without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Town and City.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Megalopolis and Informal sector.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Elements of the Urban Landscape. An African town has the following parts. Copy the point on The centre (Central Business District) on the left, then draw the diagram on the right: the centre of Yaoundé.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Rich residential quarters on the left, then draw the diagram on the right: a rich residential quarter.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Poor quarters (slums) on the left, then draw the diagram on the right: a poor quarter.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Elements of the Urban Landscape. On this slide we have Industrial zones and ports.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Markets and transport areas on the left, then draw the diagram on the right: a bus station.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Classification of Towns by Size. Towns can be classified by their size as follows. On this slide we have Small towns.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Classification of Towns by Size. On this slide we have Medium-sized towns.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Millionaire cities on the left, then draw the diagram on the right: the main towns of Cameroon.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Megalopolises on the left, then draw the diagram on the right: city, conurbation and megalopolis.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Classification of Towns by Function. Towns can also be classified by their main function. Copy the point on Administrative towns on the left, then draw the diagram on the right: urban functions.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Classification of Towns by Function. On this slide we have Commercial and port towns and Industrial towns.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Classification of Towns by Function. On this slide we have Educational and religious towns.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Informal Activities. Many town dwellers work in the following informal activities. Copy the point on Street trade on the left, then draw the diagram on the right: a street seller.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Transport on the left, then draw the diagram on the right: moto-taxis.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Crafts on the left, then draw the diagram on the right: a tailor.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Informal Activities. On this slide we have Repairs and services.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Problems of African Towns and Cities. African towns and cities face the following problems. On this slide we have Unemployment.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Poor housing (slums) on the left, then draw the diagram on the right: a slum.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Traffic jams on the left, then draw the diagram on the right: a traffic jam.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Waste and floods on the left, then draw the diagram on the right: a flooded street.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Problems of African Towns and Cities. On this slide we have Insecurity and Lack of social amenities.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informal activities.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street selling and moto-taxi driving.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three problems of African towns.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traffic jams, unemployment and slums.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informal; number 2, slum; number 3, millionaire.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List five informal activities you see on your way to school.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Further Study 5: Informal Sector Activities in African Cities.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2</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7: TOWNS IN AFRICA</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jp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jp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jp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jp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jp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jp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jp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2.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2.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2.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2.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2.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2.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2.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slideLayout" Target="../slideLayouts/slideLayout2.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slideLayout" Target="../slideLayouts/slideLayout2.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slideLayout" Target="../slideLayouts/slideLayout2.xml"/><Relationship Id="rId3" Type="http://schemas.openxmlformats.org/officeDocument/2006/relationships/notesSlide" Target="../notesSlides/notesSlide7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2</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7</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Towns in Africa</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2</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2: Space Occupation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Space Occupation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Towns and Country Sides of Africa</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7: Towns in Africa</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Town, urban landscape, city, informal sector, megalopolis.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Urban landscapes; informal activities; problems of African towns and cities.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identify, classify and describe African towns, their activities and their problems.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6: Country Sides in Africa):</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your village or a village you know: its fields, its houses and two attractive aspects.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Answers vary. Example: fields of maize and cotton around the village; round mud houses with grass roofs grouped around the chief's compound; fresh food and solidarity at harvest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urban landscape of African towns and classify towns.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informal activities in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problems of African towns and cities.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Towns have many people and buildings.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Douala and Yaoundé are big cities.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Many young people move to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Ibrahim visits Douala for the first time. He admires the tall buildings and the busy port, but he also sees street sellers everywhere, traffic jams and quarters with poor houses and dirty gutters. He asks his uncle: "Why does such a rich town also have so many problems?"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Ibrahim does not understand why a big, rich town also has many problems.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things he admires.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Tall buildings and the busy 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problems of the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Traffic jams and poor quarters with dirty gutters.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Keep your town clean and respect traffic rules.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life and problems in African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URBAN LANDSCAPE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lsa_yaound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Yaoundé.</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URBAN LANDSCAPE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shows that this place is a town and not a village?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URBAN LANDSCAPE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Tall buildings, many roads and cars, and dense housing.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URBAN LANDSCAPE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cmr_towns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main towns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URBAN LANDSCAPE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are the two largest towns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URBAN LANDSCAPE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Douala and Yaoundé.</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URBAN LANDSCAPE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Is Garoua bigger or smaller than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URBAN LANDSCAPE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Smaller: it is a medium-sized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INFORMAL ACTIVITIES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street_vendo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street seller roasting maize.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INFORMAL ACTIVITIES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Does this seller have a shop, a contract or a registered business?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INFORMAL ACTIVITIES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No: he works on the street without registration; this is an informal activity.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PROBLEMS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traffic.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traffic jam.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PROBLEMS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there traffic jams in big African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PROBLEMS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There are too many vehicles for narrow and badly maintained roads.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PROBLEMS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usa_slum.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crowded poor quarter.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PROBLEMS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problem of African towns does this picture show?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PROBLEMS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Poor housing: a slum, crowded and without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Space Occupation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Towns and Country Sides of Africa</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7: Towns in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Town: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large, dense settlement where most people work in trade, industry and services.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large and important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Megalopolis: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very large urban region formed when several big cities grow and join together.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Informal sector: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all the small economic activities that are not registered and do not pay taxes regularly.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Urban Landscapes</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Elements of the Urban Landscape</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An African town has the following parts: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The centre (Central Business District):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It has offices, banks, big shops and tall buildings.</a:t>
            </a:r>
            <a:endParaRPr lang="en-US" sz="3600" dirty="0"/>
          </a:p>
        </p:txBody>
      </p:sp>
      <p:pic>
        <p:nvPicPr>
          <p:cNvPr id="6" name="Image 0" descr="/home/claude/f4/img/v2/lsa_yaounde.jpg">    </p:cNvPr>
          <p:cNvPicPr>
            <a:picLocks noChangeAspect="1"/>
          </p:cNvPicPr>
          <p:nvPr/>
        </p:nvPicPr>
        <p:blipFill>
          <a:blip r:embed="rId1"/>
          <a:stretch>
            <a:fillRect/>
          </a:stretch>
        </p:blipFill>
        <p:spPr>
          <a:xfrm>
            <a:off x="5349240" y="2071212"/>
            <a:ext cx="6659575" cy="3693983"/>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centre of Yaoundé</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Urban Landscapes</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Elements of the Urban Landscape</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Rich residential quarters: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They have large houses, gardens, tarred roads and all services.</a:t>
            </a:r>
            <a:endParaRPr lang="en-US" sz="3600" dirty="0"/>
          </a:p>
        </p:txBody>
      </p:sp>
      <p:pic>
        <p:nvPicPr>
          <p:cNvPr id="6" name="Image 0" descr="/home/claude/f4/img/v2/usa_suburb.jpg">    </p:cNvPr>
          <p:cNvPicPr>
            <a:picLocks noChangeAspect="1"/>
          </p:cNvPicPr>
          <p:nvPr/>
        </p:nvPicPr>
        <p:blipFill>
          <a:blip r:embed="rId1"/>
          <a:stretch>
            <a:fillRect/>
          </a:stretch>
        </p:blipFill>
        <p:spPr>
          <a:xfrm>
            <a:off x="5349240" y="2071212"/>
            <a:ext cx="6659575" cy="3693983"/>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rich residential quarter</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Urban Landscapes</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Elements of the Urban Landscape</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Poor quarters (slums):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They are crowded, with poor houses and few roads, drains or water points.</a:t>
            </a:r>
            <a:endParaRPr lang="en-US" sz="3600" dirty="0"/>
          </a:p>
        </p:txBody>
      </p:sp>
      <p:pic>
        <p:nvPicPr>
          <p:cNvPr id="6" name="Image 0" descr="/home/claude/f4/img/v2/usa_slum.jpg">    </p:cNvPr>
          <p:cNvPicPr>
            <a:picLocks noChangeAspect="1"/>
          </p:cNvPicPr>
          <p:nvPr/>
        </p:nvPicPr>
        <p:blipFill>
          <a:blip r:embed="rId1"/>
          <a:stretch>
            <a:fillRect/>
          </a:stretch>
        </p:blipFill>
        <p:spPr>
          <a:xfrm>
            <a:off x="5349240" y="2069407"/>
            <a:ext cx="6659575" cy="3697594"/>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poor quarter</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Urban Landscapes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Elements of the Urban Landscape</a:t>
            </a:r>
            <a:endParaRPr lang="en-US" sz="30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Industrial zones and ports: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Factories, warehouses and ports are found near railways, rivers or the sea, as in Douala.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Urban Landscapes</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Elements of the Urban Landscape</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Markets and transport areas: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Big markets, bus stations and motor parks are crowded at all times.</a:t>
            </a:r>
            <a:endParaRPr lang="en-US" sz="3600" dirty="0"/>
          </a:p>
        </p:txBody>
      </p:sp>
      <p:pic>
        <p:nvPicPr>
          <p:cNvPr id="6" name="Image 0" descr="/home/claude/f4/img/v2/usa_busstation.jpg">    </p:cNvPr>
          <p:cNvPicPr>
            <a:picLocks noChangeAspect="1"/>
          </p:cNvPicPr>
          <p:nvPr/>
        </p:nvPicPr>
        <p:blipFill>
          <a:blip r:embed="rId1"/>
          <a:stretch>
            <a:fillRect/>
          </a:stretch>
        </p:blipFill>
        <p:spPr>
          <a:xfrm>
            <a:off x="5349240" y="2071212"/>
            <a:ext cx="6659575" cy="3693983"/>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bus station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Urban Landscapes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B) Classification of Towns by Size</a:t>
            </a:r>
            <a:endParaRPr lang="en-US" sz="30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Towns can be classified by their size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Small towns: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have a few thousand to about 50,000 people, such as Poli and Tcholliré.</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Urban Landscapes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2200" b="1" dirty="0">
                <a:solidFill>
                  <a:srgbClr val="990011"/>
                </a:solidFill>
                <a:latin typeface="Times New Roman" pitchFamily="34" charset="0"/>
                <a:ea typeface="Times New Roman" pitchFamily="34" charset="-122"/>
                <a:cs typeface="Times New Roman" pitchFamily="34" charset="-120"/>
              </a:rPr>
              <a:t>B) Classification of Towns by Size (continued)</a:t>
            </a:r>
            <a:endParaRPr lang="en-US" sz="2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Medium-sized towns: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have about 50,000 to 1 million people, such as Garoua, Maroua and Bamenda.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Urban Landscapes</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B) Classification of Towns by Size</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Millionaire cities: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They have more than 1 million people, such as Douala, Yaoundé and Kinshasa.</a:t>
            </a:r>
            <a:endParaRPr lang="en-US" sz="3600" dirty="0"/>
          </a:p>
        </p:txBody>
      </p:sp>
      <p:pic>
        <p:nvPicPr>
          <p:cNvPr id="6" name="Image 0" descr="/home/claude/f4/img/v2/cmr_towns_big.png">    </p:cNvPr>
          <p:cNvPicPr>
            <a:picLocks noChangeAspect="1"/>
          </p:cNvPicPr>
          <p:nvPr/>
        </p:nvPicPr>
        <p:blipFill>
          <a:blip r:embed="rId1"/>
          <a:stretch>
            <a:fillRect/>
          </a:stretch>
        </p:blipFill>
        <p:spPr>
          <a:xfrm>
            <a:off x="5349240" y="2253310"/>
            <a:ext cx="6659575" cy="3329788"/>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main towns of Cameroon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Urban Landscapes</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B) Classification of Towns by Size</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Megalopolises: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They are chains of big cities joined together, such as the Lagos–Ibadan area in Nigeria.</a:t>
            </a:r>
            <a:endParaRPr lang="en-US" sz="3600" dirty="0"/>
          </a:p>
        </p:txBody>
      </p:sp>
      <p:pic>
        <p:nvPicPr>
          <p:cNvPr id="6" name="Image 0" descr="/home/claude/f4/img/v2/urban_forms_big.png">    </p:cNvPr>
          <p:cNvPicPr>
            <a:picLocks noChangeAspect="1"/>
          </p:cNvPicPr>
          <p:nvPr/>
        </p:nvPicPr>
        <p:blipFill>
          <a:blip r:embed="rId1"/>
          <a:stretch>
            <a:fillRect/>
          </a:stretch>
        </p:blipFill>
        <p:spPr>
          <a:xfrm>
            <a:off x="5349240" y="2617506"/>
            <a:ext cx="6659575" cy="2601397"/>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city, conurbation and megalopolis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Urban Landscapes</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C) Classification of Towns by Function</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Towns can also be classified by their main function:</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Administrative towns: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They are seats of government, such as Yaoundé, the political capital.</a:t>
            </a:r>
            <a:endParaRPr lang="en-US" sz="3200" dirty="0"/>
          </a:p>
        </p:txBody>
      </p:sp>
      <p:pic>
        <p:nvPicPr>
          <p:cNvPr id="6" name="Image 0" descr="/home/claude/f4/img/v2/urban_functions_big.png">    </p:cNvPr>
          <p:cNvPicPr>
            <a:picLocks noChangeAspect="1"/>
          </p:cNvPicPr>
          <p:nvPr/>
        </p:nvPicPr>
        <p:blipFill>
          <a:blip r:embed="rId1"/>
          <a:stretch>
            <a:fillRect/>
          </a:stretch>
        </p:blipFill>
        <p:spPr>
          <a:xfrm>
            <a:off x="5349240" y="2617506"/>
            <a:ext cx="6659575" cy="2601397"/>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urban functions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Urban Landscapes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C) Classification of Towns by Function</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Commercial and port towns: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live from trade and ports, such as Douala and Kribi.</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Industrial towns: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have many factories, such as Edéa with its aluminium plant.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Urban Landscapes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2000" b="1" dirty="0">
                <a:solidFill>
                  <a:srgbClr val="990011"/>
                </a:solidFill>
                <a:latin typeface="Times New Roman" pitchFamily="34" charset="0"/>
                <a:ea typeface="Times New Roman" pitchFamily="34" charset="-122"/>
                <a:cs typeface="Times New Roman" pitchFamily="34" charset="-120"/>
              </a:rPr>
              <a:t>C) Classification of Towns by Function (continued)</a:t>
            </a:r>
            <a:endParaRPr lang="en-US" sz="20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Educational and religious towns: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have universities or religious centres, such as Buea, Dschang and Ngaoundéré.</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Informal Activities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Many town dwellers work in the following informal activities: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Street trade: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Sellers of food, fruits, clothes and phone credit work on the streets and in markets.</a:t>
            </a:r>
            <a:endParaRPr lang="en-US" sz="3600" dirty="0"/>
          </a:p>
        </p:txBody>
      </p:sp>
      <p:pic>
        <p:nvPicPr>
          <p:cNvPr id="5" name="Image 0" descr="/home/claude/f4/img/v2/f2t_street_vendor.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street seller</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Informal Activities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Transport: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Moto-taxis and clandestine taxis carry people across the town.</a:t>
            </a:r>
            <a:endParaRPr lang="en-US" sz="3600" dirty="0"/>
          </a:p>
        </p:txBody>
      </p:sp>
      <p:pic>
        <p:nvPicPr>
          <p:cNvPr id="5" name="Image 0" descr="/home/claude/f4/img/v2/f2t_moto_taxi.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moto-taxis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Informal Activities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Crafts: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Tailors, carpenters, blacksmiths and hairdressers work in small workshops.</a:t>
            </a:r>
            <a:endParaRPr lang="en-US" sz="3600" dirty="0"/>
          </a:p>
        </p:txBody>
      </p:sp>
      <p:pic>
        <p:nvPicPr>
          <p:cNvPr id="5" name="Image 0" descr="/home/claude/f4/img/v2/f2t_tailor.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tailor</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Informal Activities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Repairs and services: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Mechanics, shoe repairers, phone repairers and mobile money agents serve the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Problems of African Towns and Cities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African towns and cities face the following problems: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Unemployment: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There are not enough jobs for the many young people who arrive from villages.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Problems of African Towns and Cities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Poor housing (slums):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Many people live in crowded quarters without water, drains or electricity.</a:t>
            </a:r>
            <a:endParaRPr lang="en-US" sz="3600" dirty="0"/>
          </a:p>
        </p:txBody>
      </p:sp>
      <p:pic>
        <p:nvPicPr>
          <p:cNvPr id="5" name="Image 0" descr="/home/claude/f4/img/v2/usa_slum.jpg">    </p:cNvPr>
          <p:cNvPicPr>
            <a:picLocks noChangeAspect="1"/>
          </p:cNvPicPr>
          <p:nvPr/>
        </p:nvPicPr>
        <p:blipFill>
          <a:blip r:embed="rId1"/>
          <a:stretch>
            <a:fillRect/>
          </a:stretch>
        </p:blipFill>
        <p:spPr>
          <a:xfrm>
            <a:off x="5349240" y="2069407"/>
            <a:ext cx="6659575" cy="3697594"/>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slum</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Problems of African Towns and Cities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Traffic jams: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Roads are too narrow for the growing number of vehicles.</a:t>
            </a:r>
            <a:endParaRPr lang="en-US" sz="3600" dirty="0"/>
          </a:p>
        </p:txBody>
      </p:sp>
      <p:pic>
        <p:nvPicPr>
          <p:cNvPr id="5" name="Image 0" descr="/home/claude/f4/img/v2/usa_traffic.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traffic jam</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Problems of African Towns and Cities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Waste and floods: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Rubbish blocks the gutters, and quarters are flooded after heavy rain.</a:t>
            </a:r>
            <a:endParaRPr lang="en-US" sz="3600" dirty="0"/>
          </a:p>
        </p:txBody>
      </p:sp>
      <p:pic>
        <p:nvPicPr>
          <p:cNvPr id="5" name="Image 0" descr="/home/claude/f4/img/v2/lsa_streetflood.jpg">    </p:cNvPr>
          <p:cNvPicPr>
            <a:picLocks noChangeAspect="1"/>
          </p:cNvPicPr>
          <p:nvPr/>
        </p:nvPicPr>
        <p:blipFill>
          <a:blip r:embed="rId1"/>
          <a:stretch>
            <a:fillRect/>
          </a:stretch>
        </p:blipFill>
        <p:spPr>
          <a:xfrm>
            <a:off x="5349240" y="2067961"/>
            <a:ext cx="6659575" cy="370048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flooded street</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Problems of African Towns and Cities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Insecurity: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Poverty and unemployment favour theft and aggression.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Lack of social amenities: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Schools, hospitals, water and electricity are not enough for everybody.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informal activities.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Street selling and moto-taxi driving.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problems of African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Traffic jams, unemployment and slums.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Small unregistered jobs form the ______ sector.</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crowded poor quarter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town of more than one million people is a ______ 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five informal activities you see on your way to school.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Further Study 5: Informal Sector Activities in African Cities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6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Town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ville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grande ville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Traffic jam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L'embouteillage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Slum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bidonville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Street seller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vendeur ambulant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Unemployment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chômage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6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Space Occupation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7: Towns in Africa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urban landscape of African towns and classify towns. Identify informal activities in towns. Explain the problems of African towns and cities.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identify, classify and describe African towns, their activities and their problems.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7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Elements of the Urban Landscape; Classification of Towns by Size; Classification of Towns by Function; Informal Activities; Problems of African Towns and Cities.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List five informal activities you see on your way to school.</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 the centre of Garoua.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use the atlas.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list small jobs in town.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describe rush hour in town.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poor quarters of Garoua.</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2, Module 2: Space Occupation.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“Yaoundé” by wili_hybrid, CC BY-NC 2.0, via Flickr (https://www.flickr.com/photos/62223880@N00/5677034246)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“Roadside vendor roasts maize cobs for sale in Timau” by CIMMYT, CC BY-NC 2.0, via Flickr (https://www.flickr.com/photos/44760652@N05/25375356457)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“Nairobi Traffic Jam” by rogiro, CC BY-NC 2.0, via Flickr (https://www.flickr.com/photos/43132185@N00/48712135)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“Mathare” by Book Aid International, CC BY-NC-ND 2.0, via Flickr (https://www.flickr.com/photos/45024905@N07/4135561707)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(Rich residential quarters): “Chicago suburbs from the air” by Scorpions and Centaurs, CC BY-NC-SA 2.0, via Flickr (https://www.flickr.com/photos/62736719@N00/2912708983)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(Markets and transport areas): “Wadi Halfa Bus Station” by D-Stanley, CC BY 2.0, via Flickr (https://www.flickr.com/photos/79721788@N00/8651154444)</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(Transport): “Cameroon - UN Women's Gender Road Project” by UN Women Gallery, CC BY-NC-ND 2.0, via Flickr (https://www.flickr.com/photos/51431730@N04/47586053052)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(Crafts): “A tailor of Wa” by 10b travelling / Carsten ten Brink, CC BY-NC-ND 2.0, via Flickr (https://www.flickr.com/photos/77334245@N00/8154947468)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(Waste and floods): “Vicenza flooding Nov.1, 2010” by US Army Africa, CC BY 2.0, via Flickr (https://www.flickr.com/photos/36281822@N08/5157191333)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72</Slides>
  <Notes>72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72</vt:i4>
      </vt:variant>
    </vt:vector>
  </HeadingPairs>
  <TitlesOfParts>
    <vt:vector size="7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2026-09-28T17:20:26Z</dcterms:created>
  <dcterms:modified xsi:type="dcterms:W3CDTF">2026-09-28T17:20:26Z</dcterms:modified>
</cp:coreProperties>
</file>