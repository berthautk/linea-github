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Lst>
  <p:notesMasterIdLst>
    <p:notesMasterId r:id="rId6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notesMaster" Target="notesMasters/notesMaster1.xml"/><Relationship Id="rId62" Type="http://schemas.openxmlformats.org/officeDocument/2006/relationships/presProps" Target="presProps.xml"/><Relationship Id="rId63" Type="http://schemas.openxmlformats.org/officeDocument/2006/relationships/viewProps" Target="viewProps.xml"/><Relationship Id="rId64" Type="http://schemas.openxmlformats.org/officeDocument/2006/relationships/theme" Target="theme/theme1.xml"/><Relationship Id="rId6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Further Study 7: Rural Exodus in Cameroon.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2. It belongs to Module 2: Space Occupation.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Space Occupation, and the sub-topic is Towns and Country Sides of Africa. The key notions we shall use today are: rural exodus, push factors, pull factors, rural development. At the end, you should be able to do this: learners are able to explain rural exodus in Cameroon and propose ways to make villages attractive.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8: Relationships between Towns and Country Sides. The question was: List three products your family buys from villages and three goods villagers buy in town.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From villages: onions, groundnuts, maize (or firewood). From town: soap, cooking oil, clothes (also phones, sugar).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explain the causes of rural exodus. Number 2: explain its consequences. Number 3: propose ways to make the country side more attractive.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Villages lack some services. Towns offer jobs and services. Many young people go to towns.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In Hamadou's village, most young people have left for Garoua, Douala and Yaoundé. Only old people and children remain, and many fields are no longer farmed. The village chief asks: "Why do our young people leave, and what can we do to keep them here?"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Young people leave the village, and the chief does not know how to keep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Who remains in the village?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Old people and children.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happens to the fields?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They are abandoned.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create activities in your village and support its development.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further study helps us to understand why young people leave villages and how to keep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migration flows in Cameroon.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Towards which towns do most migrants of Cameroon go?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Douala and Yaoundé.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a bad rural road.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What in the village pushes young people to leave?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Lack of jobs, poverty, bad roads and poor services.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yaoundé.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What attracts young people to towns?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Jobs, schools, hospitals, electricity and modern life.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a slum in a town.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Where do many migrants live when they arrive in a big town?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In crowded poor quarters (slums).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a village water pump.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How does a water point like this help to keep people in the village?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improves daily life: clean water close to home, better health and more time for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Rural exodus and Push factors.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Pull factors.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Push Factors. The following conditions push people out of villages. Copy the point on Poverty and unemployment on the left, then draw the diagram on the right: a bad rural road.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Push Factors. On this slide we have Lack of social amenities and Bad roads.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Push Factors. On this slide we have Shortage of land and hard work and Insecurity and traditions.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Pull Factors. The following attractions pull people to towns. Copy the point on Jobs on the left, then draw the diagram on the right: yaoundé.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Pull Factors. On this slide we have Social amenities, Modern life and Family links.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In the Country Side. Rural exodus has the following consequences in villages. On this slide we have Loss of young workers.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In the Country Side. On this slide we have Fall of food production, Money from migrants and Village development.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In the Towns. Rural exodus has the following consequences in towns. Copy the point on Rapid growth and slums on the left, then draw the diagram on the right: a slum.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In the Towns. On this slide we have Unemployment, Pressure on services and Insecurity.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Making the Country Side More Attractive. The country side can be made more attractive by the following measures. On this slide we have Roads.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Social amenities on the left, then draw the diagram on the right: a village water pump.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Making the Country Side More Attractive. On this slide we have Modern farming and Cooperatives and CIGs.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Making the Country Side More Attractive. On this slide we have Rural jobs and Culture and leisure.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Give two causes of rural exodus.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lack of jobs in villages and attractive services in towns.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two ways to make villages attractive.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build roads and create jobs in modern farming.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exodus; number 2, pull; number 3, push.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Propose three projects that could keep young people in your village.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2</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FURTHER STUDY 7: RURAL EXODUS IN CAMEROON</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jp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jp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jp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jp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jp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jp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jp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jp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image" Target="../media/image-58-1.png"/><Relationship Id="rId2" Type="http://schemas.openxmlformats.org/officeDocument/2006/relationships/slideLayout" Target="../slideLayouts/slideLayout2.xml"/><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image" Target="../media/image-59-1.png"/><Relationship Id="rId2" Type="http://schemas.openxmlformats.org/officeDocument/2006/relationships/slideLayout" Target="../slideLayouts/slideLayout2.xml"/><Relationship Id="rId3" Type="http://schemas.openxmlformats.org/officeDocument/2006/relationships/notesSlide" Target="../notesSlides/notesSlide5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2</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Further Study 7</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Rural Exodus in Cameroon</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2</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2: Space Occupation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Space Occupation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Towns and Country Sides of Africa</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Further Study 7: Rural Exodus in Cameroon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Rural exodus, push factors, pull factors, rural development.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Causes and consequences of rural exodus; how the country side can be made more attractive.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rural exodus in Cameroon and propose ways to make villages attractive.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8: Relationships between Towns and Country Sides):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List three products your family buys from villages and three goods villagers buy in town.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From villages: onions, groundnuts, maize (or firewood). From town: soap, cooking oil, clothes (also phones, sugar).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causes of rural exodus.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its consequences.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Propose ways to make the country side more attractive.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Villages lack some services.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Towns offer jobs and services.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Many young people go to towns.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Hamadou's village, most young people have left for Garoua, Douala and Yaoundé. Only old people and children remain, and many fields are no longer farmed. The village chief asks: "Why do our young people leave, and what can we do to keep them here?"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Young people leave the village, and the chief does not know how to keep them.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Who remains in the village?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Old people and children.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happens to the fields?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abandoned.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Create activities in your village and support its development.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further study helps us to understand why young people leave villages and how to keep them.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CAUSES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cmr_migration_big.png">    </p:cNvPr>
          <p:cNvPicPr>
            <a:picLocks noChangeAspect="1"/>
          </p:cNvPicPr>
          <p:nvPr/>
        </p:nvPicPr>
        <p:blipFill>
          <a:blip r:embed="rId1"/>
          <a:stretch>
            <a:fillRect/>
          </a:stretch>
        </p:blipFill>
        <p:spPr>
          <a:xfrm>
            <a:off x="1825600" y="1783080"/>
            <a:ext cx="85404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Migration flows in Cameroon.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CAUSES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Towards which towns do most migrants of Cameroon go?</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CAUSES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Douala and Yaoundé.</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CAUSES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f2t_muddy_road.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bad rural road.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CAUSES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in the village pushes young people to leave?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CAUSES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Lack of jobs, poverty, bad roads and poor services.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CAUSES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lsa_yaounde.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Yaoundé.</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CAUSES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attracts young people to towns?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CAUSES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Jobs, schools, hospitals, electricity and modern life.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CONSEQUENCES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usa_slum.jpg">    </p:cNvPr>
          <p:cNvPicPr>
            <a:picLocks noChangeAspect="1"/>
          </p:cNvPicPr>
          <p:nvPr/>
        </p:nvPicPr>
        <p:blipFill>
          <a:blip r:embed="rId1"/>
          <a:stretch>
            <a:fillRect/>
          </a:stretch>
        </p:blipFill>
        <p:spPr>
          <a:xfrm>
            <a:off x="2250369" y="1783080"/>
            <a:ext cx="769095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slum in a town.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CONSEQUENCES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do many migrants live when they arrive in a big town?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CONSEQUENCES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crowded poor quarters (slums).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MAKING THE COUNTRY SIDE ATTRACTIVE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usa_pump.jpg">    </p:cNvPr>
          <p:cNvPicPr>
            <a:picLocks noChangeAspect="1"/>
          </p:cNvPicPr>
          <p:nvPr/>
        </p:nvPicPr>
        <p:blipFill>
          <a:blip r:embed="rId1"/>
          <a:stretch>
            <a:fillRect/>
          </a:stretch>
        </p:blipFill>
        <p:spPr>
          <a:xfrm>
            <a:off x="2248479" y="1783080"/>
            <a:ext cx="7694738"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village water pump.</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MAKING THE COUNTRY SIDE ATTRACTIVE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does a water point like this help to keep people in the village?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MAKING THE COUNTRY SIDE ATTRACTIVE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improves daily life: clean water close to home, better health and more time for 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Space Occupation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Towns and Country Sides of Africa</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Further Study 7: Rural Exodus in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Rural exodus: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massive movement of people from the country side to towns.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Push factors: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the conditions that make people leave the village.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Pull factors: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the attractions that draw people to towns.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Causes of Rural Exodus</a:t>
            </a:r>
            <a:endParaRPr lang="en-US" sz="3600" dirty="0"/>
          </a:p>
        </p:txBody>
      </p:sp>
      <p:sp>
        <p:nvSpPr>
          <p:cNvPr id="4" name="Text 2"/>
          <p:cNvSpPr/>
          <p:nvPr/>
        </p:nvSpPr>
        <p:spPr>
          <a:xfrm>
            <a:off x="365760" y="1737360"/>
            <a:ext cx="51206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A) Push Factors</a:t>
            </a:r>
            <a:endParaRPr lang="en-US" sz="3000" dirty="0"/>
          </a:p>
        </p:txBody>
      </p:sp>
      <p:sp>
        <p:nvSpPr>
          <p:cNvPr id="5" name="Text 3"/>
          <p:cNvSpPr/>
          <p:nvPr/>
        </p:nvSpPr>
        <p:spPr>
          <a:xfrm>
            <a:off x="365760" y="2240280"/>
            <a:ext cx="4846320" cy="4160520"/>
          </a:xfrm>
          <a:prstGeom prst="rect">
            <a:avLst/>
          </a:prstGeom>
          <a:noFill/>
          <a:ln/>
        </p:spPr>
        <p:txBody>
          <a:bodyPr wrap="square" lIns="0" tIns="0" rIns="0" bIns="0" rtlCol="0" anchor="t"/>
          <a:lstStyle/>
          <a:p>
            <a:pPr algn="l" indent="0" marL="0">
              <a:spcAft>
                <a:spcPts val="800"/>
              </a:spcAft>
              <a:buNone/>
            </a:pPr>
            <a:r>
              <a:rPr lang="en-US" sz="3200" i="1" dirty="0">
                <a:solidFill>
                  <a:srgbClr val="111111"/>
                </a:solidFill>
                <a:latin typeface="Times New Roman" pitchFamily="34" charset="0"/>
                <a:ea typeface="Times New Roman" pitchFamily="34" charset="-122"/>
                <a:cs typeface="Times New Roman" pitchFamily="34" charset="-120"/>
              </a:rPr>
              <a:t>The following conditions push people out of villages:</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Poverty and unemployment: </a:t>
            </a:r>
            <a:pPr algn="l" indent="0" marL="0">
              <a:spcAft>
                <a:spcPts val="800"/>
              </a:spcAft>
              <a:buNone/>
            </a:pPr>
            <a:r>
              <a:rPr lang="en-US" sz="3200" dirty="0">
                <a:solidFill>
                  <a:srgbClr val="111111"/>
                </a:solidFill>
                <a:latin typeface="Times New Roman" pitchFamily="34" charset="0"/>
                <a:ea typeface="Times New Roman" pitchFamily="34" charset="-122"/>
                <a:cs typeface="Times New Roman" pitchFamily="34" charset="-120"/>
              </a:rPr>
              <a:t>Farming gives low incomes, and there are few other jobs.</a:t>
            </a:r>
            <a:endParaRPr lang="en-US" sz="3200" dirty="0"/>
          </a:p>
        </p:txBody>
      </p:sp>
      <p:pic>
        <p:nvPicPr>
          <p:cNvPr id="6" name="Image 0" descr="/home/claude/f4/img/v2/f2t_muddy_road.jpg">    </p:cNvPr>
          <p:cNvPicPr>
            <a:picLocks noChangeAspect="1"/>
          </p:cNvPicPr>
          <p:nvPr/>
        </p:nvPicPr>
        <p:blipFill>
          <a:blip r:embed="rId1"/>
          <a:stretch>
            <a:fillRect/>
          </a:stretch>
        </p:blipFill>
        <p:spPr>
          <a:xfrm>
            <a:off x="5349240" y="2071212"/>
            <a:ext cx="6659575" cy="3693983"/>
          </a:xfrm>
          <a:prstGeom prst="rect">
            <a:avLst/>
          </a:prstGeom>
        </p:spPr>
      </p:pic>
      <p:sp>
        <p:nvSpPr>
          <p:cNvPr id="7" name="Text 4"/>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bad rural road</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Causes of Rural Exodus</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Push Factors</a:t>
            </a:r>
            <a:endParaRPr lang="en-US" sz="32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Lack of social amenities: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Villages lack secondary schools, hospitals, electricity and pipe-borne water.</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Bad roads: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Villages are isolated, and farm products are hard to sell.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Causes of Rural Exodus</a:t>
            </a:r>
            <a:endParaRPr lang="en-US" sz="3600" dirty="0"/>
          </a:p>
        </p:txBody>
      </p:sp>
      <p:sp>
        <p:nvSpPr>
          <p:cNvPr id="5" name="Text 2"/>
          <p:cNvSpPr/>
          <p:nvPr/>
        </p:nvSpPr>
        <p:spPr>
          <a:xfrm>
            <a:off x="1691640" y="1737360"/>
            <a:ext cx="101800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Push Factors (continued)</a:t>
            </a:r>
            <a:endParaRPr lang="en-US" sz="3200" dirty="0"/>
          </a:p>
        </p:txBody>
      </p:sp>
      <p:sp>
        <p:nvSpPr>
          <p:cNvPr id="6" name="Text 3"/>
          <p:cNvSpPr/>
          <p:nvPr/>
        </p:nvSpPr>
        <p:spPr>
          <a:xfrm>
            <a:off x="1691640" y="2240280"/>
            <a:ext cx="101800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Shortage of land and hard work: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Land is scarce in crowded areas, and farming with simple tools is tiring.</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Insecurity and traditions: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Conflicts, kidnappings and heavy traditional constraints make some young people leave.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Causes of Rural Exodus</a:t>
            </a:r>
            <a:endParaRPr lang="en-US" sz="3600" dirty="0"/>
          </a:p>
        </p:txBody>
      </p:sp>
      <p:sp>
        <p:nvSpPr>
          <p:cNvPr id="4" name="Text 2"/>
          <p:cNvSpPr/>
          <p:nvPr/>
        </p:nvSpPr>
        <p:spPr>
          <a:xfrm>
            <a:off x="365760" y="1737360"/>
            <a:ext cx="51206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B) Pull Factors</a:t>
            </a:r>
            <a:endParaRPr lang="en-US" sz="3000" dirty="0"/>
          </a:p>
        </p:txBody>
      </p:sp>
      <p:sp>
        <p:nvSpPr>
          <p:cNvPr id="5" name="Text 3"/>
          <p:cNvSpPr/>
          <p:nvPr/>
        </p:nvSpPr>
        <p:spPr>
          <a:xfrm>
            <a:off x="365760" y="2240280"/>
            <a:ext cx="4846320" cy="41605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The following attractions pull people to towns: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Jobs: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Towns offer jobs in industries, offices, trade and the informal sector.</a:t>
            </a:r>
            <a:endParaRPr lang="en-US" sz="3600" dirty="0"/>
          </a:p>
        </p:txBody>
      </p:sp>
      <p:pic>
        <p:nvPicPr>
          <p:cNvPr id="6" name="Image 0" descr="/home/claude/f4/img/v2/lsa_yaounde.jpg">    </p:cNvPr>
          <p:cNvPicPr>
            <a:picLocks noChangeAspect="1"/>
          </p:cNvPicPr>
          <p:nvPr/>
        </p:nvPicPr>
        <p:blipFill>
          <a:blip r:embed="rId1"/>
          <a:stretch>
            <a:fillRect/>
          </a:stretch>
        </p:blipFill>
        <p:spPr>
          <a:xfrm>
            <a:off x="5349240" y="2071212"/>
            <a:ext cx="6659575" cy="3693983"/>
          </a:xfrm>
          <a:prstGeom prst="rect">
            <a:avLst/>
          </a:prstGeom>
        </p:spPr>
      </p:pic>
      <p:sp>
        <p:nvSpPr>
          <p:cNvPr id="7" name="Text 4"/>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Yaoundé</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Causes of Rural Exodus</a:t>
            </a:r>
            <a:endParaRPr lang="en-US" sz="3600" dirty="0"/>
          </a:p>
        </p:txBody>
      </p:sp>
      <p:sp>
        <p:nvSpPr>
          <p:cNvPr id="5" name="Text 2"/>
          <p:cNvSpPr/>
          <p:nvPr/>
        </p:nvSpPr>
        <p:spPr>
          <a:xfrm>
            <a:off x="1691640" y="1737360"/>
            <a:ext cx="101800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Pull Factors</a:t>
            </a:r>
            <a:endParaRPr lang="en-US" sz="3200" dirty="0"/>
          </a:p>
        </p:txBody>
      </p:sp>
      <p:sp>
        <p:nvSpPr>
          <p:cNvPr id="6" name="Text 3"/>
          <p:cNvSpPr/>
          <p:nvPr/>
        </p:nvSpPr>
        <p:spPr>
          <a:xfrm>
            <a:off x="1691640" y="2240280"/>
            <a:ext cx="101800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Social amenities: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Towns have universities, hospitals, electricity and water.</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Modern life: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Young people are attracted by leisure, fashion and freedom.</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Family links: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Relatives already living in town receive the new migrants.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Consequences of Rural Exodus</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In the Country Side</a:t>
            </a:r>
            <a:endParaRPr lang="en-US" sz="32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Rural exodus has the following consequences in villages: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Loss of young workers: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Only old people and children remain, and many fields are abandoned.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Consequences of Rural Exodus</a:t>
            </a:r>
            <a:endParaRPr lang="en-US" sz="3600" dirty="0"/>
          </a:p>
        </p:txBody>
      </p:sp>
      <p:sp>
        <p:nvSpPr>
          <p:cNvPr id="5" name="Text 2"/>
          <p:cNvSpPr/>
          <p:nvPr/>
        </p:nvSpPr>
        <p:spPr>
          <a:xfrm>
            <a:off x="1691640" y="1737360"/>
            <a:ext cx="101800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In the Country Side (continued)</a:t>
            </a:r>
            <a:endParaRPr lang="en-US" sz="3200" dirty="0"/>
          </a:p>
        </p:txBody>
      </p:sp>
      <p:sp>
        <p:nvSpPr>
          <p:cNvPr id="6" name="Text 3"/>
          <p:cNvSpPr/>
          <p:nvPr/>
        </p:nvSpPr>
        <p:spPr>
          <a:xfrm>
            <a:off x="1691640" y="2240280"/>
            <a:ext cx="101800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Fall of food production: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Villages produce less food for themselves and for towns.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Money from migrants: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Migrants send money and goods that help their families.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Village development: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Elites in town finance schools, wells and roads in their villages.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Consequences of Rural Exodus</a:t>
            </a:r>
            <a:endParaRPr lang="en-US" sz="3600" dirty="0"/>
          </a:p>
        </p:txBody>
      </p:sp>
      <p:sp>
        <p:nvSpPr>
          <p:cNvPr id="4" name="Text 2"/>
          <p:cNvSpPr/>
          <p:nvPr/>
        </p:nvSpPr>
        <p:spPr>
          <a:xfrm>
            <a:off x="365760" y="1737360"/>
            <a:ext cx="51206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B) In the Towns</a:t>
            </a:r>
            <a:endParaRPr lang="en-US" sz="3000" dirty="0"/>
          </a:p>
        </p:txBody>
      </p:sp>
      <p:sp>
        <p:nvSpPr>
          <p:cNvPr id="5" name="Text 3"/>
          <p:cNvSpPr/>
          <p:nvPr/>
        </p:nvSpPr>
        <p:spPr>
          <a:xfrm>
            <a:off x="365760" y="2240280"/>
            <a:ext cx="4846320" cy="4160520"/>
          </a:xfrm>
          <a:prstGeom prst="rect">
            <a:avLst/>
          </a:prstGeom>
          <a:noFill/>
          <a:ln/>
        </p:spPr>
        <p:txBody>
          <a:bodyPr wrap="square" lIns="0" tIns="0" rIns="0" bIns="0" rtlCol="0" anchor="t"/>
          <a:lstStyle/>
          <a:p>
            <a:pPr algn="l" indent="0" marL="0">
              <a:spcAft>
                <a:spcPts val="800"/>
              </a:spcAft>
              <a:buNone/>
            </a:pPr>
            <a:r>
              <a:rPr lang="en-US" sz="3200" i="1" dirty="0">
                <a:solidFill>
                  <a:srgbClr val="111111"/>
                </a:solidFill>
                <a:latin typeface="Times New Roman" pitchFamily="34" charset="0"/>
                <a:ea typeface="Times New Roman" pitchFamily="34" charset="-122"/>
                <a:cs typeface="Times New Roman" pitchFamily="34" charset="-120"/>
              </a:rPr>
              <a:t>Rural exodus has the following consequences in towns:</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Rapid growth and slums: </a:t>
            </a:r>
            <a:pPr algn="l" indent="0" marL="0">
              <a:spcAft>
                <a:spcPts val="800"/>
              </a:spcAft>
              <a:buNone/>
            </a:pPr>
            <a:r>
              <a:rPr lang="en-US" sz="3200" dirty="0">
                <a:solidFill>
                  <a:srgbClr val="111111"/>
                </a:solidFill>
                <a:latin typeface="Times New Roman" pitchFamily="34" charset="0"/>
                <a:ea typeface="Times New Roman" pitchFamily="34" charset="-122"/>
                <a:cs typeface="Times New Roman" pitchFamily="34" charset="-120"/>
              </a:rPr>
              <a:t>Towns grow too fast, and migrants settle in crowded, unplanned quarters.</a:t>
            </a:r>
            <a:endParaRPr lang="en-US" sz="3200" dirty="0"/>
          </a:p>
        </p:txBody>
      </p:sp>
      <p:pic>
        <p:nvPicPr>
          <p:cNvPr id="6" name="Image 0" descr="/home/claude/f4/img/v2/usa_slum.jpg">    </p:cNvPr>
          <p:cNvPicPr>
            <a:picLocks noChangeAspect="1"/>
          </p:cNvPicPr>
          <p:nvPr/>
        </p:nvPicPr>
        <p:blipFill>
          <a:blip r:embed="rId1"/>
          <a:stretch>
            <a:fillRect/>
          </a:stretch>
        </p:blipFill>
        <p:spPr>
          <a:xfrm>
            <a:off x="5349240" y="2069407"/>
            <a:ext cx="6659575" cy="3697594"/>
          </a:xfrm>
          <a:prstGeom prst="rect">
            <a:avLst/>
          </a:prstGeom>
        </p:spPr>
      </p:pic>
      <p:sp>
        <p:nvSpPr>
          <p:cNvPr id="7" name="Text 4"/>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slum</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Consequences of Rural Exodus</a:t>
            </a:r>
            <a:endParaRPr lang="en-US" sz="3600" dirty="0"/>
          </a:p>
        </p:txBody>
      </p:sp>
      <p:sp>
        <p:nvSpPr>
          <p:cNvPr id="5" name="Text 2"/>
          <p:cNvSpPr/>
          <p:nvPr/>
        </p:nvSpPr>
        <p:spPr>
          <a:xfrm>
            <a:off x="1691640" y="1737360"/>
            <a:ext cx="101800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In the Towns</a:t>
            </a:r>
            <a:endParaRPr lang="en-US" sz="3200" dirty="0"/>
          </a:p>
        </p:txBody>
      </p:sp>
      <p:sp>
        <p:nvSpPr>
          <p:cNvPr id="6" name="Text 3"/>
          <p:cNvSpPr/>
          <p:nvPr/>
        </p:nvSpPr>
        <p:spPr>
          <a:xfrm>
            <a:off x="1691640" y="2240280"/>
            <a:ext cx="101800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Unemployment: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There are not enough jobs, so many migrants work in the informal sector.</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Pressure on services: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Schools, hospitals, water and transport become insufficient.</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Insecurity: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Poverty and unemployment favour theft and delinquency.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Making the Country Side More Attractive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country side can be made more attractive by the following measures: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Roads: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Good rural roads link villages to markets and towns.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Making the Country Side More Attractive</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Social amenities: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Schools, health centres, water points and electricity improve daily life.</a:t>
            </a:r>
            <a:endParaRPr lang="en-US" sz="3600" dirty="0"/>
          </a:p>
        </p:txBody>
      </p:sp>
      <p:pic>
        <p:nvPicPr>
          <p:cNvPr id="5" name="Image 0" descr="/home/claude/f4/img/v2/usa_pump.jpg">    </p:cNvPr>
          <p:cNvPicPr>
            <a:picLocks noChangeAspect="1"/>
          </p:cNvPicPr>
          <p:nvPr/>
        </p:nvPicPr>
        <p:blipFill>
          <a:blip r:embed="rId1"/>
          <a:stretch>
            <a:fillRect/>
          </a:stretch>
        </p:blipFill>
        <p:spPr>
          <a:xfrm>
            <a:off x="5349240" y="2070315"/>
            <a:ext cx="6659575" cy="369577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village water pump</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Making the Country Side More Attractive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Modern farming: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Credit, tools, improved seeds and extension workers raise incomes.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Cooperatives and CIGs: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Farmers group together to buy inputs and sell at better prices.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Making the Country Side More Attractive (continued)</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Rural jobs: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Crafts, small processing units and self-employment projects give young people income.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Culture and leisure: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Festivals, sports and community projects keep young people attached to their village.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causes of rural exodus.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Lack of jobs in villages and attractive services in towns.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ways to make villages attractive.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Build roads and create jobs in modern farming.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movement from villages to towns is rural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Jobs in towns are ______ factors.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Poverty in villages is a ______ factor.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Propose three projects that could keep young people in your village.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6"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Rural exodus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L'exode rural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Migrant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migrant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Job</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L'emploi</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Village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village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Cooperative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coopérative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Development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développement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7"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Space Occupation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Further Study 7: Rural Exodus in Cameroon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Explain the causes of rural exodus. Explain its consequences. Propose ways to make the country side more attractive.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rural exodus in Cameroon and propose ways to make villages attractive.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8"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Push Factors; Pull Factors; In the Country Side; In the Towns; Making the Country Side More Attractive.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Propose three projects that could keep young people in your village.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draw arrows to big towns.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list reasons for leaving.</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list what attracts people to towns.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discuss consequences.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propose projects for a village.</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58</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Forms I–V, MINESEC (2023) — Form 2, Module 2: Space Occupation.</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“Cameroon - UN Women's Gender Road Project” by UN Women Gallery, CC BY-NC-ND 2.0, via Flickr (https://www.flickr.com/photos/51431730@N04/40672356003)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“Yaoundé” by wili_hybrid, CC BY-NC 2.0, via Flickr (https://www.flickr.com/photos/62223880@N00/5677034246)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“Mathare” by Book Aid International, CC BY-NC-ND 2.0, via Flickr (https://www.flickr.com/photos/45024905@N07/4135561707)</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“Girls from the village of Mwachilolo head to the Pump Aid Elephant wat” by PumpAid, CC BY 2.0, via Flickr (https://www.flickr.com/photos/84463652@N06/8161357208)</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59</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59</Slides>
  <Notes>59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59</vt:i4>
      </vt:variant>
    </vt:vector>
  </HeadingPairs>
  <TitlesOfParts>
    <vt:vector size="6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2026-09-28T17:20:27Z</dcterms:created>
  <dcterms:modified xsi:type="dcterms:W3CDTF">2026-09-28T17:20:27Z</dcterms:modified>
</cp:coreProperties>
</file>