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slideMasters/slideMaster33.xml" ContentType="application/vnd.openxmlformats-officedocument.presentationml.slideMaster+xml"/>
  <Override PartName="/ppt/slides/slide33.xml" ContentType="application/vnd.openxmlformats-officedocument.presentationml.slide+xml"/>
  <Override PartName="/ppt/slideMasters/slideMaster34.xml" ContentType="application/vnd.openxmlformats-officedocument.presentationml.slideMaster+xml"/>
  <Override PartName="/ppt/slides/slide34.xml" ContentType="application/vnd.openxmlformats-officedocument.presentationml.slide+xml"/>
  <Override PartName="/ppt/slideMasters/slideMaster35.xml" ContentType="application/vnd.openxmlformats-officedocument.presentationml.slideMaster+xml"/>
  <Override PartName="/ppt/slides/slide35.xml" ContentType="application/vnd.openxmlformats-officedocument.presentationml.slide+xml"/>
  <Override PartName="/ppt/slideMasters/slideMaster36.xml" ContentType="application/vnd.openxmlformats-officedocument.presentationml.slideMaster+xml"/>
  <Override PartName="/ppt/slides/slide36.xml" ContentType="application/vnd.openxmlformats-officedocument.presentationml.slide+xml"/>
  <Override PartName="/ppt/slideMasters/slideMaster37.xml" ContentType="application/vnd.openxmlformats-officedocument.presentationml.slideMaster+xml"/>
  <Override PartName="/ppt/slides/slide37.xml" ContentType="application/vnd.openxmlformats-officedocument.presentationml.slide+xml"/>
  <Override PartName="/ppt/slideMasters/slideMaster38.xml" ContentType="application/vnd.openxmlformats-officedocument.presentationml.slideMaster+xml"/>
  <Override PartName="/ppt/slides/slide38.xml" ContentType="application/vnd.openxmlformats-officedocument.presentationml.slide+xml"/>
  <Override PartName="/ppt/slideMasters/slideMaster39.xml" ContentType="application/vnd.openxmlformats-officedocument.presentationml.slideMaster+xml"/>
  <Override PartName="/ppt/slides/slide39.xml" ContentType="application/vnd.openxmlformats-officedocument.presentationml.slide+xml"/>
  <Override PartName="/ppt/slideMasters/slideMaster40.xml" ContentType="application/vnd.openxmlformats-officedocument.presentationml.slideMaster+xml"/>
  <Override PartName="/ppt/slides/slide40.xml" ContentType="application/vnd.openxmlformats-officedocument.presentationml.slide+xml"/>
  <Override PartName="/ppt/slideMasters/slideMaster41.xml" ContentType="application/vnd.openxmlformats-officedocument.presentationml.slideMaster+xml"/>
  <Override PartName="/ppt/slides/slide41.xml" ContentType="application/vnd.openxmlformats-officedocument.presentationml.slide+xml"/>
  <Override PartName="/ppt/slideMasters/slideMaster42.xml" ContentType="application/vnd.openxmlformats-officedocument.presentationml.slideMaster+xml"/>
  <Override PartName="/ppt/slides/slide42.xml" ContentType="application/vnd.openxmlformats-officedocument.presentationml.slide+xml"/>
  <Override PartName="/ppt/slideMasters/slideMaster43.xml" ContentType="application/vnd.openxmlformats-officedocument.presentationml.slideMaster+xml"/>
  <Override PartName="/ppt/slides/slide43.xml" ContentType="application/vnd.openxmlformats-officedocument.presentationml.slide+xml"/>
  <Override PartName="/ppt/slideMasters/slideMaster44.xml" ContentType="application/vnd.openxmlformats-officedocument.presentationml.slideMaster+xml"/>
  <Override PartName="/ppt/slides/slide44.xml" ContentType="application/vnd.openxmlformats-officedocument.presentationml.slide+xml"/>
  <Override PartName="/ppt/slideMasters/slideMaster45.xml" ContentType="application/vnd.openxmlformats-officedocument.presentationml.slideMaster+xml"/>
  <Override PartName="/ppt/slides/slide45.xml" ContentType="application/vnd.openxmlformats-officedocument.presentationml.slide+xml"/>
  <Override PartName="/ppt/slideMasters/slideMaster46.xml" ContentType="application/vnd.openxmlformats-officedocument.presentationml.slideMaster+xml"/>
  <Override PartName="/ppt/slides/slide46.xml" ContentType="application/vnd.openxmlformats-officedocument.presentationml.slide+xml"/>
  <Override PartName="/ppt/slideMasters/slideMaster47.xml" ContentType="application/vnd.openxmlformats-officedocument.presentationml.slideMaster+xml"/>
  <Override PartName="/ppt/slides/slide47.xml" ContentType="application/vnd.openxmlformats-officedocument.presentationml.slide+xml"/>
  <Override PartName="/ppt/slideMasters/slideMaster48.xml" ContentType="application/vnd.openxmlformats-officedocument.presentationml.slideMaster+xml"/>
  <Override PartName="/ppt/slides/slide48.xml" ContentType="application/vnd.openxmlformats-officedocument.presentationml.slide+xml"/>
  <Override PartName="/ppt/slideMasters/slideMaster49.xml" ContentType="application/vnd.openxmlformats-officedocument.presentationml.slideMaster+xml"/>
  <Override PartName="/ppt/slides/slide49.xml" ContentType="application/vnd.openxmlformats-officedocument.presentationml.slide+xml"/>
  <Override PartName="/ppt/slideMasters/slideMaster50.xml" ContentType="application/vnd.openxmlformats-officedocument.presentationml.slideMaster+xml"/>
  <Override PartName="/ppt/slides/slide50.xml" ContentType="application/vnd.openxmlformats-officedocument.presentationml.slide+xml"/>
  <Override PartName="/ppt/slideMasters/slideMaster51.xml" ContentType="application/vnd.openxmlformats-officedocument.presentationml.slideMaster+xml"/>
  <Override PartName="/ppt/slides/slide51.xml" ContentType="application/vnd.openxmlformats-officedocument.presentationml.slide+xml"/>
  <Override PartName="/ppt/slideMasters/slideMaster52.xml" ContentType="application/vnd.openxmlformats-officedocument.presentationml.slideMaster+xml"/>
  <Override PartName="/ppt/slides/slide52.xml" ContentType="application/vnd.openxmlformats-officedocument.presentationml.slide+xml"/>
  <Override PartName="/ppt/slideMasters/slideMaster53.xml" ContentType="application/vnd.openxmlformats-officedocument.presentationml.slideMaster+xml"/>
  <Override PartName="/ppt/slides/slide53.xml" ContentType="application/vnd.openxmlformats-officedocument.presentationml.slide+xml"/>
  <Override PartName="/ppt/slideMasters/slideMaster54.xml" ContentType="application/vnd.openxmlformats-officedocument.presentationml.slideMaster+xml"/>
  <Override PartName="/ppt/slides/slide54.xml" ContentType="application/vnd.openxmlformats-officedocument.presentationml.slide+xml"/>
  <Override PartName="/ppt/slideMasters/slideMaster55.xml" ContentType="application/vnd.openxmlformats-officedocument.presentationml.slideMaster+xml"/>
  <Override PartName="/ppt/slides/slide55.xml" ContentType="application/vnd.openxmlformats-officedocument.presentationml.slide+xml"/>
  <Override PartName="/ppt/slideMasters/slideMaster56.xml" ContentType="application/vnd.openxmlformats-officedocument.presentationml.slideMaster+xml"/>
  <Override PartName="/ppt/slides/slide56.xml" ContentType="application/vnd.openxmlformats-officedocument.presentationml.slide+xml"/>
  <Override PartName="/ppt/slideMasters/slideMaster57.xml" ContentType="application/vnd.openxmlformats-officedocument.presentationml.slideMaster+xml"/>
  <Override PartName="/ppt/slides/slide57.xml" ContentType="application/vnd.openxmlformats-officedocument.presentationml.slide+xml"/>
  <Override PartName="/ppt/slideMasters/slideMaster58.xml" ContentType="application/vnd.openxmlformats-officedocument.presentationml.slideMaster+xml"/>
  <Override PartName="/ppt/slides/slide58.xml" ContentType="application/vnd.openxmlformats-officedocument.presentationml.slide+xml"/>
  <Override PartName="/ppt/slideMasters/slideMaster59.xml" ContentType="application/vnd.openxmlformats-officedocument.presentationml.slideMaster+xml"/>
  <Override PartName="/ppt/slides/slide59.xml" ContentType="application/vnd.openxmlformats-officedocument.presentationml.slide+xml"/>
  <Override PartName="/ppt/slideMasters/slideMaster60.xml" ContentType="application/vnd.openxmlformats-officedocument.presentationml.slideMaster+xml"/>
  <Override PartName="/ppt/slides/slide60.xml" ContentType="application/vnd.openxmlformats-officedocument.presentationml.slide+xml"/>
  <Override PartName="/ppt/slideMasters/slideMaster61.xml" ContentType="application/vnd.openxmlformats-officedocument.presentationml.slideMaster+xml"/>
  <Override PartName="/ppt/slides/slide61.xml" ContentType="application/vnd.openxmlformats-officedocument.presentationml.slide+xml"/>
  <Override PartName="/ppt/slideMasters/slideMaster62.xml" ContentType="application/vnd.openxmlformats-officedocument.presentationml.slideMaster+xml"/>
  <Override PartName="/ppt/slides/slide62.xml" ContentType="application/vnd.openxmlformats-officedocument.presentationml.slide+xml"/>
  <Override PartName="/ppt/slideMasters/slideMaster63.xml" ContentType="application/vnd.openxmlformats-officedocument.presentationml.slideMaster+xml"/>
  <Override PartName="/ppt/slides/slide63.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ppt/notesSlides/notesSlide55.xml" ContentType="application/vnd.openxmlformats-officedocument.presentationml.notesSlide+xml"/>
  <Override PartName="/ppt/notesSlides/notesSlide56.xml" ContentType="application/vnd.openxmlformats-officedocument.presentationml.notesSlide+xml"/>
  <Override PartName="/ppt/notesSlides/notesSlide57.xml" ContentType="application/vnd.openxmlformats-officedocument.presentationml.notesSlide+xml"/>
  <Override PartName="/ppt/notesSlides/notesSlide58.xml" ContentType="application/vnd.openxmlformats-officedocument.presentationml.notesSlide+xml"/>
  <Override PartName="/ppt/notesSlides/notesSlide59.xml" ContentType="application/vnd.openxmlformats-officedocument.presentationml.notesSlide+xml"/>
  <Override PartName="/ppt/notesSlides/notesSlide60.xml" ContentType="application/vnd.openxmlformats-officedocument.presentationml.notesSlide+xml"/>
  <Override PartName="/ppt/notesSlides/notesSlide61.xml" ContentType="application/vnd.openxmlformats-officedocument.presentationml.notesSlide+xml"/>
  <Override PartName="/ppt/notesSlides/notesSlide62.xml" ContentType="application/vnd.openxmlformats-officedocument.presentationml.notesSlide+xml"/>
  <Override PartName="/ppt/notesSlides/notesSlide63.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 id="303" r:id="rId49"/>
    <p:sldId id="304" r:id="rId50"/>
    <p:sldId id="305" r:id="rId51"/>
    <p:sldId id="306" r:id="rId52"/>
    <p:sldId id="307" r:id="rId53"/>
    <p:sldId id="308" r:id="rId54"/>
    <p:sldId id="309" r:id="rId55"/>
    <p:sldId id="310" r:id="rId56"/>
    <p:sldId id="311" r:id="rId57"/>
    <p:sldId id="312" r:id="rId58"/>
    <p:sldId id="313" r:id="rId59"/>
    <p:sldId id="314" r:id="rId60"/>
    <p:sldId id="315" r:id="rId61"/>
    <p:sldId id="316" r:id="rId62"/>
    <p:sldId id="317" r:id="rId63"/>
    <p:sldId id="318" r:id="rId64"/>
  </p:sldIdLst>
  <p:notesMasterIdLst>
    <p:notesMasterId r:id="rId65"/>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slide" Target="slides/slide42.xml"/><Relationship Id="rId44" Type="http://schemas.openxmlformats.org/officeDocument/2006/relationships/slide" Target="slides/slide43.xml"/><Relationship Id="rId45" Type="http://schemas.openxmlformats.org/officeDocument/2006/relationships/slide" Target="slides/slide44.xml"/><Relationship Id="rId46" Type="http://schemas.openxmlformats.org/officeDocument/2006/relationships/slide" Target="slides/slide45.xml"/><Relationship Id="rId47" Type="http://schemas.openxmlformats.org/officeDocument/2006/relationships/slide" Target="slides/slide46.xml"/><Relationship Id="rId48" Type="http://schemas.openxmlformats.org/officeDocument/2006/relationships/slide" Target="slides/slide47.xml"/><Relationship Id="rId49" Type="http://schemas.openxmlformats.org/officeDocument/2006/relationships/slide" Target="slides/slide48.xml"/><Relationship Id="rId50" Type="http://schemas.openxmlformats.org/officeDocument/2006/relationships/slide" Target="slides/slide49.xml"/><Relationship Id="rId51" Type="http://schemas.openxmlformats.org/officeDocument/2006/relationships/slide" Target="slides/slide50.xml"/><Relationship Id="rId52" Type="http://schemas.openxmlformats.org/officeDocument/2006/relationships/slide" Target="slides/slide51.xml"/><Relationship Id="rId53" Type="http://schemas.openxmlformats.org/officeDocument/2006/relationships/slide" Target="slides/slide52.xml"/><Relationship Id="rId54" Type="http://schemas.openxmlformats.org/officeDocument/2006/relationships/slide" Target="slides/slide53.xml"/><Relationship Id="rId55" Type="http://schemas.openxmlformats.org/officeDocument/2006/relationships/slide" Target="slides/slide54.xml"/><Relationship Id="rId56" Type="http://schemas.openxmlformats.org/officeDocument/2006/relationships/slide" Target="slides/slide55.xml"/><Relationship Id="rId57" Type="http://schemas.openxmlformats.org/officeDocument/2006/relationships/slide" Target="slides/slide56.xml"/><Relationship Id="rId58" Type="http://schemas.openxmlformats.org/officeDocument/2006/relationships/slide" Target="slides/slide57.xml"/><Relationship Id="rId59" Type="http://schemas.openxmlformats.org/officeDocument/2006/relationships/slide" Target="slides/slide58.xml"/><Relationship Id="rId60" Type="http://schemas.openxmlformats.org/officeDocument/2006/relationships/slide" Target="slides/slide59.xml"/><Relationship Id="rId61" Type="http://schemas.openxmlformats.org/officeDocument/2006/relationships/slide" Target="slides/slide60.xml"/><Relationship Id="rId62" Type="http://schemas.openxmlformats.org/officeDocument/2006/relationships/slide" Target="slides/slide61.xml"/><Relationship Id="rId63" Type="http://schemas.openxmlformats.org/officeDocument/2006/relationships/slide" Target="slides/slide62.xml"/><Relationship Id="rId64" Type="http://schemas.openxmlformats.org/officeDocument/2006/relationships/slide" Target="slides/slide63.xml"/><Relationship Id="rId65" Type="http://schemas.openxmlformats.org/officeDocument/2006/relationships/notesMaster" Target="notesMasters/notesMaster1.xml"/><Relationship Id="rId66" Type="http://schemas.openxmlformats.org/officeDocument/2006/relationships/presProps" Target="presProps.xml"/><Relationship Id="rId67" Type="http://schemas.openxmlformats.org/officeDocument/2006/relationships/viewProps" Target="viewProps.xml"/><Relationship Id="rId68" Type="http://schemas.openxmlformats.org/officeDocument/2006/relationships/theme" Target="theme/theme1.xml"/><Relationship Id="rId69"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_rels/notesSlide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xml"/>
		</Relationships>
</file>

<file path=ppt/notesSlides/_rels/notesSlide3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5.xml"/>
		</Relationships>
</file>

<file path=ppt/notesSlides/_rels/notesSlide3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6.xml"/>
		</Relationships>
</file>

<file path=ppt/notesSlides/_rels/notesSlide3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7.xml"/>
		</Relationships>
</file>

<file path=ppt/notesSlides/_rels/notesSlide3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8.xml"/>
		</Relationships>
</file>

<file path=ppt/notesSlides/_rels/notesSlide3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9.xml"/>
		</Relationships>
</file>

<file path=ppt/notesSlides/_rels/notesSlide4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0.xml"/>
		</Relationships>
</file>

<file path=ppt/notesSlides/_rels/notesSlide4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1.xml"/>
		</Relationships>
</file>

<file path=ppt/notesSlides/_rels/notesSlide4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2.xml"/>
		</Relationships>
</file>

<file path=ppt/notesSlides/_rels/notesSlide4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3.xml"/>
		</Relationships>
</file>

<file path=ppt/notesSlides/_rels/notesSlide4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4.xml"/>
		</Relationships>
</file>

<file path=ppt/notesSlides/_rels/notesSlide4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5.xml"/>
		</Relationships>
</file>

<file path=ppt/notesSlides/_rels/notesSlide4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6.xml"/>
		</Relationships>
</file>

<file path=ppt/notesSlides/_rels/notesSlide4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7.xml"/>
		</Relationships>
</file>

<file path=ppt/notesSlides/_rels/notesSlide4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8.xml"/>
		</Relationships>
</file>

<file path=ppt/notesSlides/_rels/notesSlide4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9.xml"/>
		</Relationships>
</file>

<file path=ppt/notesSlides/_rels/notesSlide5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0.xml"/>
		</Relationships>
</file>

<file path=ppt/notesSlides/_rels/notesSlide5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1.xml"/>
		</Relationships>
</file>

<file path=ppt/notesSlides/_rels/notesSlide5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2.xml"/>
		</Relationships>
</file>

<file path=ppt/notesSlides/_rels/notesSlide5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3.xml"/>
		</Relationships>
</file>

<file path=ppt/notesSlides/_rels/notesSlide5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4.xml"/>
		</Relationships>
</file>

<file path=ppt/notesSlides/_rels/notesSlide5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5.xml"/>
		</Relationships>
</file>

<file path=ppt/notesSlides/_rels/notesSlide5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6.xml"/>
		</Relationships>
</file>

<file path=ppt/notesSlides/_rels/notesSlide5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7.xml"/>
		</Relationships>
</file>

<file path=ppt/notesSlides/_rels/notesSlide5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8.xml"/>
		</Relationships>
</file>

<file path=ppt/notesSlides/_rels/notesSlide5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9.xml"/>
		</Relationships>
</file>

<file path=ppt/notesSlides/_rels/notesSlide6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0.xml"/>
		</Relationships>
</file>

<file path=ppt/notesSlides/_rels/notesSlide6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1.xml"/>
		</Relationships>
</file>

<file path=ppt/notesSlides/_rels/notesSlide6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2.xml"/>
		</Relationships>
</file>

<file path=ppt/notesSlides/_rels/notesSlide6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3.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morning, class, and welcome to our geography lesson. I am your geography teacher, Mr Kamdem. Today we are starting Lesson 8: Relationships between Towns and Country Sides.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lesson is for Form 2. It belongs to Module 2: Space Occupation. We shall need 2 periods to cover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Our topic is Space Occupation, and the sub-topic is Towns and Country Sides of Africa. The key notions we shall use today are: flows: population flows, flows of goods, information (newspapers). At the end, you should be able to do this: learners are able to identify the flows between towns and country sides and explain why they depend on each other.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Before we start the new lesson, let us correct the homework I gave you at the end of Further Study 6: Urban Problems in Cameroon. The question was: Identify one urban problem in your quarter and propose two solutions. Take out your exercise books.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a good answer. Answers vary. Example: blocked gutters that flood the quarter; solutions: clean the gutters every week and put dustbins along the street. Compare it with your own answer and correct your work in red.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plan of our lesson today. First, we shall correct the homework. Then we shall look at the objectives and recall what you already know. After that, we shall study a situation from real life and the action to take, and do the learning activities. Finally, we shall copy the board summary, do the evaluation and the remediation, and I will give you the homework.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By the end of this lesson, you should be able to do three things. Number 1: describe the economic relationships between towns and country sides. Number 2: describe the socio-cultural relationships. Number 3: explain the flows of information.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first remember what you already know. Villages produce food. Towns have factories, shops and services. Many young people move to towns. Keep this in mind, because we shall build on it today.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Listen carefully to this situation from real life. Every Friday, a buyam-sellam takes onions and groundnuts from a village near Garoua to the town market and returns with soap, oil and clothes. At festivals, town dwellers go back to the village. A pupil asks: "Could the town live without the village, or the village without the town?" Think about it, because I am going to ask you some questions.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1: What is the problem in the situation?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We want to know whether towns and villages depend on each other.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2: What goes from the village to the town?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Food such as onions and groundnuts.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3: What goes from the town to the village?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Manufactured goods such as soap, oil and clothes.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From this situation, the action we are working towards in this lesson is the following: support exchanges and development projects between your village and your town.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Why is this lesson important for you? This lesson helps us to understand how towns and villages need each other.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1. Look carefully at this picture: a cattle market.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1: Where do the cattle sold in town markets come from?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From the country side, where herders raise them.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2. Look carefully at this picture: a loaded pick-up on a rural road.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2: What does this vehicle bring back to the village from the town?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Manufactured goods such as soap, oil, sugar, clothes and fertilisers.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3. Look carefully at this picture: a bus station.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3: Why are bus stations crowded before festivals?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Town dwellers travel back to their villages for festivals and family ceremonies.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4. Look carefully at this picture: a traditional chiefdom.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4: How do the elites in town help their village?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Through development associations that build schools, wells and roads.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5. Look carefully at this picture: a farmer uses a phone.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5: How does this farmer learn the price of his crops in town?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By phone; news also comes by radio, newspapers and travellers.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we are going to copy the board summary. Write the title and the headings neatly in your notebooks. I will give you enough time for each slide, so do not rush.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the definitions. The key terms of this lesson are defined as follows. On this slide we have Flow and Population flow.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From the Country Side to the Town. The country side sends the following to towns. Copy the point on Food on the left, then draw the diagram on the right: a town market.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Copy the point on Livestock on the left, then draw the diagram on the right: a cattle market.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From the Country Side to the Town. On this slide we have Raw materials, Firewood and charcoal and Labour.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From the Town to the Country Side. Towns send the following to the country side. Copy the point on Manufactured goods on the left, then draw the diagram on the right: goods carried to villages.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From the Town to the Country Side. On this slide we have Farm inputs and Money. Write each point on a new line, with the key term first, and explain it in your own words when we revise. When you finish, we go to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From the Town to the Country Side. On this slide we have Services.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The Actors of the Exchanges. The following actors link towns and country sides. Copy the point on Buyam-sellams on the left, then draw the diagram on the right: a trader.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The Actors of the Exchanges. On this slide we have Clandestine transporters and Cooperatives and CIGs. Write each point on a new line, with the key term first, and explain it in your own words when we revise. When you finish, we go to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The Actors of the Exchanges. On this slide we have Councils.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Socio-cultural Relationships. Towns and country sides are linked socially and culturally as follows. Copy the point on Population flows on the left, then draw the diagram on the right: a bus station.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Socio-cultural Relationships. On this slide we have Festivals and ceremonies.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Copy the point on Development associations on the left, then draw the diagram on the right: a village chiefdom.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Socio-cultural Relationships. On this slide we have Education and health and Spread of town ways of life.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Information. Information flows between towns and country sides as follows. On this slide we have Radio and television.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Copy the point on Telephone and internet on the left, then draw the diagram on the right: a farmer using a phone.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Information. On this slide we have Newspapers and People.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let us check what you have understood. Question 1: Give two products sent from villages to towns. Answer in your exercise 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expected answer is: food crops and cattle. If you got it right, well done.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let us check what you have understood. Question 2: Give two socio-cultural links. Answer in your exercise 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expected answer is: festivals and development associations. If you got it right, well done.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For those who need more practice, fill in the blanks in your exercise book. The answers are: number 1, buyam-sellam; number 2, flow; number 3, cooperative (or CIG).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For your homework: List three products your family buys from villages and three goods villagers buy in town. We shall correct it at the beginning of our next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Our next lesson will be on Further Study 7: Rural Exodus in Cameroon. Thank you for your attention, and see you next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play the bilingual game. I say a word in English, and you give me the French word. Then we do the reverse.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record this information in the official logbook of the class after the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complete the second page of the logbook: the matter taught, the evaluation, the homework and the attendance.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slide is for me, the teacher: it gives the timing of the lesson and what to do if the projector is not available.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Take your time to copy this part; we will continue together.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These are the references and picture credits used to prepare this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63</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image" Target="../media/image-1003-1.png"/><Relationship Id="rId2"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LESSON">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640080" cy="658368"/>
          </a:xfrm>
          <a:prstGeom prst="rect">
            <a:avLst/>
          </a:prstGeom>
          <a:solidFill>
            <a:srgbClr val="990011"/>
          </a:solidFill>
          <a:ln w="12700">
            <a:solidFill>
              <a:srgbClr val="990011"/>
            </a:solidFill>
            <a:prstDash val="solid"/>
          </a:ln>
        </p:spPr>
      </p:sp>
      <p:sp>
        <p:nvSpPr>
          <p:cNvPr id="3" name="Text 1"/>
          <p:cNvSpPr/>
          <p:nvPr/>
        </p:nvSpPr>
        <p:spPr>
          <a:xfrm>
            <a:off x="640080" y="0"/>
            <a:ext cx="4754880" cy="658368"/>
          </a:xfrm>
          <a:prstGeom prst="homePlate">
            <a:avLst/>
          </a:prstGeom>
          <a:solidFill>
            <a:srgbClr val="990011"/>
          </a:solidFill>
          <a:ln>
            <a:solidFill>
              <a:srgbClr val="990011"/>
            </a:solid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GEOGRAPHY / FORM 2</a:t>
            </a:r>
            <a:endParaRPr lang="en-US" sz="1800" dirty="0"/>
          </a:p>
        </p:txBody>
      </p:sp>
      <p:sp>
        <p:nvSpPr>
          <p:cNvPr id="4" name="Text 2"/>
          <p:cNvSpPr/>
          <p:nvPr/>
        </p:nvSpPr>
        <p:spPr>
          <a:xfrm>
            <a:off x="5212080" y="0"/>
            <a:ext cx="6979615" cy="658368"/>
          </a:xfrm>
          <a:prstGeom prst="chevron">
            <a:avLst/>
          </a:prstGeom>
          <a:solidFill>
            <a:srgbClr val="1C3F6E"/>
          </a:solidFill>
          <a:ln>
            <a:solidFill>
              <a:srgbClr val="1C3F6E"/>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LESSON 8: RELATIONSHIPS BETWEEN TOWNS AND COUNTRY SIDES</a:t>
            </a:r>
            <a:endParaRPr lang="en-US" sz="1400" dirty="0"/>
          </a:p>
        </p:txBody>
      </p:sp>
      <p:sp>
        <p:nvSpPr>
          <p:cNvPr id="5" name="Shape 3"/>
          <p:cNvSpPr/>
          <p:nvPr/>
        </p:nvSpPr>
        <p:spPr>
          <a:xfrm>
            <a:off x="0" y="6492240"/>
            <a:ext cx="2743200" cy="365760"/>
          </a:xfrm>
          <a:prstGeom prst="rect">
            <a:avLst/>
          </a:prstGeom>
          <a:solidFill>
            <a:srgbClr val="1C3F6E"/>
          </a:solidFill>
          <a:ln w="12700">
            <a:solidFill>
              <a:srgbClr val="1C3F6E"/>
            </a:solidFill>
            <a:prstDash val="solid"/>
          </a:ln>
        </p:spPr>
      </p:sp>
      <p:sp>
        <p:nvSpPr>
          <p:cNvPr id="6" name="Text 4"/>
          <p:cNvSpPr/>
          <p:nvPr/>
        </p:nvSpPr>
        <p:spPr>
          <a:xfrm>
            <a:off x="137160" y="6492240"/>
            <a:ext cx="2560320" cy="365760"/>
          </a:xfrm>
          <a:prstGeom prst="rect">
            <a:avLst/>
          </a:prstGeom>
          <a:noFill/>
          <a:ln/>
        </p:spPr>
        <p:txBody>
          <a:bodyPr wrap="square" lIns="0" tIns="0" rIns="0" bIns="0" rtlCol="0" anchor="ctr"/>
          <a:lstStyle/>
          <a:p>
            <a:pPr indent="0" marL="0">
              <a:buNone/>
            </a:pPr>
            <a:r>
              <a:rPr lang="en-US" sz="1300" dirty="0">
                <a:solidFill>
                  <a:srgbClr val="FFFFFF"/>
                </a:solidFill>
                <a:latin typeface="Calibri" pitchFamily="34" charset="0"/>
                <a:ea typeface="Calibri" pitchFamily="34" charset="-122"/>
                <a:cs typeface="Calibri" pitchFamily="34" charset="-120"/>
              </a:rPr>
              <a:t>Date: 2026 / 2027</a:t>
            </a:r>
            <a:endParaRPr lang="en-US" sz="1300" dirty="0"/>
          </a:p>
        </p:txBody>
      </p:sp>
      <p:sp>
        <p:nvSpPr>
          <p:cNvPr id="7" name="Shape 5"/>
          <p:cNvSpPr/>
          <p:nvPr/>
        </p:nvSpPr>
        <p:spPr>
          <a:xfrm>
            <a:off x="2743200" y="6492240"/>
            <a:ext cx="6035040" cy="365760"/>
          </a:xfrm>
          <a:prstGeom prst="rect">
            <a:avLst/>
          </a:prstGeom>
          <a:solidFill>
            <a:srgbClr val="B8860B"/>
          </a:solidFill>
          <a:ln w="12700">
            <a:solidFill>
              <a:srgbClr val="B8860B"/>
            </a:solidFill>
            <a:prstDash val="solid"/>
          </a:ln>
        </p:spPr>
      </p:sp>
      <p:sp>
        <p:nvSpPr>
          <p:cNvPr id="8" name="Text 6"/>
          <p:cNvSpPr/>
          <p:nvPr/>
        </p:nvSpPr>
        <p:spPr>
          <a:xfrm>
            <a:off x="2834640" y="6492240"/>
            <a:ext cx="5852160" cy="365760"/>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Copyright MINESEC  —  HOD – DGCAST-GAROUA</a:t>
            </a:r>
            <a:endParaRPr lang="en-US" sz="1300" dirty="0"/>
          </a:p>
        </p:txBody>
      </p:sp>
      <p:sp>
        <p:nvSpPr>
          <p:cNvPr id="9" name="Shape 7"/>
          <p:cNvSpPr/>
          <p:nvPr/>
        </p:nvSpPr>
        <p:spPr>
          <a:xfrm>
            <a:off x="8778240" y="6492240"/>
            <a:ext cx="3413455" cy="365760"/>
          </a:xfrm>
          <a:prstGeom prst="rect">
            <a:avLst/>
          </a:prstGeom>
          <a:solidFill>
            <a:srgbClr val="36454F"/>
          </a:solidFill>
          <a:ln w="12700">
            <a:solidFill>
              <a:srgbClr val="36454F"/>
            </a:solidFill>
            <a:prstDash val="solid"/>
          </a:ln>
        </p:spPr>
      </p:sp>
      <p:sp>
        <p:nvSpPr>
          <p:cNvPr id="10" name="Text 8"/>
          <p:cNvSpPr/>
          <p:nvPr/>
        </p:nvSpPr>
        <p:spPr>
          <a:xfrm>
            <a:off x="8869680" y="6492240"/>
            <a:ext cx="3200400" cy="365760"/>
          </a:xfrm>
          <a:prstGeom prst="rect">
            <a:avLst/>
          </a:prstGeom>
          <a:noFill/>
          <a:ln/>
        </p:spPr>
        <p:txBody>
          <a:bodyPr wrap="square" lIns="0" tIns="0" rIns="0" bIns="0" rtlCol="0" anchor="ctr"/>
          <a:lstStyle/>
          <a:p>
            <a:pPr algn="r" indent="0" marL="0">
              <a:buNone/>
            </a:pPr>
            <a:r>
              <a:rPr lang="en-US" sz="1300" dirty="0">
                <a:solidFill>
                  <a:srgbClr val="FFFFFF"/>
                </a:solidFill>
                <a:latin typeface="Calibri" pitchFamily="34" charset="0"/>
                <a:ea typeface="Calibri" pitchFamily="34" charset="-122"/>
                <a:cs typeface="Calibri" pitchFamily="34" charset="-120"/>
              </a:rPr>
              <a:t>Mr KAMDEM E.  —  Geography</a:t>
            </a:r>
            <a:endParaRPr lang="en-US" sz="13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1002</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COVER">
    <p:bg>
      <p:bgPr>
        <a:solidFill>
          <a:srgbClr val="FFFFFF"/>
        </a:solidFill>
      </p:bgPr>
    </p:bg>
    <p:spTree>
      <p:nvGrpSpPr>
        <p:cNvPr id="1" name=""/>
        <p:cNvGrpSpPr/>
        <p:nvPr/>
      </p:nvGrpSpPr>
      <p:grpSpPr>
        <a:xfrm>
          <a:off x="0" y="0"/>
          <a:ext cx="0" cy="0"/>
          <a:chOff x="0" y="0"/>
          <a:chExt cx="0" cy="0"/>
        </a:xfrm>
      </p:grpSpPr>
      <p:pic>
        <p:nvPicPr>
          <p:cNvPr id="2" name="Image 0" descr="/home/claude/f4/img/minesec_sheet.png">    </p:cNvPr>
          <p:cNvPicPr>
            <a:picLocks noChangeAspect="1"/>
          </p:cNvPicPr>
          <p:nvPr/>
        </p:nvPicPr>
        <p:blipFill>
          <a:blip r:embed="rId1"/>
          <a:stretch>
            <a:fillRect/>
          </a:stretch>
        </p:blipFill>
        <p:spPr>
          <a:xfrm>
            <a:off x="0" y="0"/>
            <a:ext cx="5888736" cy="6492240"/>
          </a:xfrm>
          <a:prstGeom prst="rect">
            <a:avLst/>
          </a:prstGeom>
        </p:spPr>
      </p:pic>
      <p:sp>
        <p:nvSpPr>
          <p:cNvPr id="3" name="Text 0"/>
          <p:cNvSpPr/>
          <p:nvPr/>
        </p:nvSpPr>
        <p:spPr>
          <a:xfrm>
            <a:off x="6126480" y="502920"/>
            <a:ext cx="5760720" cy="822960"/>
          </a:xfrm>
          <a:prstGeom prst="rect">
            <a:avLst/>
          </a:prstGeom>
          <a:noFill/>
          <a:ln/>
        </p:spPr>
        <p:txBody>
          <a:bodyPr wrap="square" lIns="0" tIns="0" rIns="0" bIns="0" rtlCol="0" anchor="ctr"/>
          <a:lstStyle/>
          <a:p>
            <a:pPr algn="ctr" indent="0" marL="0">
              <a:buNone/>
            </a:pPr>
            <a:r>
              <a:rPr lang="en-US" sz="4400" b="1" dirty="0">
                <a:solidFill>
                  <a:srgbClr val="1565C0"/>
                </a:solidFill>
                <a:latin typeface="Times New Roman" pitchFamily="34" charset="0"/>
                <a:ea typeface="Times New Roman" pitchFamily="34" charset="-122"/>
                <a:cs typeface="Times New Roman" pitchFamily="34" charset="-120"/>
              </a:rPr>
              <a:t>MINESEC</a:t>
            </a:r>
            <a:endParaRPr lang="en-US" sz="4400" dirty="0"/>
          </a:p>
        </p:txBody>
      </p:sp>
      <p:sp>
        <p:nvSpPr>
          <p:cNvPr id="4" name="Text 1"/>
          <p:cNvSpPr/>
          <p:nvPr/>
        </p:nvSpPr>
        <p:spPr>
          <a:xfrm>
            <a:off x="6126480" y="1325880"/>
            <a:ext cx="5760720" cy="457200"/>
          </a:xfrm>
          <a:prstGeom prst="rect">
            <a:avLst/>
          </a:prstGeom>
          <a:noFill/>
          <a:ln/>
        </p:spPr>
        <p:txBody>
          <a:bodyPr wrap="square" lIns="0" tIns="0" rIns="0" bIns="0" rtlCol="0" anchor="ctr"/>
          <a:lstStyle/>
          <a:p>
            <a:pPr algn="ctr" indent="0" marL="0">
              <a:buNone/>
            </a:pPr>
            <a:r>
              <a:rPr lang="en-US" sz="1800" b="1" dirty="0">
                <a:solidFill>
                  <a:srgbClr val="1C3F6E"/>
                </a:solidFill>
                <a:latin typeface="Calibri" pitchFamily="34" charset="0"/>
                <a:ea typeface="Calibri" pitchFamily="34" charset="-122"/>
                <a:cs typeface="Calibri" pitchFamily="34" charset="-120"/>
              </a:rPr>
              <a:t>DGCAST-GAROUA  —  GEOGRAPHY DEPARTMENT</a:t>
            </a:r>
            <a:endParaRPr lang="en-US" sz="1800" dirty="0"/>
          </a:p>
        </p:txBody>
      </p:sp>
      <p:sp>
        <p:nvSpPr>
          <p:cNvPr id="5" name="Text 2"/>
          <p:cNvSpPr/>
          <p:nvPr/>
        </p:nvSpPr>
        <p:spPr>
          <a:xfrm>
            <a:off x="6126480" y="5257800"/>
            <a:ext cx="5760720" cy="914400"/>
          </a:xfrm>
          <a:prstGeom prst="rect">
            <a:avLst/>
          </a:prstGeom>
          <a:noFill/>
          <a:ln/>
        </p:spPr>
        <p:txBody>
          <a:bodyPr wrap="square" lIns="0" tIns="0" rIns="0" bIns="0" rtlCol="0" anchor="ctr"/>
          <a:lstStyle/>
          <a:p>
            <a:pPr algn="ctr" indent="0" marL="0">
              <a:buNone/>
            </a:pPr>
            <a:r>
              <a:rPr lang="en-US" sz="2000" b="1" dirty="0">
                <a:solidFill>
                  <a:srgbClr val="111111"/>
                </a:solidFill>
                <a:latin typeface="Times New Roman" pitchFamily="34" charset="0"/>
                <a:ea typeface="Times New Roman" pitchFamily="34" charset="-122"/>
                <a:cs typeface="Times New Roman" pitchFamily="34" charset="-120"/>
              </a:rPr>
              <a:t>KAMDEM Emmanuel Berthaut</a:t>
            </a:r>
            <a:endParaRPr lang="en-US" sz="2000" dirty="0"/>
          </a:p>
          <a:p>
            <a:pPr algn="ctr" indent="0" marL="0">
              <a:buNone/>
            </a:pPr>
            <a:r>
              <a:rPr lang="en-US" sz="2000" b="1" dirty="0">
                <a:solidFill>
                  <a:srgbClr val="111111"/>
                </a:solidFill>
                <a:latin typeface="Times New Roman" pitchFamily="34" charset="0"/>
                <a:ea typeface="Times New Roman" pitchFamily="34" charset="-122"/>
                <a:cs typeface="Times New Roman" pitchFamily="34" charset="-120"/>
              </a:rPr>
              <a:t>Geography Teacher</a:t>
            </a:r>
            <a:endParaRPr lang="en-US" sz="2000" dirty="0"/>
          </a:p>
        </p:txBody>
      </p:sp>
      <p:sp>
        <p:nvSpPr>
          <p:cNvPr id="6" name="Shape 3"/>
          <p:cNvSpPr/>
          <p:nvPr/>
        </p:nvSpPr>
        <p:spPr>
          <a:xfrm>
            <a:off x="0" y="6492240"/>
            <a:ext cx="2743200" cy="365760"/>
          </a:xfrm>
          <a:prstGeom prst="rect">
            <a:avLst/>
          </a:prstGeom>
          <a:solidFill>
            <a:srgbClr val="1C3F6E"/>
          </a:solidFill>
          <a:ln w="12700">
            <a:solidFill>
              <a:srgbClr val="1C3F6E"/>
            </a:solidFill>
            <a:prstDash val="solid"/>
          </a:ln>
        </p:spPr>
      </p:sp>
      <p:sp>
        <p:nvSpPr>
          <p:cNvPr id="7" name="Text 4"/>
          <p:cNvSpPr/>
          <p:nvPr/>
        </p:nvSpPr>
        <p:spPr>
          <a:xfrm>
            <a:off x="137160" y="6492240"/>
            <a:ext cx="2560320" cy="365760"/>
          </a:xfrm>
          <a:prstGeom prst="rect">
            <a:avLst/>
          </a:prstGeom>
          <a:noFill/>
          <a:ln/>
        </p:spPr>
        <p:txBody>
          <a:bodyPr wrap="square" lIns="0" tIns="0" rIns="0" bIns="0" rtlCol="0" anchor="ctr"/>
          <a:lstStyle/>
          <a:p>
            <a:pPr indent="0" marL="0">
              <a:buNone/>
            </a:pPr>
            <a:r>
              <a:rPr lang="en-US" sz="1300" dirty="0">
                <a:solidFill>
                  <a:srgbClr val="FFFFFF"/>
                </a:solidFill>
                <a:latin typeface="Calibri" pitchFamily="34" charset="0"/>
                <a:ea typeface="Calibri" pitchFamily="34" charset="-122"/>
                <a:cs typeface="Calibri" pitchFamily="34" charset="-120"/>
              </a:rPr>
              <a:t>Date: 2026 / 2027</a:t>
            </a:r>
            <a:endParaRPr lang="en-US" sz="1300" dirty="0"/>
          </a:p>
        </p:txBody>
      </p:sp>
      <p:sp>
        <p:nvSpPr>
          <p:cNvPr id="8" name="Shape 5"/>
          <p:cNvSpPr/>
          <p:nvPr/>
        </p:nvSpPr>
        <p:spPr>
          <a:xfrm>
            <a:off x="2743200" y="6492240"/>
            <a:ext cx="6035040" cy="365760"/>
          </a:xfrm>
          <a:prstGeom prst="rect">
            <a:avLst/>
          </a:prstGeom>
          <a:solidFill>
            <a:srgbClr val="B8860B"/>
          </a:solidFill>
          <a:ln w="12700">
            <a:solidFill>
              <a:srgbClr val="B8860B"/>
            </a:solidFill>
            <a:prstDash val="solid"/>
          </a:ln>
        </p:spPr>
      </p:sp>
      <p:sp>
        <p:nvSpPr>
          <p:cNvPr id="9" name="Text 6"/>
          <p:cNvSpPr/>
          <p:nvPr/>
        </p:nvSpPr>
        <p:spPr>
          <a:xfrm>
            <a:off x="2834640" y="6492240"/>
            <a:ext cx="5852160" cy="365760"/>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Copyright MINESEC  —  HOD – DGCAST-GAROUA</a:t>
            </a:r>
            <a:endParaRPr lang="en-US" sz="1300" dirty="0"/>
          </a:p>
        </p:txBody>
      </p:sp>
      <p:sp>
        <p:nvSpPr>
          <p:cNvPr id="10" name="Shape 7"/>
          <p:cNvSpPr/>
          <p:nvPr/>
        </p:nvSpPr>
        <p:spPr>
          <a:xfrm>
            <a:off x="8778240" y="6492240"/>
            <a:ext cx="3413455" cy="365760"/>
          </a:xfrm>
          <a:prstGeom prst="rect">
            <a:avLst/>
          </a:prstGeom>
          <a:solidFill>
            <a:srgbClr val="36454F"/>
          </a:solidFill>
          <a:ln w="12700">
            <a:solidFill>
              <a:srgbClr val="36454F"/>
            </a:solidFill>
            <a:prstDash val="solid"/>
          </a:ln>
        </p:spPr>
      </p:sp>
      <p:sp>
        <p:nvSpPr>
          <p:cNvPr id="11" name="Text 8"/>
          <p:cNvSpPr/>
          <p:nvPr/>
        </p:nvSpPr>
        <p:spPr>
          <a:xfrm>
            <a:off x="8869680" y="6492240"/>
            <a:ext cx="3200400" cy="365760"/>
          </a:xfrm>
          <a:prstGeom prst="rect">
            <a:avLst/>
          </a:prstGeom>
          <a:noFill/>
          <a:ln/>
        </p:spPr>
        <p:txBody>
          <a:bodyPr wrap="square" lIns="0" tIns="0" rIns="0" bIns="0" rtlCol="0" anchor="ctr"/>
          <a:lstStyle/>
          <a:p>
            <a:pPr algn="r" indent="0" marL="0">
              <a:buNone/>
            </a:pPr>
            <a:r>
              <a:rPr lang="en-US" sz="1300" dirty="0">
                <a:solidFill>
                  <a:srgbClr val="FFFFFF"/>
                </a:solidFill>
                <a:latin typeface="Calibri" pitchFamily="34" charset="0"/>
                <a:ea typeface="Calibri" pitchFamily="34" charset="-122"/>
                <a:cs typeface="Calibri" pitchFamily="34" charset="-120"/>
              </a:rPr>
              <a:t>Mr KAMDEM E.  —  Geography</a:t>
            </a:r>
            <a:endParaRPr lang="en-US" sz="1300" dirty="0"/>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slideLayout" Target="../slideLayouts/slideLayout2.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slideLayout" Target="../slideLayouts/slideLayout2.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slideLayout" Target="../slideLayouts/slideLayout2.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slideLayout" Target="../slideLayouts/slideLayout2.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slideLayout" Target="../slideLayouts/slideLayout2.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slideLayout" Target="../slideLayouts/slideLayout2.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slideLayout" Target="../slideLayouts/slideLayout2.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slideLayout" Target="../slideLayouts/slideLayout2.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slideLayout" Target="../slideLayouts/slideLayout2.xml"/><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slideLayout" Target="../slideLayouts/slideLayout2.xml"/><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slideLayout" Target="../slideLayouts/slideLayout2.xml"/><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slideLayout" Target="../slideLayouts/slideLayout2.xml"/><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image-16-1.png"/><Relationship Id="rId2" Type="http://schemas.openxmlformats.org/officeDocument/2006/relationships/slideLayout" Target="../slideLayouts/slideLayout2.xml"/><Relationship Id="rId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image-17-1.png"/><Relationship Id="rId2" Type="http://schemas.openxmlformats.org/officeDocument/2006/relationships/slideLayout" Target="../slideLayouts/slideLayout2.xml"/><Relationship Id="rId3"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image-18-1.jpg"/><Relationship Id="rId2" Type="http://schemas.openxmlformats.org/officeDocument/2006/relationships/slideLayout" Target="../slideLayouts/slideLayout2.xml"/><Relationship Id="rId3"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image" Target="../media/image-19-1.png"/><Relationship Id="rId2" Type="http://schemas.openxmlformats.org/officeDocument/2006/relationships/slideLayout" Target="../slideLayouts/slideLayout2.xml"/><Relationship Id="rId3"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image" Target="../media/image-20-1.png"/><Relationship Id="rId2" Type="http://schemas.openxmlformats.org/officeDocument/2006/relationships/slideLayout" Target="../slideLayouts/slideLayout2.xml"/><Relationship Id="rId3"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image" Target="../media/image-21-1.jpg"/><Relationship Id="rId2" Type="http://schemas.openxmlformats.org/officeDocument/2006/relationships/slideLayout" Target="../slideLayouts/slideLayout2.xml"/><Relationship Id="rId3"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image" Target="../media/image-22-1.png"/><Relationship Id="rId2" Type="http://schemas.openxmlformats.org/officeDocument/2006/relationships/slideLayout" Target="../slideLayouts/slideLayout2.xml"/><Relationship Id="rId3"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image" Target="../media/image-23-1.png"/><Relationship Id="rId2" Type="http://schemas.openxmlformats.org/officeDocument/2006/relationships/slideLayout" Target="../slideLayouts/slideLayout2.xml"/><Relationship Id="rId3"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image" Target="../media/image-24-1.jpg"/><Relationship Id="rId2" Type="http://schemas.openxmlformats.org/officeDocument/2006/relationships/slideLayout" Target="../slideLayouts/slideLayout2.xml"/><Relationship Id="rId3"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image" Target="../media/image-25-1.png"/><Relationship Id="rId2" Type="http://schemas.openxmlformats.org/officeDocument/2006/relationships/slideLayout" Target="../slideLayouts/slideLayout2.xml"/><Relationship Id="rId3"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image" Target="../media/image-26-1.png"/><Relationship Id="rId2" Type="http://schemas.openxmlformats.org/officeDocument/2006/relationships/slideLayout" Target="../slideLayouts/slideLayout2.xml"/><Relationship Id="rId3"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image" Target="../media/image-27-1.jpg"/><Relationship Id="rId2" Type="http://schemas.openxmlformats.org/officeDocument/2006/relationships/slideLayout" Target="../slideLayouts/slideLayout2.xml"/><Relationship Id="rId3"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image" Target="../media/image-28-1.png"/><Relationship Id="rId2" Type="http://schemas.openxmlformats.org/officeDocument/2006/relationships/slideLayout" Target="../slideLayouts/slideLayout2.xml"/><Relationship Id="rId3"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image" Target="../media/image-29-1.png"/><Relationship Id="rId2" Type="http://schemas.openxmlformats.org/officeDocument/2006/relationships/slideLayout" Target="../slideLayouts/slideLayout2.xml"/><Relationship Id="rId3"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image" Target="../media/image-30-1.jpg"/><Relationship Id="rId2" Type="http://schemas.openxmlformats.org/officeDocument/2006/relationships/slideLayout" Target="../slideLayouts/slideLayout2.xml"/><Relationship Id="rId3"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image" Target="../media/image-31-1.png"/><Relationship Id="rId2" Type="http://schemas.openxmlformats.org/officeDocument/2006/relationships/slideLayout" Target="../slideLayouts/slideLayout2.xml"/><Relationship Id="rId3"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image" Target="../media/image-32-1.png"/><Relationship Id="rId2" Type="http://schemas.openxmlformats.org/officeDocument/2006/relationships/slideLayout" Target="../slideLayouts/slideLayout2.xml"/><Relationship Id="rId3"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image" Target="../media/image-33-1.png"/><Relationship Id="rId2" Type="http://schemas.openxmlformats.org/officeDocument/2006/relationships/slideLayout" Target="../slideLayouts/slideLayout2.xml"/><Relationship Id="rId3"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image" Target="../media/image-34-1.png"/><Relationship Id="rId2" Type="http://schemas.openxmlformats.org/officeDocument/2006/relationships/slideLayout" Target="../slideLayouts/slideLayout2.xml"/><Relationship Id="rId3"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image" Target="../media/image-35-1.jpg"/><Relationship Id="rId2" Type="http://schemas.openxmlformats.org/officeDocument/2006/relationships/slideLayout" Target="../slideLayouts/slideLayout2.xml"/><Relationship Id="rId3"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image" Target="../media/image-36-1.jpg"/><Relationship Id="rId2" Type="http://schemas.openxmlformats.org/officeDocument/2006/relationships/slideLayout" Target="../slideLayouts/slideLayout2.xml"/><Relationship Id="rId3"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image" Target="../media/image-37-1.png"/><Relationship Id="rId2" Type="http://schemas.openxmlformats.org/officeDocument/2006/relationships/slideLayout" Target="../slideLayouts/slideLayout2.xml"/><Relationship Id="rId3"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image" Target="../media/image-38-1.jpg"/><Relationship Id="rId2" Type="http://schemas.openxmlformats.org/officeDocument/2006/relationships/slideLayout" Target="../slideLayouts/slideLayout2.xml"/><Relationship Id="rId3"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image" Target="../media/image-39-1.png"/><Relationship Id="rId2" Type="http://schemas.openxmlformats.org/officeDocument/2006/relationships/slideLayout" Target="../slideLayouts/slideLayout2.xml"/><Relationship Id="rId3"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image" Target="../media/image-40-1.png"/><Relationship Id="rId2" Type="http://schemas.openxmlformats.org/officeDocument/2006/relationships/slideLayout" Target="../slideLayouts/slideLayout2.xml"/><Relationship Id="rId3"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image" Target="../media/image-41-1.jpg"/><Relationship Id="rId2" Type="http://schemas.openxmlformats.org/officeDocument/2006/relationships/slideLayout" Target="../slideLayouts/slideLayout2.xml"/><Relationship Id="rId3"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image" Target="../media/image-42-1.png"/><Relationship Id="rId2" Type="http://schemas.openxmlformats.org/officeDocument/2006/relationships/slideLayout" Target="../slideLayouts/slideLayout2.xml"/><Relationship Id="rId3"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image" Target="../media/image-43-1.png"/><Relationship Id="rId2" Type="http://schemas.openxmlformats.org/officeDocument/2006/relationships/slideLayout" Target="../slideLayouts/slideLayout2.xml"/><Relationship Id="rId3"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image" Target="../media/image-44-1.jpg"/><Relationship Id="rId2" Type="http://schemas.openxmlformats.org/officeDocument/2006/relationships/slideLayout" Target="../slideLayouts/slideLayout2.xml"/><Relationship Id="rId3" Type="http://schemas.openxmlformats.org/officeDocument/2006/relationships/notesSlide" Target="../notesSlides/notesSlide44.xml"/></Relationships>
</file>

<file path=ppt/slides/_rels/slide45.xml.rels><?xml version="1.0" encoding="UTF-8" standalone="yes"?>
<Relationships xmlns="http://schemas.openxmlformats.org/package/2006/relationships"><Relationship Id="rId1" Type="http://schemas.openxmlformats.org/officeDocument/2006/relationships/image" Target="../media/image-45-1.png"/><Relationship Id="rId2" Type="http://schemas.openxmlformats.org/officeDocument/2006/relationships/slideLayout" Target="../slideLayouts/slideLayout2.xml"/><Relationship Id="rId3" Type="http://schemas.openxmlformats.org/officeDocument/2006/relationships/notesSlide" Target="../notesSlides/notesSlide45.xml"/></Relationships>
</file>

<file path=ppt/slides/_rels/slide46.xml.rels><?xml version="1.0" encoding="UTF-8" standalone="yes"?>
<Relationships xmlns="http://schemas.openxmlformats.org/package/2006/relationships"><Relationship Id="rId1" Type="http://schemas.openxmlformats.org/officeDocument/2006/relationships/image" Target="../media/image-46-1.jpg"/><Relationship Id="rId2" Type="http://schemas.openxmlformats.org/officeDocument/2006/relationships/slideLayout" Target="../slideLayouts/slideLayout2.xml"/><Relationship Id="rId3" Type="http://schemas.openxmlformats.org/officeDocument/2006/relationships/notesSlide" Target="../notesSlides/notesSlide46.xml"/></Relationships>
</file>

<file path=ppt/slides/_rels/slide47.xml.rels><?xml version="1.0" encoding="UTF-8" standalone="yes"?>
<Relationships xmlns="http://schemas.openxmlformats.org/package/2006/relationships"><Relationship Id="rId1" Type="http://schemas.openxmlformats.org/officeDocument/2006/relationships/image" Target="../media/image-47-1.png"/><Relationship Id="rId2" Type="http://schemas.openxmlformats.org/officeDocument/2006/relationships/slideLayout" Target="../slideLayouts/slideLayout2.xml"/><Relationship Id="rId3" Type="http://schemas.openxmlformats.org/officeDocument/2006/relationships/notesSlide" Target="../notesSlides/notesSlide47.xml"/></Relationships>
</file>

<file path=ppt/slides/_rels/slide48.xml.rels><?xml version="1.0" encoding="UTF-8" standalone="yes"?>
<Relationships xmlns="http://schemas.openxmlformats.org/package/2006/relationships"><Relationship Id="rId1" Type="http://schemas.openxmlformats.org/officeDocument/2006/relationships/image" Target="../media/image-48-1.png"/><Relationship Id="rId2" Type="http://schemas.openxmlformats.org/officeDocument/2006/relationships/slideLayout" Target="../slideLayouts/slideLayout2.xml"/><Relationship Id="rId3" Type="http://schemas.openxmlformats.org/officeDocument/2006/relationships/notesSlide" Target="../notesSlides/notesSlide48.xml"/></Relationships>
</file>

<file path=ppt/slides/_rels/slide49.xml.rels><?xml version="1.0" encoding="UTF-8" standalone="yes"?>
<Relationships xmlns="http://schemas.openxmlformats.org/package/2006/relationships"><Relationship Id="rId1" Type="http://schemas.openxmlformats.org/officeDocument/2006/relationships/image" Target="../media/image-49-1.jpg"/><Relationship Id="rId2" Type="http://schemas.openxmlformats.org/officeDocument/2006/relationships/slideLayout" Target="../slideLayouts/slideLayout2.xml"/><Relationship Id="rId3" Type="http://schemas.openxmlformats.org/officeDocument/2006/relationships/notesSlide" Target="../notesSlides/notesSlide49.xml"/></Relationships>
</file>

<file path=ppt/slides/_rels/slide50.xml.rels><?xml version="1.0" encoding="UTF-8" standalone="yes"?>
<Relationships xmlns="http://schemas.openxmlformats.org/package/2006/relationships"><Relationship Id="rId1" Type="http://schemas.openxmlformats.org/officeDocument/2006/relationships/image" Target="../media/image-50-1.png"/><Relationship Id="rId2" Type="http://schemas.openxmlformats.org/officeDocument/2006/relationships/slideLayout" Target="../slideLayouts/slideLayout2.xml"/><Relationship Id="rId3" Type="http://schemas.openxmlformats.org/officeDocument/2006/relationships/notesSlide" Target="../notesSlides/notesSlide50.xml"/></Relationships>
</file>

<file path=ppt/slides/_rels/slide51.xml.rels><?xml version="1.0" encoding="UTF-8" standalone="yes"?>
<Relationships xmlns="http://schemas.openxmlformats.org/package/2006/relationships"><Relationship Id="rId1" Type="http://schemas.openxmlformats.org/officeDocument/2006/relationships/image" Target="../media/image-51-1.png"/><Relationship Id="rId2" Type="http://schemas.openxmlformats.org/officeDocument/2006/relationships/slideLayout" Target="../slideLayouts/slideLayout2.xml"/><Relationship Id="rId3" Type="http://schemas.openxmlformats.org/officeDocument/2006/relationships/notesSlide" Target="../notesSlides/notesSlide51.xml"/></Relationships>
</file>

<file path=ppt/slides/_rels/slide52.xml.rels><?xml version="1.0" encoding="UTF-8" standalone="yes"?>
<Relationships xmlns="http://schemas.openxmlformats.org/package/2006/relationships"><Relationship Id="rId1" Type="http://schemas.openxmlformats.org/officeDocument/2006/relationships/image" Target="../media/image-52-1.png"/><Relationship Id="rId2" Type="http://schemas.openxmlformats.org/officeDocument/2006/relationships/slideLayout" Target="../slideLayouts/slideLayout2.xml"/><Relationship Id="rId3" Type="http://schemas.openxmlformats.org/officeDocument/2006/relationships/notesSlide" Target="../notesSlides/notesSlide52.xml"/></Relationships>
</file>

<file path=ppt/slides/_rels/slide53.xml.rels><?xml version="1.0" encoding="UTF-8" standalone="yes"?>
<Relationships xmlns="http://schemas.openxmlformats.org/package/2006/relationships"><Relationship Id="rId1" Type="http://schemas.openxmlformats.org/officeDocument/2006/relationships/image" Target="../media/image-53-1.png"/><Relationship Id="rId2" Type="http://schemas.openxmlformats.org/officeDocument/2006/relationships/slideLayout" Target="../slideLayouts/slideLayout2.xml"/><Relationship Id="rId3" Type="http://schemas.openxmlformats.org/officeDocument/2006/relationships/notesSlide" Target="../notesSlides/notesSlide53.xml"/></Relationships>
</file>

<file path=ppt/slides/_rels/slide54.xml.rels><?xml version="1.0" encoding="UTF-8" standalone="yes"?>
<Relationships xmlns="http://schemas.openxmlformats.org/package/2006/relationships"><Relationship Id="rId1" Type="http://schemas.openxmlformats.org/officeDocument/2006/relationships/image" Target="../media/image-54-1.png"/><Relationship Id="rId2" Type="http://schemas.openxmlformats.org/officeDocument/2006/relationships/slideLayout" Target="../slideLayouts/slideLayout2.xml"/><Relationship Id="rId3" Type="http://schemas.openxmlformats.org/officeDocument/2006/relationships/notesSlide" Target="../notesSlides/notesSlide54.xml"/></Relationships>
</file>

<file path=ppt/slides/_rels/slide55.xml.rels><?xml version="1.0" encoding="UTF-8" standalone="yes"?>
<Relationships xmlns="http://schemas.openxmlformats.org/package/2006/relationships"><Relationship Id="rId1" Type="http://schemas.openxmlformats.org/officeDocument/2006/relationships/image" Target="../media/image-55-1.png"/><Relationship Id="rId2" Type="http://schemas.openxmlformats.org/officeDocument/2006/relationships/slideLayout" Target="../slideLayouts/slideLayout2.xml"/><Relationship Id="rId3" Type="http://schemas.openxmlformats.org/officeDocument/2006/relationships/notesSlide" Target="../notesSlides/notesSlide55.xml"/></Relationships>
</file>

<file path=ppt/slides/_rels/slide56.xml.rels><?xml version="1.0" encoding="UTF-8" standalone="yes"?>
<Relationships xmlns="http://schemas.openxmlformats.org/package/2006/relationships"><Relationship Id="rId1" Type="http://schemas.openxmlformats.org/officeDocument/2006/relationships/image" Target="../media/image-56-1.png"/><Relationship Id="rId2" Type="http://schemas.openxmlformats.org/officeDocument/2006/relationships/slideLayout" Target="../slideLayouts/slideLayout2.xml"/><Relationship Id="rId3" Type="http://schemas.openxmlformats.org/officeDocument/2006/relationships/notesSlide" Target="../notesSlides/notesSlide56.xml"/></Relationships>
</file>

<file path=ppt/slides/_rels/slide57.xml.rels><?xml version="1.0" encoding="UTF-8" standalone="yes"?>
<Relationships xmlns="http://schemas.openxmlformats.org/package/2006/relationships"><Relationship Id="rId1" Type="http://schemas.openxmlformats.org/officeDocument/2006/relationships/image" Target="../media/image-57-1.png"/><Relationship Id="rId2" Type="http://schemas.openxmlformats.org/officeDocument/2006/relationships/slideLayout" Target="../slideLayouts/slideLayout2.xml"/><Relationship Id="rId3" Type="http://schemas.openxmlformats.org/officeDocument/2006/relationships/notesSlide" Target="../notesSlides/notesSlide57.xml"/></Relationships>
</file>

<file path=ppt/slides/_rels/slide5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8.xml"/></Relationships>
</file>

<file path=ppt/slides/_rels/slide5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9.xml"/></Relationships>
</file>

<file path=ppt/slides/_rels/slide6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0.xml"/></Relationships>
</file>

<file path=ppt/slides/_rels/slide61.xml.rels><?xml version="1.0" encoding="UTF-8" standalone="yes"?>
<Relationships xmlns="http://schemas.openxmlformats.org/package/2006/relationships"><Relationship Id="rId1" Type="http://schemas.openxmlformats.org/officeDocument/2006/relationships/image" Target="../media/image-61-1.png"/><Relationship Id="rId2" Type="http://schemas.openxmlformats.org/officeDocument/2006/relationships/slideLayout" Target="../slideLayouts/slideLayout2.xml"/><Relationship Id="rId3" Type="http://schemas.openxmlformats.org/officeDocument/2006/relationships/notesSlide" Target="../notesSlides/notesSlide61.xml"/></Relationships>
</file>

<file path=ppt/slides/_rels/slide62.xml.rels><?xml version="1.0" encoding="UTF-8" standalone="yes"?>
<Relationships xmlns="http://schemas.openxmlformats.org/package/2006/relationships"><Relationship Id="rId1" Type="http://schemas.openxmlformats.org/officeDocument/2006/relationships/image" Target="../media/image-62-1.png"/><Relationship Id="rId2" Type="http://schemas.openxmlformats.org/officeDocument/2006/relationships/slideLayout" Target="../slideLayouts/slideLayout2.xml"/><Relationship Id="rId3" Type="http://schemas.openxmlformats.org/officeDocument/2006/relationships/notesSlide" Target="../notesSlides/notesSlide62.xml"/></Relationships>
</file>

<file path=ppt/slides/_rels/slide63.xml.rels><?xml version="1.0" encoding="UTF-8" standalone="yes"?>
<Relationships xmlns="http://schemas.openxmlformats.org/package/2006/relationships"><Relationship Id="rId1" Type="http://schemas.openxmlformats.org/officeDocument/2006/relationships/image" Target="../media/image-63-1.png"/><Relationship Id="rId2" Type="http://schemas.openxmlformats.org/officeDocument/2006/relationships/slideLayout" Target="../slideLayouts/slideLayout2.xml"/><Relationship Id="rId3" Type="http://schemas.openxmlformats.org/officeDocument/2006/relationships/notesSlide" Target="../notesSlides/notesSlide63.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 0"/>
          <p:cNvSpPr/>
          <p:nvPr/>
        </p:nvSpPr>
        <p:spPr>
          <a:xfrm>
            <a:off x="6126480" y="1965960"/>
            <a:ext cx="5760720" cy="1005840"/>
          </a:xfrm>
          <a:prstGeom prst="rect">
            <a:avLst/>
          </a:prstGeom>
          <a:noFill/>
          <a:ln/>
        </p:spPr>
        <p:txBody>
          <a:bodyPr wrap="square" lIns="0" tIns="0" rIns="0" bIns="0" rtlCol="0" anchor="ctr"/>
          <a:lstStyle/>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FORM 2</a:t>
            </a:r>
            <a:endParaRPr lang="en-US" sz="2600" dirty="0"/>
          </a:p>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GEOGRAPHY</a:t>
            </a:r>
            <a:endParaRPr lang="en-US" sz="2600" dirty="0"/>
          </a:p>
        </p:txBody>
      </p:sp>
      <p:sp>
        <p:nvSpPr>
          <p:cNvPr id="3" name="Text 1"/>
          <p:cNvSpPr/>
          <p:nvPr/>
        </p:nvSpPr>
        <p:spPr>
          <a:xfrm>
            <a:off x="6126480" y="3063240"/>
            <a:ext cx="5760720" cy="2103120"/>
          </a:xfrm>
          <a:prstGeom prst="rect">
            <a:avLst/>
          </a:prstGeom>
          <a:noFill/>
          <a:ln/>
        </p:spPr>
        <p:txBody>
          <a:bodyPr wrap="square" lIns="0" tIns="0" rIns="0" bIns="0" rtlCol="0" anchor="ctr">
            <a:normAutofit/>
          </a:bodyPr>
          <a:lstStyle/>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Lesson 8</a:t>
            </a:r>
            <a:endParaRPr lang="en-US" sz="2600" dirty="0"/>
          </a:p>
          <a:p>
            <a:pPr algn="ctr" indent="0" marL="0">
              <a:buNone/>
            </a:pPr>
            <a:r>
              <a:rPr lang="en-US" sz="3200" b="1" dirty="0">
                <a:solidFill>
                  <a:srgbClr val="990011"/>
                </a:solidFill>
                <a:latin typeface="Times New Roman" pitchFamily="34" charset="0"/>
                <a:ea typeface="Times New Roman" pitchFamily="34" charset="-122"/>
                <a:cs typeface="Times New Roman" pitchFamily="34" charset="-120"/>
              </a:rPr>
              <a:t>Relationships between Towns and Country Sides</a:t>
            </a:r>
            <a:endParaRPr lang="en-US" sz="26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CLASS INFO</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Class, Chapter and Duration</a:t>
            </a:r>
            <a:endParaRPr lang="en-US" sz="3600" dirty="0"/>
          </a:p>
        </p:txBody>
      </p:sp>
      <p:graphicFrame>
        <p:nvGraphicFramePr>
          <p:cNvPr id="3"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2377440"/>
                <a:gridCol w="8897112"/>
              </a:tblGrid>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Class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Form 2</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Chapter</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Module 2: Space Occupation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Duration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2 periods (2 × 50 minutes)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IDENTIFICATION</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Lesson Identification</a:t>
            </a:r>
            <a:endParaRPr lang="en-US" sz="3600" dirty="0"/>
          </a:p>
        </p:txBody>
      </p:sp>
      <p:graphicFrame>
        <p:nvGraphicFramePr>
          <p:cNvPr id="4"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2377440"/>
                <a:gridCol w="8897112"/>
              </a:tblGrid>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Topic</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Space Occupation</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Sub-topic</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Towns and Country Sides of Africa</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Lesson</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Lesson 8: Relationships between Towns and Country Sides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Notions / Concepts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Flows: population flows, flows of goods, information (newspapers).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Syllabus focus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Economic relationships; socio-cultural relationships; information.</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Competence</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Learners are able to identify the flows between towns and country sides and explain why they depend on each other.</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 CORRECTION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Correction of the Homework</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C3F6E"/>
                </a:solidFill>
                <a:latin typeface="Times New Roman" pitchFamily="34" charset="0"/>
                <a:ea typeface="Times New Roman" pitchFamily="34" charset="-122"/>
                <a:cs typeface="Times New Roman" pitchFamily="34" charset="-120"/>
              </a:rPr>
              <a:t>Question (Further Study 6: Urban Problems in Cameroon):</a:t>
            </a:r>
            <a:endParaRPr lang="en-US" sz="4000" dirty="0"/>
          </a:p>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Identify one urban problem in your quarter and propose two solutions.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 CORRECTION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Correction: Possible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Answers vary. Example: blocked gutters that flood the quarter; solutions: clean the gutters every week and put dustbins along the street.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LESSON PLAN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Lesson Plan</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Correction of the homework</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Objectives and recall</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Real-life situation and action to take</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Learning activities</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Board summary</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Evaluation, remediation and homework</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OBJECTIVES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1463040" cy="5833872"/>
          </a:xfrm>
          <a:prstGeom prst="rect">
            <a:avLst/>
          </a:prstGeom>
        </p:spPr>
      </p:pic>
      <p:sp>
        <p:nvSpPr>
          <p:cNvPr id="4" name="Text 1"/>
          <p:cNvSpPr/>
          <p:nvPr/>
        </p:nvSpPr>
        <p:spPr>
          <a:xfrm>
            <a:off x="1691640" y="1005840"/>
            <a:ext cx="101800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Objectives</a:t>
            </a:r>
            <a:endParaRPr lang="en-US" sz="3600" dirty="0"/>
          </a:p>
        </p:txBody>
      </p:sp>
      <p:sp>
        <p:nvSpPr>
          <p:cNvPr id="5" name="Text 2"/>
          <p:cNvSpPr/>
          <p:nvPr/>
        </p:nvSpPr>
        <p:spPr>
          <a:xfrm>
            <a:off x="1691640" y="1783080"/>
            <a:ext cx="101800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By the end of this lesson, you should be able to:</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Describe the economic relationships between towns and country sides.</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Describe the socio-cultural relationships.</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Explain the flows of information.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PREVIOUS KNOWLEDGE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Previous Knowledge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Villages produce food.</a:t>
            </a:r>
            <a:endParaRPr lang="en-US" sz="4000" dirty="0"/>
          </a:p>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Towns have factories, shops and services.</a:t>
            </a:r>
            <a:endParaRPr lang="en-US" sz="4000" dirty="0"/>
          </a:p>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Many young people move to towns.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1463040" cy="5833872"/>
          </a:xfrm>
          <a:prstGeom prst="rect">
            <a:avLst/>
          </a:prstGeom>
        </p:spPr>
      </p:pic>
      <p:sp>
        <p:nvSpPr>
          <p:cNvPr id="4" name="Text 1"/>
          <p:cNvSpPr/>
          <p:nvPr/>
        </p:nvSpPr>
        <p:spPr>
          <a:xfrm>
            <a:off x="1691640" y="1005840"/>
            <a:ext cx="101800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in Real Life</a:t>
            </a:r>
            <a:endParaRPr lang="en-US" sz="3600" dirty="0"/>
          </a:p>
        </p:txBody>
      </p:sp>
      <p:sp>
        <p:nvSpPr>
          <p:cNvPr id="5" name="Text 2"/>
          <p:cNvSpPr/>
          <p:nvPr/>
        </p:nvSpPr>
        <p:spPr>
          <a:xfrm>
            <a:off x="1691640" y="1783080"/>
            <a:ext cx="101800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Every Friday, a buyam-sellam takes onions and groundnuts from a village near Garoua to the town market and returns with soap, oil and clothes. At festivals, town dwellers go back to the village. A pupil asks: "Could the town live without the village, or the village without the town?"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1</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is the problem in the situation?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We want to know whether towns and villages depend on each other.</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2</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goes from the village to the town?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Food such as onions and groundnuts.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3</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goes from the town to the village?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Possible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Manufactured goods such as soap, oil and clothes.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ACTION TO TAKE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Action to Take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Support exchanges and development projects between your village and your town.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JUSTIFICATION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Justification of the Lesson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This lesson helps us to understand how towns and villages need each other.</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17</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ECONOMIC RELATIONSHIPS</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a:t>
            </a:r>
            <a:endParaRPr lang="en-US" sz="3600" dirty="0"/>
          </a:p>
        </p:txBody>
      </p:sp>
      <p:pic>
        <p:nvPicPr>
          <p:cNvPr id="4" name="Image 0" descr="/home/claude/f4/img/v2/f2t_cattle_market.jpg">    </p:cNvPr>
          <p:cNvPicPr>
            <a:picLocks noChangeAspect="1"/>
          </p:cNvPicPr>
          <p:nvPr/>
        </p:nvPicPr>
        <p:blipFill>
          <a:blip r:embed="rId1"/>
          <a:stretch>
            <a:fillRect/>
          </a:stretch>
        </p:blipFill>
        <p:spPr>
          <a:xfrm>
            <a:off x="2246610" y="1783080"/>
            <a:ext cx="769847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A cattle market.</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18</a:t>
            </a:fld>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ECONOMIC RELATIONSHIPS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Where do the cattle sold in town markets come from?</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19</a:t>
            </a:fld>
            <a:endParaRPr lang="en-US"/>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ECONOMIC RELATIONSHIPS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From the country side, where herders raise them.</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20</a:t>
            </a:fld>
            <a:endParaRPr lang="en-US"/>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ECONOMIC RELATIONSHIPS</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a:t>
            </a:r>
            <a:endParaRPr lang="en-US" sz="3600" dirty="0"/>
          </a:p>
        </p:txBody>
      </p:sp>
      <p:pic>
        <p:nvPicPr>
          <p:cNvPr id="4" name="Image 0" descr="/home/claude/f4/img/v2/usa_truck.jpg">    </p:cNvPr>
          <p:cNvPicPr>
            <a:picLocks noChangeAspect="1"/>
          </p:cNvPicPr>
          <p:nvPr/>
        </p:nvPicPr>
        <p:blipFill>
          <a:blip r:embed="rId1"/>
          <a:stretch>
            <a:fillRect/>
          </a:stretch>
        </p:blipFill>
        <p:spPr>
          <a:xfrm>
            <a:off x="2246610" y="1783080"/>
            <a:ext cx="769847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A loaded pick-up on a rural road.</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21</a:t>
            </a:fld>
            <a:endParaRPr lang="en-US"/>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ECONOMIC RELATIONSHIPS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does this vehicle bring back to the village from the town?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22</a:t>
            </a:fld>
            <a:endParaRPr lang="en-US"/>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ECONOMIC RELATIONSHIPS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Manufactured goods such as soap, oil, sugar, clothes and fertilisers.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23</a:t>
            </a:fld>
            <a:endParaRPr lang="en-US"/>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SOCIO-CULTURAL RELATIONSHIPS</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a:t>
            </a:r>
            <a:endParaRPr lang="en-US" sz="3600" dirty="0"/>
          </a:p>
        </p:txBody>
      </p:sp>
      <p:pic>
        <p:nvPicPr>
          <p:cNvPr id="4" name="Image 0" descr="/home/claude/f4/img/v2/usa_busstation.jpg">    </p:cNvPr>
          <p:cNvPicPr>
            <a:picLocks noChangeAspect="1"/>
          </p:cNvPicPr>
          <p:nvPr/>
        </p:nvPicPr>
        <p:blipFill>
          <a:blip r:embed="rId1"/>
          <a:stretch>
            <a:fillRect/>
          </a:stretch>
        </p:blipFill>
        <p:spPr>
          <a:xfrm>
            <a:off x="2246610" y="1783080"/>
            <a:ext cx="769847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A bus station.</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24</a:t>
            </a:fld>
            <a:endParaRPr lang="en-US"/>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SOCIO-CULTURAL RELATIONSHIPS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Why are bus stations crowded before festivals?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25</a:t>
            </a:fld>
            <a:endParaRPr lang="en-US"/>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SOCIO-CULTURAL RELATIONSHIPS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Town dwellers travel back to their villages for festivals and family ceremonies.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26</a:t>
            </a:fld>
            <a:endParaRPr lang="en-US"/>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SOCIO-CULTURAL RELATIONSHIPS</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4</a:t>
            </a:r>
            <a:endParaRPr lang="en-US" sz="3600" dirty="0"/>
          </a:p>
        </p:txBody>
      </p:sp>
      <p:pic>
        <p:nvPicPr>
          <p:cNvPr id="4" name="Image 0" descr="/home/claude/f4/img/v2/usa_bandjoun.jpg">    </p:cNvPr>
          <p:cNvPicPr>
            <a:picLocks noChangeAspect="1"/>
          </p:cNvPicPr>
          <p:nvPr/>
        </p:nvPicPr>
        <p:blipFill>
          <a:blip r:embed="rId1"/>
          <a:stretch>
            <a:fillRect/>
          </a:stretch>
        </p:blipFill>
        <p:spPr>
          <a:xfrm>
            <a:off x="2246610" y="1783080"/>
            <a:ext cx="769847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A traditional chiefdom.</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27</a:t>
            </a:fld>
            <a:endParaRPr lang="en-US"/>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SOCIO-CULTURAL RELATIONSHIPS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4: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How do the elites in town help their village?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28</a:t>
            </a:fld>
            <a:endParaRPr lang="en-US"/>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SOCIO-CULTURAL RELATIONSHIPS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4: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Through development associations that build schools, wells and roads.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29</a:t>
            </a:fld>
            <a:endParaRPr lang="en-US"/>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INFORMATION</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5</a:t>
            </a:r>
            <a:endParaRPr lang="en-US" sz="3600" dirty="0"/>
          </a:p>
        </p:txBody>
      </p:sp>
      <p:pic>
        <p:nvPicPr>
          <p:cNvPr id="4" name="Image 0" descr="/home/claude/f4/img/v2/f2t_phone_farmer.jpg">    </p:cNvPr>
          <p:cNvPicPr>
            <a:picLocks noChangeAspect="1"/>
          </p:cNvPicPr>
          <p:nvPr/>
        </p:nvPicPr>
        <p:blipFill>
          <a:blip r:embed="rId1"/>
          <a:stretch>
            <a:fillRect/>
          </a:stretch>
        </p:blipFill>
        <p:spPr>
          <a:xfrm>
            <a:off x="2250369" y="1783080"/>
            <a:ext cx="7690957"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A farmer uses a phone.</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30</a:t>
            </a:fld>
            <a:endParaRPr lang="en-US"/>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INFORMATION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5: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How does this farmer learn the price of his crops in town?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31</a:t>
            </a:fld>
            <a:endParaRPr lang="en-US"/>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INFORMATION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5: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By phone; news also comes by radio, newspapers and travellers.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32</a:t>
            </a:fld>
            <a:endParaRPr lang="en-US"/>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Board Summary</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Topic: Space Occupation</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Sub-topic: Towns and Country Sides of Africa</a:t>
            </a:r>
            <a:endParaRPr lang="en-US" sz="4000" dirty="0"/>
          </a:p>
          <a:p>
            <a:pPr algn="l" indent="0" marL="0">
              <a:spcAft>
                <a:spcPts val="800"/>
              </a:spcAft>
              <a:buNone/>
            </a:pPr>
            <a:r>
              <a:rPr lang="en-US" sz="4000" b="1" dirty="0">
                <a:solidFill>
                  <a:srgbClr val="990011"/>
                </a:solidFill>
                <a:latin typeface="Times New Roman" pitchFamily="34" charset="0"/>
                <a:ea typeface="Times New Roman" pitchFamily="34" charset="-122"/>
                <a:cs typeface="Times New Roman" pitchFamily="34" charset="-120"/>
              </a:rPr>
              <a:t>Lesson 8: Relationships between Towns and Country Sides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33</a:t>
            </a:fld>
            <a:endParaRPr lang="en-US"/>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1463040" cy="5833872"/>
          </a:xfrm>
          <a:prstGeom prst="rect">
            <a:avLst/>
          </a:prstGeom>
        </p:spPr>
      </p:pic>
      <p:sp>
        <p:nvSpPr>
          <p:cNvPr id="4" name="Text 1"/>
          <p:cNvSpPr/>
          <p:nvPr/>
        </p:nvSpPr>
        <p:spPr>
          <a:xfrm>
            <a:off x="1691640" y="1005840"/>
            <a:ext cx="101800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DEFINITIONS</a:t>
            </a:r>
            <a:endParaRPr lang="en-US" sz="3600" dirty="0"/>
          </a:p>
        </p:txBody>
      </p:sp>
      <p:sp>
        <p:nvSpPr>
          <p:cNvPr id="5" name="Text 2"/>
          <p:cNvSpPr/>
          <p:nvPr/>
        </p:nvSpPr>
        <p:spPr>
          <a:xfrm>
            <a:off x="1691640" y="1783080"/>
            <a:ext cx="10180015" cy="4663440"/>
          </a:xfrm>
          <a:prstGeom prst="rect">
            <a:avLst/>
          </a:prstGeom>
          <a:noFill/>
          <a:ln/>
        </p:spPr>
        <p:txBody>
          <a:bodyPr wrap="square" lIns="0" tIns="0" rIns="0" bIns="0" rtlCol="0" anchor="t"/>
          <a:lstStyle/>
          <a:p>
            <a:pPr algn="l" indent="0" marL="0">
              <a:spcAft>
                <a:spcPts val="800"/>
              </a:spcAft>
              <a:buNone/>
            </a:pPr>
            <a:r>
              <a:rPr lang="en-US" sz="4000" i="1" dirty="0">
                <a:solidFill>
                  <a:srgbClr val="111111"/>
                </a:solidFill>
                <a:latin typeface="Times New Roman" pitchFamily="34" charset="0"/>
                <a:ea typeface="Times New Roman" pitchFamily="34" charset="-122"/>
                <a:cs typeface="Times New Roman" pitchFamily="34" charset="-120"/>
              </a:rPr>
              <a:t>The key terms of this lesson are defined as follows: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Flow: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is the movement of people, goods, money or information between two places.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Population flow: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is the movement of people between places, for example between a village and a town.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34</a:t>
            </a:fld>
            <a:endParaRPr lang="en-US"/>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365760" y="1005840"/>
            <a:ext cx="11460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Economic Relationships</a:t>
            </a:r>
            <a:endParaRPr lang="en-US" sz="3600" dirty="0"/>
          </a:p>
        </p:txBody>
      </p:sp>
      <p:sp>
        <p:nvSpPr>
          <p:cNvPr id="4" name="Text 2"/>
          <p:cNvSpPr/>
          <p:nvPr/>
        </p:nvSpPr>
        <p:spPr>
          <a:xfrm>
            <a:off x="365760" y="1737360"/>
            <a:ext cx="5120640" cy="457200"/>
          </a:xfrm>
          <a:prstGeom prst="rect">
            <a:avLst/>
          </a:prstGeom>
          <a:noFill/>
          <a:ln/>
        </p:spPr>
        <p:txBody>
          <a:bodyPr wrap="square" lIns="0" tIns="0" rIns="0" bIns="0" rtlCol="0" anchor="ctr">
            <a:normAutofit/>
          </a:bodyPr>
          <a:lstStyle/>
          <a:p>
            <a:pPr algn="l" indent="0" marL="0">
              <a:buNone/>
            </a:pPr>
            <a:r>
              <a:rPr lang="en-US" sz="3000" b="1" dirty="0">
                <a:solidFill>
                  <a:srgbClr val="990011"/>
                </a:solidFill>
                <a:latin typeface="Times New Roman" pitchFamily="34" charset="0"/>
                <a:ea typeface="Times New Roman" pitchFamily="34" charset="-122"/>
                <a:cs typeface="Times New Roman" pitchFamily="34" charset="-120"/>
              </a:rPr>
              <a:t>A) From the Country Side to the Town</a:t>
            </a:r>
            <a:endParaRPr lang="en-US" sz="3000" dirty="0"/>
          </a:p>
        </p:txBody>
      </p:sp>
      <p:sp>
        <p:nvSpPr>
          <p:cNvPr id="5" name="Text 3"/>
          <p:cNvSpPr/>
          <p:nvPr/>
        </p:nvSpPr>
        <p:spPr>
          <a:xfrm>
            <a:off x="365760" y="2240280"/>
            <a:ext cx="4846320" cy="4160520"/>
          </a:xfrm>
          <a:prstGeom prst="rect">
            <a:avLst/>
          </a:prstGeom>
          <a:noFill/>
          <a:ln/>
        </p:spPr>
        <p:txBody>
          <a:bodyPr wrap="square" lIns="0" tIns="0" rIns="0" bIns="0" rtlCol="0" anchor="t"/>
          <a:lstStyle/>
          <a:p>
            <a:pPr algn="l" indent="0" marL="0">
              <a:spcAft>
                <a:spcPts val="800"/>
              </a:spcAft>
              <a:buNone/>
            </a:pPr>
            <a:r>
              <a:rPr lang="en-US" sz="3600" i="1" dirty="0">
                <a:solidFill>
                  <a:srgbClr val="111111"/>
                </a:solidFill>
                <a:latin typeface="Times New Roman" pitchFamily="34" charset="0"/>
                <a:ea typeface="Times New Roman" pitchFamily="34" charset="-122"/>
                <a:cs typeface="Times New Roman" pitchFamily="34" charset="-120"/>
              </a:rPr>
              <a:t>The country side sends the following to towns:</a:t>
            </a:r>
            <a:endParaRPr lang="en-US" sz="3600" dirty="0"/>
          </a:p>
          <a:p>
            <a:pPr algn="l" indent="0" marL="0">
              <a:spcAft>
                <a:spcPts val="800"/>
              </a:spcAft>
              <a:buNone/>
            </a:pPr>
            <a:r>
              <a:rPr lang="en-US" sz="3600" b="1" dirty="0">
                <a:solidFill>
                  <a:srgbClr val="111111"/>
                </a:solidFill>
                <a:latin typeface="Times New Roman" pitchFamily="34" charset="0"/>
                <a:ea typeface="Times New Roman" pitchFamily="34" charset="-122"/>
                <a:cs typeface="Times New Roman" pitchFamily="34" charset="-120"/>
              </a:rPr>
              <a:t>Food: </a:t>
            </a:r>
            <a:pPr algn="l" indent="0" marL="0">
              <a:spcAft>
                <a:spcPts val="800"/>
              </a:spcAft>
              <a:buNone/>
            </a:pPr>
            <a:r>
              <a:rPr lang="en-US" sz="3600" dirty="0">
                <a:solidFill>
                  <a:srgbClr val="111111"/>
                </a:solidFill>
                <a:latin typeface="Times New Roman" pitchFamily="34" charset="0"/>
                <a:ea typeface="Times New Roman" pitchFamily="34" charset="-122"/>
                <a:cs typeface="Times New Roman" pitchFamily="34" charset="-120"/>
              </a:rPr>
              <a:t>Villages supply towns with cereals, tubers, vegetables, fruits and fish.</a:t>
            </a:r>
            <a:endParaRPr lang="en-US" sz="3600" dirty="0"/>
          </a:p>
        </p:txBody>
      </p:sp>
      <p:pic>
        <p:nvPicPr>
          <p:cNvPr id="6" name="Image 0" descr="/home/claude/f4/img/v2/f2t_market.jpg">    </p:cNvPr>
          <p:cNvPicPr>
            <a:picLocks noChangeAspect="1"/>
          </p:cNvPicPr>
          <p:nvPr/>
        </p:nvPicPr>
        <p:blipFill>
          <a:blip r:embed="rId1"/>
          <a:stretch>
            <a:fillRect/>
          </a:stretch>
        </p:blipFill>
        <p:spPr>
          <a:xfrm>
            <a:off x="5349240" y="2071212"/>
            <a:ext cx="6659575" cy="3693983"/>
          </a:xfrm>
          <a:prstGeom prst="rect">
            <a:avLst/>
          </a:prstGeom>
        </p:spPr>
      </p:pic>
      <p:sp>
        <p:nvSpPr>
          <p:cNvPr id="7" name="Text 4"/>
          <p:cNvSpPr/>
          <p:nvPr/>
        </p:nvSpPr>
        <p:spPr>
          <a:xfrm>
            <a:off x="5349240" y="6089904"/>
            <a:ext cx="6659575" cy="347472"/>
          </a:xfrm>
          <a:prstGeom prst="rect">
            <a:avLst/>
          </a:prstGeom>
          <a:noFill/>
          <a:ln/>
        </p:spPr>
        <p:txBody>
          <a:bodyPr wrap="square" lIns="0" tIns="0" rIns="0" bIns="0" rtlCol="0" anchor="ctr"/>
          <a:lstStyle/>
          <a:p>
            <a:pPr algn="ctr" indent="0" marL="0">
              <a:buNone/>
            </a:pPr>
            <a:r>
              <a:rPr lang="en-US" sz="1600" i="1" dirty="0">
                <a:solidFill>
                  <a:srgbClr val="555555"/>
                </a:solidFill>
                <a:latin typeface="Times New Roman" pitchFamily="34" charset="0"/>
                <a:ea typeface="Times New Roman" pitchFamily="34" charset="-122"/>
                <a:cs typeface="Times New Roman" pitchFamily="34" charset="-120"/>
              </a:rPr>
              <a:t>Illustration: a town market</a:t>
            </a:r>
            <a:endParaRPr lang="en-US" sz="16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35</a:t>
            </a:fld>
            <a:endParaRPr lang="en-US"/>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365760" y="1005840"/>
            <a:ext cx="11460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Economic Relationships</a:t>
            </a:r>
            <a:endParaRPr lang="en-US" sz="3600" dirty="0"/>
          </a:p>
        </p:txBody>
      </p:sp>
      <p:sp>
        <p:nvSpPr>
          <p:cNvPr id="4" name="Text 2"/>
          <p:cNvSpPr/>
          <p:nvPr/>
        </p:nvSpPr>
        <p:spPr>
          <a:xfrm>
            <a:off x="365760" y="1737360"/>
            <a:ext cx="5120640" cy="457200"/>
          </a:xfrm>
          <a:prstGeom prst="rect">
            <a:avLst/>
          </a:prstGeom>
          <a:noFill/>
          <a:ln/>
        </p:spPr>
        <p:txBody>
          <a:bodyPr wrap="square" lIns="0" tIns="0" rIns="0" bIns="0" rtlCol="0" anchor="ctr">
            <a:normAutofit/>
          </a:bodyPr>
          <a:lstStyle/>
          <a:p>
            <a:pPr algn="l" indent="0" marL="0">
              <a:buNone/>
            </a:pPr>
            <a:r>
              <a:rPr lang="en-US" sz="3000" b="1" dirty="0">
                <a:solidFill>
                  <a:srgbClr val="990011"/>
                </a:solidFill>
                <a:latin typeface="Times New Roman" pitchFamily="34" charset="0"/>
                <a:ea typeface="Times New Roman" pitchFamily="34" charset="-122"/>
                <a:cs typeface="Times New Roman" pitchFamily="34" charset="-120"/>
              </a:rPr>
              <a:t>A) From the Country Side to the Town</a:t>
            </a:r>
            <a:endParaRPr lang="en-US" sz="3000" dirty="0"/>
          </a:p>
        </p:txBody>
      </p:sp>
      <p:sp>
        <p:nvSpPr>
          <p:cNvPr id="5" name="Text 3"/>
          <p:cNvSpPr/>
          <p:nvPr/>
        </p:nvSpPr>
        <p:spPr>
          <a:xfrm>
            <a:off x="365760" y="2240280"/>
            <a:ext cx="4846320" cy="4160520"/>
          </a:xfrm>
          <a:prstGeom prst="rect">
            <a:avLst/>
          </a:prstGeom>
          <a:noFill/>
          <a:ln/>
        </p:spPr>
        <p:txBody>
          <a:bodyPr wrap="square" lIns="0" tIns="0" rIns="0" bIns="0" rtlCol="0" anchor="t"/>
          <a:lstStyle/>
          <a:p>
            <a:pPr algn="l" indent="0" marL="0">
              <a:spcAft>
                <a:spcPts val="800"/>
              </a:spcAft>
              <a:buNone/>
            </a:pPr>
            <a:r>
              <a:rPr lang="en-US" sz="3600" b="1" dirty="0">
                <a:solidFill>
                  <a:srgbClr val="111111"/>
                </a:solidFill>
                <a:latin typeface="Times New Roman" pitchFamily="34" charset="0"/>
                <a:ea typeface="Times New Roman" pitchFamily="34" charset="-122"/>
                <a:cs typeface="Times New Roman" pitchFamily="34" charset="-120"/>
              </a:rPr>
              <a:t>Livestock: </a:t>
            </a:r>
            <a:pPr algn="l" indent="0" marL="0">
              <a:spcAft>
                <a:spcPts val="800"/>
              </a:spcAft>
              <a:buNone/>
            </a:pPr>
            <a:r>
              <a:rPr lang="en-US" sz="3600" dirty="0">
                <a:solidFill>
                  <a:srgbClr val="111111"/>
                </a:solidFill>
                <a:latin typeface="Times New Roman" pitchFamily="34" charset="0"/>
                <a:ea typeface="Times New Roman" pitchFamily="34" charset="-122"/>
                <a:cs typeface="Times New Roman" pitchFamily="34" charset="-120"/>
              </a:rPr>
              <a:t>Cattle, sheep, goats and poultry are sold in town markets.</a:t>
            </a:r>
            <a:endParaRPr lang="en-US" sz="3600" dirty="0"/>
          </a:p>
        </p:txBody>
      </p:sp>
      <p:pic>
        <p:nvPicPr>
          <p:cNvPr id="6" name="Image 0" descr="/home/claude/f4/img/v2/f2t_cattle_market.jpg">    </p:cNvPr>
          <p:cNvPicPr>
            <a:picLocks noChangeAspect="1"/>
          </p:cNvPicPr>
          <p:nvPr/>
        </p:nvPicPr>
        <p:blipFill>
          <a:blip r:embed="rId1"/>
          <a:stretch>
            <a:fillRect/>
          </a:stretch>
        </p:blipFill>
        <p:spPr>
          <a:xfrm>
            <a:off x="5349240" y="2071212"/>
            <a:ext cx="6659575" cy="3693983"/>
          </a:xfrm>
          <a:prstGeom prst="rect">
            <a:avLst/>
          </a:prstGeom>
        </p:spPr>
      </p:pic>
      <p:sp>
        <p:nvSpPr>
          <p:cNvPr id="7" name="Text 4"/>
          <p:cNvSpPr/>
          <p:nvPr/>
        </p:nvSpPr>
        <p:spPr>
          <a:xfrm>
            <a:off x="5349240" y="6089904"/>
            <a:ext cx="6659575" cy="347472"/>
          </a:xfrm>
          <a:prstGeom prst="rect">
            <a:avLst/>
          </a:prstGeom>
          <a:noFill/>
          <a:ln/>
        </p:spPr>
        <p:txBody>
          <a:bodyPr wrap="square" lIns="0" tIns="0" rIns="0" bIns="0" rtlCol="0" anchor="ctr"/>
          <a:lstStyle/>
          <a:p>
            <a:pPr algn="ctr" indent="0" marL="0">
              <a:buNone/>
            </a:pPr>
            <a:r>
              <a:rPr lang="en-US" sz="1600" i="1" dirty="0">
                <a:solidFill>
                  <a:srgbClr val="555555"/>
                </a:solidFill>
                <a:latin typeface="Times New Roman" pitchFamily="34" charset="0"/>
                <a:ea typeface="Times New Roman" pitchFamily="34" charset="-122"/>
                <a:cs typeface="Times New Roman" pitchFamily="34" charset="-120"/>
              </a:rPr>
              <a:t>Illustration: a cattle market</a:t>
            </a:r>
            <a:endParaRPr lang="en-US" sz="16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36</a:t>
            </a:fld>
            <a:endParaRPr lang="en-US"/>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1463040" cy="5833872"/>
          </a:xfrm>
          <a:prstGeom prst="rect">
            <a:avLst/>
          </a:prstGeom>
        </p:spPr>
      </p:pic>
      <p:sp>
        <p:nvSpPr>
          <p:cNvPr id="4" name="Text 1"/>
          <p:cNvSpPr/>
          <p:nvPr/>
        </p:nvSpPr>
        <p:spPr>
          <a:xfrm>
            <a:off x="1691640" y="1005840"/>
            <a:ext cx="101800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Economic Relationships</a:t>
            </a:r>
            <a:endParaRPr lang="en-US" sz="3600" dirty="0"/>
          </a:p>
        </p:txBody>
      </p:sp>
      <p:sp>
        <p:nvSpPr>
          <p:cNvPr id="5" name="Text 2"/>
          <p:cNvSpPr/>
          <p:nvPr/>
        </p:nvSpPr>
        <p:spPr>
          <a:xfrm>
            <a:off x="1691640" y="1737360"/>
            <a:ext cx="10180015" cy="457200"/>
          </a:xfrm>
          <a:prstGeom prst="rect">
            <a:avLst/>
          </a:prstGeom>
          <a:noFill/>
          <a:ln/>
        </p:spPr>
        <p:txBody>
          <a:bodyPr wrap="square" lIns="0" tIns="0" rIns="0" bIns="0" rtlCol="0" anchor="ctr"/>
          <a:lstStyle/>
          <a:p>
            <a:pPr algn="l" indent="0" marL="0">
              <a:buNone/>
            </a:pPr>
            <a:r>
              <a:rPr lang="en-US" sz="3200" b="1" dirty="0">
                <a:solidFill>
                  <a:srgbClr val="990011"/>
                </a:solidFill>
                <a:latin typeface="Times New Roman" pitchFamily="34" charset="0"/>
                <a:ea typeface="Times New Roman" pitchFamily="34" charset="-122"/>
                <a:cs typeface="Times New Roman" pitchFamily="34" charset="-120"/>
              </a:rPr>
              <a:t>A) From the Country Side to the Town</a:t>
            </a:r>
            <a:endParaRPr lang="en-US" sz="3200" dirty="0"/>
          </a:p>
        </p:txBody>
      </p:sp>
      <p:sp>
        <p:nvSpPr>
          <p:cNvPr id="6" name="Text 3"/>
          <p:cNvSpPr/>
          <p:nvPr/>
        </p:nvSpPr>
        <p:spPr>
          <a:xfrm>
            <a:off x="1691640" y="2240280"/>
            <a:ext cx="10180015" cy="42062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Raw materials: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Cotton, cocoa, coffee and timber feed town industries and ports.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Firewood and charcoal: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Most town households cook with wood and charcoal from the country side.</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Labour: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Young villagers go to work in towns.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37</a:t>
            </a:fld>
            <a:endParaRPr lang="en-US"/>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name="Slide 3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365760" y="1005840"/>
            <a:ext cx="11460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Economic Relationships</a:t>
            </a:r>
            <a:endParaRPr lang="en-US" sz="3600" dirty="0"/>
          </a:p>
        </p:txBody>
      </p:sp>
      <p:sp>
        <p:nvSpPr>
          <p:cNvPr id="4" name="Text 2"/>
          <p:cNvSpPr/>
          <p:nvPr/>
        </p:nvSpPr>
        <p:spPr>
          <a:xfrm>
            <a:off x="365760" y="1737360"/>
            <a:ext cx="5120640" cy="457200"/>
          </a:xfrm>
          <a:prstGeom prst="rect">
            <a:avLst/>
          </a:prstGeom>
          <a:noFill/>
          <a:ln/>
        </p:spPr>
        <p:txBody>
          <a:bodyPr wrap="square" lIns="0" tIns="0" rIns="0" bIns="0" rtlCol="0" anchor="ctr">
            <a:normAutofit/>
          </a:bodyPr>
          <a:lstStyle/>
          <a:p>
            <a:pPr algn="l" indent="0" marL="0">
              <a:buNone/>
            </a:pPr>
            <a:r>
              <a:rPr lang="en-US" sz="3000" b="1" dirty="0">
                <a:solidFill>
                  <a:srgbClr val="990011"/>
                </a:solidFill>
                <a:latin typeface="Times New Roman" pitchFamily="34" charset="0"/>
                <a:ea typeface="Times New Roman" pitchFamily="34" charset="-122"/>
                <a:cs typeface="Times New Roman" pitchFamily="34" charset="-120"/>
              </a:rPr>
              <a:t>B) From the Town to the Country Side</a:t>
            </a:r>
            <a:endParaRPr lang="en-US" sz="3000" dirty="0"/>
          </a:p>
        </p:txBody>
      </p:sp>
      <p:sp>
        <p:nvSpPr>
          <p:cNvPr id="5" name="Text 3"/>
          <p:cNvSpPr/>
          <p:nvPr/>
        </p:nvSpPr>
        <p:spPr>
          <a:xfrm>
            <a:off x="365760" y="2240280"/>
            <a:ext cx="4846320" cy="4160520"/>
          </a:xfrm>
          <a:prstGeom prst="rect">
            <a:avLst/>
          </a:prstGeom>
          <a:noFill/>
          <a:ln/>
        </p:spPr>
        <p:txBody>
          <a:bodyPr wrap="square" lIns="0" tIns="0" rIns="0" bIns="0" rtlCol="0" anchor="t"/>
          <a:lstStyle/>
          <a:p>
            <a:pPr algn="l" indent="0" marL="0">
              <a:spcAft>
                <a:spcPts val="800"/>
              </a:spcAft>
              <a:buNone/>
            </a:pPr>
            <a:r>
              <a:rPr lang="en-US" sz="3400" i="1" dirty="0">
                <a:solidFill>
                  <a:srgbClr val="111111"/>
                </a:solidFill>
                <a:latin typeface="Times New Roman" pitchFamily="34" charset="0"/>
                <a:ea typeface="Times New Roman" pitchFamily="34" charset="-122"/>
                <a:cs typeface="Times New Roman" pitchFamily="34" charset="-120"/>
              </a:rPr>
              <a:t>Towns send the following to the country side:</a:t>
            </a:r>
            <a:endParaRPr lang="en-US" sz="3400" dirty="0"/>
          </a:p>
          <a:p>
            <a:pPr algn="l" indent="0" marL="0">
              <a:spcAft>
                <a:spcPts val="800"/>
              </a:spcAft>
              <a:buNone/>
            </a:pPr>
            <a:r>
              <a:rPr lang="en-US" sz="3400" b="1" dirty="0">
                <a:solidFill>
                  <a:srgbClr val="111111"/>
                </a:solidFill>
                <a:latin typeface="Times New Roman" pitchFamily="34" charset="0"/>
                <a:ea typeface="Times New Roman" pitchFamily="34" charset="-122"/>
                <a:cs typeface="Times New Roman" pitchFamily="34" charset="-120"/>
              </a:rPr>
              <a:t>Manufactured goods: </a:t>
            </a:r>
            <a:pPr algn="l" indent="0" marL="0">
              <a:spcAft>
                <a:spcPts val="800"/>
              </a:spcAft>
              <a:buNone/>
            </a:pPr>
            <a:r>
              <a:rPr lang="en-US" sz="3400" dirty="0">
                <a:solidFill>
                  <a:srgbClr val="111111"/>
                </a:solidFill>
                <a:latin typeface="Times New Roman" pitchFamily="34" charset="0"/>
                <a:ea typeface="Times New Roman" pitchFamily="34" charset="-122"/>
                <a:cs typeface="Times New Roman" pitchFamily="34" charset="-120"/>
              </a:rPr>
              <a:t>Soap, oil, sugar, clothes, tools and phones are sold in villages.</a:t>
            </a:r>
            <a:endParaRPr lang="en-US" sz="3400" dirty="0"/>
          </a:p>
        </p:txBody>
      </p:sp>
      <p:pic>
        <p:nvPicPr>
          <p:cNvPr id="6" name="Image 0" descr="/home/claude/f4/img/v2/usa_truck.jpg">    </p:cNvPr>
          <p:cNvPicPr>
            <a:picLocks noChangeAspect="1"/>
          </p:cNvPicPr>
          <p:nvPr/>
        </p:nvPicPr>
        <p:blipFill>
          <a:blip r:embed="rId1"/>
          <a:stretch>
            <a:fillRect/>
          </a:stretch>
        </p:blipFill>
        <p:spPr>
          <a:xfrm>
            <a:off x="5349240" y="2071212"/>
            <a:ext cx="6659575" cy="3693983"/>
          </a:xfrm>
          <a:prstGeom prst="rect">
            <a:avLst/>
          </a:prstGeom>
        </p:spPr>
      </p:pic>
      <p:sp>
        <p:nvSpPr>
          <p:cNvPr id="7" name="Text 4"/>
          <p:cNvSpPr/>
          <p:nvPr/>
        </p:nvSpPr>
        <p:spPr>
          <a:xfrm>
            <a:off x="5349240" y="6089904"/>
            <a:ext cx="6659575" cy="347472"/>
          </a:xfrm>
          <a:prstGeom prst="rect">
            <a:avLst/>
          </a:prstGeom>
          <a:noFill/>
          <a:ln/>
        </p:spPr>
        <p:txBody>
          <a:bodyPr wrap="square" lIns="0" tIns="0" rIns="0" bIns="0" rtlCol="0" anchor="ctr"/>
          <a:lstStyle/>
          <a:p>
            <a:pPr algn="ctr" indent="0" marL="0">
              <a:buNone/>
            </a:pPr>
            <a:r>
              <a:rPr lang="en-US" sz="1600" i="1" dirty="0">
                <a:solidFill>
                  <a:srgbClr val="555555"/>
                </a:solidFill>
                <a:latin typeface="Times New Roman" pitchFamily="34" charset="0"/>
                <a:ea typeface="Times New Roman" pitchFamily="34" charset="-122"/>
                <a:cs typeface="Times New Roman" pitchFamily="34" charset="-120"/>
              </a:rPr>
              <a:t>Illustration: goods carried to villages</a:t>
            </a:r>
            <a:endParaRPr lang="en-US" sz="16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38</a:t>
            </a:fld>
            <a:endParaRPr lang="en-US"/>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name="Slide 3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Economic Relationships</a:t>
            </a:r>
            <a:endParaRPr lang="en-US" sz="3600" dirty="0"/>
          </a:p>
        </p:txBody>
      </p:sp>
      <p:sp>
        <p:nvSpPr>
          <p:cNvPr id="5" name="Text 2"/>
          <p:cNvSpPr/>
          <p:nvPr/>
        </p:nvSpPr>
        <p:spPr>
          <a:xfrm>
            <a:off x="4069080" y="1737360"/>
            <a:ext cx="7802575" cy="457200"/>
          </a:xfrm>
          <a:prstGeom prst="rect">
            <a:avLst/>
          </a:prstGeom>
          <a:noFill/>
          <a:ln/>
        </p:spPr>
        <p:txBody>
          <a:bodyPr wrap="square" lIns="0" tIns="0" rIns="0" bIns="0" rtlCol="0" anchor="ctr"/>
          <a:lstStyle/>
          <a:p>
            <a:pPr algn="l" indent="0" marL="0">
              <a:buNone/>
            </a:pPr>
            <a:r>
              <a:rPr lang="en-US" sz="3200" b="1" dirty="0">
                <a:solidFill>
                  <a:srgbClr val="990011"/>
                </a:solidFill>
                <a:latin typeface="Times New Roman" pitchFamily="34" charset="0"/>
                <a:ea typeface="Times New Roman" pitchFamily="34" charset="-122"/>
                <a:cs typeface="Times New Roman" pitchFamily="34" charset="-120"/>
              </a:rPr>
              <a:t>B) From the Town to the Country Side</a:t>
            </a:r>
            <a:endParaRPr lang="en-US" sz="3200" dirty="0"/>
          </a:p>
        </p:txBody>
      </p:sp>
      <p:sp>
        <p:nvSpPr>
          <p:cNvPr id="6" name="Text 3"/>
          <p:cNvSpPr/>
          <p:nvPr/>
        </p:nvSpPr>
        <p:spPr>
          <a:xfrm>
            <a:off x="4069080" y="2240280"/>
            <a:ext cx="7802575" cy="42062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Farm inputs: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Fertilisers, seeds and pesticides come from towns.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Money: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Town dwellers send money to their families, and traders pay farmers for their crops.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39</a:t>
            </a:fld>
            <a:endParaRPr lang="en-US"/>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name="Slide 4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Economic Relationships</a:t>
            </a:r>
            <a:endParaRPr lang="en-US" sz="3600" dirty="0"/>
          </a:p>
        </p:txBody>
      </p:sp>
      <p:sp>
        <p:nvSpPr>
          <p:cNvPr id="5" name="Text 2"/>
          <p:cNvSpPr/>
          <p:nvPr/>
        </p:nvSpPr>
        <p:spPr>
          <a:xfrm>
            <a:off x="5349240" y="1737360"/>
            <a:ext cx="6522415" cy="457200"/>
          </a:xfrm>
          <a:prstGeom prst="rect">
            <a:avLst/>
          </a:prstGeom>
          <a:noFill/>
          <a:ln/>
        </p:spPr>
        <p:txBody>
          <a:bodyPr wrap="square" lIns="0" tIns="0" rIns="0" bIns="0" rtlCol="0" anchor="ctr"/>
          <a:lstStyle/>
          <a:p>
            <a:pPr algn="l" indent="0" marL="0">
              <a:buNone/>
            </a:pPr>
            <a:r>
              <a:rPr lang="en-US" sz="2100" b="1" dirty="0">
                <a:solidFill>
                  <a:srgbClr val="990011"/>
                </a:solidFill>
                <a:latin typeface="Times New Roman" pitchFamily="34" charset="0"/>
                <a:ea typeface="Times New Roman" pitchFamily="34" charset="-122"/>
                <a:cs typeface="Times New Roman" pitchFamily="34" charset="-120"/>
              </a:rPr>
              <a:t>B) From the Town to the Country Side (continued)</a:t>
            </a:r>
            <a:endParaRPr lang="en-US" sz="2100" dirty="0"/>
          </a:p>
        </p:txBody>
      </p:sp>
      <p:sp>
        <p:nvSpPr>
          <p:cNvPr id="6" name="Text 3"/>
          <p:cNvSpPr/>
          <p:nvPr/>
        </p:nvSpPr>
        <p:spPr>
          <a:xfrm>
            <a:off x="5349240" y="2240280"/>
            <a:ext cx="6522415" cy="42062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Services: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Towns provide hospitals, secondary schools, banks and administration.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40</a:t>
            </a:fld>
            <a:endParaRPr lang="en-US"/>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name="Slide 4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365760" y="1005840"/>
            <a:ext cx="11460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Economic Relationships</a:t>
            </a:r>
            <a:endParaRPr lang="en-US" sz="3600" dirty="0"/>
          </a:p>
        </p:txBody>
      </p:sp>
      <p:sp>
        <p:nvSpPr>
          <p:cNvPr id="4" name="Text 2"/>
          <p:cNvSpPr/>
          <p:nvPr/>
        </p:nvSpPr>
        <p:spPr>
          <a:xfrm>
            <a:off x="365760" y="1737360"/>
            <a:ext cx="5120640" cy="457200"/>
          </a:xfrm>
          <a:prstGeom prst="rect">
            <a:avLst/>
          </a:prstGeom>
          <a:noFill/>
          <a:ln/>
        </p:spPr>
        <p:txBody>
          <a:bodyPr wrap="square" lIns="0" tIns="0" rIns="0" bIns="0" rtlCol="0" anchor="ctr">
            <a:normAutofit/>
          </a:bodyPr>
          <a:lstStyle/>
          <a:p>
            <a:pPr algn="l" indent="0" marL="0">
              <a:buNone/>
            </a:pPr>
            <a:r>
              <a:rPr lang="en-US" sz="3000" b="1" dirty="0">
                <a:solidFill>
                  <a:srgbClr val="990011"/>
                </a:solidFill>
                <a:latin typeface="Times New Roman" pitchFamily="34" charset="0"/>
                <a:ea typeface="Times New Roman" pitchFamily="34" charset="-122"/>
                <a:cs typeface="Times New Roman" pitchFamily="34" charset="-120"/>
              </a:rPr>
              <a:t>C) The Actors of the Exchanges</a:t>
            </a:r>
            <a:endParaRPr lang="en-US" sz="3000" dirty="0"/>
          </a:p>
        </p:txBody>
      </p:sp>
      <p:sp>
        <p:nvSpPr>
          <p:cNvPr id="5" name="Text 3"/>
          <p:cNvSpPr/>
          <p:nvPr/>
        </p:nvSpPr>
        <p:spPr>
          <a:xfrm>
            <a:off x="365760" y="2240280"/>
            <a:ext cx="4846320" cy="4160520"/>
          </a:xfrm>
          <a:prstGeom prst="rect">
            <a:avLst/>
          </a:prstGeom>
          <a:noFill/>
          <a:ln/>
        </p:spPr>
        <p:txBody>
          <a:bodyPr wrap="square" lIns="0" tIns="0" rIns="0" bIns="0" rtlCol="0" anchor="t"/>
          <a:lstStyle/>
          <a:p>
            <a:pPr algn="l" indent="0" marL="0">
              <a:spcAft>
                <a:spcPts val="800"/>
              </a:spcAft>
              <a:buNone/>
            </a:pPr>
            <a:r>
              <a:rPr lang="en-US" sz="3600" i="1" dirty="0">
                <a:solidFill>
                  <a:srgbClr val="111111"/>
                </a:solidFill>
                <a:latin typeface="Times New Roman" pitchFamily="34" charset="0"/>
                <a:ea typeface="Times New Roman" pitchFamily="34" charset="-122"/>
                <a:cs typeface="Times New Roman" pitchFamily="34" charset="-120"/>
              </a:rPr>
              <a:t>The following actors link towns and country sides:</a:t>
            </a:r>
            <a:endParaRPr lang="en-US" sz="3600" dirty="0"/>
          </a:p>
          <a:p>
            <a:pPr algn="l" indent="0" marL="0">
              <a:spcAft>
                <a:spcPts val="800"/>
              </a:spcAft>
              <a:buNone/>
            </a:pPr>
            <a:r>
              <a:rPr lang="en-US" sz="3600" b="1" dirty="0">
                <a:solidFill>
                  <a:srgbClr val="111111"/>
                </a:solidFill>
                <a:latin typeface="Times New Roman" pitchFamily="34" charset="0"/>
                <a:ea typeface="Times New Roman" pitchFamily="34" charset="-122"/>
                <a:cs typeface="Times New Roman" pitchFamily="34" charset="-120"/>
              </a:rPr>
              <a:t>Buyam-sellams: </a:t>
            </a:r>
            <a:pPr algn="l" indent="0" marL="0">
              <a:spcAft>
                <a:spcPts val="800"/>
              </a:spcAft>
              <a:buNone/>
            </a:pPr>
            <a:r>
              <a:rPr lang="en-US" sz="3600" dirty="0">
                <a:solidFill>
                  <a:srgbClr val="111111"/>
                </a:solidFill>
                <a:latin typeface="Times New Roman" pitchFamily="34" charset="0"/>
                <a:ea typeface="Times New Roman" pitchFamily="34" charset="-122"/>
                <a:cs typeface="Times New Roman" pitchFamily="34" charset="-120"/>
              </a:rPr>
              <a:t>They buy farm products in villages and sell them in towns.</a:t>
            </a:r>
            <a:endParaRPr lang="en-US" sz="3600" dirty="0"/>
          </a:p>
        </p:txBody>
      </p:sp>
      <p:pic>
        <p:nvPicPr>
          <p:cNvPr id="6" name="Image 0" descr="/home/claude/f4/img/v2/f2t_street_vendor.jpg">    </p:cNvPr>
          <p:cNvPicPr>
            <a:picLocks noChangeAspect="1"/>
          </p:cNvPicPr>
          <p:nvPr/>
        </p:nvPicPr>
        <p:blipFill>
          <a:blip r:embed="rId1"/>
          <a:stretch>
            <a:fillRect/>
          </a:stretch>
        </p:blipFill>
        <p:spPr>
          <a:xfrm>
            <a:off x="5349240" y="2071212"/>
            <a:ext cx="6659575" cy="3693983"/>
          </a:xfrm>
          <a:prstGeom prst="rect">
            <a:avLst/>
          </a:prstGeom>
        </p:spPr>
      </p:pic>
      <p:sp>
        <p:nvSpPr>
          <p:cNvPr id="7" name="Text 4"/>
          <p:cNvSpPr/>
          <p:nvPr/>
        </p:nvSpPr>
        <p:spPr>
          <a:xfrm>
            <a:off x="5349240" y="6089904"/>
            <a:ext cx="6659575" cy="347472"/>
          </a:xfrm>
          <a:prstGeom prst="rect">
            <a:avLst/>
          </a:prstGeom>
          <a:noFill/>
          <a:ln/>
        </p:spPr>
        <p:txBody>
          <a:bodyPr wrap="square" lIns="0" tIns="0" rIns="0" bIns="0" rtlCol="0" anchor="ctr"/>
          <a:lstStyle/>
          <a:p>
            <a:pPr algn="ctr" indent="0" marL="0">
              <a:buNone/>
            </a:pPr>
            <a:r>
              <a:rPr lang="en-US" sz="1600" i="1" dirty="0">
                <a:solidFill>
                  <a:srgbClr val="555555"/>
                </a:solidFill>
                <a:latin typeface="Times New Roman" pitchFamily="34" charset="0"/>
                <a:ea typeface="Times New Roman" pitchFamily="34" charset="-122"/>
                <a:cs typeface="Times New Roman" pitchFamily="34" charset="-120"/>
              </a:rPr>
              <a:t>Illustration: a trader</a:t>
            </a:r>
            <a:endParaRPr lang="en-US" sz="16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41</a:t>
            </a:fld>
            <a:endParaRPr lang="en-US"/>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name="Slide 4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Economic Relationships</a:t>
            </a:r>
            <a:endParaRPr lang="en-US" sz="3600" dirty="0"/>
          </a:p>
        </p:txBody>
      </p:sp>
      <p:sp>
        <p:nvSpPr>
          <p:cNvPr id="5" name="Text 2"/>
          <p:cNvSpPr/>
          <p:nvPr/>
        </p:nvSpPr>
        <p:spPr>
          <a:xfrm>
            <a:off x="4069080" y="1737360"/>
            <a:ext cx="7802575" cy="457200"/>
          </a:xfrm>
          <a:prstGeom prst="rect">
            <a:avLst/>
          </a:prstGeom>
          <a:noFill/>
          <a:ln/>
        </p:spPr>
        <p:txBody>
          <a:bodyPr wrap="square" lIns="0" tIns="0" rIns="0" bIns="0" rtlCol="0" anchor="ctr"/>
          <a:lstStyle/>
          <a:p>
            <a:pPr algn="l" indent="0" marL="0">
              <a:buNone/>
            </a:pPr>
            <a:r>
              <a:rPr lang="en-US" sz="3200" b="1" dirty="0">
                <a:solidFill>
                  <a:srgbClr val="990011"/>
                </a:solidFill>
                <a:latin typeface="Times New Roman" pitchFamily="34" charset="0"/>
                <a:ea typeface="Times New Roman" pitchFamily="34" charset="-122"/>
                <a:cs typeface="Times New Roman" pitchFamily="34" charset="-120"/>
              </a:rPr>
              <a:t>C) The Actors of the Exchanges</a:t>
            </a:r>
            <a:endParaRPr lang="en-US" sz="3200" dirty="0"/>
          </a:p>
        </p:txBody>
      </p:sp>
      <p:sp>
        <p:nvSpPr>
          <p:cNvPr id="6" name="Text 3"/>
          <p:cNvSpPr/>
          <p:nvPr/>
        </p:nvSpPr>
        <p:spPr>
          <a:xfrm>
            <a:off x="4069080" y="2240280"/>
            <a:ext cx="7802575" cy="42062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Clandestine transporters: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They carry people and goods on rural roads with cars and motorbikes.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Cooperatives and CIGs: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Farmers group together to buy inputs and sell their products in towns.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42</a:t>
            </a:fld>
            <a:endParaRPr lang="en-US"/>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name="Slide 4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Economic Relationships</a:t>
            </a:r>
            <a:endParaRPr lang="en-US" sz="3600" dirty="0"/>
          </a:p>
        </p:txBody>
      </p:sp>
      <p:sp>
        <p:nvSpPr>
          <p:cNvPr id="5" name="Text 2"/>
          <p:cNvSpPr/>
          <p:nvPr/>
        </p:nvSpPr>
        <p:spPr>
          <a:xfrm>
            <a:off x="5349240" y="1737360"/>
            <a:ext cx="6522415" cy="457200"/>
          </a:xfrm>
          <a:prstGeom prst="rect">
            <a:avLst/>
          </a:prstGeom>
          <a:noFill/>
          <a:ln/>
        </p:spPr>
        <p:txBody>
          <a:bodyPr wrap="square" lIns="0" tIns="0" rIns="0" bIns="0" rtlCol="0" anchor="ctr"/>
          <a:lstStyle/>
          <a:p>
            <a:pPr algn="l" indent="0" marL="0">
              <a:buNone/>
            </a:pPr>
            <a:r>
              <a:rPr lang="en-US" sz="2400" b="1" dirty="0">
                <a:solidFill>
                  <a:srgbClr val="990011"/>
                </a:solidFill>
                <a:latin typeface="Times New Roman" pitchFamily="34" charset="0"/>
                <a:ea typeface="Times New Roman" pitchFamily="34" charset="-122"/>
                <a:cs typeface="Times New Roman" pitchFamily="34" charset="-120"/>
              </a:rPr>
              <a:t>C) The Actors of the Exchanges (continued)</a:t>
            </a:r>
            <a:endParaRPr lang="en-US" sz="2400" dirty="0"/>
          </a:p>
        </p:txBody>
      </p:sp>
      <p:sp>
        <p:nvSpPr>
          <p:cNvPr id="6" name="Text 3"/>
          <p:cNvSpPr/>
          <p:nvPr/>
        </p:nvSpPr>
        <p:spPr>
          <a:xfrm>
            <a:off x="5349240" y="2240280"/>
            <a:ext cx="6522415" cy="42062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Councils: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They build markets and rural roads that link villages to towns.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43</a:t>
            </a:fld>
            <a:endParaRPr lang="en-US"/>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name="Slide 4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365760" y="1005840"/>
            <a:ext cx="11460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Socio-cultural Relationships</a:t>
            </a:r>
            <a:endParaRPr lang="en-US" sz="3600" dirty="0"/>
          </a:p>
        </p:txBody>
      </p:sp>
      <p:sp>
        <p:nvSpPr>
          <p:cNvPr id="4" name="Text 2"/>
          <p:cNvSpPr/>
          <p:nvPr/>
        </p:nvSpPr>
        <p:spPr>
          <a:xfrm>
            <a:off x="365760" y="1783080"/>
            <a:ext cx="4846320" cy="4617720"/>
          </a:xfrm>
          <a:prstGeom prst="rect">
            <a:avLst/>
          </a:prstGeom>
          <a:noFill/>
          <a:ln/>
        </p:spPr>
        <p:txBody>
          <a:bodyPr wrap="square" lIns="0" tIns="0" rIns="0" bIns="0" rtlCol="0" anchor="t"/>
          <a:lstStyle/>
          <a:p>
            <a:pPr algn="l" indent="0" marL="0">
              <a:spcAft>
                <a:spcPts val="800"/>
              </a:spcAft>
              <a:buNone/>
            </a:pPr>
            <a:r>
              <a:rPr lang="en-US" sz="3600" i="1" dirty="0">
                <a:solidFill>
                  <a:srgbClr val="111111"/>
                </a:solidFill>
                <a:latin typeface="Times New Roman" pitchFamily="34" charset="0"/>
                <a:ea typeface="Times New Roman" pitchFamily="34" charset="-122"/>
                <a:cs typeface="Times New Roman" pitchFamily="34" charset="-120"/>
              </a:rPr>
              <a:t>Towns and country sides are linked socially and culturally as follows:</a:t>
            </a:r>
            <a:endParaRPr lang="en-US" sz="3600" dirty="0"/>
          </a:p>
          <a:p>
            <a:pPr algn="l" indent="0" marL="0">
              <a:spcAft>
                <a:spcPts val="800"/>
              </a:spcAft>
              <a:buNone/>
            </a:pPr>
            <a:r>
              <a:rPr lang="en-US" sz="3600" b="1" dirty="0">
                <a:solidFill>
                  <a:srgbClr val="111111"/>
                </a:solidFill>
                <a:latin typeface="Times New Roman" pitchFamily="34" charset="0"/>
                <a:ea typeface="Times New Roman" pitchFamily="34" charset="-122"/>
                <a:cs typeface="Times New Roman" pitchFamily="34" charset="-120"/>
              </a:rPr>
              <a:t>Population flows: </a:t>
            </a:r>
            <a:pPr algn="l" indent="0" marL="0">
              <a:spcAft>
                <a:spcPts val="800"/>
              </a:spcAft>
              <a:buNone/>
            </a:pPr>
            <a:r>
              <a:rPr lang="en-US" sz="3600" dirty="0">
                <a:solidFill>
                  <a:srgbClr val="111111"/>
                </a:solidFill>
                <a:latin typeface="Times New Roman" pitchFamily="34" charset="0"/>
                <a:ea typeface="Times New Roman" pitchFamily="34" charset="-122"/>
                <a:cs typeface="Times New Roman" pitchFamily="34" charset="-120"/>
              </a:rPr>
              <a:t>People move between villages and towns for work, school, trade and family visits.</a:t>
            </a:r>
            <a:endParaRPr lang="en-US" sz="3600" dirty="0"/>
          </a:p>
        </p:txBody>
      </p:sp>
      <p:pic>
        <p:nvPicPr>
          <p:cNvPr id="5" name="Image 0" descr="/home/claude/f4/img/v2/usa_busstation.jpg">    </p:cNvPr>
          <p:cNvPicPr>
            <a:picLocks noChangeAspect="1"/>
          </p:cNvPicPr>
          <p:nvPr/>
        </p:nvPicPr>
        <p:blipFill>
          <a:blip r:embed="rId1"/>
          <a:stretch>
            <a:fillRect/>
          </a:stretch>
        </p:blipFill>
        <p:spPr>
          <a:xfrm>
            <a:off x="5349240" y="2071212"/>
            <a:ext cx="6659575" cy="3693983"/>
          </a:xfrm>
          <a:prstGeom prst="rect">
            <a:avLst/>
          </a:prstGeom>
        </p:spPr>
      </p:pic>
      <p:sp>
        <p:nvSpPr>
          <p:cNvPr id="6" name="Text 3"/>
          <p:cNvSpPr/>
          <p:nvPr/>
        </p:nvSpPr>
        <p:spPr>
          <a:xfrm>
            <a:off x="5349240" y="6089904"/>
            <a:ext cx="6659575" cy="347472"/>
          </a:xfrm>
          <a:prstGeom prst="rect">
            <a:avLst/>
          </a:prstGeom>
          <a:noFill/>
          <a:ln/>
        </p:spPr>
        <p:txBody>
          <a:bodyPr wrap="square" lIns="0" tIns="0" rIns="0" bIns="0" rtlCol="0" anchor="ctr"/>
          <a:lstStyle/>
          <a:p>
            <a:pPr algn="ctr" indent="0" marL="0">
              <a:buNone/>
            </a:pPr>
            <a:r>
              <a:rPr lang="en-US" sz="1600" i="1" dirty="0">
                <a:solidFill>
                  <a:srgbClr val="555555"/>
                </a:solidFill>
                <a:latin typeface="Times New Roman" pitchFamily="34" charset="0"/>
                <a:ea typeface="Times New Roman" pitchFamily="34" charset="-122"/>
                <a:cs typeface="Times New Roman" pitchFamily="34" charset="-120"/>
              </a:rPr>
              <a:t>Illustration: a bus station</a:t>
            </a:r>
            <a:endParaRPr lang="en-US" sz="16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44</a:t>
            </a:fld>
            <a:endParaRPr lang="en-US"/>
          </a:p>
        </p:txBody>
      </p:sp>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name="Slide 4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Socio-cultural Relationships</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Festivals and ceremonies: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Town dwellers return for festivals, weddings and funerals.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45</a:t>
            </a:fld>
            <a:endParaRPr lang="en-US"/>
          </a:p>
        </p:txBody>
      </p:sp>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name="Slide 4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365760" y="1005840"/>
            <a:ext cx="11460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Socio-cultural Relationships</a:t>
            </a:r>
            <a:endParaRPr lang="en-US" sz="3600" dirty="0"/>
          </a:p>
        </p:txBody>
      </p:sp>
      <p:sp>
        <p:nvSpPr>
          <p:cNvPr id="4" name="Text 2"/>
          <p:cNvSpPr/>
          <p:nvPr/>
        </p:nvSpPr>
        <p:spPr>
          <a:xfrm>
            <a:off x="365760" y="1783080"/>
            <a:ext cx="4846320" cy="4617720"/>
          </a:xfrm>
          <a:prstGeom prst="rect">
            <a:avLst/>
          </a:prstGeom>
          <a:noFill/>
          <a:ln/>
        </p:spPr>
        <p:txBody>
          <a:bodyPr wrap="square" lIns="0" tIns="0" rIns="0" bIns="0" rtlCol="0" anchor="t"/>
          <a:lstStyle/>
          <a:p>
            <a:pPr algn="l" indent="0" marL="0">
              <a:spcAft>
                <a:spcPts val="800"/>
              </a:spcAft>
              <a:buNone/>
            </a:pPr>
            <a:r>
              <a:rPr lang="en-US" sz="3600" b="1" dirty="0">
                <a:solidFill>
                  <a:srgbClr val="111111"/>
                </a:solidFill>
                <a:latin typeface="Times New Roman" pitchFamily="34" charset="0"/>
                <a:ea typeface="Times New Roman" pitchFamily="34" charset="-122"/>
                <a:cs typeface="Times New Roman" pitchFamily="34" charset="-120"/>
              </a:rPr>
              <a:t>Development associations: </a:t>
            </a:r>
            <a:pPr algn="l" indent="0" marL="0">
              <a:spcAft>
                <a:spcPts val="800"/>
              </a:spcAft>
              <a:buNone/>
            </a:pPr>
            <a:r>
              <a:rPr lang="en-US" sz="3600" dirty="0">
                <a:solidFill>
                  <a:srgbClr val="111111"/>
                </a:solidFill>
                <a:latin typeface="Times New Roman" pitchFamily="34" charset="0"/>
                <a:ea typeface="Times New Roman" pitchFamily="34" charset="-122"/>
                <a:cs typeface="Times New Roman" pitchFamily="34" charset="-120"/>
              </a:rPr>
              <a:t>Elites in town build schools, wells and health centres in their villages.</a:t>
            </a:r>
            <a:endParaRPr lang="en-US" sz="3600" dirty="0"/>
          </a:p>
        </p:txBody>
      </p:sp>
      <p:pic>
        <p:nvPicPr>
          <p:cNvPr id="5" name="Image 0" descr="/home/claude/f4/img/v2/usa_bandjoun.jpg">    </p:cNvPr>
          <p:cNvPicPr>
            <a:picLocks noChangeAspect="1"/>
          </p:cNvPicPr>
          <p:nvPr/>
        </p:nvPicPr>
        <p:blipFill>
          <a:blip r:embed="rId1"/>
          <a:stretch>
            <a:fillRect/>
          </a:stretch>
        </p:blipFill>
        <p:spPr>
          <a:xfrm>
            <a:off x="5349240" y="2071212"/>
            <a:ext cx="6659575" cy="3693983"/>
          </a:xfrm>
          <a:prstGeom prst="rect">
            <a:avLst/>
          </a:prstGeom>
        </p:spPr>
      </p:pic>
      <p:sp>
        <p:nvSpPr>
          <p:cNvPr id="6" name="Text 3"/>
          <p:cNvSpPr/>
          <p:nvPr/>
        </p:nvSpPr>
        <p:spPr>
          <a:xfrm>
            <a:off x="5349240" y="6089904"/>
            <a:ext cx="6659575" cy="347472"/>
          </a:xfrm>
          <a:prstGeom prst="rect">
            <a:avLst/>
          </a:prstGeom>
          <a:noFill/>
          <a:ln/>
        </p:spPr>
        <p:txBody>
          <a:bodyPr wrap="square" lIns="0" tIns="0" rIns="0" bIns="0" rtlCol="0" anchor="ctr"/>
          <a:lstStyle/>
          <a:p>
            <a:pPr algn="ctr" indent="0" marL="0">
              <a:buNone/>
            </a:pPr>
            <a:r>
              <a:rPr lang="en-US" sz="1600" i="1" dirty="0">
                <a:solidFill>
                  <a:srgbClr val="555555"/>
                </a:solidFill>
                <a:latin typeface="Times New Roman" pitchFamily="34" charset="0"/>
                <a:ea typeface="Times New Roman" pitchFamily="34" charset="-122"/>
                <a:cs typeface="Times New Roman" pitchFamily="34" charset="-120"/>
              </a:rPr>
              <a:t>Illustration: a village chiefdom</a:t>
            </a:r>
            <a:endParaRPr lang="en-US" sz="16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46</a:t>
            </a:fld>
            <a:endParaRPr lang="en-US"/>
          </a:p>
        </p:txBody>
      </p:sp>
    </p:spTree>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name="Slide 4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Socio-cultural Relationships</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Education and health: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Village children study in town schools, and villagers go to town hospitals.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Spread of town ways of life: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Fashion, music and new ideas spread from towns to villages.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47</a:t>
            </a:fld>
            <a:endParaRPr lang="en-US"/>
          </a:p>
        </p:txBody>
      </p:sp>
    </p:spTree>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name="Slide 4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3. Information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i="1" dirty="0">
                <a:solidFill>
                  <a:srgbClr val="111111"/>
                </a:solidFill>
                <a:latin typeface="Times New Roman" pitchFamily="34" charset="0"/>
                <a:ea typeface="Times New Roman" pitchFamily="34" charset="-122"/>
                <a:cs typeface="Times New Roman" pitchFamily="34" charset="-120"/>
              </a:rPr>
              <a:t>Information flows between towns and country sides as follows: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Radio and television: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Radio brings news, market prices and advice to farmers.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48</a:t>
            </a:fld>
            <a:endParaRPr lang="en-US"/>
          </a:p>
        </p:txBody>
      </p:sp>
    </p:spTree>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name="Slide 4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365760" y="1005840"/>
            <a:ext cx="11460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3. Information</a:t>
            </a:r>
            <a:endParaRPr lang="en-US" sz="3600" dirty="0"/>
          </a:p>
        </p:txBody>
      </p:sp>
      <p:sp>
        <p:nvSpPr>
          <p:cNvPr id="4" name="Text 2"/>
          <p:cNvSpPr/>
          <p:nvPr/>
        </p:nvSpPr>
        <p:spPr>
          <a:xfrm>
            <a:off x="365760" y="1783080"/>
            <a:ext cx="4846320" cy="4617720"/>
          </a:xfrm>
          <a:prstGeom prst="rect">
            <a:avLst/>
          </a:prstGeom>
          <a:noFill/>
          <a:ln/>
        </p:spPr>
        <p:txBody>
          <a:bodyPr wrap="square" lIns="0" tIns="0" rIns="0" bIns="0" rtlCol="0" anchor="t"/>
          <a:lstStyle/>
          <a:p>
            <a:pPr algn="l" indent="0" marL="0">
              <a:spcAft>
                <a:spcPts val="800"/>
              </a:spcAft>
              <a:buNone/>
            </a:pPr>
            <a:r>
              <a:rPr lang="en-US" sz="3600" b="1" dirty="0">
                <a:solidFill>
                  <a:srgbClr val="111111"/>
                </a:solidFill>
                <a:latin typeface="Times New Roman" pitchFamily="34" charset="0"/>
                <a:ea typeface="Times New Roman" pitchFamily="34" charset="-122"/>
                <a:cs typeface="Times New Roman" pitchFamily="34" charset="-120"/>
              </a:rPr>
              <a:t>Telephone and internet: </a:t>
            </a:r>
            <a:pPr algn="l" indent="0" marL="0">
              <a:spcAft>
                <a:spcPts val="800"/>
              </a:spcAft>
              <a:buNone/>
            </a:pPr>
            <a:r>
              <a:rPr lang="en-US" sz="3600" dirty="0">
                <a:solidFill>
                  <a:srgbClr val="111111"/>
                </a:solidFill>
                <a:latin typeface="Times New Roman" pitchFamily="34" charset="0"/>
                <a:ea typeface="Times New Roman" pitchFamily="34" charset="-122"/>
                <a:cs typeface="Times New Roman" pitchFamily="34" charset="-120"/>
              </a:rPr>
              <a:t>Phones link families and give farmers the prices of crops in town.</a:t>
            </a:r>
            <a:endParaRPr lang="en-US" sz="3600" dirty="0"/>
          </a:p>
        </p:txBody>
      </p:sp>
      <p:pic>
        <p:nvPicPr>
          <p:cNvPr id="5" name="Image 0" descr="/home/claude/f4/img/v2/f2t_phone_farmer.jpg">    </p:cNvPr>
          <p:cNvPicPr>
            <a:picLocks noChangeAspect="1"/>
          </p:cNvPicPr>
          <p:nvPr/>
        </p:nvPicPr>
        <p:blipFill>
          <a:blip r:embed="rId1"/>
          <a:stretch>
            <a:fillRect/>
          </a:stretch>
        </p:blipFill>
        <p:spPr>
          <a:xfrm>
            <a:off x="5349240" y="2069407"/>
            <a:ext cx="6659575" cy="3697594"/>
          </a:xfrm>
          <a:prstGeom prst="rect">
            <a:avLst/>
          </a:prstGeom>
        </p:spPr>
      </p:pic>
      <p:sp>
        <p:nvSpPr>
          <p:cNvPr id="6" name="Text 3"/>
          <p:cNvSpPr/>
          <p:nvPr/>
        </p:nvSpPr>
        <p:spPr>
          <a:xfrm>
            <a:off x="5349240" y="6089904"/>
            <a:ext cx="6659575" cy="347472"/>
          </a:xfrm>
          <a:prstGeom prst="rect">
            <a:avLst/>
          </a:prstGeom>
          <a:noFill/>
          <a:ln/>
        </p:spPr>
        <p:txBody>
          <a:bodyPr wrap="square" lIns="0" tIns="0" rIns="0" bIns="0" rtlCol="0" anchor="ctr"/>
          <a:lstStyle/>
          <a:p>
            <a:pPr algn="ctr" indent="0" marL="0">
              <a:buNone/>
            </a:pPr>
            <a:r>
              <a:rPr lang="en-US" sz="1600" i="1" dirty="0">
                <a:solidFill>
                  <a:srgbClr val="555555"/>
                </a:solidFill>
                <a:latin typeface="Times New Roman" pitchFamily="34" charset="0"/>
                <a:ea typeface="Times New Roman" pitchFamily="34" charset="-122"/>
                <a:cs typeface="Times New Roman" pitchFamily="34" charset="-120"/>
              </a:rPr>
              <a:t>Illustration: a farmer using a phone</a:t>
            </a:r>
            <a:endParaRPr lang="en-US" sz="16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49</a:t>
            </a:fld>
            <a:endParaRPr lang="en-US"/>
          </a:p>
        </p:txBody>
      </p:sp>
    </p:spTree>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name="Slide 5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3. Information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Newspapers: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Newspapers printed in towns reach villages through travellers and traders.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People: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Travellers, traders and extension workers carry news and advice.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50</a:t>
            </a:fld>
            <a:endParaRPr lang="en-US"/>
          </a:p>
        </p:txBody>
      </p:sp>
    </p:spTree>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name="Slide 5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Evaluation 1</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Give two products sent from villages to towns.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51</a:t>
            </a:fld>
            <a:endParaRPr lang="en-US"/>
          </a:p>
        </p:txBody>
      </p:sp>
    </p:spTree>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name="Slide 5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Expected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Food crops and cattle.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52</a:t>
            </a:fld>
            <a:endParaRPr lang="en-US"/>
          </a:p>
        </p:txBody>
      </p:sp>
    </p:spTree>
  </p:cSld>
  <p:clrMapOvr>
    <a:masterClrMapping/>
  </p:clrMapOvr>
</p:sld>
</file>

<file path=ppt/slides/slide53.xml><?xml version="1.0" encoding="utf-8"?>
<p:sld xmlns:a="http://schemas.openxmlformats.org/drawingml/2006/main" xmlns:r="http://schemas.openxmlformats.org/officeDocument/2006/relationships" xmlns:p="http://schemas.openxmlformats.org/presentationml/2006/main">
  <p:cSld name="Slide 5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Evaluation 2</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Give two socio-cultural links.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53</a:t>
            </a:fld>
            <a:endParaRPr lang="en-US"/>
          </a:p>
        </p:txBody>
      </p:sp>
    </p:spTree>
  </p:cSld>
  <p:clrMapOvr>
    <a:masterClrMapping/>
  </p:clrMapOvr>
</p:sld>
</file>

<file path=ppt/slides/slide54.xml><?xml version="1.0" encoding="utf-8"?>
<p:sld xmlns:a="http://schemas.openxmlformats.org/drawingml/2006/main" xmlns:r="http://schemas.openxmlformats.org/officeDocument/2006/relationships" xmlns:p="http://schemas.openxmlformats.org/presentationml/2006/main">
  <p:cSld name="Slide 5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Expected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Festivals and development associations.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54</a:t>
            </a:fld>
            <a:endParaRPr lang="en-US"/>
          </a:p>
        </p:txBody>
      </p:sp>
    </p:spTree>
  </p:cSld>
  <p:clrMapOvr>
    <a:masterClrMapping/>
  </p:clrMapOvr>
</p:sld>
</file>

<file path=ppt/slides/slide55.xml><?xml version="1.0" encoding="utf-8"?>
<p:sld xmlns:a="http://schemas.openxmlformats.org/drawingml/2006/main" xmlns:r="http://schemas.openxmlformats.org/officeDocument/2006/relationships" xmlns:p="http://schemas.openxmlformats.org/presentationml/2006/main">
  <p:cSld name="Slide 5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REMEDIATION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1463040" cy="5833872"/>
          </a:xfrm>
          <a:prstGeom prst="rect">
            <a:avLst/>
          </a:prstGeom>
        </p:spPr>
      </p:pic>
      <p:sp>
        <p:nvSpPr>
          <p:cNvPr id="4" name="Text 1"/>
          <p:cNvSpPr/>
          <p:nvPr/>
        </p:nvSpPr>
        <p:spPr>
          <a:xfrm>
            <a:off x="1691640" y="1005840"/>
            <a:ext cx="101800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Remediation</a:t>
            </a:r>
            <a:endParaRPr lang="en-US" sz="3600" dirty="0"/>
          </a:p>
        </p:txBody>
      </p:sp>
      <p:sp>
        <p:nvSpPr>
          <p:cNvPr id="5" name="Text 2"/>
          <p:cNvSpPr/>
          <p:nvPr/>
        </p:nvSpPr>
        <p:spPr>
          <a:xfrm>
            <a:off x="1691640" y="1783080"/>
            <a:ext cx="101800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Fill in the blanks:</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A trader who buys in villages and sells in town is a ______.</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The movement of goods or people is a ______.</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Farmers who group together form a ______.</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55</a:t>
            </a:fld>
            <a:endParaRPr lang="en-US"/>
          </a:p>
        </p:txBody>
      </p:sp>
    </p:spTree>
  </p:cSld>
  <p:clrMapOvr>
    <a:masterClrMapping/>
  </p:clrMapOvr>
</p:sld>
</file>

<file path=ppt/slides/slide56.xml><?xml version="1.0" encoding="utf-8"?>
<p:sld xmlns:a="http://schemas.openxmlformats.org/drawingml/2006/main" xmlns:r="http://schemas.openxmlformats.org/officeDocument/2006/relationships" xmlns:p="http://schemas.openxmlformats.org/presentationml/2006/main">
  <p:cSld name="Slide 5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Homework</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List three products your family buys from villages and three goods villagers buy in town.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56</a:t>
            </a:fld>
            <a:endParaRPr lang="en-US"/>
          </a:p>
        </p:txBody>
      </p:sp>
    </p:spTree>
  </p:cSld>
  <p:clrMapOvr>
    <a:masterClrMapping/>
  </p:clrMapOvr>
</p:sld>
</file>

<file path=ppt/slides/slide57.xml><?xml version="1.0" encoding="utf-8"?>
<p:sld xmlns:a="http://schemas.openxmlformats.org/drawingml/2006/main" xmlns:r="http://schemas.openxmlformats.org/officeDocument/2006/relationships" xmlns:p="http://schemas.openxmlformats.org/presentationml/2006/main">
  <p:cSld name="Slide 5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NEXT LESSON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Next Lesson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ctr"/>
          <a:lstStyle/>
          <a:p>
            <a:pPr algn="ctr"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Our next lesson will be on:</a:t>
            </a:r>
            <a:endParaRPr lang="en-US" sz="4000" dirty="0"/>
          </a:p>
          <a:p>
            <a:pPr algn="ctr" indent="0" marL="0">
              <a:spcAft>
                <a:spcPts val="800"/>
              </a:spcAft>
              <a:buNone/>
            </a:pPr>
            <a:r>
              <a:rPr lang="en-US" sz="4000" b="1" dirty="0">
                <a:solidFill>
                  <a:srgbClr val="990011"/>
                </a:solidFill>
                <a:latin typeface="Times New Roman" pitchFamily="34" charset="0"/>
                <a:ea typeface="Times New Roman" pitchFamily="34" charset="-122"/>
                <a:cs typeface="Times New Roman" pitchFamily="34" charset="-120"/>
              </a:rPr>
              <a:t>Further Study 7: Rural Exodus in Cameroon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57</a:t>
            </a:fld>
            <a:endParaRPr lang="en-US"/>
          </a:p>
        </p:txBody>
      </p:sp>
    </p:spTree>
  </p:cSld>
  <p:clrMapOvr>
    <a:masterClrMapping/>
  </p:clrMapOvr>
</p:sld>
</file>

<file path=ppt/slides/slide58.xml><?xml version="1.0" encoding="utf-8"?>
<p:sld xmlns:a="http://schemas.openxmlformats.org/drawingml/2006/main" xmlns:r="http://schemas.openxmlformats.org/officeDocument/2006/relationships" xmlns:p="http://schemas.openxmlformats.org/presentationml/2006/main">
  <p:cSld name="Slide 5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BILINGUAL GAME</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Bilingual Game (Jeu Bilingue)</a:t>
            </a:r>
            <a:endParaRPr lang="en-US" sz="3600" dirty="0"/>
          </a:p>
        </p:txBody>
      </p:sp>
      <p:graphicFrame>
        <p:nvGraphicFramePr>
          <p:cNvPr id="59" name="Table 0"/>
          <p:cNvGraphicFramePr>
            <a:graphicFrameLocks noGrp="1"/>
          </p:cNvGraphicFramePr>
          <p:nvPr>
            <p:extLst>
              <p:ext uri="{D42A27DB-BD31-4B8C-83A1-F6EECF244321}">
                <p14:modId xmlns:p14="http://schemas.microsoft.com/office/powerpoint/2010/main" val="1579011935"/>
              </p:ext>
            </p:extLst>
          </p:nvPr>
        </p:nvGraphicFramePr>
        <p:xfrm>
          <a:off x="1706728" y="1783080"/>
          <a:ext cx="8778240" cy="914400"/>
        </p:xfrm>
        <a:graphic>
          <a:graphicData uri="http://schemas.openxmlformats.org/drawingml/2006/table">
            <a:tbl>
              <a:tblPr/>
              <a:tblGrid>
                <a:gridCol w="4389120"/>
                <a:gridCol w="4389120"/>
              </a:tblGrid>
              <a:tr h="0">
                <a:tc>
                  <a:txBody>
                    <a:bodyPr/>
                    <a:lstStyle/>
                    <a:p>
                      <a:pPr algn="ctr" indent="0" marL="0">
                        <a:buNone/>
                      </a:pPr>
                      <a:r>
                        <a:rPr lang="en-US" sz="2200" b="1" dirty="0">
                          <a:solidFill>
                            <a:srgbClr val="FFFFFF"/>
                          </a:solidFill>
                          <a:latin typeface="Calibri" pitchFamily="34" charset="0"/>
                          <a:ea typeface="Calibri" pitchFamily="34" charset="-122"/>
                          <a:cs typeface="Calibri" pitchFamily="34" charset="-120"/>
                        </a:rPr>
                        <a:t>English</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990011"/>
                    </a:solidFill>
                  </a:tcPr>
                </a:tc>
                <a:tc>
                  <a:txBody>
                    <a:bodyPr/>
                    <a:lstStyle/>
                    <a:p>
                      <a:pPr algn="ctr" indent="0" marL="0">
                        <a:buNone/>
                      </a:pPr>
                      <a:r>
                        <a:rPr lang="en-US" sz="2200" b="1" dirty="0">
                          <a:solidFill>
                            <a:srgbClr val="FFFFFF"/>
                          </a:solidFill>
                          <a:latin typeface="Calibri" pitchFamily="34" charset="0"/>
                          <a:ea typeface="Calibri" pitchFamily="34" charset="-122"/>
                          <a:cs typeface="Calibri" pitchFamily="34" charset="-120"/>
                        </a:rPr>
                        <a:t>Français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990011"/>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Town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 ville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Village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Le village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Flow</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Le flux</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Trader</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Le commerçant</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Festival</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 fête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News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Les nouvelles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58</a:t>
            </a:fld>
            <a:endParaRPr lang="en-US"/>
          </a:p>
        </p:txBody>
      </p:sp>
    </p:spTree>
  </p:cSld>
  <p:clrMapOvr>
    <a:masterClrMapping/>
  </p:clrMapOvr>
</p:sld>
</file>

<file path=ppt/slides/slide59.xml><?xml version="1.0" encoding="utf-8"?>
<p:sld xmlns:a="http://schemas.openxmlformats.org/drawingml/2006/main" xmlns:r="http://schemas.openxmlformats.org/officeDocument/2006/relationships" xmlns:p="http://schemas.openxmlformats.org/presentationml/2006/main">
  <p:cSld name="Slide 5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LOGBOOK</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Official Logbook (1/2)</a:t>
            </a:r>
            <a:endParaRPr lang="en-US" sz="3600" dirty="0"/>
          </a:p>
        </p:txBody>
      </p:sp>
      <p:graphicFrame>
        <p:nvGraphicFramePr>
          <p:cNvPr id="60"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3017520"/>
                <a:gridCol w="8257032"/>
              </a:tblGrid>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Module / Topic</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Space Occupation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Lesson Title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Lesson 8: Relationships between Towns and Country Sides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Expected Learning Outcomes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Describe the economic relationships between towns and country sides. Describe the socio-cultural relationships. Explain the flows of information.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Competence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Learners are able to identify the flows between towns and country sides and explain why they depend on each other.</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59</a:t>
            </a:fld>
            <a:endParaRPr lang="en-US"/>
          </a:p>
        </p:txBody>
      </p:sp>
    </p:spTree>
  </p:cSld>
  <p:clrMapOvr>
    <a:masterClrMapping/>
  </p:clrMapOvr>
</p:sld>
</file>

<file path=ppt/slides/slide60.xml><?xml version="1.0" encoding="utf-8"?>
<p:sld xmlns:a="http://schemas.openxmlformats.org/drawingml/2006/main" xmlns:r="http://schemas.openxmlformats.org/officeDocument/2006/relationships" xmlns:p="http://schemas.openxmlformats.org/presentationml/2006/main">
  <p:cSld name="Slide 6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LOGBOOK</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Official Logbook (2/2)</a:t>
            </a:r>
            <a:endParaRPr lang="en-US" sz="3600" dirty="0"/>
          </a:p>
        </p:txBody>
      </p:sp>
      <p:graphicFrame>
        <p:nvGraphicFramePr>
          <p:cNvPr id="61"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3017520"/>
                <a:gridCol w="8257032"/>
              </a:tblGrid>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Matter Taught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DEFINITIONS; From the Country Side to the Town; From the Town to the Country Side; The Actors of the Exchanges; Socio-cultural Relationships; Information.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Evaluation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Formative evaluation and remediation exercise.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Homework</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List three products your family buys from villages and three goods villagers buy in town.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Enrolment / Present / Absent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____ / ____ / ____</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Achievement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To be completed after the lesson.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60</a:t>
            </a:fld>
            <a:endParaRPr lang="en-US"/>
          </a:p>
        </p:txBody>
      </p:sp>
    </p:spTree>
  </p:cSld>
  <p:clrMapOvr>
    <a:masterClrMapping/>
  </p:clrMapOvr>
</p:sld>
</file>

<file path=ppt/slides/slide61.xml><?xml version="1.0" encoding="utf-8"?>
<p:sld xmlns:a="http://schemas.openxmlformats.org/drawingml/2006/main" xmlns:r="http://schemas.openxmlformats.org/officeDocument/2006/relationships" xmlns:p="http://schemas.openxmlformats.org/presentationml/2006/main">
  <p:cSld name="Slide 6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TEACHER'S NOTE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Teacher's Note</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Timing: Homework correction, plan, objectives 8 min | Recall, situation, action 10 min | 5 activities 30 min | Board summary (copying) 30 min | Evaluation, remediation 10 min | Homework, next lesson 5 min | Logbook 7 min</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1): list products in the Garoua market.</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2): list goods bought in town.</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3): ask about family trips.</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4): name associations of the area.</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5): ask how villagers get news.</a:t>
            </a:r>
            <a:endParaRPr lang="en-US" sz="2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61</a:t>
            </a:fld>
            <a:endParaRPr lang="en-US"/>
          </a:p>
        </p:txBody>
      </p:sp>
    </p:spTree>
  </p:cSld>
  <p:clrMapOvr>
    <a:masterClrMapping/>
  </p:clrMapOvr>
</p:sld>
</file>

<file path=ppt/slides/slide62.xml><?xml version="1.0" encoding="utf-8"?>
<p:sld xmlns:a="http://schemas.openxmlformats.org/drawingml/2006/main" xmlns:r="http://schemas.openxmlformats.org/officeDocument/2006/relationships" xmlns:p="http://schemas.openxmlformats.org/presentationml/2006/main">
  <p:cSld name="Slide 6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REFERENCES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References</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Geography Syllabus, Forms I–V, MINESEC (2023) — Form 2, Module 2: Space Occupation.</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Activity 1: “Discussing the price” by 10b travelling / Carsten ten Brink, CC BY-NC-ND 2.0, via Flickr (https://www.flickr.com/photos/77334245@N00/7313656038)</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Activity 2: “Traveling by truck” by World Bank Photo Collection, CC BY-NC-ND 2.0, via Flickr (https://www.flickr.com/photos/10816734@N03/2628517227)</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Activity 3: “Wadi Halfa Bus Station” by D-Stanley, CC BY 2.0, via Flickr (https://www.flickr.com/photos/79721788@N00/8651154444)</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Activity 4: “Bandjoun's chefferie: I - the approach past the royal quarters” by 10b travelling / Carsten ten Brink, CC BY-NC-ND 2.0, via Flickr (https://www.flickr.com/photos/77334245@N00/7326237514)</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Activity 5: “Using mobile technology to give feedback about the crop trials” by Bioversity International, CC BY-NC-ND 2.0, via Flickr (https://www.flickr.com/photos/50383637@N07/15019002626)</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62</a:t>
            </a:fld>
            <a:endParaRPr lang="en-US"/>
          </a:p>
        </p:txBody>
      </p:sp>
    </p:spTree>
  </p:cSld>
  <p:clrMapOvr>
    <a:masterClrMapping/>
  </p:clrMapOvr>
</p:sld>
</file>

<file path=ppt/slides/slide63.xml><?xml version="1.0" encoding="utf-8"?>
<p:sld xmlns:a="http://schemas.openxmlformats.org/drawingml/2006/main" xmlns:r="http://schemas.openxmlformats.org/officeDocument/2006/relationships" xmlns:p="http://schemas.openxmlformats.org/presentationml/2006/main">
  <p:cSld name="Slide 6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REFERENCES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References (continued)</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board summary (Food): “Sandga Market in Douala, Cameroon” by The Advocacy Project, CC BY-NC-SA 2.0, via Flickr (https://www.flickr.com/photos/42487558@N00/3636438732)</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board summary (Buyam-sellams): “Roadside vendor roasts maize cobs for sale in Timau” by CIMMYT, CC BY-NC 2.0, via Flickr (https://www.flickr.com/photos/44760652@N05/25375356457)</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Diagrams and animations: drawn for this lesson (Geography Department).</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63</a:t>
            </a:fld>
            <a:endParaRPr lang="en-US"/>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63</Slides>
  <Notes>63</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63</vt:i4>
      </vt:variant>
    </vt:vector>
  </HeadingPairs>
  <TitlesOfParts>
    <vt:vector size="66"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lpstr>Slide 38</vt:lpstr>
      <vt:lpstr>Slide 39</vt:lpstr>
      <vt:lpstr>Slide 40</vt:lpstr>
      <vt:lpstr>Slide 41</vt:lpstr>
      <vt:lpstr>Slide 42</vt:lpstr>
      <vt:lpstr>Slide 43</vt:lpstr>
      <vt:lpstr>Slide 44</vt:lpstr>
      <vt:lpstr>Slide 45</vt:lpstr>
      <vt:lpstr>Slide 46</vt:lpstr>
      <vt:lpstr>Slide 47</vt:lpstr>
      <vt:lpstr>Slide 48</vt:lpstr>
      <vt:lpstr>Slide 49</vt:lpstr>
      <vt:lpstr>Slide 50</vt:lpstr>
      <vt:lpstr>Slide 51</vt:lpstr>
      <vt:lpstr>Slide 52</vt:lpstr>
      <vt:lpstr>Slide 53</vt:lpstr>
      <vt:lpstr>Slide 54</vt:lpstr>
      <vt:lpstr>Slide 55</vt:lpstr>
      <vt:lpstr>Slide 56</vt:lpstr>
      <vt:lpstr>Slide 57</vt:lpstr>
      <vt:lpstr>Slide 58</vt:lpstr>
      <vt:lpstr>Slide 59</vt:lpstr>
      <vt:lpstr>Slide 60</vt:lpstr>
      <vt:lpstr>Slide 61</vt:lpstr>
      <vt:lpstr>Slide 62</vt:lpstr>
      <vt:lpstr>Slide 63</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PptxGenJS</dc:creator>
  <cp:lastModifiedBy>PptxGenJS</cp:lastModifiedBy>
  <cp:revision>1</cp:revision>
  <dcterms:created xsi:type="dcterms:W3CDTF">2026-09-28T17:01:17Z</dcterms:created>
  <dcterms:modified xsi:type="dcterms:W3CDTF">2026-09-28T17:01:17Z</dcterms:modified>
</cp:coreProperties>
</file>