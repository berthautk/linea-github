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Lst>
  <p:notesMasterIdLst>
    <p:notesMasterId r:id="rId6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notesMaster" Target="notesMasters/notesMaster1.xml"/><Relationship Id="rId66" Type="http://schemas.openxmlformats.org/officeDocument/2006/relationships/presProps" Target="presProps.xml"/><Relationship Id="rId67" Type="http://schemas.openxmlformats.org/officeDocument/2006/relationships/viewProps" Target="viewProps.xml"/><Relationship Id="rId68" Type="http://schemas.openxmlformats.org/officeDocument/2006/relationships/theme" Target="theme/theme1.xml"/><Relationship Id="rId6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13: Processes and Features of Mass Wasting.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Lower Sixth Arts. It belongs to Module 2: Understanding and managing physical landscapes, geomorphological processes and hazards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Denudational Processes on Slopes, and the sub-topic is Mass Movements. The key notions we shall use today are: soil creep, solifluction, landslide, slump, mudflow, debris flow, rockfall, scree (talus), afforestation, retaining wall, terracing, zoning. At the end, you should be able to do this: learners are able to describe the types of mass movements, explain their impacts and propose measures to control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12: Mass Wasting (Movement). The question was: Name one slow mass movement.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Soil creep or solifluction.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four things. Number 1: describe slow mass movements. Number 2: describe fast mass movements and their features. Number 3: explain the impacts of mass wasting. Number 4: propose solutions to control mass wasting.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Water is the main trigger of mass wasting. Creep is slow and falls are fast. The angle of repose limits stable slopes.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At the peak of the rainy season, you pass a steep road cutting near the high banks of the Benue. A large section of soil and rock that was stable in the dry season has collapsed, leaving a fresh scar on the slope. A small tree at the edge now leans at a strange angle. You ask: "What force made this part of the slope fall suddenly, can it also happen slowly, and how can we prevent it?"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learner does not know the types of mass movements and how to control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is a very slow movement that tilts trees over years?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Soil creep.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is a sudden collapse after heavy rain?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 fast mass movement such as a landslide or a slump.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plant trees and keep drains clear on slopes near your home.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protect lives, houses and roads from landslides and bank collapses.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solifluction lobes.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What is solifluction?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slow flow of waterlogged soil over impermeable ground.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a slump.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How does a slump move?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Along a curved surface, with the block rotating backwards.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scree at the foot of a cliff.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What is the pile of rocks at the foot of a cliff called?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Scree (talus).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a landslide scar.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Give one impact of mass wasting on man.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Deaths, destroyed houses and farms, blocked roads.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terraced slopes.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How do terraces reduce mass wasting?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They reduce the slope angle and slow down runoff.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Solifluction and Landslide.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definitions. On this slide we have Slump and Scree (talus).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Slow Mass Movements. The slow mass movements are the following. Copy the point on Soil creep on the left, then draw the diagram on the right: soil creep.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Solifluction on the left, then draw the diagram on the right: solifluction lobes.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Fast Mass Movements. The fast mass movements are the following. Copy the point on Landslides on the left, then draw the diagram on the right: a landslide.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Slumps on the left, then draw the diagram on the right: a slump.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Mudflows and debris flows on the left, then draw the diagram on the right: a mudflow.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Rockfalls on the left, then draw the diagram on the right: scree.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Impacts of Mass Wasting. Mass wasting has the following impacts. On this slide we have On man.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Impacts of Mass Wasting. On this slide we have On the environment.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Example on the left, then draw the diagram on the right: a landslide scar.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Solutions to Control Mass Wasting. Mass wasting is controlled by the following measures. Copy the point on Afforestation on the left, then draw the diagram on the right: controlling mass wasting.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Solutions to Control Mass Wasting. On this slide we have Drainage and Retaining walls.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Terracing on the left, then draw the diagram on the right: terraced slopes.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Solutions to Control Mass Wasting. On this slide we have Land-use zoning.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Distinguish soil creep from a landslide.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soil creep is a very slow, continuous movement of soil; a landslide is a sudden, rapid movement of a large mass.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two measures to control mass wasting.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afforestation, drainage, retaining walls, terracing, zoning (any two).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slump; number 2, scree (talus); number 3, afforestation.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Name the three types of work of a river.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14: Erosional Processes and the Fluvial System.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LOWER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LESSON 13: PROCESSES AND FEATURES OF MASS WASTING</a:t>
            </a:r>
            <a:endParaRPr lang="en-US" sz="14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jp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jp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jp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jp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jp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jp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jp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jp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jp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jp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jp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jp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2.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2.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slideLayout" Target="../slideLayouts/slideLayout2.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slideLayout" Target="../slideLayouts/slideLayout2.xml"/><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image-61-1.png"/><Relationship Id="rId2" Type="http://schemas.openxmlformats.org/officeDocument/2006/relationships/slideLayout" Target="../slideLayouts/slideLayout2.xml"/><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image" Target="../media/image-62-1.png"/><Relationship Id="rId2" Type="http://schemas.openxmlformats.org/officeDocument/2006/relationships/slideLayout" Target="../slideLayouts/slideLayout2.xml"/><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image" Target="../media/image-63-1.png"/><Relationship Id="rId2" Type="http://schemas.openxmlformats.org/officeDocument/2006/relationships/slideLayout" Target="../slideLayouts/slideLayout2.xml"/><Relationship Id="rId3" Type="http://schemas.openxmlformats.org/officeDocument/2006/relationships/notesSlide" Target="../notesSlides/notesSlide6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LOWER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13</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Processes and Features of Mass Wasting</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Lower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2: Understanding and managing physical landscapes, geomorphological processes and hazards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Denudational Processes on Slopes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Mass Movements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13: Processes and Features of Mass Wasting</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Soil creep, solifluction, landslide, slump, mudflow, debris flow, rockfall, scree (talus), afforestation, retaining wall, terracing, zoning.</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Slow mass movements (creep, solifluction); fast mass movements (landslides, slumps, mudflows, rockfalls); impacts on man and the environment; control measures.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describe the types of mass movements, explain their impacts and propose measures to control them.</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12: Mass Wasting (Movement)):</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one slow mass movement.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Soil creep or solifluction.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slow mass movements.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fast mass movements and their features.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impacts of mass wasting.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Propose solutions to control mass wasting.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Water is the main trigger of mass wasting.</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Creep is slow and falls are fast.</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angle of repose limits stable slopes.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At the peak of the rainy season, you pass a steep road cutting near the high banks of the Benue.</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large section of soil and rock that was stable in the dry season has collapsed, leaving a fresh scar on the slope.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small tree at the edge now leans at a strange angle.</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You ask: "What force made this part of the slope fall suddenly, can it also happen slowly, and how can we prevent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learner does not know the types of mass movements and how to control them.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a very slow movement that tilts trees over years?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Soil creep.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a sudden collapse after heavy rain?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fast mass movement such as a landslide or a slump.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Plant trees and keep drains clear on slopes near your home.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protect lives, houses and roads from landslides and bank collapses.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SLOW MOVEMENTS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lsa_solifluction.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Solifluction lobes.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SLOW MOVEMENTS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solifluction?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SLOW MOVEMENTS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slow flow of waterlogged soil over impermeable ground.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FAST MOVEMENTS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lsa_slump.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slump.</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FAST MOVEMENTS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does a slump move?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FAST MOVEMENTS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Along a curved surface, with the block rotating backwards.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FAST MOVEMENTS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lsa_scree.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Scree at the foot of a cliff.</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FAST MOVEMENTS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pile of rocks at the foot of a cliff called?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FAST MOVEMENTS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Scree (talus).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IMPACTS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lsa_landscar.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landslide scar.</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IMPACTS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one impact of mass wasting on man.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IMPACTS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Deaths, destroyed houses and farms, blocked roads.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SOLUTIONS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f4_terraces.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Terraced slopes.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SOLUTIONS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 terraces reduce mass wasting?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SOLUTIONS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reduce the slope angle and slow down runoff.</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Denudational Processes on Slopes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Mass Movements</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13: Processes and Features of Mass Wasting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Solifluction: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slow flow of waterlogged soil over impermeable ground.</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Landslide: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rapid movement of a mass of rock or soil down a slope.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Slump: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slide along a curved surface.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Scree (talus):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pile of rock fragments at the foot of a cliff.</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Slow Mass Movements</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i="1" dirty="0">
                <a:solidFill>
                  <a:srgbClr val="111111"/>
                </a:solidFill>
                <a:latin typeface="Times New Roman" pitchFamily="34" charset="0"/>
                <a:ea typeface="Times New Roman" pitchFamily="34" charset="-122"/>
                <a:cs typeface="Times New Roman" pitchFamily="34" charset="-120"/>
              </a:rPr>
              <a:t>The slow mass movements are the following:</a:t>
            </a:r>
            <a:endParaRPr lang="en-US" sz="3600" dirty="0"/>
          </a:p>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Soil creep: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The slow downhill movement of soil, a few centimetres a year, shown by tilted poles and cracked roads.</a:t>
            </a:r>
            <a:endParaRPr lang="en-US" sz="3600" dirty="0"/>
          </a:p>
        </p:txBody>
      </p:sp>
      <p:pic>
        <p:nvPicPr>
          <p:cNvPr id="5" name="Image 0" descr="/home/claude/f4/img/v2/creep_last.png">    </p:cNvPr>
          <p:cNvPicPr>
            <a:picLocks noChangeAspect="1"/>
          </p:cNvPicPr>
          <p:nvPr/>
        </p:nvPicPr>
        <p:blipFill>
          <a:blip r:embed="rId1"/>
          <a:stretch>
            <a:fillRect/>
          </a:stretch>
        </p:blipFill>
        <p:spPr>
          <a:xfrm>
            <a:off x="5349240" y="2617506"/>
            <a:ext cx="6659575" cy="2601397"/>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soil creep</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Slow Mass Movements</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Solifluction: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Waterlogged soil flows slowly over frozen ground or impermeable clay.</a:t>
            </a:r>
            <a:endParaRPr lang="en-US" sz="3600" dirty="0"/>
          </a:p>
        </p:txBody>
      </p:sp>
      <p:pic>
        <p:nvPicPr>
          <p:cNvPr id="5" name="Image 0" descr="/home/claude/f4/img/v2/lsa_solifluction.jpg">    </p:cNvPr>
          <p:cNvPicPr>
            <a:picLocks noChangeAspect="1"/>
          </p:cNvPicPr>
          <p:nvPr/>
        </p:nvPicPr>
        <p:blipFill>
          <a:blip r:embed="rId1"/>
          <a:stretch>
            <a:fillRect/>
          </a:stretch>
        </p:blipFill>
        <p:spPr>
          <a:xfrm>
            <a:off x="5349240" y="2071212"/>
            <a:ext cx="6659575" cy="3693983"/>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solifluction lobes</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Fast Mass Movements</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i="1" dirty="0">
                <a:solidFill>
                  <a:srgbClr val="111111"/>
                </a:solidFill>
                <a:latin typeface="Times New Roman" pitchFamily="34" charset="0"/>
                <a:ea typeface="Times New Roman" pitchFamily="34" charset="-122"/>
                <a:cs typeface="Times New Roman" pitchFamily="34" charset="-120"/>
              </a:rPr>
              <a:t>The fast mass movements are the following:</a:t>
            </a:r>
            <a:endParaRPr lang="en-US" sz="3600" dirty="0"/>
          </a:p>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Landslides: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A large block of rock or soil moves rapidly down a slope.</a:t>
            </a:r>
            <a:endParaRPr lang="en-US" sz="3600" dirty="0"/>
          </a:p>
        </p:txBody>
      </p:sp>
      <p:pic>
        <p:nvPicPr>
          <p:cNvPr id="5" name="Image 0" descr="/home/claude/f4/img/v2/f4_landslide.jpg">    </p:cNvPr>
          <p:cNvPicPr>
            <a:picLocks noChangeAspect="1"/>
          </p:cNvPicPr>
          <p:nvPr/>
        </p:nvPicPr>
        <p:blipFill>
          <a:blip r:embed="rId1"/>
          <a:stretch>
            <a:fillRect/>
          </a:stretch>
        </p:blipFill>
        <p:spPr>
          <a:xfrm>
            <a:off x="5349240" y="2071212"/>
            <a:ext cx="6659575" cy="3693983"/>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a landslide</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Fast Mass Movements</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Slumps: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Material slides along a curved surface and rotates, as on the banks of the Benue after heavy rain.</a:t>
            </a:r>
            <a:endParaRPr lang="en-US" sz="3600" dirty="0"/>
          </a:p>
        </p:txBody>
      </p:sp>
      <p:pic>
        <p:nvPicPr>
          <p:cNvPr id="5" name="Image 0" descr="/home/claude/f4/img/v2/lsa_slump.jpg">    </p:cNvPr>
          <p:cNvPicPr>
            <a:picLocks noChangeAspect="1"/>
          </p:cNvPicPr>
          <p:nvPr/>
        </p:nvPicPr>
        <p:blipFill>
          <a:blip r:embed="rId1"/>
          <a:stretch>
            <a:fillRect/>
          </a:stretch>
        </p:blipFill>
        <p:spPr>
          <a:xfrm>
            <a:off x="5349240" y="2071212"/>
            <a:ext cx="6659575" cy="3693983"/>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a slump</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Fast Mass Movements</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Mudflows and debris flows: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Water, soil and rock move like wet concrete in hilly areas after heavy rain.</a:t>
            </a:r>
            <a:endParaRPr lang="en-US" sz="3600" dirty="0"/>
          </a:p>
        </p:txBody>
      </p:sp>
      <p:pic>
        <p:nvPicPr>
          <p:cNvPr id="5" name="Image 0" descr="/home/claude/f4/img/v2/lsa_lahar.jpg">    </p:cNvPr>
          <p:cNvPicPr>
            <a:picLocks noChangeAspect="1"/>
          </p:cNvPicPr>
          <p:nvPr/>
        </p:nvPicPr>
        <p:blipFill>
          <a:blip r:embed="rId1"/>
          <a:stretch>
            <a:fillRect/>
          </a:stretch>
        </p:blipFill>
        <p:spPr>
          <a:xfrm>
            <a:off x="5349240" y="2071212"/>
            <a:ext cx="6659575" cy="3693983"/>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a mudflow</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Fast Mass Movements</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Rockfalls: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Rocks fall freely from a steep cliff and pile up as scree at its foot.</a:t>
            </a:r>
            <a:endParaRPr lang="en-US" sz="3600" dirty="0"/>
          </a:p>
        </p:txBody>
      </p:sp>
      <p:pic>
        <p:nvPicPr>
          <p:cNvPr id="5" name="Image 0" descr="/home/claude/f4/img/v2/lsa_scree.jpg">    </p:cNvPr>
          <p:cNvPicPr>
            <a:picLocks noChangeAspect="1"/>
          </p:cNvPicPr>
          <p:nvPr/>
        </p:nvPicPr>
        <p:blipFill>
          <a:blip r:embed="rId1"/>
          <a:stretch>
            <a:fillRect/>
          </a:stretch>
        </p:blipFill>
        <p:spPr>
          <a:xfrm>
            <a:off x="5349240" y="2071212"/>
            <a:ext cx="6659575" cy="3693983"/>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scree</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Impacts of Mass Wasting</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Mass wasting has the following impacts: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On man:</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Loss of life and injuries.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Destruction of houses and farms.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Damage to roads, railways and bridges.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High costs of repair and cleaning.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Impacts of Mass Wasting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On the environment:</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Bare scars on slopes.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Rivers dammed by debris, causing floods upstream.</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Destruction of habitats.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Impacts of Mass Wasting</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Example: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The landslide at Gouache (Bafoussam) in 2019 killed more than 40 people.</a:t>
            </a:r>
            <a:endParaRPr lang="en-US" sz="3600" dirty="0"/>
          </a:p>
        </p:txBody>
      </p:sp>
      <p:pic>
        <p:nvPicPr>
          <p:cNvPr id="5" name="Image 0" descr="/home/claude/f4/img/v2/lsa_landscar.jpg">    </p:cNvPr>
          <p:cNvPicPr>
            <a:picLocks noChangeAspect="1"/>
          </p:cNvPicPr>
          <p:nvPr/>
        </p:nvPicPr>
        <p:blipFill>
          <a:blip r:embed="rId1"/>
          <a:stretch>
            <a:fillRect/>
          </a:stretch>
        </p:blipFill>
        <p:spPr>
          <a:xfrm>
            <a:off x="5349240" y="2071212"/>
            <a:ext cx="6659575" cy="3693983"/>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a landslide scar</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4. Solutions to Control Mass Wasting</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i="1" dirty="0">
                <a:solidFill>
                  <a:srgbClr val="111111"/>
                </a:solidFill>
                <a:latin typeface="Times New Roman" pitchFamily="34" charset="0"/>
                <a:ea typeface="Times New Roman" pitchFamily="34" charset="-122"/>
                <a:cs typeface="Times New Roman" pitchFamily="34" charset="-120"/>
              </a:rPr>
              <a:t>Mass wasting is controlled by the following measures:</a:t>
            </a:r>
            <a:endParaRPr lang="en-US" sz="3600" dirty="0"/>
          </a:p>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Afforestation: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Trees and grass bind the soil with their roots.</a:t>
            </a:r>
            <a:endParaRPr lang="en-US" sz="3600" dirty="0"/>
          </a:p>
        </p:txBody>
      </p:sp>
      <p:pic>
        <p:nvPicPr>
          <p:cNvPr id="5" name="Image 0" descr="/home/claude/f4/img/v2/geo2_mw_solutions.png">    </p:cNvPr>
          <p:cNvPicPr>
            <a:picLocks noChangeAspect="1"/>
          </p:cNvPicPr>
          <p:nvPr/>
        </p:nvPicPr>
        <p:blipFill>
          <a:blip r:embed="rId1"/>
          <a:stretch>
            <a:fillRect/>
          </a:stretch>
        </p:blipFill>
        <p:spPr>
          <a:xfrm>
            <a:off x="5349240" y="2617506"/>
            <a:ext cx="6659575" cy="2601397"/>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controlling mass wasting</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4. Solutions to Control Mass Wasting</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Drainage: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Channels and pipes remove excess water from slopes.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Retaining walls: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Strong walls at the foot of slopes hold back soil and rock.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4. Solutions to Control Mass Wasting</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Terracing: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Steps cut into slopes reduce the angle and slow runoff, as in the Mandara Mountains.</a:t>
            </a:r>
            <a:endParaRPr lang="en-US" sz="3600" dirty="0"/>
          </a:p>
        </p:txBody>
      </p:sp>
      <p:pic>
        <p:nvPicPr>
          <p:cNvPr id="5" name="Image 0" descr="/home/claude/f4/img/v2/f4_terraces.jpg">    </p:cNvPr>
          <p:cNvPicPr>
            <a:picLocks noChangeAspect="1"/>
          </p:cNvPicPr>
          <p:nvPr/>
        </p:nvPicPr>
        <p:blipFill>
          <a:blip r:embed="rId1"/>
          <a:stretch>
            <a:fillRect/>
          </a:stretch>
        </p:blipFill>
        <p:spPr>
          <a:xfrm>
            <a:off x="5349240" y="2071212"/>
            <a:ext cx="6659575" cy="3693983"/>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terraced slopes</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4. Solutions to Control Mass Wasting</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Land-use zoning: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Laws forbid building in high-risk zones.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Distinguish soil creep from a landslide.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Soil creep is a very slow, continuous movement of soil; a landslide is a sudden, rapid movement of a large mass.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measures to control mass wasting.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Afforestation, drainage, retaining walls, terracing, zoning (any two).</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slide along a curved surface is a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Rock fragments at the foot of a cliff form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Planting trees on slopes is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the three types of work of a river.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14: Erosional Processes and the Fluvial System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9"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Mass wasting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mouvement de masse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Landslide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glissement de terrain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Soil creep</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reptation du sol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Mudflow</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coulée de boue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Retaining wall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mur de soutènement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Terracing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Les cultures en terrasses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60"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Denudational Processes on Slopes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13: Processes and Features of Mass Wasting</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Describe slow mass movements. Describe fast mass movements and their features. Explain the impacts of mass wasting. Propose solutions to control mass wasting.</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describe the types of mass movements, explain their impacts and propose measures to control them.</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61"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Slow Mass Movements; Fast Mass Movements; Impacts of Mass Wasting; Solutions to Control Mass Wasting.</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Name the three types of work of a river.</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describe waterlogged soil.</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draw a curved slip surface.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pour gravel into a pile.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list impacts on the board.</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describe terraces in the Mandara Mountains.</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Geography Syllabus for Sixth Forms (Lower and Upper Sixth), MINESEC, 2019 — Module 2 (Geomorphology).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Teacher's course notes: Mr KAMDEM E., Geomorphology (LSA), GBHS Garoua, 2026.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“Opal Hills” by Dru!, CC BY-NC 2.0, via Flickr (https://www.flickr.com/photos/36543076@N00/17159561341)</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“Holderness landslides 026” by Madingley, CC BY-NC 2.0, via Flickr (https://www.flickr.com/photos/26004680@N00/256596582)</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“Full Screen Plate Tectonics” by subarcticmike, CC BY 2.0, via Flickr (https://www.flickr.com/photos/31856336@N03/3109980958)</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“Hillsides scarred by landslides caused by cloudbursts, Rudraprayag, Ut” by ICIMOD.Gallery, CC BY-NC 2.0, via Flickr (https://www.flickr.com/photos/127267759@N06/16051008426)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“Terraced Hillside” by AdamCohn, CC BY-NC-ND 2.0, via Flickr (https://www.flickr.com/photos/96142515@N00/6311042523)</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board summary (Landslides): “Siuslaw National Forest, landslide, road failure.jpg” by Forest Service Pacific Northwest Region, Public domain 1.0, via Flickr (https://www.flickr.com/photos/135886671@N08/36218241110)</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board summary (Mudflows and debris flows): “Lahar (mudflow) remnants from Mount Ruapehu” by Wade Tregaskis, CC BY-NC 2.0, via Flickr (https://www.flickr.com/photos/7725552@N06/502073245)</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63</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63</Slides>
  <Notes>63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63</vt:i4>
      </vt:variant>
    </vt:vector>
  </HeadingPairs>
  <TitlesOfParts>
    <vt:vector size="6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2026-09-29T03:12:49Z</dcterms:created>
  <dcterms:modified xsi:type="dcterms:W3CDTF">2026-09-29T03:12:49Z</dcterms:modified>
</cp:coreProperties>
</file>