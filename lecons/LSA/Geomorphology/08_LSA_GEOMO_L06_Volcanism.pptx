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Lst>
  <p:notesMasterIdLst>
    <p:notesMasterId r:id="rId6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notesMaster" Target="notesMasters/notesMaster1.xml"/><Relationship Id="rId68" Type="http://schemas.openxmlformats.org/officeDocument/2006/relationships/presProps" Target="presProps.xml"/><Relationship Id="rId69" Type="http://schemas.openxmlformats.org/officeDocument/2006/relationships/viewProps" Target="viewProps.xml"/><Relationship Id="rId70" Type="http://schemas.openxmlformats.org/officeDocument/2006/relationships/theme" Target="theme/theme1.xml"/><Relationship Id="rId7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Volcanism.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2: Understanding and managing physical landscapes, geomorphological processes and hazards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Crustal Processes and their Effect on the Land Surface and Man, and the sub-topic is Volcanicity. The key notions we shall use today are: volcanism (vulcanicity), magma, lava, active, dormant and extinct volcanoes, pyroclasts, basic and acid lava, cone, crater, caldera, lava plateau. At the end, you should be able to do this: learners are able to classify volcanoes and explain the landforms built by different volcanic materials, with Cameroonian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Landforms at Destructive and Conservative Margins. The question was: Distinguish magma from lava.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Magma is molten rock below the surface; lava is molten rock that has reached the surface.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define volcanism, magma and lava. Number 2: distinguish active, dormant and extinct volcanoes. Number 3: describe the products of an eruption. Number 4: explain the formation of volcanic cones and other landforms.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Magma rises at weak zones of the crust. Mount Cameroon is on the Cameroon Volcanic Line. Shield volcanoes have gentle slopes.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news says that Mount Cameroon shows signs of activity, with rumbling and smoke near its peak. Your uncle in Mokolo says: "Don't worry, the peak of Rhumsiki near here looks like a volcano, but it has been silent for millions of years." You ask: "Why is one mountain active and the other a quiet rocky peak, and why do volcanoes have different shapes?"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learner does not know the life cycle of volcanoes and the causes of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is the process of molten rock reaching the surface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Volcanism (vulcanicity).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Mount Cameroon active and Rhumsiki not?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Mount Cameroon erupted recently; Rhumsiki is the remains of an extinct volcano.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volcanic landforms and rocks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volcanic landforms of Cameroon and the risks of active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parts of a volcano.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the difference between magma and lava?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Magma is below the surface; lava has reached the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did Mount Cameroon last erupt significantly?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1999–2000 (small activity in 2012).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volcanic necks near Rhumsiki.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peak of Rhumsiki called extinct?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not erupted for millions of years and will not erupt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solidified runny lava.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lava flows far: basic or acid?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Basic lava (runny, low in silica).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volcanic crater.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the difference between a crater and a caldera?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crater is small (under 1 km); a caldera is a very large basin formed by collapse.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Volcanicity and Magma.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Lava and Cone.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Process of Volcanism. Volcanism is explained as follows. Copy the point on Meaning: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Process on the left, then draw the diagram on the right: the life cycle of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Stages in the Life Cycle of a Volcano. A volcano passes through the following stages. Copy the point on Active volcano on the left, then draw the diagram on the right: mount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Dormant volcano on the left, then draw the diagram on the right: kilimanjaro.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Extinct volcano on the left, then draw the diagram on the right: volcanic necks at Rhumsiki.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Products of Volcanic Eruptions. An eruption releases the following products. Copy the point on Lava: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Pyroclasts on the left, then draw the diagram on the right: the products of an eruption.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Products of Volcanic Eruptions. Copy the point on Gases: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Cones. Different materials and eruptions build the following types of cones. Copy the point on Basic lava cones (shield volcanoes) on the left, then draw the diagram on the right: a shield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Copy the point on Acid lava cones (cumulo-domes):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Cones. Copy the point on Ash and cinder cones: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Composite cones (strato-volcanoes) on the left, then draw the diagram on the right: a composite cone.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Lava Plateaux and Volcanic Depressions. Volcanism also forms the following landforms. Copy the point on Lava plateaux on the left, then draw the diagram on the right: basalt columns.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Craters and crater lakes on the left, then draw the diagram on the right: a crater.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Lava Plateaux and Volcanic Depressions. Copy the point on Calderas: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Distinguish an active volcano from an extinct volcano with one example each.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an active volcano has erupted in recorded history (Mount Cameroon); an extinct one will not erupt again (Rhumsiki necks).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shield volcanoes wide and composite cones steep?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shield volcanoes are built by runny lava that flows far; composite cones are built by layers of lava and ash that pile up.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magma; number 2, dormant; number 3, caldera.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one benefit of volcanoes to man.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Volcanoes and Man.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VOLCANISM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jp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jp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jp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jp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Volcanism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Understanding and managing physical landscapes, geomorphological processes and hazards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Volcanism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Volcanism (vulcanicity), magma, lava, active, dormant and extinct volcanoes, pyroclasts, basic and acid lava, cone, crater, caldera, lava plateau.</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volcanism; the life cycle of volcanoes; products of eruptions; volcanic landforms (cones, lava plateaux, craters and calderas).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Landforms at Destructive and Conservative Margins):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magma from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molten rock below the surface; lava is molten rock that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volcanism, magma and lava.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active, dormant and extinct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products of an eruption.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formation of volcanic cones and other landforms.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Magma rises at weak zones of the crust.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Shield volcanoes have gentle slopes.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news says that Mount Cameroon shows signs of activity, with rumbling and smoke near its peak.</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Your uncle in Mokolo says: "Don't worry, the peak of Rhumsiki near here looks like a volcano, but it has been silent for millions of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 ask: "Why is one mountain active and the other a quiet rocky peak, and why do volcanoes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learner does not know the life cycle of volcanoes and the causes of their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process of molten rock reaching the surface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(vulcanicity).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Mount Cameroon active and Rhumsiki not?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 Cameroon erupted recently; Rhumsiki is the remains of an extinct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volcanic landforms and rocks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volcanic landforms of Cameroon and the risks of active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volcano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parts of a volcano.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magma and lava?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Magma is below the surface; lava has reached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did Mount Cameroon last erupt significantly?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1999–2000 (small activity in 2012).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mandara.jpg">    </p:cNvPr>
          <p:cNvPicPr>
            <a:picLocks noChangeAspect="1"/>
          </p:cNvPicPr>
          <p:nvPr/>
        </p:nvPicPr>
        <p:blipFill>
          <a:blip r:embed="rId1"/>
          <a:stretch>
            <a:fillRect/>
          </a:stretch>
        </p:blipFill>
        <p:spPr>
          <a:xfrm>
            <a:off x="274320" y="2383231"/>
            <a:ext cx="11643055" cy="3069946"/>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Volcanic necks near Rhumsiki.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peak of Rhumsiki called extinct?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LIFE CYCLE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not erupted for millions of years and will not erupt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pahoeho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Solidified runny lava.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lava flows far: basic or acid?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PRODUCTS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(runny, low in silica).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crate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volcanic crater.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crater and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LANDFORMS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crater is small (under 1 km); a caldera is a very large basin formed by collapse.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Crustal Processes and their Effect on the Land Surface and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Volcanicity</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Volcanism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Volcanicity: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set of processes by which molten rock, gases and other materials are forced from the interior of the Earth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Magma: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below the surface.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molten rock that has reached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hill or mountain built around a vent by the materials of eruptions.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of Volcanism</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Volcanism is explained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Meaning: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Volcanism is the movement of molten rock and gases from inside the Earth towards the surface. It includes eruptions at the surface (extrusive activity) and the cooling of magma inside the crust (intrusive activity).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Process of Volcanism</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Magma forms where rocks of the mantle or crust melt, at plate margins or hot spots, and it rises because it is lighter than the rocks around it. It collects in a magma chamber, and when the pressure of the gases is high enough, it forces its way up through a vent and erupts.</a:t>
            </a:r>
            <a:endParaRPr lang="en-US" sz="3200" dirty="0"/>
          </a:p>
        </p:txBody>
      </p:sp>
      <p:pic>
        <p:nvPicPr>
          <p:cNvPr id="5" name="Image 0" descr="/home/claude/f4/img/v2/geo2_volc_life.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life cycle of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A volcano passes through the following stages: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Active volcano: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An active volcano is erupting or has erupted in recorded history and shows signs of activity. Mount Cameroon, which erupted in 1999 and 2000, is the most active volcano of West Africa.</a:t>
            </a:r>
            <a:endParaRPr lang="en-US" sz="3200" dirty="0"/>
          </a:p>
        </p:txBody>
      </p:sp>
      <p:pic>
        <p:nvPicPr>
          <p:cNvPr id="5" name="Image 0" descr="/home/claude/f4/img/v2/lsa_mtcameroon.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Dormant volcano: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dormant volcano has not erupted for a long time but may erupt again, because magma is still present below it. Kilimanjaro and Mount Fuji are examples.</a:t>
            </a:r>
            <a:endParaRPr lang="en-US" sz="3600" dirty="0"/>
          </a:p>
        </p:txBody>
      </p:sp>
      <p:pic>
        <p:nvPicPr>
          <p:cNvPr id="5" name="Image 0" descr="/home/claude/f4/img/v2/f2t_kilimanjaro.jpg">    </p:cNvPr>
          <p:cNvPicPr>
            <a:picLocks noChangeAspect="1"/>
          </p:cNvPicPr>
          <p:nvPr/>
        </p:nvPicPr>
        <p:blipFill>
          <a:blip r:embed="rId1"/>
          <a:stretch>
            <a:fillRect/>
          </a:stretch>
        </p:blipFill>
        <p:spPr>
          <a:xfrm>
            <a:off x="6537960" y="2400897"/>
            <a:ext cx="5470855" cy="3034615"/>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Kilimanjaro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Stages in the Life Cycle of a Volcano</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400" b="1" dirty="0">
                <a:solidFill>
                  <a:srgbClr val="111111"/>
                </a:solidFill>
                <a:latin typeface="Times New Roman" pitchFamily="34" charset="0"/>
                <a:ea typeface="Times New Roman" pitchFamily="34" charset="-122"/>
                <a:cs typeface="Times New Roman" pitchFamily="34" charset="-120"/>
              </a:rPr>
              <a:t>Extinct volcano: </a:t>
            </a:r>
            <a:pPr algn="l" indent="0" marL="0">
              <a:spcAft>
                <a:spcPts val="800"/>
              </a:spcAft>
              <a:buNone/>
            </a:pPr>
            <a:r>
              <a:rPr lang="en-US" sz="3400" dirty="0">
                <a:solidFill>
                  <a:srgbClr val="111111"/>
                </a:solidFill>
                <a:latin typeface="Times New Roman" pitchFamily="34" charset="0"/>
                <a:ea typeface="Times New Roman" pitchFamily="34" charset="-122"/>
                <a:cs typeface="Times New Roman" pitchFamily="34" charset="-120"/>
              </a:rPr>
              <a:t>An extinct volcano has not erupted for thousands or millions of years and has no more magma supply. Erosion wears it down, leaving hard plugs such as the volcanic necks of Rhumsiki in the Mandara Mountains.</a:t>
            </a:r>
            <a:endParaRPr lang="en-US" sz="3400" dirty="0"/>
          </a:p>
        </p:txBody>
      </p:sp>
      <p:pic>
        <p:nvPicPr>
          <p:cNvPr id="5" name="Image 0" descr="/home/claude/f4/img/v2/lsa_mandara.jpg">    </p:cNvPr>
          <p:cNvPicPr>
            <a:picLocks noChangeAspect="1"/>
          </p:cNvPicPr>
          <p:nvPr/>
        </p:nvPicPr>
        <p:blipFill>
          <a:blip r:embed="rId1"/>
          <a:stretch>
            <a:fillRect/>
          </a:stretch>
        </p:blipFill>
        <p:spPr>
          <a:xfrm>
            <a:off x="6537960" y="3196949"/>
            <a:ext cx="5470855" cy="1442511"/>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volcanic necks at Rhumsiki</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An eruption releases the following products: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Basic lava is low in silica, very hot and runny, so it flows far before cooling into basalt. Acid lava is rich in silica, thick and sticky, so it cools quickly near the vent and blocks it, causing explosions.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4" name="Text 2"/>
          <p:cNvSpPr/>
          <p:nvPr/>
        </p:nvSpPr>
        <p:spPr>
          <a:xfrm>
            <a:off x="365760" y="1783080"/>
            <a:ext cx="603504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Pyroclasts: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Explosions throw out solid fragments of all sizes: fine ash, small stones called cinders or lapilli, and large blocks and bombs. The ash can be carried by winds over thousands of kilometres.</a:t>
            </a:r>
            <a:endParaRPr lang="en-US" sz="3600" dirty="0"/>
          </a:p>
        </p:txBody>
      </p:sp>
      <p:pic>
        <p:nvPicPr>
          <p:cNvPr id="5" name="Image 0" descr="/home/claude/f4/img/v2/geo2_products.png">    </p:cNvPr>
          <p:cNvPicPr>
            <a:picLocks noChangeAspect="1"/>
          </p:cNvPicPr>
          <p:nvPr/>
        </p:nvPicPr>
        <p:blipFill>
          <a:blip r:embed="rId1"/>
          <a:stretch>
            <a:fillRect/>
          </a:stretch>
        </p:blipFill>
        <p:spPr>
          <a:xfrm>
            <a:off x="6537960" y="2849678"/>
            <a:ext cx="5470855" cy="2137053"/>
          </a:xfrm>
          <a:prstGeom prst="rect">
            <a:avLst/>
          </a:prstGeom>
        </p:spPr>
      </p:pic>
      <p:sp>
        <p:nvSpPr>
          <p:cNvPr id="6" name="Text 3"/>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products of an eruption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Products of Volcanic Eruptions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Volcanic gases are mostly water vapour, with carbon dioxide, sulphur dioxide and hydrogen sulphide. Their pressure drives the eruption, and some are poisonous.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000" i="1" dirty="0">
                <a:solidFill>
                  <a:srgbClr val="111111"/>
                </a:solidFill>
                <a:latin typeface="Times New Roman" pitchFamily="34" charset="0"/>
                <a:ea typeface="Times New Roman" pitchFamily="34" charset="-122"/>
                <a:cs typeface="Times New Roman" pitchFamily="34" charset="-120"/>
              </a:rPr>
              <a:t>Different materials and eruptions build the following types of cones:</a:t>
            </a:r>
            <a:endParaRPr lang="en-US" sz="3000" dirty="0"/>
          </a:p>
          <a:p>
            <a:pPr algn="l" indent="0" marL="0">
              <a:spcAft>
                <a:spcPts val="800"/>
              </a:spcAft>
              <a:buNone/>
            </a:pPr>
            <a:r>
              <a:rPr lang="en-US" sz="3000" b="1" dirty="0">
                <a:solidFill>
                  <a:srgbClr val="111111"/>
                </a:solidFill>
                <a:latin typeface="Times New Roman" pitchFamily="34" charset="0"/>
                <a:ea typeface="Times New Roman" pitchFamily="34" charset="-122"/>
                <a:cs typeface="Times New Roman" pitchFamily="34" charset="-120"/>
              </a:rPr>
              <a:t>Basic lava cones (shield volcanoes): </a:t>
            </a:r>
            <a:pPr algn="l" indent="0" marL="0">
              <a:spcAft>
                <a:spcPts val="800"/>
              </a:spcAft>
              <a:buNone/>
            </a:pPr>
            <a:r>
              <a:rPr lang="en-US" sz="3000" dirty="0">
                <a:solidFill>
                  <a:srgbClr val="111111"/>
                </a:solidFill>
                <a:latin typeface="Times New Roman" pitchFamily="34" charset="0"/>
                <a:ea typeface="Times New Roman" pitchFamily="34" charset="-122"/>
                <a:cs typeface="Times New Roman" pitchFamily="34" charset="-120"/>
              </a:rPr>
              <a:t>Runny basic lava flows far before it solidifies, so it builds very wide volcanoes with gentle slopes. Mauna Loa in Hawaii is the largest example.</a:t>
            </a:r>
            <a:endParaRPr lang="en-US" sz="3000" dirty="0"/>
          </a:p>
        </p:txBody>
      </p:sp>
      <p:pic>
        <p:nvPicPr>
          <p:cNvPr id="6" name="Image 0" descr="/home/claude/f4/img/v2/lsa_shield.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shield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Acid lava cones (cumulo-domes):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Sticky acid lava cannot flow far and piles up around the vent. It forms small, steep-sided domes, like the domes of the Puy region in France.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Volcanic Cones</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and cinder cones: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Explosive eruptions throw out ash and cinders, which fall around the vent. They build small, steep cones with a crater at the top, like Paricutin in Mexico.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Volcanic Cones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Composite cones (strato-volcanoes):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Alternating eruptions of lava and pyroclasts build layers, and the lava binds the ash together. They form tall, steep, symmetrical cones, like Mount Cameroon (4,095 m) and Mount Fuji.</a:t>
            </a:r>
            <a:endParaRPr lang="en-US" sz="3200" dirty="0"/>
          </a:p>
        </p:txBody>
      </p:sp>
      <p:pic>
        <p:nvPicPr>
          <p:cNvPr id="6" name="Image 0" descr="/home/claude/f4/img/v2/lsa_mayon.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composite cone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Volcanism also forms the following landforms: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Lava plateaux: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Very runny basic lava erupts from long fissures, spreads in thin sheets and covers huge areas, layer upon layer. The Deccan Plateau of India and the Adamawa basalts in Cameroon were formed in this way.</a:t>
            </a:r>
            <a:endParaRPr lang="en-US" sz="2800" dirty="0"/>
          </a:p>
        </p:txBody>
      </p:sp>
      <p:pic>
        <p:nvPicPr>
          <p:cNvPr id="6" name="Image 0" descr="/home/claude/f4/img/v2/lsa_basalt.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basalt columns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Craters and crater lakes: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 crater is a bowl-shaped depression at the top of a vent, usually less than 1 km wide. Rainwater can fill it to form a crater lake, like Lake Nyos and Lake Barombi Mbo in Cameroon.</a:t>
            </a:r>
            <a:endParaRPr lang="en-US" sz="3200" dirty="0"/>
          </a:p>
        </p:txBody>
      </p:sp>
      <p:pic>
        <p:nvPicPr>
          <p:cNvPr id="6" name="Image 0" descr="/home/claude/f4/img/v2/f4_crater.jpg">    </p:cNvPr>
          <p:cNvPicPr>
            <a:picLocks noChangeAspect="1"/>
          </p:cNvPicPr>
          <p:nvPr/>
        </p:nvPicPr>
        <p:blipFill>
          <a:blip r:embed="rId1"/>
          <a:stretch>
            <a:fillRect/>
          </a:stretch>
        </p:blipFill>
        <p:spPr>
          <a:xfrm>
            <a:off x="6537960" y="2400897"/>
            <a:ext cx="5470855" cy="3034615"/>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crater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Volcanic Landforms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Lava Plateaux and Volcanic Depressions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Calderas: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caldera is a very large basin, several kilometres wide, formed when the top of a volcano collapses into its emptied magma chamber after a huge eruption. Crater Lake in the United States fills a caldera.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an active volcano from an extinct volcano with one example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active volcano has erupted in recorded history (Mount Cameroon); an extinct one will not erupt again (Rhumsiki necks).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shield volcanoes wide and composite cones steep?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Shield volcanoes are built by runny lava that flows far; composite cones are built by layers of lava and ash that pile up.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Molten rock below the surface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Kilimanjaro is a ______ volcano.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very large collapsed crater is a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benefit of volcanoes to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Volcanoes and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Lava</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lave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L'éruption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cratère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Extinct volcano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volcan éteint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Crustal Processes and their Effect on the Land Surface and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Volcanism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volcanism, magma and lava. Distinguish active, dormant and extinct volcanoes. Describe the products of an eruption. Explain the formation of volcanic cones and other landforms.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volcanoes and explain the landforms built by different volcanic materials, with Cameroonian examples.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6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Meaning and Process of Volcanism; Stages in the Life Cycle of a Volcano; Products of Volcanic Eruptions; Volcanic Cones; Lava Plateaux and Volcanic Depressions.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one benefit of volcanoes to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volcano with its vent.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list eruptions of Mount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peaks of Rhumsiki.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water and thick porridge.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a crater and a caldera.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Module 2 (Geomorphology).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Geomorphology (LSA),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“Rhumsiki peak, North Cameroon” by krishna.naudin, CC BY-SA 2.0, via Flickr (https://www.flickr.com/photos/141297921@N05/25989204581)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“Pahoehoe Lava Flow” by graysky., CC BY-NC-SA 2.0, via Flickr (https://www.flickr.com/photos/20021588@N00/540223861)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“Taal Lake and Volcano, Tagaytay, Philippines” by Ray in Manila, CC BY 2.0, via Flickr (https://www.flickr.com/photos/21186555@N07/28260012661)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(Dormant volcano): “Kilimanjaro” by ian 1602, CC BY-NC 2.0, via Flickr (https://www.flickr.com/photos/98181641@N00/2179855841)</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(Basic lava cones (shield volcanoes)): “Fire and Stars” by howardignatius, CC BY-NC-ND 2.0, via Flickr (https://www.flickr.com/photos/25659032@N07/39966052052)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(Composite cones (strato-volcanoes)): “Mayon Volcano, Albay, Luzon, Philippines” by Ray in Manila, CC BY 2.0, via Flickr (https://www.flickr.com/photos/21186555@N07/20591774278)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(Lava plateaux): “Snapshot, Daguoye Columnar Basalt, Penghu, Taiwan, 隨拍, 池東大菓葉玄武岩, 大菓葉柱狀” by bryan..., CC BY-SA 2.0, via Flickr (https://www.flickr.com/photos/91049143@N00/52316527525)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65</Slides>
  <Notes>65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65</vt:i4>
      </vt:variant>
    </vt:vector>
  </HeadingPairs>
  <TitlesOfParts>
    <vt:vector size="6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2026-10-06T05:43:53Z</dcterms:created>
  <dcterms:modified xsi:type="dcterms:W3CDTF">2026-10-06T05:43:53Z</dcterms:modified>
</cp:coreProperties>
</file>