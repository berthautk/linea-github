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Today we study Lesson 24: Nutrient Cycling in Contrasting Ecosystems.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situation slowly,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draw the three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describe the thin litter of the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discuss shifting cultivation.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find Ukraine and the Prairies.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find the taiga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Learners copy the board summary now. Give them enough time for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biomass 2. soil 3. litter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homework prepares the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English word; learners give the French word, then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01168"/>
          </a:xfrm>
          <a:prstGeom prst="rect">
            <a:avLst/>
          </a:prstGeom>
          <a:solidFill>
            <a:srgbClr val="990011"/>
          </a:solidFill>
          <a:ln w="12700">
            <a:solidFill>
              <a:srgbClr val="990011"/>
            </a:solidFill>
            <a:prstDash val="solid"/>
          </a:ln>
        </p:spPr>
      </p:sp>
      <p:sp>
        <p:nvSpPr>
          <p:cNvPr id="3" name="Shape 1"/>
          <p:cNvSpPr/>
          <p:nvPr/>
        </p:nvSpPr>
        <p:spPr>
          <a:xfrm>
            <a:off x="0" y="6656832"/>
            <a:ext cx="12191695" cy="201168"/>
          </a:xfrm>
          <a:prstGeom prst="rect">
            <a:avLst/>
          </a:prstGeom>
          <a:solidFill>
            <a:srgbClr val="1C3F6E"/>
          </a:solidFill>
          <a:ln w="12700">
            <a:solidFill>
              <a:srgbClr val="1C3F6E"/>
            </a:solidFill>
            <a:prstDash val="solid"/>
          </a:ln>
        </p:spPr>
      </p:sp>
      <p:pic>
        <p:nvPicPr>
          <p:cNvPr id="4" name="Image 0" descr="/home/claude/pw1/logo.png">    </p:cNvPr>
          <p:cNvPicPr>
            <a:picLocks noChangeAspect="1"/>
          </p:cNvPicPr>
          <p:nvPr/>
        </p:nvPicPr>
        <p:blipFill>
          <a:blip r:embed="rId1"/>
          <a:stretch>
            <a:fillRect/>
          </a:stretch>
        </p:blipFill>
        <p:spPr>
          <a:xfrm>
            <a:off x="5409590" y="457200"/>
            <a:ext cx="1371600" cy="1371600"/>
          </a:xfrm>
          <a:prstGeom prst="rect">
            <a:avLst/>
          </a:prstGeom>
        </p:spPr>
      </p:pic>
      <p:sp>
        <p:nvSpPr>
          <p:cNvPr id="5" name="Text 2"/>
          <p:cNvSpPr txBox="1"/>
          <p:nvPr/>
        </p:nvSpPr>
        <p:spPr>
          <a:xfrm>
            <a:off x="731520" y="1965960"/>
            <a:ext cx="10725912" cy="640080"/>
          </a:xfrm>
          <a:prstGeom prst="rect">
            <a:avLst/>
          </a:prstGeom>
          <a:noFill/>
          <a:ln/>
        </p:spPr>
        <p:txBody>
          <a:bodyPr wrap="square" lIns="0" tIns="0" rIns="0" bIns="0" rtlCol="0" anchor="ctr"/>
          <a:lstStyle/>
          <a:p>
            <a:pPr algn="ctr" indent="0" marL="0">
              <a:buNone/>
            </a:pPr>
            <a:r>
              <a:rPr lang="en-US" sz="2000" b="1" dirty="0">
                <a:solidFill>
                  <a:srgbClr val="1C3F6E"/>
                </a:solidFill>
                <a:latin typeface="Cambria" pitchFamily="34" charset="0"/>
                <a:ea typeface="Cambria" pitchFamily="34" charset="-122"/>
                <a:cs typeface="Cambria" pitchFamily="34" charset="-120"/>
              </a:rPr>
              <a:t>DIVINE GRACE COLLEGE OF ARTS, SCIENCE AND TECHNOLOGY</a:t>
            </a:r>
            <a:endParaRPr lang="en-US" sz="2000" dirty="0"/>
          </a:p>
        </p:txBody>
      </p:sp>
      <p:sp>
        <p:nvSpPr>
          <p:cNvPr id="6" name="Text 3"/>
          <p:cNvSpPr txBox="1"/>
          <p:nvPr/>
        </p:nvSpPr>
        <p:spPr>
          <a:xfrm>
            <a:off x="914400" y="2606040"/>
            <a:ext cx="10360152" cy="411480"/>
          </a:xfrm>
          <a:prstGeom prst="rect">
            <a:avLst/>
          </a:prstGeom>
          <a:noFill/>
          <a:ln/>
        </p:spPr>
        <p:txBody>
          <a:bodyPr wrap="square" lIns="0" tIns="0" rIns="0" bIns="0" rtlCol="0" anchor="ctr"/>
          <a:lstStyle/>
          <a:p>
            <a:pPr algn="ctr" indent="0" marL="0">
              <a:buNone/>
            </a:pPr>
            <a:r>
              <a:rPr lang="en-US" sz="1500" dirty="0">
                <a:solidFill>
                  <a:srgbClr val="1A1A1A"/>
                </a:solidFill>
                <a:latin typeface="Calibri" pitchFamily="34" charset="0"/>
                <a:ea typeface="Calibri" pitchFamily="34" charset="-122"/>
                <a:cs typeface="Calibri" pitchFamily="34" charset="-120"/>
              </a:rPr>
              <a:t>(DGCAST) — GAROUA   |   GEOGRAPHY DEPARTMENT</a:t>
            </a:r>
            <a:endParaRPr lang="en-US" sz="1500" dirty="0"/>
          </a:p>
        </p:txBody>
      </p:sp>
      <p:sp>
        <p:nvSpPr>
          <p:cNvPr id="7" name="Text 4"/>
          <p:cNvSpPr txBox="1"/>
          <p:nvPr/>
        </p:nvSpPr>
        <p:spPr>
          <a:xfrm>
            <a:off x="914400" y="3200400"/>
            <a:ext cx="10360152" cy="685800"/>
          </a:xfrm>
          <a:prstGeom prst="rect">
            <a:avLst/>
          </a:prstGeom>
          <a:noFill/>
          <a:ln/>
        </p:spPr>
        <p:txBody>
          <a:bodyPr wrap="square" lIns="0" tIns="0" rIns="0" bIns="0" rtlCol="0" anchor="ctr"/>
          <a:lstStyle/>
          <a:p>
            <a:pPr algn="ctr" indent="0" marL="0">
              <a:buNone/>
            </a:pPr>
            <a:r>
              <a:rPr lang="en-US" sz="3400" b="1" dirty="0">
                <a:solidFill>
                  <a:srgbClr val="990011"/>
                </a:solidFill>
                <a:latin typeface="Cambria" pitchFamily="34" charset="0"/>
                <a:ea typeface="Cambria" pitchFamily="34" charset="-122"/>
                <a:cs typeface="Cambria" pitchFamily="34" charset="-120"/>
              </a:rPr>
              <a:t>LOWER SIXTH ARTS  —  BIOGEOGRAPHY  —  LESSON 24</a:t>
            </a:r>
            <a:endParaRPr lang="en-US" sz="3400" dirty="0"/>
          </a:p>
        </p:txBody>
      </p:sp>
      <p:sp>
        <p:nvSpPr>
          <p:cNvPr id="8" name="Text 5"/>
          <p:cNvSpPr txBox="1"/>
          <p:nvPr/>
        </p:nvSpPr>
        <p:spPr>
          <a:xfrm>
            <a:off x="914400" y="3931920"/>
            <a:ext cx="10360152" cy="548640"/>
          </a:xfrm>
          <a:prstGeom prst="rect">
            <a:avLst/>
          </a:prstGeom>
          <a:noFill/>
          <a:ln/>
        </p:spPr>
        <p:txBody>
          <a:bodyPr wrap="square" lIns="0" tIns="0" rIns="0" bIns="0" rtlCol="0" anchor="ctr"/>
          <a:lstStyle/>
          <a:p>
            <a:pPr algn="ctr" indent="0" marL="0">
              <a:buNone/>
            </a:pPr>
            <a:r>
              <a:rPr lang="en-US" sz="2100" b="1" dirty="0">
                <a:solidFill>
                  <a:srgbClr val="B8860B"/>
                </a:solidFill>
                <a:latin typeface="Calibri" pitchFamily="34" charset="0"/>
                <a:ea typeface="Calibri" pitchFamily="34" charset="-122"/>
                <a:cs typeface="Calibri" pitchFamily="34" charset="-120"/>
              </a:rPr>
              <a:t>Nutrient Cycling in Contrasting Ecosystems</a:t>
            </a:r>
            <a:endParaRPr lang="en-US" sz="2100" dirty="0"/>
          </a:p>
        </p:txBody>
      </p:sp>
      <p:sp>
        <p:nvSpPr>
          <p:cNvPr id="9" name="Text 6"/>
          <p:cNvSpPr txBox="1"/>
          <p:nvPr/>
        </p:nvSpPr>
        <p:spPr>
          <a:xfrm>
            <a:off x="914400" y="5394960"/>
            <a:ext cx="10360152" cy="914400"/>
          </a:xfrm>
          <a:prstGeom prst="rect">
            <a:avLst/>
          </a:prstGeom>
          <a:noFill/>
          <a:ln/>
        </p:spPr>
        <p:txBody>
          <a:bodyPr wrap="square" lIns="0" tIns="0" rIns="0" bIns="0" rtlCol="0" anchor="ctr"/>
          <a:lstStyle/>
          <a:p>
            <a:pPr algn="ctr" indent="0" marL="0">
              <a:buNone/>
            </a:pPr>
            <a:r>
              <a:rPr lang="en-US" sz="1600" b="1" dirty="0">
                <a:solidFill>
                  <a:srgbClr val="1A1A1A"/>
                </a:solidFill>
                <a:latin typeface="Calibri" pitchFamily="34" charset="0"/>
                <a:ea typeface="Calibri" pitchFamily="34" charset="-122"/>
                <a:cs typeface="Calibri" pitchFamily="34" charset="-120"/>
              </a:rPr>
              <a:t>Mr KAMDEM EMMANUEL</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Geography Teacher — PLEG</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Academic Year 2026 / 2027</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CLASS INFO</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Class, Chapter &amp; Duration</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Class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Lower Sixth Arts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Chapter</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Duration</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2 periods (2 × 50 minutes)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IDENTIFICATION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Lesson Identification</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Ecological Systems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Sub-topic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The Functioning of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Lesson 24: Nutrient Cycling in Contrasting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Notions / Concepts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Selva, steppe, taiga, nutrient store, plantation, cereal farming.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Syllabus focus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Nutrient cycles of the selva and the man-made ecosystem replacing it; the steppe and its replacement; the taiga.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Learners are able to compare nutrient cycles of the selva, steppe and taiga and explain the effects of replacing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OBJECTIVES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Learning Objectives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200" b="1" dirty="0">
                <a:solidFill>
                  <a:srgbClr val="111111"/>
                </a:solidFill>
                <a:latin typeface="Calibri" pitchFamily="34" charset="0"/>
                <a:ea typeface="Calibri" pitchFamily="34" charset="-122"/>
                <a:cs typeface="Calibri" pitchFamily="34" charset="-120"/>
              </a:rPr>
              <a:t>By the end of the lesson, the learner should be able to:</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Describe the nutrient cycle of the selva and its plantation replacement.</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Describe the nutrient cycle of the steppe and its cereal replacement.</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Describe the nutrient cycle of the taiga.</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RECALL</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Recall</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The Gersmehl model has three stores.</a:t>
            </a:r>
            <a:endParaRPr lang="en-US" sz="2400" dirty="0"/>
          </a:p>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Heavy rain causes leaching.</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Real-Life Situation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forest is cleared for farms in southern Cameroon, crops grow well for two or three years and then fail. On the steppes of Ukraine, wheat has grown on the same black soils for a century.</a:t>
            </a:r>
            <a:endParaRPr lang="en-US" sz="4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Cleared rainforest soils lose fertility fast, but steppe soils stay fertile.</a:t>
            </a:r>
            <a:endParaRPr lang="en-US" sz="4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 nutrients in the rainforest?</a:t>
            </a:r>
            <a:endParaRPr lang="en-US" sz="4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Mostly in the biomass (trees).</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they in the steppe?</a:t>
            </a:r>
            <a:endParaRPr lang="en-US" sz="4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Mostly in the soil.</a:t>
            </a:r>
            <a:endParaRPr lang="en-US" sz="4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JUSTIFICATION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some ecosystems can be farmed for long and others cannot.</a:t>
            </a:r>
            <a:endParaRPr lang="en-US" sz="4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COMPARISON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13" name="Image 0" descr="/home/claude/f4/img/v2/gersmehl_compare_big.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Nutrient stores in three biomes.</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COMPARISON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biome is the biomass store largest? In which is the soil store largest?</a:t>
            </a:r>
            <a:endParaRPr lang="en-US" sz="4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COMPARISON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Biomass: selva. Soil: steppe.</a:t>
            </a:r>
            <a:endParaRPr lang="en-US" sz="4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THE SELVA</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13" name="Image 0" descr="/home/claude/f4/img/v2/f2t_rainforest.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The selva (tropical rainforest).</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THE SELVA</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litter store small in the selva?</a:t>
            </a:r>
            <a:endParaRPr lang="en-US" sz="4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THE SELVA</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Heat and humidity make decomposition very fast.</a:t>
            </a:r>
            <a:endParaRPr lang="en-US" sz="4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SELVA REPLACED</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13" name="Image 0" descr="/home/claude/f4/img/v2/lsa_oilpalm.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An oil palm plantation replacing forest.</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SELVA REPLACED</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nutrients when the selva is cleared?</a:t>
            </a:r>
            <a:endParaRPr lang="en-US" sz="4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SELVA REPLACED</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biomass store is removed and rain leaches the soil.</a:t>
            </a:r>
            <a:endParaRPr lang="en-US" sz="4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THE STEPPE REPLACED</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13" name="Image 0" descr="/home/claude/f4/img/v2/lsa_wheat.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Harvesting wheat on former grassland.</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THE STEPPE REPLACED</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could steppes be farmed for so long?</a:t>
            </a:r>
            <a:endParaRPr lang="en-US" sz="4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THE STEPPE REPLACED</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soils (chernozems) store many nutrients.</a:t>
            </a:r>
            <a:endParaRPr lang="en-US" sz="4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IV. THE TAIGA</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13" name="Image 0" descr="/home/claude/f4/img/v2/f2t_conifer.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The taiga (coniferous forest).</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IV. THE TAIGA</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litter store large in the taiga?</a:t>
            </a:r>
            <a:endParaRPr lang="en-US" sz="4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IV. THE TAIGA</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cold, so decomposition is slow.</a:t>
            </a:r>
            <a:endParaRPr lang="en-US" sz="4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Nutrient Cycling in Contrasting Ecosystems</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Ecological Systems (Ecosystems)</a:t>
            </a:r>
            <a:endParaRPr lang="en-US" sz="3200" dirty="0"/>
          </a:p>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Functioning of Ecosystems</a:t>
            </a:r>
            <a:endParaRPr lang="en-US" sz="3200" dirty="0"/>
          </a:p>
          <a:p>
            <a:pPr indent="0" marL="0">
              <a:lnSpc>
                <a:spcPct val="100000"/>
              </a:lnSpc>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24: Nutrient Cycling in Contrasting Ecosystems</a:t>
            </a:r>
            <a:endParaRPr lang="en-US" sz="3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 Definitions</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Selva: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the tropical rainforest.</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Steppe: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the temperate grassland of Eurasia.</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Taiga: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the coniferous forest of cold northern regions.</a:t>
            </a:r>
            <a:endParaRPr lang="en-US" sz="4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Selva and Steppe (1/2)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Selva: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Most nutrients are in the biomass, and the litter and soil stores are small. Recycling is fast because of heat and rain.</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Selva replaced: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Plantations and farms remove the biomass store. Leaching and erosion quickly make soils poor.</a:t>
            </a:r>
            <a:endParaRPr lang="en-US" sz="4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Selva and Steppe (2/2)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Steppe: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Most nutrients are in the deep, dark soil, and the biomass is small. Cereal farming can last long but needs fertiliser and erosion control.</a:t>
            </a:r>
            <a:endParaRPr lang="en-US" sz="4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The Taiga (1/3)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Stores: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The litter store is large because decomposition is slow in the cold. The soil is acid and poor.</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Flows: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Uptake and fallout are slow. Needles make acid humus that leads to podsols.</a:t>
            </a:r>
            <a:endParaRPr lang="en-US" sz="4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The Taiga (2/3)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Management: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Logging removes nutrients that return very slowly. Replanting and careful cutting are needed.</a:t>
            </a:r>
            <a:endParaRPr lang="en-US" sz="4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The Taiga (3/3)</a:t>
            </a:r>
            <a:endParaRPr lang="en-US" sz="3600" dirty="0"/>
          </a:p>
        </p:txBody>
      </p:sp>
      <p:pic>
        <p:nvPicPr>
          <p:cNvPr id="13" name="Image 0" descr="/home/claude/f4/img/v2/gersmehl_compare_big.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Copy the three models.</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most nutrients in the selva, the steppe and the taiga?</a:t>
            </a:r>
            <a:endParaRPr lang="en-US" sz="4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Selva: biomass. Steppe: soil. Taiga: litter.</a:t>
            </a:r>
            <a:endParaRPr lang="en-US" sz="4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cleared rainforest soils lose fertility quickly?</a:t>
            </a:r>
            <a:endParaRPr lang="en-US" sz="4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biomass store is removed and heavy rain leaches the soil.</a:t>
            </a:r>
            <a:endParaRPr lang="en-US" sz="4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REMEDIATION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Fill in the blanks:</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In the selva most nutrients are in the ______.</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In the steppe most nutrients are in the ______.</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In the taiga the ______ store is large.</a:t>
            </a:r>
            <a:endParaRPr lang="en-US" sz="36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HOMEWORK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Gersmehl models of the selva and the steppe and explain the differences.</a:t>
            </a:r>
            <a:endParaRPr lang="en-US" sz="4000" dirty="0"/>
          </a:p>
          <a:p>
            <a:pPr indent="0" marL="0">
              <a:lnSpc>
                <a:spcPct val="100000"/>
              </a:lnSpc>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This prepares Lesson 25: Nutrient Cycling and Ecosystem Management.</a:t>
            </a:r>
            <a:endParaRPr lang="en-US" sz="4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BILINGUAL GAME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Bilingual Game (Jeu Bilingue)</a:t>
            </a:r>
            <a:endParaRPr lang="en-US" sz="30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2011680" y="1783080"/>
          <a:ext cx="8138160" cy="914400"/>
        </p:xfrm>
        <a:graphic>
          <a:graphicData uri="http://schemas.openxmlformats.org/drawingml/2006/table">
            <a:tbl>
              <a:tblPr/>
              <a:tblGrid>
                <a:gridCol w="4069080"/>
                <a:gridCol w="4069080"/>
              </a:tblGrid>
              <a:tr h="0">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Français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Rainforest</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forêt dense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Steppe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steppe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Taiga</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taïga</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Plantation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plantation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Wheat</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blé</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Decomposition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décomposition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(1/2)</a:t>
            </a:r>
            <a:endParaRPr lang="en-US" sz="30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Module / Topic</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Ecological Systems (Ecosystems)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Lesson Title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Lesson 24: Nutrient Cycling in Contrasting Ecosystems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Expected Learning Outcomes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Describe the nutrient cycle of the selva and its plantation replacement. Describe the nutrient cycle of the steppe and its cereal replacement. Describe the nutrient cycle of the taiga.</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Competence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Learners are able to compare nutrient cycles of the selva, steppe and taiga and explain the effects of replacing them.</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(2/2)</a:t>
            </a:r>
            <a:endParaRPr lang="en-US" sz="30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Matter Taught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I. Definitions: Selva, Steppe, Taiga; II. Selva and Steppe: Selva, Selva replaced, Steppe; III. The Taiga: Stores, Flows, Management.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Evaluation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Formative evaluation (3 questions) and remediation exercise.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Homework</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Draw the Gersmehl models of the selva and the steppe and explain the differences.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Enrolment / Present / Absent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____ / ____ / ____</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Achievement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To be completed by the teacher after the lesson.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TEACHER'S NOTE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Teacher's Note</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000" dirty="0">
                <a:solidFill>
                  <a:srgbClr val="111111"/>
                </a:solidFill>
                <a:latin typeface="Calibri" pitchFamily="34" charset="0"/>
                <a:ea typeface="Calibri" pitchFamily="34" charset="-122"/>
                <a:cs typeface="Calibri" pitchFamily="34" charset="-120"/>
              </a:rPr>
              <a:t>Timing: Set-up, recall 8 min | Situation 8 min | 5 activities 30 min | Board summary (copying) 30 min | Evaluation, remediation 10 min | Homework, logbook 9 min | Spare 5 min</a:t>
            </a:r>
            <a:endParaRPr lang="en-US" sz="2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REFERENCES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References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National Geography Syllabus, Sixth Forms (Lower &amp; Upper Sixth), MINESEC/IGE/IP-SS, August 2019 — Module 3 (Biogeography).</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2: “Amazon 11” by CIAT International Center for Tropical Agriculture, CC BY-SA 2.0, via Flickr (https://www.flickr.com/photos/38476503@N08/5641587148)</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3: “Aerial view of oil palm plantation” by CIFOR, CC BY-NC-ND 2.0, via Flickr (https://www.flickr.com/photos/45423546@N07/38802487905)</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4: “John Deere Combine” by SnoShuu, CC BY-NC-ND 2.0, via Flickr (https://www.flickr.com/photos/85888233@N00/2776467094)</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5: “Battleship Lake” by `James Wheeler, CC BY-NC-SA 2.0, via Flickr (https://www.flickr.com/photos/24128704@N08/16587218945)</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Diagrams and animations: drawn for this lesson (DGCAST Geography Department).</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2026-09-27T04:25:26Z</dcterms:created>
  <dcterms:modified xsi:type="dcterms:W3CDTF">2026-09-27T04:25:26Z</dcterms:modified>
</cp:coreProperties>
</file>