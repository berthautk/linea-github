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slideMasters/slideMaster26.xml" ContentType="application/vnd.openxmlformats-officedocument.presentationml.slideMaster+xml"/>
  <Override PartName="/ppt/slides/slide26.xml" ContentType="application/vnd.openxmlformats-officedocument.presentationml.slide+xml"/>
  <Override PartName="/ppt/slideMasters/slideMaster27.xml" ContentType="application/vnd.openxmlformats-officedocument.presentationml.slideMaster+xml"/>
  <Override PartName="/ppt/slides/slide27.xml" ContentType="application/vnd.openxmlformats-officedocument.presentationml.slide+xml"/>
  <Override PartName="/ppt/slideMasters/slideMaster28.xml" ContentType="application/vnd.openxmlformats-officedocument.presentationml.slideMaster+xml"/>
  <Override PartName="/ppt/slides/slide28.xml" ContentType="application/vnd.openxmlformats-officedocument.presentationml.slide+xml"/>
  <Override PartName="/ppt/slideMasters/slideMaster29.xml" ContentType="application/vnd.openxmlformats-officedocument.presentationml.slideMaster+xml"/>
  <Override PartName="/ppt/slides/slide29.xml" ContentType="application/vnd.openxmlformats-officedocument.presentationml.slide+xml"/>
  <Override PartName="/ppt/slideMasters/slideMaster30.xml" ContentType="application/vnd.openxmlformats-officedocument.presentationml.slideMaster+xml"/>
  <Override PartName="/ppt/slides/slide30.xml" ContentType="application/vnd.openxmlformats-officedocument.presentationml.slide+xml"/>
  <Override PartName="/ppt/slideMasters/slideMaster31.xml" ContentType="application/vnd.openxmlformats-officedocument.presentationml.slideMaster+xml"/>
  <Override PartName="/ppt/slides/slide31.xml" ContentType="application/vnd.openxmlformats-officedocument.presentationml.slide+xml"/>
  <Override PartName="/ppt/slideMasters/slideMaster32.xml" ContentType="application/vnd.openxmlformats-officedocument.presentationml.slideMaster+xml"/>
  <Override PartName="/ppt/slides/slide32.xml" ContentType="application/vnd.openxmlformats-officedocument.presentationml.slide+xml"/>
  <Override PartName="/ppt/slideMasters/slideMaster33.xml" ContentType="application/vnd.openxmlformats-officedocument.presentationml.slideMaster+xml"/>
  <Override PartName="/ppt/slides/slide33.xml" ContentType="application/vnd.openxmlformats-officedocument.presentationml.slide+xml"/>
  <Override PartName="/ppt/slideMasters/slideMaster34.xml" ContentType="application/vnd.openxmlformats-officedocument.presentationml.slideMaster+xml"/>
  <Override PartName="/ppt/slides/slide34.xml" ContentType="application/vnd.openxmlformats-officedocument.presentationml.slide+xml"/>
  <Override PartName="/ppt/slideMasters/slideMaster35.xml" ContentType="application/vnd.openxmlformats-officedocument.presentationml.slideMaster+xml"/>
  <Override PartName="/ppt/slides/slide35.xml" ContentType="application/vnd.openxmlformats-officedocument.presentationml.slide+xml"/>
  <Override PartName="/ppt/slideMasters/slideMaster36.xml" ContentType="application/vnd.openxmlformats-officedocument.presentationml.slideMaster+xml"/>
  <Override PartName="/ppt/slides/slide36.xml" ContentType="application/vnd.openxmlformats-officedocument.presentationml.slide+xml"/>
  <Override PartName="/ppt/slideMasters/slideMaster37.xml" ContentType="application/vnd.openxmlformats-officedocument.presentationml.slideMaster+xml"/>
  <Override PartName="/ppt/slides/slide37.xml" ContentType="application/vnd.openxmlformats-officedocument.presentationml.slide+xml"/>
  <Override PartName="/ppt/slideMasters/slideMaster38.xml" ContentType="application/vnd.openxmlformats-officedocument.presentationml.slideMaster+xml"/>
  <Override PartName="/ppt/slides/slide38.xml" ContentType="application/vnd.openxmlformats-officedocument.presentationml.slide+xml"/>
  <Override PartName="/ppt/slideMasters/slideMaster39.xml" ContentType="application/vnd.openxmlformats-officedocument.presentationml.slideMaster+xml"/>
  <Override PartName="/ppt/slides/slide39.xml" ContentType="application/vnd.openxmlformats-officedocument.presentationml.slide+xml"/>
  <Override PartName="/ppt/slideMasters/slideMaster40.xml" ContentType="application/vnd.openxmlformats-officedocument.presentationml.slideMaster+xml"/>
  <Override PartName="/ppt/slides/slide40.xml" ContentType="application/vnd.openxmlformats-officedocument.presentationml.slide+xml"/>
  <Override PartName="/ppt/slideMasters/slideMaster41.xml" ContentType="application/vnd.openxmlformats-officedocument.presentationml.slideMaster+xml"/>
  <Override PartName="/ppt/slides/slide41.xml" ContentType="application/vnd.openxmlformats-officedocument.presentationml.slide+xml"/>
  <Override PartName="/ppt/slideMasters/slideMaster42.xml" ContentType="application/vnd.openxmlformats-officedocument.presentationml.slideMaster+xml"/>
  <Override PartName="/ppt/slides/slide42.xml" ContentType="application/vnd.openxmlformats-officedocument.presentationml.slide+xml"/>
  <Override PartName="/ppt/slideMasters/slideMaster43.xml" ContentType="application/vnd.openxmlformats-officedocument.presentationml.slideMaster+xml"/>
  <Override PartName="/ppt/slides/slide43.xml" ContentType="application/vnd.openxmlformats-officedocument.presentationml.slide+xml"/>
  <Override PartName="/ppt/slideMasters/slideMaster44.xml" ContentType="application/vnd.openxmlformats-officedocument.presentationml.slideMaster+xml"/>
  <Override PartName="/ppt/slides/slide44.xml" ContentType="application/vnd.openxmlformats-officedocument.presentationml.slide+xml"/>
  <Override PartName="/ppt/slideMasters/slideMaster45.xml" ContentType="application/vnd.openxmlformats-officedocument.presentationml.slideMaster+xml"/>
  <Override PartName="/ppt/slides/slide45.xml" ContentType="application/vnd.openxmlformats-officedocument.presentationml.slide+xml"/>
  <Override PartName="/ppt/slideMasters/slideMaster46.xml" ContentType="application/vnd.openxmlformats-officedocument.presentationml.slideMaster+xml"/>
  <Override PartName="/ppt/slides/slide46.xml" ContentType="application/vnd.openxmlformats-officedocument.presentationml.slide+xml"/>
  <Override PartName="/ppt/slideMasters/slideMaster47.xml" ContentType="application/vnd.openxmlformats-officedocument.presentationml.slideMaster+xml"/>
  <Override PartName="/ppt/slides/slide47.xml" ContentType="application/vnd.openxmlformats-officedocument.presentationml.slide+xml"/>
  <Override PartName="/ppt/slideMasters/slideMaster48.xml" ContentType="application/vnd.openxmlformats-officedocument.presentationml.slideMaster+xml"/>
  <Override PartName="/ppt/slides/slide48.xml" ContentType="application/vnd.openxmlformats-officedocument.presentationml.slide+xml"/>
  <Override PartName="/ppt/slideMasters/slideMaster49.xml" ContentType="application/vnd.openxmlformats-officedocument.presentationml.slideMaster+xml"/>
  <Override PartName="/ppt/slides/slide49.xml" ContentType="application/vnd.openxmlformats-officedocument.presentationml.slide+xml"/>
  <Override PartName="/ppt/slideMasters/slideMaster50.xml" ContentType="application/vnd.openxmlformats-officedocument.presentationml.slideMaster+xml"/>
  <Override PartName="/ppt/slides/slide50.xml" ContentType="application/vnd.openxmlformats-officedocument.presentationml.slide+xml"/>
  <Override PartName="/ppt/slideMasters/slideMaster51.xml" ContentType="application/vnd.openxmlformats-officedocument.presentationml.slideMaster+xml"/>
  <Override PartName="/ppt/slides/slide5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 id="292" r:id="rId38"/>
    <p:sldId id="293" r:id="rId39"/>
    <p:sldId id="294" r:id="rId40"/>
    <p:sldId id="295" r:id="rId41"/>
    <p:sldId id="296" r:id="rId42"/>
    <p:sldId id="297" r:id="rId43"/>
    <p:sldId id="298" r:id="rId44"/>
    <p:sldId id="299" r:id="rId45"/>
    <p:sldId id="300" r:id="rId46"/>
    <p:sldId id="301" r:id="rId47"/>
    <p:sldId id="302" r:id="rId48"/>
    <p:sldId id="303" r:id="rId49"/>
    <p:sldId id="304" r:id="rId50"/>
    <p:sldId id="305" r:id="rId51"/>
    <p:sldId id="306" r:id="rId52"/>
  </p:sldIdLst>
  <p:notesMasterIdLst>
    <p:notesMasterId r:id="rId53"/>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slide" Target="slides/slide31.xml"/><Relationship Id="rId33" Type="http://schemas.openxmlformats.org/officeDocument/2006/relationships/slide" Target="slides/slide32.xml"/><Relationship Id="rId34" Type="http://schemas.openxmlformats.org/officeDocument/2006/relationships/slide" Target="slides/slide33.xml"/><Relationship Id="rId35" Type="http://schemas.openxmlformats.org/officeDocument/2006/relationships/slide" Target="slides/slide34.xml"/><Relationship Id="rId36" Type="http://schemas.openxmlformats.org/officeDocument/2006/relationships/slide" Target="slides/slide35.xml"/><Relationship Id="rId37" Type="http://schemas.openxmlformats.org/officeDocument/2006/relationships/slide" Target="slides/slide36.xml"/><Relationship Id="rId38" Type="http://schemas.openxmlformats.org/officeDocument/2006/relationships/slide" Target="slides/slide37.xml"/><Relationship Id="rId39" Type="http://schemas.openxmlformats.org/officeDocument/2006/relationships/slide" Target="slides/slide38.xml"/><Relationship Id="rId40" Type="http://schemas.openxmlformats.org/officeDocument/2006/relationships/slide" Target="slides/slide39.xml"/><Relationship Id="rId41" Type="http://schemas.openxmlformats.org/officeDocument/2006/relationships/slide" Target="slides/slide40.xml"/><Relationship Id="rId42" Type="http://schemas.openxmlformats.org/officeDocument/2006/relationships/slide" Target="slides/slide41.xml"/><Relationship Id="rId43" Type="http://schemas.openxmlformats.org/officeDocument/2006/relationships/slide" Target="slides/slide42.xml"/><Relationship Id="rId44" Type="http://schemas.openxmlformats.org/officeDocument/2006/relationships/slide" Target="slides/slide43.xml"/><Relationship Id="rId45" Type="http://schemas.openxmlformats.org/officeDocument/2006/relationships/slide" Target="slides/slide44.xml"/><Relationship Id="rId46" Type="http://schemas.openxmlformats.org/officeDocument/2006/relationships/slide" Target="slides/slide45.xml"/><Relationship Id="rId47" Type="http://schemas.openxmlformats.org/officeDocument/2006/relationships/slide" Target="slides/slide46.xml"/><Relationship Id="rId48" Type="http://schemas.openxmlformats.org/officeDocument/2006/relationships/slide" Target="slides/slide47.xml"/><Relationship Id="rId49" Type="http://schemas.openxmlformats.org/officeDocument/2006/relationships/slide" Target="slides/slide48.xml"/><Relationship Id="rId50" Type="http://schemas.openxmlformats.org/officeDocument/2006/relationships/slide" Target="slides/slide49.xml"/><Relationship Id="rId51" Type="http://schemas.openxmlformats.org/officeDocument/2006/relationships/slide" Target="slides/slide50.xml"/><Relationship Id="rId52" Type="http://schemas.openxmlformats.org/officeDocument/2006/relationships/slide" Target="slides/slide51.xml"/><Relationship Id="rId53" Type="http://schemas.openxmlformats.org/officeDocument/2006/relationships/notesMaster" Target="notesMasters/notesMaster1.xml"/><Relationship Id="rId54" Type="http://schemas.openxmlformats.org/officeDocument/2006/relationships/presProps" Target="presProps.xml"/><Relationship Id="rId55" Type="http://schemas.openxmlformats.org/officeDocument/2006/relationships/viewProps" Target="viewProps.xml"/><Relationship Id="rId56" Type="http://schemas.openxmlformats.org/officeDocument/2006/relationships/theme" Target="theme/theme1.xml"/><Relationship Id="rId57"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_rels/notesSlide2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8.xml"/>
		</Relationships>
</file>

<file path=ppt/notesSlides/_rels/notesSlide2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9.xml"/>
		</Relationships>
</file>

<file path=ppt/notesSlides/_rels/notesSlide3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0.xml"/>
		</Relationships>
</file>

<file path=ppt/notesSlides/_rels/notesSlide3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1.xml"/>
		</Relationships>
</file>

<file path=ppt/notesSlides/_rels/notesSlide3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2.xml"/>
		</Relationships>
</file>

<file path=ppt/notesSlides/_rels/notesSlide3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3.xml"/>
		</Relationships>
</file>

<file path=ppt/notesSlides/_rels/notesSlide3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4.xml"/>
		</Relationships>
</file>

<file path=ppt/notesSlides/_rels/notesSlide3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5.xml"/>
		</Relationships>
</file>

<file path=ppt/notesSlides/_rels/notesSlide3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6.xml"/>
		</Relationships>
</file>

<file path=ppt/notesSlides/_rels/notesSlide3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7.xml"/>
		</Relationships>
</file>

<file path=ppt/notesSlides/_rels/notesSlide3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8.xml"/>
		</Relationships>
</file>

<file path=ppt/notesSlides/_rels/notesSlide3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9.xml"/>
		</Relationships>
</file>

<file path=ppt/notesSlides/_rels/notesSlide4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0.xml"/>
		</Relationships>
</file>

<file path=ppt/notesSlides/_rels/notesSlide4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1.xml"/>
		</Relationships>
</file>

<file path=ppt/notesSlides/_rels/notesSlide4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2.xml"/>
		</Relationships>
</file>

<file path=ppt/notesSlides/_rels/notesSlide4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3.xml"/>
		</Relationships>
</file>

<file path=ppt/notesSlides/_rels/notesSlide4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4.xml"/>
		</Relationships>
</file>

<file path=ppt/notesSlides/_rels/notesSlide4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5.xml"/>
		</Relationships>
</file>

<file path=ppt/notesSlides/_rels/notesSlide4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6.xml"/>
		</Relationships>
</file>

<file path=ppt/notesSlides/_rels/notesSlide4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7.xml"/>
		</Relationships>
</file>

<file path=ppt/notesSlides/_rels/notesSlide4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8.xml"/>
		</Relationships>
</file>

<file path=ppt/notesSlides/_rels/notesSlide4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9.xml"/>
		</Relationships>
</file>

<file path=ppt/notesSlides/_rels/notesSlide5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0.xml"/>
		</Relationships>
</file>

<file path=ppt/notesSlides/_rels/notesSlide5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1.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Good morning, class, and welcome to our geography lesson. I am your geography teacher, Mr Kamdem. Today we are starting Lesson 21: Energy Flows in Ecosystems.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lesson is for Lower Sixth Arts. It belongs to Module 3: Understanding and managing biogeographic zones across the world in general and Cameroon in particular. We shall need 2 periods to cover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Our topic is Ecological Systems (Ecosystems), and the sub-topic is The Functioning of Ecosystems. The key notions we shall use today are: energy flow, photosynthesis, respiration, first law of thermodynamics, second law of thermodynamics, 10 % rule. At the end, you should be able to do this: learners are able to explain how energy enters and flows through ecosystems using the two energy laws.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Before we start the new lesson, let us correct the homework I gave you at the end of Lesson 20: Interactions within Ecosystems. The question was: Give an example of an ecosystem in your area that has lost its balance and explain why. Take out your exercise books.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a good answer. Example: the savanna near town has been overgrazed and burnt; grass cover has disappeared, soil is eroded and wild animals have left, so the ecosystem has lost its balance. Compare it with your own answer and correct your work in red.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plan of our lesson today. First, we shall correct the homework. Then we shall look at the objectives and recall what you already know. After that, we shall study a situation from real life and the action to take, and do the learning activities. Finally, we shall copy the board summary, do the evaluation and the remediation, and I will give you the homework.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Take your time to copy this part; we will continue together.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By the end of this lesson, you should be able to do three things. Number 1: identify the source of energy in ecosystems. Number 2: explain the first and second laws of energy. Number 3: explain why energy decreases along a food chain.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first remember what you already know. Plants make food by photosynthesis. Animals eat plants or other animals. Keep this in mind, because we shall build on it today.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Listen carefully to this situation from real life. A herder feeds his cattle on grass. A learner calculates that the cattle use most of the energy in the grass to walk and keep warm, and very little becomes meat. Think about it, because I am going to ask you some questions.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Question 1: What is the problem in the situation? Think for a moment, then raise your hand to answer.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Good. Much energy is lost between grass and meat.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Question 2: Where does the energy go? Think for a moment, then raise your hand to answer.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Good. It is lost as heat through respiration and movement.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Question 3: Where does the energy of grass come from? Think for a moment, then raise your hand to answer.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Good. From the Sun.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From this situation, the action we are working towards in this lesson is the following: use energy flows to understand why food production is most efficient at low trophic levels.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Why is this lesson important for you? This lesson helps us to understand why energy flows in one direction and why food chains are short.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Activity 1. Look carefully at this picture: the Sun, source of all energy in ecosystems. Observe every detail before I ask the question.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question for Activity 1: How does solar energy enter the ecosystem? Take one minute to think and write your answer in your rough notebook.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check the answer together. Through photosynthesis by green plants.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Activity 2. Look carefully at this diagram: photosynthesis. Observe every detail before I ask the question.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question for Activity 2: Into what form is solar energy changed by plants? Take one minute to think and write your answer in your rough notebook.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check the answer together. Chemical energy stored in food (sugars).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Activity 3. Look carefully at this diagram: energy flow along a food chain. Observe every detail before I ask the question.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question for Activity 3: If grass has 10,000 units, how much reaches the lion? Take one minute to think and write your answer in your rough notebook.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check the answer together. About 100 units (10 % at each step).</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Activity 4. Look carefully at this picture: zebras grazing. Observe every detail before I ask the question.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question for Activity 4: Why does the zebra keep only a small part of the grass energy? Take one minute to think and write your answer in your rough notebook.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check the answer together. It loses most as heat when it moves and breathes (second law).</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Activity 5. Look carefully at this picture: a lioness stalking zebras. Observe every detail before I ask the question.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question for Activity 5: Why are there few lions and many zebras? Take one minute to think and write your answer in your rough notebook.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check the answer together. Little energy is left at the top of the chain.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we are going to copy the board summary. Write the title and the headings neatly in your notebooks. I will give you enough time for each slide, so do not rush.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copy Sources of Energy in the Ecosystem. Energy enters the ecosystem as follows. On this slide we have Solar energy. Write each point on a new line, with the key term first, and explain it in your own words when we revise. When you finish, we go to the next slide.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continue with Sources of Energy in the Ecosystem. On this slide we have Photosynthesis. Write each point on a new line, with the key term first, and explain it in your own words when we revise.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copy The Two Energy Laws. Energy flow obeys the two laws of thermodynamics. On this slide we have First law. Write each point on a new line, with the key term first, and explain it in your own words when we revise. When you finish, we go to the next slide.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continue with The Two Energy Laws. On this slide we have Second law and Consequence. Write each point on a new line, with the key term first, and explain it in your own words when we revise.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draw this illustration in your notebook: energy flow through trophic levels. Give it a title and label it clearly.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let us check what you have understood. Question 1: State the two energy laws. Answer in your exercise 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expected answer is: first: energy is not created or destroyed, only changed. Second: each change loses some energy as heat. If you got it right, well done.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let us check what you have understood. Question 2: Why are food chains short? Answer in your exercise 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expected answer is: about 90 % of energy is lost at each level. If you got it right, well done.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For those who need more practice, fill in the blanks in your exercise book. The answers are: number 1, Sun; number 2, photosynthesis; number 3, 10.</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For your homework: Calculate how much energy reaches a hawk if grass has 50,000 units in the chain grass → grasshopper → bird → hawk. We shall correct it at the beginning of our next lesson.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Our next lesson will be on Lesson 22: Trophic Levels, Food Chains and Food Webs. Thank you for your attention, and see you next time.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play the bilingual game. I say a word in English, and you give me the French word. Then we do the reverse.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 record this information in the official logbook of the class after the lesson.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 complete the second page of the logbook: the matter taught, the evaluation, the homework and the attendance.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slide is for me, the teacher: it gives the timing of the lesson and what to do if the projector is not available.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These are the references and picture credits used to prepare this lesson.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51</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image" Target="../media/image-1003-1.png"/><Relationship Id="rId2"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LESSON">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640080" cy="658368"/>
          </a:xfrm>
          <a:prstGeom prst="rect">
            <a:avLst/>
          </a:prstGeom>
          <a:solidFill>
            <a:srgbClr val="990011"/>
          </a:solidFill>
          <a:ln w="12700">
            <a:solidFill>
              <a:srgbClr val="990011"/>
            </a:solidFill>
            <a:prstDash val="solid"/>
          </a:ln>
        </p:spPr>
      </p:sp>
      <p:sp>
        <p:nvSpPr>
          <p:cNvPr id="3" name="Text 1"/>
          <p:cNvSpPr/>
          <p:nvPr/>
        </p:nvSpPr>
        <p:spPr>
          <a:xfrm>
            <a:off x="640080" y="0"/>
            <a:ext cx="4754880" cy="658368"/>
          </a:xfrm>
          <a:prstGeom prst="homePlate">
            <a:avLst/>
          </a:prstGeom>
          <a:solidFill>
            <a:srgbClr val="990011"/>
          </a:solidFill>
          <a:ln>
            <a:solidFill>
              <a:srgbClr val="990011"/>
            </a:solid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GEOGRAPHY / LOWER SIXTH ARTS</a:t>
            </a:r>
            <a:endParaRPr lang="en-US" sz="1800" dirty="0"/>
          </a:p>
        </p:txBody>
      </p:sp>
      <p:sp>
        <p:nvSpPr>
          <p:cNvPr id="4" name="Text 2"/>
          <p:cNvSpPr/>
          <p:nvPr/>
        </p:nvSpPr>
        <p:spPr>
          <a:xfrm>
            <a:off x="5212080" y="0"/>
            <a:ext cx="6979615" cy="658368"/>
          </a:xfrm>
          <a:prstGeom prst="chevron">
            <a:avLst/>
          </a:prstGeom>
          <a:solidFill>
            <a:srgbClr val="1C3F6E"/>
          </a:solidFill>
          <a:ln>
            <a:solidFill>
              <a:srgbClr val="1C3F6E"/>
            </a:solidFill>
          </a:ln>
        </p:spPr>
        <p:txBody>
          <a:bodyPr wrap="square" lIns="0" tIns="0" rIns="0" bIns="0"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LESSON 21: ENERGY FLOWS IN ECOSYSTEMS</a:t>
            </a:r>
            <a:endParaRPr lang="en-US" sz="1600" dirty="0"/>
          </a:p>
        </p:txBody>
      </p:sp>
      <p:sp>
        <p:nvSpPr>
          <p:cNvPr id="5" name="Shape 3"/>
          <p:cNvSpPr/>
          <p:nvPr/>
        </p:nvSpPr>
        <p:spPr>
          <a:xfrm>
            <a:off x="0" y="6492240"/>
            <a:ext cx="2743200" cy="365760"/>
          </a:xfrm>
          <a:prstGeom prst="rect">
            <a:avLst/>
          </a:prstGeom>
          <a:solidFill>
            <a:srgbClr val="1C3F6E"/>
          </a:solidFill>
          <a:ln w="12700">
            <a:solidFill>
              <a:srgbClr val="1C3F6E"/>
            </a:solidFill>
            <a:prstDash val="solid"/>
          </a:ln>
        </p:spPr>
      </p:sp>
      <p:sp>
        <p:nvSpPr>
          <p:cNvPr id="6" name="Text 4"/>
          <p:cNvSpPr/>
          <p:nvPr/>
        </p:nvSpPr>
        <p:spPr>
          <a:xfrm>
            <a:off x="137160" y="6492240"/>
            <a:ext cx="2560320" cy="365760"/>
          </a:xfrm>
          <a:prstGeom prst="rect">
            <a:avLst/>
          </a:prstGeom>
          <a:noFill/>
          <a:ln/>
        </p:spPr>
        <p:txBody>
          <a:bodyPr wrap="square" lIns="0" tIns="0" rIns="0" bIns="0" rtlCol="0" anchor="ctr"/>
          <a:lstStyle/>
          <a:p>
            <a:pPr indent="0" marL="0">
              <a:buNone/>
            </a:pPr>
            <a:r>
              <a:rPr lang="en-US" sz="1300" dirty="0">
                <a:solidFill>
                  <a:srgbClr val="FFFFFF"/>
                </a:solidFill>
                <a:latin typeface="Calibri" pitchFamily="34" charset="0"/>
                <a:ea typeface="Calibri" pitchFamily="34" charset="-122"/>
                <a:cs typeface="Calibri" pitchFamily="34" charset="-120"/>
              </a:rPr>
              <a:t>Date: 2026 / 2027</a:t>
            </a:r>
            <a:endParaRPr lang="en-US" sz="1300" dirty="0"/>
          </a:p>
        </p:txBody>
      </p:sp>
      <p:sp>
        <p:nvSpPr>
          <p:cNvPr id="7" name="Shape 5"/>
          <p:cNvSpPr/>
          <p:nvPr/>
        </p:nvSpPr>
        <p:spPr>
          <a:xfrm>
            <a:off x="2743200" y="6492240"/>
            <a:ext cx="6035040" cy="365760"/>
          </a:xfrm>
          <a:prstGeom prst="rect">
            <a:avLst/>
          </a:prstGeom>
          <a:solidFill>
            <a:srgbClr val="B8860B"/>
          </a:solidFill>
          <a:ln w="12700">
            <a:solidFill>
              <a:srgbClr val="B8860B"/>
            </a:solidFill>
            <a:prstDash val="solid"/>
          </a:ln>
        </p:spPr>
      </p:sp>
      <p:sp>
        <p:nvSpPr>
          <p:cNvPr id="8" name="Text 6"/>
          <p:cNvSpPr/>
          <p:nvPr/>
        </p:nvSpPr>
        <p:spPr>
          <a:xfrm>
            <a:off x="2834640" y="6492240"/>
            <a:ext cx="5852160" cy="36576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Copyright MINESEC  —  HOD – GBHS GAROUA</a:t>
            </a:r>
            <a:endParaRPr lang="en-US" sz="1300" dirty="0"/>
          </a:p>
        </p:txBody>
      </p:sp>
      <p:sp>
        <p:nvSpPr>
          <p:cNvPr id="9" name="Shape 7"/>
          <p:cNvSpPr/>
          <p:nvPr/>
        </p:nvSpPr>
        <p:spPr>
          <a:xfrm>
            <a:off x="8778240" y="6492240"/>
            <a:ext cx="3413455" cy="365760"/>
          </a:xfrm>
          <a:prstGeom prst="rect">
            <a:avLst/>
          </a:prstGeom>
          <a:solidFill>
            <a:srgbClr val="36454F"/>
          </a:solidFill>
          <a:ln w="12700">
            <a:solidFill>
              <a:srgbClr val="36454F"/>
            </a:solidFill>
            <a:prstDash val="solid"/>
          </a:ln>
        </p:spPr>
      </p:sp>
      <p:sp>
        <p:nvSpPr>
          <p:cNvPr id="10" name="Text 8"/>
          <p:cNvSpPr/>
          <p:nvPr/>
        </p:nvSpPr>
        <p:spPr>
          <a:xfrm>
            <a:off x="8869680" y="6492240"/>
            <a:ext cx="3200400" cy="365760"/>
          </a:xfrm>
          <a:prstGeom prst="rect">
            <a:avLst/>
          </a:prstGeom>
          <a:noFill/>
          <a:ln/>
        </p:spPr>
        <p:txBody>
          <a:bodyPr wrap="square" lIns="0" tIns="0" rIns="0" bIns="0" rtlCol="0" anchor="ctr"/>
          <a:lstStyle/>
          <a:p>
            <a:pPr algn="r" indent="0" marL="0">
              <a:buNone/>
            </a:pPr>
            <a:r>
              <a:rPr lang="en-US" sz="1300" dirty="0">
                <a:solidFill>
                  <a:srgbClr val="FFFFFF"/>
                </a:solidFill>
                <a:latin typeface="Calibri" pitchFamily="34" charset="0"/>
                <a:ea typeface="Calibri" pitchFamily="34" charset="-122"/>
                <a:cs typeface="Calibri" pitchFamily="34" charset="-120"/>
              </a:rPr>
              <a:t>Mr KAMDEM E.  —  Geography</a:t>
            </a:r>
            <a:endParaRPr lang="en-US" sz="13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1002</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COVER">
    <p:bg>
      <p:bgPr>
        <a:solidFill>
          <a:srgbClr val="FFFFFF"/>
        </a:solidFill>
      </p:bgPr>
    </p:bg>
    <p:spTree>
      <p:nvGrpSpPr>
        <p:cNvPr id="1" name=""/>
        <p:cNvGrpSpPr/>
        <p:nvPr/>
      </p:nvGrpSpPr>
      <p:grpSpPr>
        <a:xfrm>
          <a:off x="0" y="0"/>
          <a:ext cx="0" cy="0"/>
          <a:chOff x="0" y="0"/>
          <a:chExt cx="0" cy="0"/>
        </a:xfrm>
      </p:grpSpPr>
      <p:pic>
        <p:nvPicPr>
          <p:cNvPr id="2" name="Image 0" descr="/home/claude/f4/img/minesec_sheet.png">    </p:cNvPr>
          <p:cNvPicPr>
            <a:picLocks noChangeAspect="1"/>
          </p:cNvPicPr>
          <p:nvPr/>
        </p:nvPicPr>
        <p:blipFill>
          <a:blip r:embed="rId1"/>
          <a:stretch>
            <a:fillRect/>
          </a:stretch>
        </p:blipFill>
        <p:spPr>
          <a:xfrm>
            <a:off x="0" y="0"/>
            <a:ext cx="5888736" cy="6492240"/>
          </a:xfrm>
          <a:prstGeom prst="rect">
            <a:avLst/>
          </a:prstGeom>
        </p:spPr>
      </p:pic>
      <p:sp>
        <p:nvSpPr>
          <p:cNvPr id="3" name="Text 0"/>
          <p:cNvSpPr/>
          <p:nvPr/>
        </p:nvSpPr>
        <p:spPr>
          <a:xfrm>
            <a:off x="6126480" y="502920"/>
            <a:ext cx="5760720" cy="822960"/>
          </a:xfrm>
          <a:prstGeom prst="rect">
            <a:avLst/>
          </a:prstGeom>
          <a:noFill/>
          <a:ln/>
        </p:spPr>
        <p:txBody>
          <a:bodyPr wrap="square" lIns="0" tIns="0" rIns="0" bIns="0" rtlCol="0" anchor="ctr"/>
          <a:lstStyle/>
          <a:p>
            <a:pPr algn="ctr" indent="0" marL="0">
              <a:buNone/>
            </a:pPr>
            <a:r>
              <a:rPr lang="en-US" sz="4400" b="1" dirty="0">
                <a:solidFill>
                  <a:srgbClr val="1565C0"/>
                </a:solidFill>
                <a:latin typeface="Times New Roman" pitchFamily="34" charset="0"/>
                <a:ea typeface="Times New Roman" pitchFamily="34" charset="-122"/>
                <a:cs typeface="Times New Roman" pitchFamily="34" charset="-120"/>
              </a:rPr>
              <a:t>MINESEC</a:t>
            </a:r>
            <a:endParaRPr lang="en-US" sz="4400" dirty="0"/>
          </a:p>
        </p:txBody>
      </p:sp>
      <p:sp>
        <p:nvSpPr>
          <p:cNvPr id="4" name="Text 1"/>
          <p:cNvSpPr/>
          <p:nvPr/>
        </p:nvSpPr>
        <p:spPr>
          <a:xfrm>
            <a:off x="6126480" y="1325880"/>
            <a:ext cx="5760720" cy="457200"/>
          </a:xfrm>
          <a:prstGeom prst="rect">
            <a:avLst/>
          </a:prstGeom>
          <a:noFill/>
          <a:ln/>
        </p:spPr>
        <p:txBody>
          <a:bodyPr wrap="square" lIns="0" tIns="0" rIns="0" bIns="0" rtlCol="0" anchor="ctr"/>
          <a:lstStyle/>
          <a:p>
            <a:pPr algn="ctr" indent="0" marL="0">
              <a:buNone/>
            </a:pPr>
            <a:r>
              <a:rPr lang="en-US" sz="1800" b="1" dirty="0">
                <a:solidFill>
                  <a:srgbClr val="1C3F6E"/>
                </a:solidFill>
                <a:latin typeface="Calibri" pitchFamily="34" charset="0"/>
                <a:ea typeface="Calibri" pitchFamily="34" charset="-122"/>
                <a:cs typeface="Calibri" pitchFamily="34" charset="-120"/>
              </a:rPr>
              <a:t>GBHS GAROUA  —  GEOGRAPHY DEPARTMENT</a:t>
            </a:r>
            <a:endParaRPr lang="en-US" sz="1800" dirty="0"/>
          </a:p>
        </p:txBody>
      </p:sp>
      <p:sp>
        <p:nvSpPr>
          <p:cNvPr id="5" name="Text 2"/>
          <p:cNvSpPr/>
          <p:nvPr/>
        </p:nvSpPr>
        <p:spPr>
          <a:xfrm>
            <a:off x="6126480" y="5257800"/>
            <a:ext cx="5760720" cy="914400"/>
          </a:xfrm>
          <a:prstGeom prst="rect">
            <a:avLst/>
          </a:prstGeom>
          <a:noFill/>
          <a:ln/>
        </p:spPr>
        <p:txBody>
          <a:bodyPr wrap="square" lIns="0" tIns="0" rIns="0" bIns="0" rtlCol="0" anchor="ctr"/>
          <a:lstStyle/>
          <a:p>
            <a:pPr algn="ctr" indent="0" marL="0">
              <a:buNone/>
            </a:pPr>
            <a:r>
              <a:rPr lang="en-US" sz="2000" b="1" dirty="0">
                <a:solidFill>
                  <a:srgbClr val="111111"/>
                </a:solidFill>
                <a:latin typeface="Times New Roman" pitchFamily="34" charset="0"/>
                <a:ea typeface="Times New Roman" pitchFamily="34" charset="-122"/>
                <a:cs typeface="Times New Roman" pitchFamily="34" charset="-120"/>
              </a:rPr>
              <a:t>KAMDEM Emmanuel Berthaut</a:t>
            </a:r>
            <a:endParaRPr lang="en-US" sz="2000" dirty="0"/>
          </a:p>
          <a:p>
            <a:pPr algn="ctr" indent="0" marL="0">
              <a:buNone/>
            </a:pPr>
            <a:r>
              <a:rPr lang="en-US" sz="2000" b="1" dirty="0">
                <a:solidFill>
                  <a:srgbClr val="111111"/>
                </a:solidFill>
                <a:latin typeface="Times New Roman" pitchFamily="34" charset="0"/>
                <a:ea typeface="Times New Roman" pitchFamily="34" charset="-122"/>
                <a:cs typeface="Times New Roman" pitchFamily="34" charset="-120"/>
              </a:rPr>
              <a:t>Geography Teacher</a:t>
            </a:r>
            <a:endParaRPr lang="en-US" sz="2000" dirty="0"/>
          </a:p>
        </p:txBody>
      </p:sp>
      <p:sp>
        <p:nvSpPr>
          <p:cNvPr id="6" name="Shape 3"/>
          <p:cNvSpPr/>
          <p:nvPr/>
        </p:nvSpPr>
        <p:spPr>
          <a:xfrm>
            <a:off x="0" y="6492240"/>
            <a:ext cx="2743200" cy="365760"/>
          </a:xfrm>
          <a:prstGeom prst="rect">
            <a:avLst/>
          </a:prstGeom>
          <a:solidFill>
            <a:srgbClr val="1C3F6E"/>
          </a:solidFill>
          <a:ln w="12700">
            <a:solidFill>
              <a:srgbClr val="1C3F6E"/>
            </a:solidFill>
            <a:prstDash val="solid"/>
          </a:ln>
        </p:spPr>
      </p:sp>
      <p:sp>
        <p:nvSpPr>
          <p:cNvPr id="7" name="Text 4"/>
          <p:cNvSpPr/>
          <p:nvPr/>
        </p:nvSpPr>
        <p:spPr>
          <a:xfrm>
            <a:off x="137160" y="6492240"/>
            <a:ext cx="2560320" cy="365760"/>
          </a:xfrm>
          <a:prstGeom prst="rect">
            <a:avLst/>
          </a:prstGeom>
          <a:noFill/>
          <a:ln/>
        </p:spPr>
        <p:txBody>
          <a:bodyPr wrap="square" lIns="0" tIns="0" rIns="0" bIns="0" rtlCol="0" anchor="ctr"/>
          <a:lstStyle/>
          <a:p>
            <a:pPr indent="0" marL="0">
              <a:buNone/>
            </a:pPr>
            <a:r>
              <a:rPr lang="en-US" sz="1300" dirty="0">
                <a:solidFill>
                  <a:srgbClr val="FFFFFF"/>
                </a:solidFill>
                <a:latin typeface="Calibri" pitchFamily="34" charset="0"/>
                <a:ea typeface="Calibri" pitchFamily="34" charset="-122"/>
                <a:cs typeface="Calibri" pitchFamily="34" charset="-120"/>
              </a:rPr>
              <a:t>Date: 2026 / 2027</a:t>
            </a:r>
            <a:endParaRPr lang="en-US" sz="1300" dirty="0"/>
          </a:p>
        </p:txBody>
      </p:sp>
      <p:sp>
        <p:nvSpPr>
          <p:cNvPr id="8" name="Shape 5"/>
          <p:cNvSpPr/>
          <p:nvPr/>
        </p:nvSpPr>
        <p:spPr>
          <a:xfrm>
            <a:off x="2743200" y="6492240"/>
            <a:ext cx="6035040" cy="365760"/>
          </a:xfrm>
          <a:prstGeom prst="rect">
            <a:avLst/>
          </a:prstGeom>
          <a:solidFill>
            <a:srgbClr val="B8860B"/>
          </a:solidFill>
          <a:ln w="12700">
            <a:solidFill>
              <a:srgbClr val="B8860B"/>
            </a:solidFill>
            <a:prstDash val="solid"/>
          </a:ln>
        </p:spPr>
      </p:sp>
      <p:sp>
        <p:nvSpPr>
          <p:cNvPr id="9" name="Text 6"/>
          <p:cNvSpPr/>
          <p:nvPr/>
        </p:nvSpPr>
        <p:spPr>
          <a:xfrm>
            <a:off x="2834640" y="6492240"/>
            <a:ext cx="5852160" cy="36576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Copyright MINESEC  —  HOD – GBHS GAROUA</a:t>
            </a:r>
            <a:endParaRPr lang="en-US" sz="1300" dirty="0"/>
          </a:p>
        </p:txBody>
      </p:sp>
      <p:sp>
        <p:nvSpPr>
          <p:cNvPr id="10" name="Shape 7"/>
          <p:cNvSpPr/>
          <p:nvPr/>
        </p:nvSpPr>
        <p:spPr>
          <a:xfrm>
            <a:off x="8778240" y="6492240"/>
            <a:ext cx="3413455" cy="365760"/>
          </a:xfrm>
          <a:prstGeom prst="rect">
            <a:avLst/>
          </a:prstGeom>
          <a:solidFill>
            <a:srgbClr val="36454F"/>
          </a:solidFill>
          <a:ln w="12700">
            <a:solidFill>
              <a:srgbClr val="36454F"/>
            </a:solidFill>
            <a:prstDash val="solid"/>
          </a:ln>
        </p:spPr>
      </p:sp>
      <p:sp>
        <p:nvSpPr>
          <p:cNvPr id="11" name="Text 8"/>
          <p:cNvSpPr/>
          <p:nvPr/>
        </p:nvSpPr>
        <p:spPr>
          <a:xfrm>
            <a:off x="8869680" y="6492240"/>
            <a:ext cx="3200400" cy="365760"/>
          </a:xfrm>
          <a:prstGeom prst="rect">
            <a:avLst/>
          </a:prstGeom>
          <a:noFill/>
          <a:ln/>
        </p:spPr>
        <p:txBody>
          <a:bodyPr wrap="square" lIns="0" tIns="0" rIns="0" bIns="0" rtlCol="0" anchor="ctr"/>
          <a:lstStyle/>
          <a:p>
            <a:pPr algn="r" indent="0" marL="0">
              <a:buNone/>
            </a:pPr>
            <a:r>
              <a:rPr lang="en-US" sz="1300" dirty="0">
                <a:solidFill>
                  <a:srgbClr val="FFFFFF"/>
                </a:solidFill>
                <a:latin typeface="Calibri" pitchFamily="34" charset="0"/>
                <a:ea typeface="Calibri" pitchFamily="34" charset="-122"/>
                <a:cs typeface="Calibri" pitchFamily="34" charset="-120"/>
              </a:rPr>
              <a:t>Mr KAMDEM E.  —  Geography</a:t>
            </a:r>
            <a:endParaRPr lang="en-US" sz="1300" dirty="0"/>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slideLayout" Target="../slideLayouts/slideLayout2.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slideLayout" Target="../slideLayouts/slideLayout2.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slideLayout" Target="../slideLayouts/slideLayout2.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slideLayout" Target="../slideLayouts/slideLayout2.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slideLayout" Target="../slideLayouts/slideLayout2.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slideLayout" Target="../slideLayouts/slideLayout2.xm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slideLayout" Target="../slideLayouts/slideLayout2.xml"/><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slideLayout" Target="../slideLayouts/slideLayout2.xml"/><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slideLayout" Target="../slideLayouts/slideLayout2.xml"/><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png"/><Relationship Id="rId2" Type="http://schemas.openxmlformats.org/officeDocument/2006/relationships/slideLayout" Target="../slideLayouts/slideLayout2.xml"/><Relationship Id="rId3"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image-14-1.png"/><Relationship Id="rId2" Type="http://schemas.openxmlformats.org/officeDocument/2006/relationships/slideLayout" Target="../slideLayouts/slideLayout2.xml"/><Relationship Id="rId3"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image" Target="../media/image-15-1.png"/><Relationship Id="rId2" Type="http://schemas.openxmlformats.org/officeDocument/2006/relationships/slideLayout" Target="../slideLayouts/slideLayout2.xml"/><Relationship Id="rId3"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image" Target="../media/image-16-1.png"/><Relationship Id="rId2" Type="http://schemas.openxmlformats.org/officeDocument/2006/relationships/slideLayout" Target="../slideLayouts/slideLayout2.xml"/><Relationship Id="rId3"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image" Target="../media/image-17-1.png"/><Relationship Id="rId2" Type="http://schemas.openxmlformats.org/officeDocument/2006/relationships/slideLayout" Target="../slideLayouts/slideLayout2.xml"/><Relationship Id="rId3"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image" Target="../media/image-18-1.png"/><Relationship Id="rId2" Type="http://schemas.openxmlformats.org/officeDocument/2006/relationships/slideLayout" Target="../slideLayouts/slideLayout2.xml"/><Relationship Id="rId3"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image" Target="../media/image-19-1.jpg"/><Relationship Id="rId2" Type="http://schemas.openxmlformats.org/officeDocument/2006/relationships/slideLayout" Target="../slideLayouts/slideLayout2.xml"/><Relationship Id="rId3"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image" Target="../media/image-20-1.png"/><Relationship Id="rId2" Type="http://schemas.openxmlformats.org/officeDocument/2006/relationships/slideLayout" Target="../slideLayouts/slideLayout2.xml"/><Relationship Id="rId3"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image" Target="../media/image-21-1.png"/><Relationship Id="rId2" Type="http://schemas.openxmlformats.org/officeDocument/2006/relationships/slideLayout" Target="../slideLayouts/slideLayout2.xml"/><Relationship Id="rId3"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image" Target="../media/image-22-1.png"/><Relationship Id="rId2" Type="http://schemas.openxmlformats.org/officeDocument/2006/relationships/slideLayout" Target="../slideLayouts/slideLayout2.xml"/><Relationship Id="rId3"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image" Target="../media/image-23-1.png"/><Relationship Id="rId2" Type="http://schemas.openxmlformats.org/officeDocument/2006/relationships/slideLayout" Target="../slideLayouts/slideLayout2.xml"/><Relationship Id="rId3"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image" Target="../media/image-24-1.png"/><Relationship Id="rId2" Type="http://schemas.openxmlformats.org/officeDocument/2006/relationships/slideLayout" Target="../slideLayouts/slideLayout2.xml"/><Relationship Id="rId3"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image" Target="../media/image-25-1.png"/><Relationship Id="rId2" Type="http://schemas.openxmlformats.org/officeDocument/2006/relationships/slideLayout" Target="../slideLayouts/slideLayout2.xml"/><Relationship Id="rId3"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image" Target="../media/image-26-1.png"/><Relationship Id="rId2" Type="http://schemas.openxmlformats.org/officeDocument/2006/relationships/slideLayout" Target="../slideLayouts/slideLayout2.xml"/><Relationship Id="rId3"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image" Target="../media/image-27-1.png"/><Relationship Id="rId2" Type="http://schemas.openxmlformats.org/officeDocument/2006/relationships/slideLayout" Target="../slideLayouts/slideLayout2.xml"/><Relationship Id="rId3"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image" Target="../media/image-28-1.jpg"/><Relationship Id="rId2" Type="http://schemas.openxmlformats.org/officeDocument/2006/relationships/slideLayout" Target="../slideLayouts/slideLayout2.xml"/><Relationship Id="rId3"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image" Target="../media/image-29-1.png"/><Relationship Id="rId2" Type="http://schemas.openxmlformats.org/officeDocument/2006/relationships/slideLayout" Target="../slideLayouts/slideLayout2.xml"/><Relationship Id="rId3"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image" Target="../media/image-30-1.png"/><Relationship Id="rId2" Type="http://schemas.openxmlformats.org/officeDocument/2006/relationships/slideLayout" Target="../slideLayouts/slideLayout2.xml"/><Relationship Id="rId3"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image" Target="../media/image-31-1.jpg"/><Relationship Id="rId2" Type="http://schemas.openxmlformats.org/officeDocument/2006/relationships/slideLayout" Target="../slideLayouts/slideLayout2.xml"/><Relationship Id="rId3"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image" Target="../media/image-32-1.png"/><Relationship Id="rId2" Type="http://schemas.openxmlformats.org/officeDocument/2006/relationships/slideLayout" Target="../slideLayouts/slideLayout2.xml"/><Relationship Id="rId3"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image" Target="../media/image-33-1.png"/><Relationship Id="rId2" Type="http://schemas.openxmlformats.org/officeDocument/2006/relationships/slideLayout" Target="../slideLayouts/slideLayout2.xml"/><Relationship Id="rId3"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image" Target="../media/image-34-1.png"/><Relationship Id="rId2" Type="http://schemas.openxmlformats.org/officeDocument/2006/relationships/slideLayout" Target="../slideLayouts/slideLayout2.xml"/><Relationship Id="rId3"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image" Target="../media/image-35-1.png"/><Relationship Id="rId2" Type="http://schemas.openxmlformats.org/officeDocument/2006/relationships/slideLayout" Target="../slideLayouts/slideLayout2.xml"/><Relationship Id="rId3"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image" Target="../media/image-36-1.png"/><Relationship Id="rId2" Type="http://schemas.openxmlformats.org/officeDocument/2006/relationships/slideLayout" Target="../slideLayouts/slideLayout2.xml"/><Relationship Id="rId3"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image" Target="../media/image-37-1.png"/><Relationship Id="rId2" Type="http://schemas.openxmlformats.org/officeDocument/2006/relationships/slideLayout" Target="../slideLayouts/slideLayout2.xml"/><Relationship Id="rId3"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image" Target="../media/image-38-1.png"/><Relationship Id="rId2" Type="http://schemas.openxmlformats.org/officeDocument/2006/relationships/slideLayout" Target="../slideLayouts/slideLayout2.xml"/><Relationship Id="rId3"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image" Target="../media/image-39-1.png"/><Relationship Id="rId2" Type="http://schemas.openxmlformats.org/officeDocument/2006/relationships/slideLayout" Target="../slideLayouts/slideLayout2.xml"/><Relationship Id="rId3"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image" Target="../media/image-40-1.png"/><Relationship Id="rId2" Type="http://schemas.openxmlformats.org/officeDocument/2006/relationships/slideLayout" Target="../slideLayouts/slideLayout2.xml"/><Relationship Id="rId3"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Id1" Type="http://schemas.openxmlformats.org/officeDocument/2006/relationships/image" Target="../media/image-41-1.png"/><Relationship Id="rId2" Type="http://schemas.openxmlformats.org/officeDocument/2006/relationships/slideLayout" Target="../slideLayouts/slideLayout2.xml"/><Relationship Id="rId3" Type="http://schemas.openxmlformats.org/officeDocument/2006/relationships/notesSlide" Target="../notesSlides/notesSlide41.xml"/></Relationships>
</file>

<file path=ppt/slides/_rels/slide42.xml.rels><?xml version="1.0" encoding="UTF-8" standalone="yes"?>
<Relationships xmlns="http://schemas.openxmlformats.org/package/2006/relationships"><Relationship Id="rId1" Type="http://schemas.openxmlformats.org/officeDocument/2006/relationships/image" Target="../media/image-42-1.png"/><Relationship Id="rId2" Type="http://schemas.openxmlformats.org/officeDocument/2006/relationships/slideLayout" Target="../slideLayouts/slideLayout2.xml"/><Relationship Id="rId3" Type="http://schemas.openxmlformats.org/officeDocument/2006/relationships/notesSlide" Target="../notesSlides/notesSlide42.xml"/></Relationships>
</file>

<file path=ppt/slides/_rels/slide43.xml.rels><?xml version="1.0" encoding="UTF-8" standalone="yes"?>
<Relationships xmlns="http://schemas.openxmlformats.org/package/2006/relationships"><Relationship Id="rId1" Type="http://schemas.openxmlformats.org/officeDocument/2006/relationships/image" Target="../media/image-43-1.png"/><Relationship Id="rId2" Type="http://schemas.openxmlformats.org/officeDocument/2006/relationships/slideLayout" Target="../slideLayouts/slideLayout2.xml"/><Relationship Id="rId3" Type="http://schemas.openxmlformats.org/officeDocument/2006/relationships/notesSlide" Target="../notesSlides/notesSlide43.xml"/></Relationships>
</file>

<file path=ppt/slides/_rels/slide44.xml.rels><?xml version="1.0" encoding="UTF-8" standalone="yes"?>
<Relationships xmlns="http://schemas.openxmlformats.org/package/2006/relationships"><Relationship Id="rId1" Type="http://schemas.openxmlformats.org/officeDocument/2006/relationships/image" Target="../media/image-44-1.png"/><Relationship Id="rId2" Type="http://schemas.openxmlformats.org/officeDocument/2006/relationships/slideLayout" Target="../slideLayouts/slideLayout2.xml"/><Relationship Id="rId3" Type="http://schemas.openxmlformats.org/officeDocument/2006/relationships/notesSlide" Target="../notesSlides/notesSlide44.xml"/></Relationships>
</file>

<file path=ppt/slides/_rels/slide45.xml.rels><?xml version="1.0" encoding="UTF-8" standalone="yes"?>
<Relationships xmlns="http://schemas.openxmlformats.org/package/2006/relationships"><Relationship Id="rId1" Type="http://schemas.openxmlformats.org/officeDocument/2006/relationships/image" Target="../media/image-45-1.png"/><Relationship Id="rId2" Type="http://schemas.openxmlformats.org/officeDocument/2006/relationships/slideLayout" Target="../slideLayouts/slideLayout2.xml"/><Relationship Id="rId3" Type="http://schemas.openxmlformats.org/officeDocument/2006/relationships/notesSlide" Target="../notesSlides/notesSlide45.xml"/></Relationships>
</file>

<file path=ppt/slides/_rels/slide46.xml.rels><?xml version="1.0" encoding="UTF-8" standalone="yes"?>
<Relationships xmlns="http://schemas.openxmlformats.org/package/2006/relationships"><Relationship Id="rId1" Type="http://schemas.openxmlformats.org/officeDocument/2006/relationships/image" Target="../media/image-46-1.png"/><Relationship Id="rId2" Type="http://schemas.openxmlformats.org/officeDocument/2006/relationships/slideLayout" Target="../slideLayouts/slideLayout2.xml"/><Relationship Id="rId3" Type="http://schemas.openxmlformats.org/officeDocument/2006/relationships/notesSlide" Target="../notesSlides/notesSlide46.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7.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8.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9.xml"/></Relationships>
</file>

<file path=ppt/slides/_rels/slide50.xml.rels><?xml version="1.0" encoding="UTF-8" standalone="yes"?>
<Relationships xmlns="http://schemas.openxmlformats.org/package/2006/relationships"><Relationship Id="rId1" Type="http://schemas.openxmlformats.org/officeDocument/2006/relationships/image" Target="../media/image-50-1.png"/><Relationship Id="rId2" Type="http://schemas.openxmlformats.org/officeDocument/2006/relationships/slideLayout" Target="../slideLayouts/slideLayout2.xml"/><Relationship Id="rId3" Type="http://schemas.openxmlformats.org/officeDocument/2006/relationships/notesSlide" Target="../notesSlides/notesSlide50.xml"/></Relationships>
</file>

<file path=ppt/slides/_rels/slide51.xml.rels><?xml version="1.0" encoding="UTF-8" standalone="yes"?>
<Relationships xmlns="http://schemas.openxmlformats.org/package/2006/relationships"><Relationship Id="rId1" Type="http://schemas.openxmlformats.org/officeDocument/2006/relationships/image" Target="../media/image-51-1.png"/><Relationship Id="rId2" Type="http://schemas.openxmlformats.org/officeDocument/2006/relationships/slideLayout" Target="../slideLayouts/slideLayout2.xml"/><Relationship Id="rId3" Type="http://schemas.openxmlformats.org/officeDocument/2006/relationships/notesSlide" Target="../notesSlides/notesSlide51.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p:nvPr/>
        </p:nvSpPr>
        <p:spPr>
          <a:xfrm>
            <a:off x="6126480" y="1965960"/>
            <a:ext cx="5760720" cy="1005840"/>
          </a:xfrm>
          <a:prstGeom prst="rect">
            <a:avLst/>
          </a:prstGeom>
          <a:noFill/>
          <a:ln/>
        </p:spPr>
        <p:txBody>
          <a:bodyPr wrap="square" lIns="0" tIns="0" rIns="0" bIns="0" rtlCol="0" anchor="ctr"/>
          <a:lstStyle/>
          <a:p>
            <a:pPr algn="ctr" indent="0" marL="0">
              <a:buNone/>
            </a:pPr>
            <a:r>
              <a:rPr lang="en-US" sz="2600" b="1" dirty="0">
                <a:solidFill>
                  <a:srgbClr val="111111"/>
                </a:solidFill>
                <a:latin typeface="Times New Roman" pitchFamily="34" charset="0"/>
                <a:ea typeface="Times New Roman" pitchFamily="34" charset="-122"/>
                <a:cs typeface="Times New Roman" pitchFamily="34" charset="-120"/>
              </a:rPr>
              <a:t>LOWER SIXTH ARTS</a:t>
            </a:r>
            <a:endParaRPr lang="en-US" sz="2600" dirty="0"/>
          </a:p>
          <a:p>
            <a:pPr algn="ctr" indent="0" marL="0">
              <a:buNone/>
            </a:pPr>
            <a:r>
              <a:rPr lang="en-US" sz="2600" b="1" dirty="0">
                <a:solidFill>
                  <a:srgbClr val="111111"/>
                </a:solidFill>
                <a:latin typeface="Times New Roman" pitchFamily="34" charset="0"/>
                <a:ea typeface="Times New Roman" pitchFamily="34" charset="-122"/>
                <a:cs typeface="Times New Roman" pitchFamily="34" charset="-120"/>
              </a:rPr>
              <a:t>GEOGRAPHY</a:t>
            </a:r>
            <a:endParaRPr lang="en-US" sz="2600" dirty="0"/>
          </a:p>
        </p:txBody>
      </p:sp>
      <p:sp>
        <p:nvSpPr>
          <p:cNvPr id="3" name="Text 1"/>
          <p:cNvSpPr/>
          <p:nvPr/>
        </p:nvSpPr>
        <p:spPr>
          <a:xfrm>
            <a:off x="6126480" y="3063240"/>
            <a:ext cx="5760720" cy="2103120"/>
          </a:xfrm>
          <a:prstGeom prst="rect">
            <a:avLst/>
          </a:prstGeom>
          <a:noFill/>
          <a:ln/>
        </p:spPr>
        <p:txBody>
          <a:bodyPr wrap="square" lIns="0" tIns="0" rIns="0" bIns="0" rtlCol="0" anchor="ctr">
            <a:normAutofit/>
          </a:bodyPr>
          <a:lstStyle/>
          <a:p>
            <a:pPr algn="ctr" indent="0" marL="0">
              <a:buNone/>
            </a:pPr>
            <a:r>
              <a:rPr lang="en-US" sz="2600" b="1" dirty="0">
                <a:solidFill>
                  <a:srgbClr val="111111"/>
                </a:solidFill>
                <a:latin typeface="Times New Roman" pitchFamily="34" charset="0"/>
                <a:ea typeface="Times New Roman" pitchFamily="34" charset="-122"/>
                <a:cs typeface="Times New Roman" pitchFamily="34" charset="-120"/>
              </a:rPr>
              <a:t>Lesson 21</a:t>
            </a:r>
            <a:endParaRPr lang="en-US" sz="2600" dirty="0"/>
          </a:p>
          <a:p>
            <a:pPr algn="ctr" indent="0" marL="0">
              <a:buNone/>
            </a:pPr>
            <a:r>
              <a:rPr lang="en-US" sz="3200" b="1" dirty="0">
                <a:solidFill>
                  <a:srgbClr val="990011"/>
                </a:solidFill>
                <a:latin typeface="Times New Roman" pitchFamily="34" charset="0"/>
                <a:ea typeface="Times New Roman" pitchFamily="34" charset="-122"/>
                <a:cs typeface="Times New Roman" pitchFamily="34" charset="-120"/>
              </a:rPr>
              <a:t>Energy Flows in Ecosystems</a:t>
            </a:r>
            <a:endParaRPr lang="en-US" sz="26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CLASS INFO</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Class, Chapter and Duration</a:t>
            </a:r>
            <a:endParaRPr lang="en-US" sz="3600" dirty="0"/>
          </a:p>
        </p:txBody>
      </p:sp>
      <p:graphicFrame>
        <p:nvGraphicFramePr>
          <p:cNvPr id="3" name="Table 0"/>
          <p:cNvGraphicFramePr>
            <a:graphicFrameLocks noGrp="1"/>
          </p:cNvGraphicFramePr>
          <p:nvPr>
            <p:extLst>
              <p:ext uri="{D42A27DB-BD31-4B8C-83A1-F6EECF244321}">
                <p14:modId xmlns:p14="http://schemas.microsoft.com/office/powerpoint/2010/main" val="1579011935"/>
              </p:ext>
            </p:extLst>
          </p:nvPr>
        </p:nvGraphicFramePr>
        <p:xfrm>
          <a:off x="458572" y="1783080"/>
          <a:ext cx="11274552" cy="914400"/>
        </p:xfrm>
        <a:graphic>
          <a:graphicData uri="http://schemas.openxmlformats.org/drawingml/2006/table">
            <a:tbl>
              <a:tblPr/>
              <a:tblGrid>
                <a:gridCol w="2377440"/>
                <a:gridCol w="8897112"/>
              </a:tblGrid>
              <a:tr h="0">
                <a:tc>
                  <a:txBody>
                    <a:bodyPr/>
                    <a:lstStyle/>
                    <a:p>
                      <a:pPr algn="l" indent="0" marL="0">
                        <a:buNone/>
                      </a:pPr>
                      <a:r>
                        <a:rPr lang="en-US" sz="2200" b="1" dirty="0">
                          <a:solidFill>
                            <a:srgbClr val="FFFFFF"/>
                          </a:solidFill>
                          <a:latin typeface="Calibri" pitchFamily="34" charset="0"/>
                          <a:ea typeface="Calibri" pitchFamily="34" charset="-122"/>
                          <a:cs typeface="Calibri" pitchFamily="34" charset="-120"/>
                        </a:rPr>
                        <a:t>Class</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2200" dirty="0">
                          <a:solidFill>
                            <a:srgbClr val="111111"/>
                          </a:solidFill>
                          <a:latin typeface="Calibri" pitchFamily="34" charset="0"/>
                          <a:ea typeface="Calibri" pitchFamily="34" charset="-122"/>
                          <a:cs typeface="Calibri" pitchFamily="34" charset="-120"/>
                        </a:rPr>
                        <a:t>Lower Sixth Arts</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2200" b="1" dirty="0">
                          <a:solidFill>
                            <a:srgbClr val="FFFFFF"/>
                          </a:solidFill>
                          <a:latin typeface="Calibri" pitchFamily="34" charset="0"/>
                          <a:ea typeface="Calibri" pitchFamily="34" charset="-122"/>
                          <a:cs typeface="Calibri" pitchFamily="34" charset="-120"/>
                        </a:rPr>
                        <a:t>Chapter</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2200" dirty="0">
                          <a:solidFill>
                            <a:srgbClr val="111111"/>
                          </a:solidFill>
                          <a:latin typeface="Calibri" pitchFamily="34" charset="0"/>
                          <a:ea typeface="Calibri" pitchFamily="34" charset="-122"/>
                          <a:cs typeface="Calibri" pitchFamily="34" charset="-120"/>
                        </a:rPr>
                        <a:t>Module 3: Understanding and managing biogeographic zones across the world in general and Cameroon in particular</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2200" b="1" dirty="0">
                          <a:solidFill>
                            <a:srgbClr val="FFFFFF"/>
                          </a:solidFill>
                          <a:latin typeface="Calibri" pitchFamily="34" charset="0"/>
                          <a:ea typeface="Calibri" pitchFamily="34" charset="-122"/>
                          <a:cs typeface="Calibri" pitchFamily="34" charset="-120"/>
                        </a:rPr>
                        <a:t>Duration</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2200" dirty="0">
                          <a:solidFill>
                            <a:srgbClr val="111111"/>
                          </a:solidFill>
                          <a:latin typeface="Calibri" pitchFamily="34" charset="0"/>
                          <a:ea typeface="Calibri" pitchFamily="34" charset="-122"/>
                          <a:cs typeface="Calibri" pitchFamily="34" charset="-120"/>
                        </a:rPr>
                        <a:t>2 periods (2 × 50 minutes)</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bl>
          </a:graphicData>
        </a:graphic>
      </p:graphicFrame>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IDENTIFICATION</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Lesson Identification</a:t>
            </a:r>
            <a:endParaRPr lang="en-US" sz="3600" dirty="0"/>
          </a:p>
        </p:txBody>
      </p:sp>
      <p:graphicFrame>
        <p:nvGraphicFramePr>
          <p:cNvPr id="4" name="Table 0"/>
          <p:cNvGraphicFramePr>
            <a:graphicFrameLocks noGrp="1"/>
          </p:cNvGraphicFramePr>
          <p:nvPr>
            <p:extLst>
              <p:ext uri="{D42A27DB-BD31-4B8C-83A1-F6EECF244321}">
                <p14:modId xmlns:p14="http://schemas.microsoft.com/office/powerpoint/2010/main" val="1579011935"/>
              </p:ext>
            </p:extLst>
          </p:nvPr>
        </p:nvGraphicFramePr>
        <p:xfrm>
          <a:off x="458572" y="1783080"/>
          <a:ext cx="11274552" cy="914400"/>
        </p:xfrm>
        <a:graphic>
          <a:graphicData uri="http://schemas.openxmlformats.org/drawingml/2006/table">
            <a:tbl>
              <a:tblPr/>
              <a:tblGrid>
                <a:gridCol w="2377440"/>
                <a:gridCol w="8897112"/>
              </a:tblGrid>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Topic</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Ecological Systems (Ecosystems)</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Sub-topic</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The Functioning of Ecosystems</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Lesson</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Lesson 21: Energy Flows in Ecosystems</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Notions / Concepts</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Energy flow, photosynthesis, respiration, first law of thermodynamics, second law of thermodynamics, 10 % rule.</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Syllabus focus</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Sources of energy in the ecosystem; the two energy laws analysed.</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Competence</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Learners are able to explain how energy enters and flows through ecosystems using the two energy laws.</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bl>
          </a:graphicData>
        </a:graphic>
      </p:graphicFrame>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HOMEWORK CORRECTION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Correction of the Homework</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b="1" dirty="0">
                <a:solidFill>
                  <a:srgbClr val="1C3F6E"/>
                </a:solidFill>
                <a:latin typeface="Times New Roman" pitchFamily="34" charset="0"/>
                <a:ea typeface="Times New Roman" pitchFamily="34" charset="-122"/>
                <a:cs typeface="Times New Roman" pitchFamily="34" charset="-120"/>
              </a:rPr>
              <a:t>Question (Lesson 20: Interactions within Ecosystems):</a:t>
            </a:r>
            <a:endParaRPr lang="en-US" sz="4000" dirty="0"/>
          </a:p>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Give an example of an ecosystem in your area that has lost its balance and explain why.</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HOMEWORK CORRECTION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Correction: Possible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Example: the savanna near town has been overgrazed and burnt; grass cover has disappeared, soil is eroded and wild animals have left, so the ecosystem has lost its balance.</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LESSON PLAN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2468880" cy="5833872"/>
          </a:xfrm>
          <a:prstGeom prst="rect">
            <a:avLst/>
          </a:prstGeom>
        </p:spPr>
      </p:pic>
      <p:sp>
        <p:nvSpPr>
          <p:cNvPr id="4" name="Text 1"/>
          <p:cNvSpPr/>
          <p:nvPr/>
        </p:nvSpPr>
        <p:spPr>
          <a:xfrm>
            <a:off x="2697480" y="1005840"/>
            <a:ext cx="91741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Lesson Plan</a:t>
            </a:r>
            <a:endParaRPr lang="en-US" sz="3600" dirty="0"/>
          </a:p>
        </p:txBody>
      </p:sp>
      <p:sp>
        <p:nvSpPr>
          <p:cNvPr id="5" name="Text 2"/>
          <p:cNvSpPr/>
          <p:nvPr/>
        </p:nvSpPr>
        <p:spPr>
          <a:xfrm>
            <a:off x="2697480" y="1783080"/>
            <a:ext cx="9174175" cy="4663440"/>
          </a:xfrm>
          <a:prstGeom prst="rect">
            <a:avLst/>
          </a:prstGeom>
          <a:noFill/>
          <a:ln/>
        </p:spPr>
        <p:txBody>
          <a:bodyPr wrap="square" lIns="0" tIns="0" rIns="0" bIns="0" rtlCol="0" anchor="t"/>
          <a:lstStyle/>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Correction of the homework</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Objectives and recall</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Real-life situation and action to take</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Learning activities</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Board summary</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Evaluation, remediation and homework</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OBJECTIVES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Objectives</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By the end of this lesson, you should be able to:</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Identify the source of energy in ecosystems.</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Explain the first and second laws of energy.</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OBJECTIVES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Objectives (continued)</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Explain why energy decreases along a food chain.</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PREVIOUS KNOWLEDGE</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Previous Knowledge</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marL="342900" indent="-342900">
              <a:spcAft>
                <a:spcPts val="800"/>
              </a:spcAft>
              <a:buSzPct val="100000"/>
              <a:buChar char="•"/>
            </a:pPr>
            <a:r>
              <a:rPr lang="en-US" sz="4000" dirty="0">
                <a:solidFill>
                  <a:srgbClr val="111111"/>
                </a:solidFill>
                <a:latin typeface="Times New Roman" pitchFamily="34" charset="0"/>
                <a:ea typeface="Times New Roman" pitchFamily="34" charset="-122"/>
                <a:cs typeface="Times New Roman" pitchFamily="34" charset="-120"/>
              </a:rPr>
              <a:t>Plants make food by photosynthesis.</a:t>
            </a:r>
            <a:endParaRPr lang="en-US" sz="4000" dirty="0"/>
          </a:p>
          <a:p>
            <a:pPr algn="l" marL="342900" indent="-342900">
              <a:spcAft>
                <a:spcPts val="800"/>
              </a:spcAft>
              <a:buSzPct val="100000"/>
              <a:buChar char="•"/>
            </a:pPr>
            <a:r>
              <a:rPr lang="en-US" sz="4000" dirty="0">
                <a:solidFill>
                  <a:srgbClr val="111111"/>
                </a:solidFill>
                <a:latin typeface="Times New Roman" pitchFamily="34" charset="0"/>
                <a:ea typeface="Times New Roman" pitchFamily="34" charset="-122"/>
                <a:cs typeface="Times New Roman" pitchFamily="34" charset="-120"/>
              </a:rPr>
              <a:t>Animals eat plants or other animals.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Situation in Real Life</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A herder feeds his cattle on grass. A learner calculates that the cattle use most of the energy in the grass to walk and keep warm, and very little becomes meat.</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Situation: Question 1</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What is the problem in the situation?</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Much energy is lost between grass and meat.</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Situation: Question 2</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Where does the energy go?</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13</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It is lost as heat through respiration and movement.</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14</a:t>
            </a:fld>
            <a:endParaRPr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Situation: Question 3</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Where does the energy of grass come from?</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15</a:t>
            </a:fld>
            <a:endParaRPr lang="en-US"/>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Possible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From the Sun.</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16</a:t>
            </a:fld>
            <a:endParaRPr lang="en-US"/>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ACTION TO TAKE</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Action to Take</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Use energy flows to understand why food production is most efficient at low trophic levels.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17</a:t>
            </a:fld>
            <a:endParaRPr lang="en-US"/>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JUSTIFICATION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Justification of the Lesson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This lesson helps us to understand why energy flows in one direction and why food chains are short.</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18</a:t>
            </a:fld>
            <a:endParaRPr lang="en-US"/>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1. SOURCES OF ENERGY</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1</a:t>
            </a:r>
            <a:endParaRPr lang="en-US" sz="3600" dirty="0"/>
          </a:p>
        </p:txBody>
      </p:sp>
      <p:pic>
        <p:nvPicPr>
          <p:cNvPr id="4" name="Image 0" descr="/home/claude/f4/img/v2/lsa_sun.jpg">    </p:cNvPr>
          <p:cNvPicPr>
            <a:picLocks noChangeAspect="1"/>
          </p:cNvPicPr>
          <p:nvPr/>
        </p:nvPicPr>
        <p:blipFill>
          <a:blip r:embed="rId1"/>
          <a:stretch>
            <a:fillRect/>
          </a:stretch>
        </p:blipFill>
        <p:spPr>
          <a:xfrm>
            <a:off x="2246610" y="1783080"/>
            <a:ext cx="7698475" cy="4270248"/>
          </a:xfrm>
          <a:prstGeom prst="rect">
            <a:avLst/>
          </a:prstGeom>
        </p:spPr>
      </p:pic>
      <p:sp>
        <p:nvSpPr>
          <p:cNvPr id="5" name="Text 2"/>
          <p:cNvSpPr/>
          <p:nvPr/>
        </p:nvSpPr>
        <p:spPr>
          <a:xfrm>
            <a:off x="457200" y="6089904"/>
            <a:ext cx="11277295" cy="347472"/>
          </a:xfrm>
          <a:prstGeom prst="rect">
            <a:avLst/>
          </a:prstGeom>
          <a:noFill/>
          <a:ln/>
        </p:spPr>
        <p:txBody>
          <a:bodyPr wrap="square" lIns="0" tIns="0" rIns="0" bIns="0" rtlCol="0" anchor="ctr"/>
          <a:lstStyle/>
          <a:p>
            <a:pPr algn="ctr" indent="0" marL="0">
              <a:buNone/>
            </a:pPr>
            <a:r>
              <a:rPr lang="en-US" sz="1800" i="1" dirty="0">
                <a:solidFill>
                  <a:srgbClr val="555555"/>
                </a:solidFill>
                <a:latin typeface="Times New Roman" pitchFamily="34" charset="0"/>
                <a:ea typeface="Times New Roman" pitchFamily="34" charset="-122"/>
                <a:cs typeface="Times New Roman" pitchFamily="34" charset="-120"/>
              </a:rPr>
              <a:t>The Sun, source of all energy in ecosystems.</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19</a:t>
            </a:fld>
            <a:endParaRPr lang="en-US"/>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1. SOURCES OF ENERGY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1: Question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How does solar energy enter the ecosystem?</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20</a:t>
            </a:fld>
            <a:endParaRPr lang="en-US"/>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1. SOURCES OF ENERGY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1: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Through photosynthesis by green plants.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21</a:t>
            </a:fld>
            <a:endParaRPr lang="en-US"/>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1. SOURCES OF ENERGY</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2</a:t>
            </a:r>
            <a:endParaRPr lang="en-US" sz="3600" dirty="0"/>
          </a:p>
        </p:txBody>
      </p:sp>
      <p:pic>
        <p:nvPicPr>
          <p:cNvPr id="4" name="Image 0" descr="/home/claude/f4/img/v2/veg_system_big.png">    </p:cNvPr>
          <p:cNvPicPr>
            <a:picLocks noChangeAspect="1"/>
          </p:cNvPicPr>
          <p:nvPr/>
        </p:nvPicPr>
        <p:blipFill>
          <a:blip r:embed="rId1"/>
          <a:stretch>
            <a:fillRect/>
          </a:stretch>
        </p:blipFill>
        <p:spPr>
          <a:xfrm>
            <a:off x="629930" y="1783080"/>
            <a:ext cx="10931835" cy="4270248"/>
          </a:xfrm>
          <a:prstGeom prst="rect">
            <a:avLst/>
          </a:prstGeom>
        </p:spPr>
      </p:pic>
      <p:sp>
        <p:nvSpPr>
          <p:cNvPr id="5" name="Text 2"/>
          <p:cNvSpPr/>
          <p:nvPr/>
        </p:nvSpPr>
        <p:spPr>
          <a:xfrm>
            <a:off x="457200" y="6089904"/>
            <a:ext cx="11277295" cy="347472"/>
          </a:xfrm>
          <a:prstGeom prst="rect">
            <a:avLst/>
          </a:prstGeom>
          <a:noFill/>
          <a:ln/>
        </p:spPr>
        <p:txBody>
          <a:bodyPr wrap="square" lIns="0" tIns="0" rIns="0" bIns="0" rtlCol="0" anchor="ctr"/>
          <a:lstStyle/>
          <a:p>
            <a:pPr algn="ctr" indent="0" marL="0">
              <a:buNone/>
            </a:pPr>
            <a:r>
              <a:rPr lang="en-US" sz="1800" i="1" dirty="0">
                <a:solidFill>
                  <a:srgbClr val="555555"/>
                </a:solidFill>
                <a:latin typeface="Times New Roman" pitchFamily="34" charset="0"/>
                <a:ea typeface="Times New Roman" pitchFamily="34" charset="-122"/>
                <a:cs typeface="Times New Roman" pitchFamily="34" charset="-120"/>
              </a:rPr>
              <a:t>Photosynthesis.</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22</a:t>
            </a:fld>
            <a:endParaRPr lang="en-US"/>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1. SOURCES OF ENERGY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2: Question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Into what form is solar energy changed by plants?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23</a:t>
            </a:fld>
            <a:endParaRPr lang="en-US"/>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1. SOURCES OF ENERGY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2: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Chemical energy stored in food (sugars).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24</a:t>
            </a:fld>
            <a:endParaRPr lang="en-US"/>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2. ENERGY FLOW</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3</a:t>
            </a:r>
            <a:endParaRPr lang="en-US" sz="3600" dirty="0"/>
          </a:p>
        </p:txBody>
      </p:sp>
      <p:pic>
        <p:nvPicPr>
          <p:cNvPr id="4" name="Image 0" descr="/home/claude/f4/img/v2/energy_flow_big.png">    </p:cNvPr>
          <p:cNvPicPr>
            <a:picLocks noChangeAspect="1"/>
          </p:cNvPicPr>
          <p:nvPr/>
        </p:nvPicPr>
        <p:blipFill>
          <a:blip r:embed="rId1"/>
          <a:stretch>
            <a:fillRect/>
          </a:stretch>
        </p:blipFill>
        <p:spPr>
          <a:xfrm>
            <a:off x="629930" y="1783080"/>
            <a:ext cx="10931835" cy="4270248"/>
          </a:xfrm>
          <a:prstGeom prst="rect">
            <a:avLst/>
          </a:prstGeom>
        </p:spPr>
      </p:pic>
      <p:sp>
        <p:nvSpPr>
          <p:cNvPr id="5" name="Text 2"/>
          <p:cNvSpPr/>
          <p:nvPr/>
        </p:nvSpPr>
        <p:spPr>
          <a:xfrm>
            <a:off x="457200" y="6089904"/>
            <a:ext cx="11277295" cy="347472"/>
          </a:xfrm>
          <a:prstGeom prst="rect">
            <a:avLst/>
          </a:prstGeom>
          <a:noFill/>
          <a:ln/>
        </p:spPr>
        <p:txBody>
          <a:bodyPr wrap="square" lIns="0" tIns="0" rIns="0" bIns="0" rtlCol="0" anchor="ctr"/>
          <a:lstStyle/>
          <a:p>
            <a:pPr algn="ctr" indent="0" marL="0">
              <a:buNone/>
            </a:pPr>
            <a:r>
              <a:rPr lang="en-US" sz="1800" i="1" dirty="0">
                <a:solidFill>
                  <a:srgbClr val="555555"/>
                </a:solidFill>
                <a:latin typeface="Times New Roman" pitchFamily="34" charset="0"/>
                <a:ea typeface="Times New Roman" pitchFamily="34" charset="-122"/>
                <a:cs typeface="Times New Roman" pitchFamily="34" charset="-120"/>
              </a:rPr>
              <a:t>Energy flow along a food chain.</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25</a:t>
            </a:fld>
            <a:endParaRPr lang="en-US"/>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2. ENERGY FLOW</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3: Question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If grass has 10,000 units, how much reaches the lion?</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26</a:t>
            </a:fld>
            <a:endParaRPr lang="en-US"/>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2. ENERGY FLOW</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3: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About 100 units (10 % at each step).</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27</a:t>
            </a:fld>
            <a:endParaRPr lang="en-US"/>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3. THE FIRST LAW</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4</a:t>
            </a:r>
            <a:endParaRPr lang="en-US" sz="3600" dirty="0"/>
          </a:p>
        </p:txBody>
      </p:sp>
      <p:pic>
        <p:nvPicPr>
          <p:cNvPr id="4" name="Image 0" descr="/home/claude/f4/img/v2/lsa_zebra.jpg">    </p:cNvPr>
          <p:cNvPicPr>
            <a:picLocks noChangeAspect="1"/>
          </p:cNvPicPr>
          <p:nvPr/>
        </p:nvPicPr>
        <p:blipFill>
          <a:blip r:embed="rId1"/>
          <a:stretch>
            <a:fillRect/>
          </a:stretch>
        </p:blipFill>
        <p:spPr>
          <a:xfrm>
            <a:off x="2246610" y="1783080"/>
            <a:ext cx="7698475" cy="4270248"/>
          </a:xfrm>
          <a:prstGeom prst="rect">
            <a:avLst/>
          </a:prstGeom>
        </p:spPr>
      </p:pic>
      <p:sp>
        <p:nvSpPr>
          <p:cNvPr id="5" name="Text 2"/>
          <p:cNvSpPr/>
          <p:nvPr/>
        </p:nvSpPr>
        <p:spPr>
          <a:xfrm>
            <a:off x="457200" y="6089904"/>
            <a:ext cx="11277295" cy="347472"/>
          </a:xfrm>
          <a:prstGeom prst="rect">
            <a:avLst/>
          </a:prstGeom>
          <a:noFill/>
          <a:ln/>
        </p:spPr>
        <p:txBody>
          <a:bodyPr wrap="square" lIns="0" tIns="0" rIns="0" bIns="0" rtlCol="0" anchor="ctr"/>
          <a:lstStyle/>
          <a:p>
            <a:pPr algn="ctr" indent="0" marL="0">
              <a:buNone/>
            </a:pPr>
            <a:r>
              <a:rPr lang="en-US" sz="1800" i="1" dirty="0">
                <a:solidFill>
                  <a:srgbClr val="555555"/>
                </a:solidFill>
                <a:latin typeface="Times New Roman" pitchFamily="34" charset="0"/>
                <a:ea typeface="Times New Roman" pitchFamily="34" charset="-122"/>
                <a:cs typeface="Times New Roman" pitchFamily="34" charset="-120"/>
              </a:rPr>
              <a:t>Zebras grazing.</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28</a:t>
            </a:fld>
            <a:endParaRPr lang="en-US"/>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3. THE FIRST LAW</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4: Question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Why does the zebra keep only a small part of the grass energy?</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29</a:t>
            </a:fld>
            <a:endParaRPr lang="en-US"/>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0">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3. THE FIRST LAW</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4: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It loses most as heat when it moves and breathes (second law).</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30</a:t>
            </a:fld>
            <a:endParaRPr lang="en-US"/>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31">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3. THE SECOND LAW</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5</a:t>
            </a:r>
            <a:endParaRPr lang="en-US" sz="3600" dirty="0"/>
          </a:p>
        </p:txBody>
      </p:sp>
      <p:pic>
        <p:nvPicPr>
          <p:cNvPr id="4" name="Image 0" descr="/home/claude/f4/img/v2/lsa_lion.jpg">    </p:cNvPr>
          <p:cNvPicPr>
            <a:picLocks noChangeAspect="1"/>
          </p:cNvPicPr>
          <p:nvPr/>
        </p:nvPicPr>
        <p:blipFill>
          <a:blip r:embed="rId1"/>
          <a:stretch>
            <a:fillRect/>
          </a:stretch>
        </p:blipFill>
        <p:spPr>
          <a:xfrm>
            <a:off x="2248777" y="1783080"/>
            <a:ext cx="7694141" cy="4270248"/>
          </a:xfrm>
          <a:prstGeom prst="rect">
            <a:avLst/>
          </a:prstGeom>
        </p:spPr>
      </p:pic>
      <p:sp>
        <p:nvSpPr>
          <p:cNvPr id="5" name="Text 2"/>
          <p:cNvSpPr/>
          <p:nvPr/>
        </p:nvSpPr>
        <p:spPr>
          <a:xfrm>
            <a:off x="457200" y="6089904"/>
            <a:ext cx="11277295" cy="347472"/>
          </a:xfrm>
          <a:prstGeom prst="rect">
            <a:avLst/>
          </a:prstGeom>
          <a:noFill/>
          <a:ln/>
        </p:spPr>
        <p:txBody>
          <a:bodyPr wrap="square" lIns="0" tIns="0" rIns="0" bIns="0" rtlCol="0" anchor="ctr"/>
          <a:lstStyle/>
          <a:p>
            <a:pPr algn="ctr" indent="0" marL="0">
              <a:buNone/>
            </a:pPr>
            <a:r>
              <a:rPr lang="en-US" sz="1800" i="1" dirty="0">
                <a:solidFill>
                  <a:srgbClr val="555555"/>
                </a:solidFill>
                <a:latin typeface="Times New Roman" pitchFamily="34" charset="0"/>
                <a:ea typeface="Times New Roman" pitchFamily="34" charset="-122"/>
                <a:cs typeface="Times New Roman" pitchFamily="34" charset="-120"/>
              </a:rPr>
              <a:t>A lioness stalking zebras.</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31</a:t>
            </a:fld>
            <a:endParaRPr lang="en-US"/>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name="Slide 32">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3. THE SECOND LAW</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5: Question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Why are there few lions and many zebras?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32</a:t>
            </a:fld>
            <a:endParaRPr lang="en-US"/>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name="Slide 33">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3. THE SECOND LAW</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5: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Little energy is left at the top of the chain.</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33</a:t>
            </a:fld>
            <a:endParaRPr lang="en-US"/>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name="Slide 34">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Board Summary</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Topic: Ecological Systems (Ecosystems)</a:t>
            </a:r>
            <a:endParaRPr lang="en-US" sz="4000" dirty="0"/>
          </a:p>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Sub-topic: The Functioning of Ecosystems</a:t>
            </a:r>
            <a:endParaRPr lang="en-US" sz="4000" dirty="0"/>
          </a:p>
          <a:p>
            <a:pPr algn="l" indent="0" marL="0">
              <a:spcAft>
                <a:spcPts val="800"/>
              </a:spcAft>
              <a:buNone/>
            </a:pPr>
            <a:r>
              <a:rPr lang="en-US" sz="4000" b="1" dirty="0">
                <a:solidFill>
                  <a:srgbClr val="990011"/>
                </a:solidFill>
                <a:latin typeface="Times New Roman" pitchFamily="34" charset="0"/>
                <a:ea typeface="Times New Roman" pitchFamily="34" charset="-122"/>
                <a:cs typeface="Times New Roman" pitchFamily="34" charset="-120"/>
              </a:rPr>
              <a:t>Lesson 21: Energy Flows in Ecosystems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34</a:t>
            </a:fld>
            <a:endParaRPr lang="en-US"/>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name="Slide 35">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3840480" cy="5833872"/>
          </a:xfrm>
          <a:prstGeom prst="rect">
            <a:avLst/>
          </a:prstGeom>
        </p:spPr>
      </p:pic>
      <p:sp>
        <p:nvSpPr>
          <p:cNvPr id="4" name="Text 1"/>
          <p:cNvSpPr/>
          <p:nvPr/>
        </p:nvSpPr>
        <p:spPr>
          <a:xfrm>
            <a:off x="4069080" y="1005840"/>
            <a:ext cx="78025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1. Sources of Energy in the Ecosystem</a:t>
            </a:r>
            <a:endParaRPr lang="en-US" sz="3600" dirty="0"/>
          </a:p>
        </p:txBody>
      </p:sp>
      <p:sp>
        <p:nvSpPr>
          <p:cNvPr id="5" name="Text 2"/>
          <p:cNvSpPr/>
          <p:nvPr/>
        </p:nvSpPr>
        <p:spPr>
          <a:xfrm>
            <a:off x="4069080" y="1783080"/>
            <a:ext cx="7802575" cy="4663440"/>
          </a:xfrm>
          <a:prstGeom prst="rect">
            <a:avLst/>
          </a:prstGeom>
          <a:noFill/>
          <a:ln/>
        </p:spPr>
        <p:txBody>
          <a:bodyPr wrap="square" lIns="0" tIns="0" rIns="0" bIns="0" rtlCol="0" anchor="t"/>
          <a:lstStyle/>
          <a:p>
            <a:pPr algn="l" indent="0" marL="0">
              <a:spcAft>
                <a:spcPts val="800"/>
              </a:spcAft>
              <a:buNone/>
            </a:pPr>
            <a:r>
              <a:rPr lang="en-US" sz="4000" i="1" dirty="0">
                <a:solidFill>
                  <a:srgbClr val="111111"/>
                </a:solidFill>
                <a:latin typeface="Times New Roman" pitchFamily="34" charset="0"/>
                <a:ea typeface="Times New Roman" pitchFamily="34" charset="-122"/>
                <a:cs typeface="Times New Roman" pitchFamily="34" charset="-120"/>
              </a:rPr>
              <a:t>Energy enters the ecosystem as follows:</a:t>
            </a:r>
            <a:endParaRPr lang="en-US" sz="4000" dirty="0"/>
          </a:p>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Solar energy: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The sun is the main source of energy for almost all ecosystems. Only about 1 % of the sunlight reaching plants is used in photosynthesis.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35</a:t>
            </a:fld>
            <a:endParaRPr lang="en-US"/>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name="Slide 36">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1. Sources of Energy in the Ecosystem (continued)</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Photosynthesis: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Plants change light energy into chemical energy stored in food (glucose). This energy is passed on to animals when they feed.</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36</a:t>
            </a:fld>
            <a:endParaRPr lang="en-US"/>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name="Slide 37">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2. The Two Energy Laws</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i="1" dirty="0">
                <a:solidFill>
                  <a:srgbClr val="111111"/>
                </a:solidFill>
                <a:latin typeface="Times New Roman" pitchFamily="34" charset="0"/>
                <a:ea typeface="Times New Roman" pitchFamily="34" charset="-122"/>
                <a:cs typeface="Times New Roman" pitchFamily="34" charset="-120"/>
              </a:rPr>
              <a:t>Energy flow obeys the two laws of thermodynamics:</a:t>
            </a:r>
            <a:endParaRPr lang="en-US" sz="4000" dirty="0"/>
          </a:p>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First law: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Energy cannot be created or destroyed; it only changes form. Light becomes chemical energy, then movement and heat.</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37</a:t>
            </a:fld>
            <a:endParaRPr lang="en-US"/>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name="Slide 38">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1463040" cy="5833872"/>
          </a:xfrm>
          <a:prstGeom prst="rect">
            <a:avLst/>
          </a:prstGeom>
        </p:spPr>
      </p:pic>
      <p:sp>
        <p:nvSpPr>
          <p:cNvPr id="4" name="Text 1"/>
          <p:cNvSpPr/>
          <p:nvPr/>
        </p:nvSpPr>
        <p:spPr>
          <a:xfrm>
            <a:off x="1691640" y="1005840"/>
            <a:ext cx="101800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2. The Two Energy Laws (continued)</a:t>
            </a:r>
            <a:endParaRPr lang="en-US" sz="3600" dirty="0"/>
          </a:p>
        </p:txBody>
      </p:sp>
      <p:sp>
        <p:nvSpPr>
          <p:cNvPr id="5" name="Text 2"/>
          <p:cNvSpPr/>
          <p:nvPr/>
        </p:nvSpPr>
        <p:spPr>
          <a:xfrm>
            <a:off x="1691640" y="1783080"/>
            <a:ext cx="10180015" cy="46634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Second law: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At each transfer, some energy is lost as heat, so less is available at the next level. Only about 10 % passes from one trophic level to the next.</a:t>
            </a:r>
            <a:endParaRPr lang="en-US" sz="4000" dirty="0"/>
          </a:p>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Consequence: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Energy flows in one direction and cannot be recycled. This is why there are many zebras but few lions.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38</a:t>
            </a:fld>
            <a:endParaRPr lang="en-US"/>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name="Slide 39">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2. The Two Energy Laws</a:t>
            </a:r>
            <a:endParaRPr lang="en-US" sz="3600" dirty="0"/>
          </a:p>
        </p:txBody>
      </p:sp>
      <p:pic>
        <p:nvPicPr>
          <p:cNvPr id="4" name="Image 0" descr="/home/claude/f4/img/v2/energy_flow_big.png">    </p:cNvPr>
          <p:cNvPicPr>
            <a:picLocks noChangeAspect="1"/>
          </p:cNvPicPr>
          <p:nvPr/>
        </p:nvPicPr>
        <p:blipFill>
          <a:blip r:embed="rId1"/>
          <a:stretch>
            <a:fillRect/>
          </a:stretch>
        </p:blipFill>
        <p:spPr>
          <a:xfrm>
            <a:off x="629930" y="1783080"/>
            <a:ext cx="10931835" cy="4270248"/>
          </a:xfrm>
          <a:prstGeom prst="rect">
            <a:avLst/>
          </a:prstGeom>
        </p:spPr>
      </p:pic>
      <p:sp>
        <p:nvSpPr>
          <p:cNvPr id="5" name="Text 2"/>
          <p:cNvSpPr/>
          <p:nvPr/>
        </p:nvSpPr>
        <p:spPr>
          <a:xfrm>
            <a:off x="457200" y="6089904"/>
            <a:ext cx="11277295" cy="347472"/>
          </a:xfrm>
          <a:prstGeom prst="rect">
            <a:avLst/>
          </a:prstGeom>
          <a:noFill/>
          <a:ln/>
        </p:spPr>
        <p:txBody>
          <a:bodyPr wrap="square" lIns="0" tIns="0" rIns="0" bIns="0" rtlCol="0" anchor="ctr"/>
          <a:lstStyle/>
          <a:p>
            <a:pPr algn="ctr" indent="0" marL="0">
              <a:buNone/>
            </a:pPr>
            <a:r>
              <a:rPr lang="en-US" sz="1800" i="1" dirty="0">
                <a:solidFill>
                  <a:srgbClr val="555555"/>
                </a:solidFill>
                <a:latin typeface="Times New Roman" pitchFamily="34" charset="0"/>
                <a:ea typeface="Times New Roman" pitchFamily="34" charset="-122"/>
                <a:cs typeface="Times New Roman" pitchFamily="34" charset="-120"/>
              </a:rPr>
              <a:t>Illustration: energy flow through trophic levels</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39</a:t>
            </a:fld>
            <a:endParaRPr lang="en-US"/>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name="Slide 40">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FORMATIVE EVALUATION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Evaluation 1</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State the two energy laws.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40</a:t>
            </a:fld>
            <a:endParaRPr lang="en-US"/>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name="Slide 41">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FORMATIVE EVALUATION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Expected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First: energy is not created or destroyed, only changed. Second: each change loses some energy as heat.</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41</a:t>
            </a:fld>
            <a:endParaRPr lang="en-US"/>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name="Slide 42">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FORMATIVE EVALUATION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Evaluation 2</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Why are food chains short?</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42</a:t>
            </a:fld>
            <a:endParaRPr lang="en-US"/>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name="Slide 43">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FORMATIVE EVALUATION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Expected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About 90 % of energy is lost at each level.</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43</a:t>
            </a:fld>
            <a:endParaRPr lang="en-US"/>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name="Slide 44">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REMEDIATION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3840480" cy="5833872"/>
          </a:xfrm>
          <a:prstGeom prst="rect">
            <a:avLst/>
          </a:prstGeom>
        </p:spPr>
      </p:pic>
      <p:sp>
        <p:nvSpPr>
          <p:cNvPr id="4" name="Text 1"/>
          <p:cNvSpPr/>
          <p:nvPr/>
        </p:nvSpPr>
        <p:spPr>
          <a:xfrm>
            <a:off x="4069080" y="1005840"/>
            <a:ext cx="78025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Remediation</a:t>
            </a:r>
            <a:endParaRPr lang="en-US" sz="3600" dirty="0"/>
          </a:p>
        </p:txBody>
      </p:sp>
      <p:sp>
        <p:nvSpPr>
          <p:cNvPr id="5" name="Text 2"/>
          <p:cNvSpPr/>
          <p:nvPr/>
        </p:nvSpPr>
        <p:spPr>
          <a:xfrm>
            <a:off x="4069080" y="1783080"/>
            <a:ext cx="7802575" cy="46634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Fill in the blanks:</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All energy in ecosystems comes from the ______.</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Plants take in energy by ______.</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At each level about ______ % of energy passes on.</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44</a:t>
            </a:fld>
            <a:endParaRPr lang="en-US"/>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name="Slide 45">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HOMEWORK</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Homework</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Calculate how much energy reaches a hawk if grass has 50,000 units in the chain grass → grasshopper → bird → hawk.</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45</a:t>
            </a:fld>
            <a:endParaRPr lang="en-US"/>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name="Slide 46">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NEXT LESSON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Next Lesson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ctr"/>
          <a:lstStyle/>
          <a:p>
            <a:pPr algn="ctr"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Our next lesson will be on:</a:t>
            </a:r>
            <a:endParaRPr lang="en-US" sz="4000" dirty="0"/>
          </a:p>
          <a:p>
            <a:pPr algn="ctr" indent="0" marL="0">
              <a:spcAft>
                <a:spcPts val="800"/>
              </a:spcAft>
              <a:buNone/>
            </a:pPr>
            <a:r>
              <a:rPr lang="en-US" sz="4000" b="1" dirty="0">
                <a:solidFill>
                  <a:srgbClr val="990011"/>
                </a:solidFill>
                <a:latin typeface="Times New Roman" pitchFamily="34" charset="0"/>
                <a:ea typeface="Times New Roman" pitchFamily="34" charset="-122"/>
                <a:cs typeface="Times New Roman" pitchFamily="34" charset="-120"/>
              </a:rPr>
              <a:t>Lesson 22: Trophic Levels, Food Chains and Food Webs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46</a:t>
            </a:fld>
            <a:endParaRPr lang="en-US"/>
          </a:p>
        </p:txBody>
      </p:sp>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name="Slide 47">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BILINGUAL GAME</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Bilingual Game (Jeu Bilingue)</a:t>
            </a:r>
            <a:endParaRPr lang="en-US" sz="3600" dirty="0"/>
          </a:p>
        </p:txBody>
      </p:sp>
      <p:graphicFrame>
        <p:nvGraphicFramePr>
          <p:cNvPr id="48" name="Table 0"/>
          <p:cNvGraphicFramePr>
            <a:graphicFrameLocks noGrp="1"/>
          </p:cNvGraphicFramePr>
          <p:nvPr>
            <p:extLst>
              <p:ext uri="{D42A27DB-BD31-4B8C-83A1-F6EECF244321}">
                <p14:modId xmlns:p14="http://schemas.microsoft.com/office/powerpoint/2010/main" val="1579011935"/>
              </p:ext>
            </p:extLst>
          </p:nvPr>
        </p:nvGraphicFramePr>
        <p:xfrm>
          <a:off x="1706728" y="1783080"/>
          <a:ext cx="8778240" cy="914400"/>
        </p:xfrm>
        <a:graphic>
          <a:graphicData uri="http://schemas.openxmlformats.org/drawingml/2006/table">
            <a:tbl>
              <a:tblPr/>
              <a:tblGrid>
                <a:gridCol w="4389120"/>
                <a:gridCol w="4389120"/>
              </a:tblGrid>
              <a:tr h="0">
                <a:tc>
                  <a:txBody>
                    <a:bodyPr/>
                    <a:lstStyle/>
                    <a:p>
                      <a:pPr algn="ctr" indent="0" marL="0">
                        <a:buNone/>
                      </a:pPr>
                      <a:r>
                        <a:rPr lang="en-US" sz="2200" b="1" dirty="0">
                          <a:solidFill>
                            <a:srgbClr val="FFFFFF"/>
                          </a:solidFill>
                          <a:latin typeface="Calibri" pitchFamily="34" charset="0"/>
                          <a:ea typeface="Calibri" pitchFamily="34" charset="-122"/>
                          <a:cs typeface="Calibri" pitchFamily="34" charset="-120"/>
                        </a:rPr>
                        <a:t>English</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990011"/>
                    </a:solidFill>
                  </a:tcPr>
                </a:tc>
                <a:tc>
                  <a:txBody>
                    <a:bodyPr/>
                    <a:lstStyle/>
                    <a:p>
                      <a:pPr algn="ctr" indent="0" marL="0">
                        <a:buNone/>
                      </a:pPr>
                      <a:r>
                        <a:rPr lang="en-US" sz="2200" b="1" dirty="0">
                          <a:solidFill>
                            <a:srgbClr val="FFFFFF"/>
                          </a:solidFill>
                          <a:latin typeface="Calibri" pitchFamily="34" charset="0"/>
                          <a:ea typeface="Calibri" pitchFamily="34" charset="-122"/>
                          <a:cs typeface="Calibri" pitchFamily="34" charset="-120"/>
                        </a:rPr>
                        <a:t>Français</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990011"/>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Energy</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L'énergie</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Heat</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La chaleur</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Law</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La loi</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Flow</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Le flux</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Sunlight</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La lumière solaire</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Respiration</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La respiration</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bl>
          </a:graphicData>
        </a:graphic>
      </p:graphicFrame>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47</a:t>
            </a:fld>
            <a:endParaRPr lang="en-US"/>
          </a:p>
        </p:txBody>
      </p:sp>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name="Slide 48">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LOGBOOK</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Official Logbook (1/2)</a:t>
            </a:r>
            <a:endParaRPr lang="en-US" sz="3600" dirty="0"/>
          </a:p>
        </p:txBody>
      </p:sp>
      <p:graphicFrame>
        <p:nvGraphicFramePr>
          <p:cNvPr id="49" name="Table 0"/>
          <p:cNvGraphicFramePr>
            <a:graphicFrameLocks noGrp="1"/>
          </p:cNvGraphicFramePr>
          <p:nvPr>
            <p:extLst>
              <p:ext uri="{D42A27DB-BD31-4B8C-83A1-F6EECF244321}">
                <p14:modId xmlns:p14="http://schemas.microsoft.com/office/powerpoint/2010/main" val="1579011935"/>
              </p:ext>
            </p:extLst>
          </p:nvPr>
        </p:nvGraphicFramePr>
        <p:xfrm>
          <a:off x="458572" y="1783080"/>
          <a:ext cx="11274552" cy="914400"/>
        </p:xfrm>
        <a:graphic>
          <a:graphicData uri="http://schemas.openxmlformats.org/drawingml/2006/table">
            <a:tbl>
              <a:tblPr/>
              <a:tblGrid>
                <a:gridCol w="3017520"/>
                <a:gridCol w="8257032"/>
              </a:tblGrid>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Module / Topic</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Ecological Systems (Ecosystems)</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Lesson Title</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Lesson 21: Energy Flows in Ecosystems</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Expected Learning Outcomes</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Identify the source of energy in ecosystems. Explain the first and second laws of energy. Explain why energy decreases along a food chain.</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Competence</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Learners are able to explain how energy enters and flows through ecosystems using the two energy laws.</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bl>
          </a:graphicData>
        </a:graphic>
      </p:graphicFrame>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48</a:t>
            </a:fld>
            <a:endParaRPr lang="en-US"/>
          </a:p>
        </p:txBody>
      </p:sp>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name="Slide 49">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LOGBOOK</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Official Logbook (2/2)</a:t>
            </a:r>
            <a:endParaRPr lang="en-US" sz="3600" dirty="0"/>
          </a:p>
        </p:txBody>
      </p:sp>
      <p:graphicFrame>
        <p:nvGraphicFramePr>
          <p:cNvPr id="50" name="Table 0"/>
          <p:cNvGraphicFramePr>
            <a:graphicFrameLocks noGrp="1"/>
          </p:cNvGraphicFramePr>
          <p:nvPr>
            <p:extLst>
              <p:ext uri="{D42A27DB-BD31-4B8C-83A1-F6EECF244321}">
                <p14:modId xmlns:p14="http://schemas.microsoft.com/office/powerpoint/2010/main" val="1579011935"/>
              </p:ext>
            </p:extLst>
          </p:nvPr>
        </p:nvGraphicFramePr>
        <p:xfrm>
          <a:off x="458572" y="1783080"/>
          <a:ext cx="11274552" cy="914400"/>
        </p:xfrm>
        <a:graphic>
          <a:graphicData uri="http://schemas.openxmlformats.org/drawingml/2006/table">
            <a:tbl>
              <a:tblPr/>
              <a:tblGrid>
                <a:gridCol w="3017520"/>
                <a:gridCol w="8257032"/>
              </a:tblGrid>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Matter Taught</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Sources of Energy in the Ecosystem; The Two Energy Laws.</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Evaluation</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Formative evaluation and remediation exercise.</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Homework</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Calculate how much energy reaches a hawk if grass has 50,000 units in the chain grass → grasshopper → bird → hawk.</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Enrolment / Present / Absent</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____ / ____ / ____</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Achievement</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To be completed after the lesson.</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bl>
          </a:graphicData>
        </a:graphic>
      </p:graphicFrame>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49</a:t>
            </a:fld>
            <a:endParaRPr lang="en-US"/>
          </a:p>
        </p:txBody>
      </p:sp>
    </p:spTree>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name="Slide 50">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TEACHER'S NOTE</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3840480" cy="5833872"/>
          </a:xfrm>
          <a:prstGeom prst="rect">
            <a:avLst/>
          </a:prstGeom>
        </p:spPr>
      </p:pic>
      <p:sp>
        <p:nvSpPr>
          <p:cNvPr id="4" name="Text 1"/>
          <p:cNvSpPr/>
          <p:nvPr/>
        </p:nvSpPr>
        <p:spPr>
          <a:xfrm>
            <a:off x="4069080" y="1005840"/>
            <a:ext cx="78025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Teacher's Note</a:t>
            </a:r>
            <a:endParaRPr lang="en-US" sz="3600" dirty="0"/>
          </a:p>
        </p:txBody>
      </p:sp>
      <p:sp>
        <p:nvSpPr>
          <p:cNvPr id="5" name="Text 2"/>
          <p:cNvSpPr/>
          <p:nvPr/>
        </p:nvSpPr>
        <p:spPr>
          <a:xfrm>
            <a:off x="4069080" y="1783080"/>
            <a:ext cx="7802575" cy="4663440"/>
          </a:xfrm>
          <a:prstGeom prst="rect">
            <a:avLst/>
          </a:prstGeom>
          <a:noFill/>
          <a:ln/>
        </p:spPr>
        <p:txBody>
          <a:bodyPr wrap="square" lIns="0" tIns="0" rIns="0" bIns="0" rtlCol="0" anchor="t"/>
          <a:lstStyle/>
          <a:p>
            <a:pPr algn="l" marL="342900" indent="-342900">
              <a:spcAft>
                <a:spcPts val="800"/>
              </a:spcAft>
              <a:buSzPct val="100000"/>
              <a:buChar char="•"/>
            </a:pPr>
            <a:r>
              <a:rPr lang="en-US" sz="2000" dirty="0">
                <a:solidFill>
                  <a:srgbClr val="111111"/>
                </a:solidFill>
                <a:latin typeface="Calibri" pitchFamily="34" charset="0"/>
                <a:ea typeface="Calibri" pitchFamily="34" charset="-122"/>
                <a:cs typeface="Calibri" pitchFamily="34" charset="-120"/>
              </a:rPr>
              <a:t>Timing: Homework correction, plan, objectives 8 min | Recall, situation, action 10 min | 5 activities 30 min | Board summary (copying) 30 min | Evaluation, remediation 10 min | Homework, next lesson 5 min | Logbook 7 min</a:t>
            </a:r>
            <a:endParaRPr lang="en-US" sz="2000" dirty="0"/>
          </a:p>
          <a:p>
            <a:pPr algn="l" marL="342900" indent="-342900">
              <a:spcAft>
                <a:spcPts val="800"/>
              </a:spcAft>
              <a:buSzPct val="100000"/>
              <a:buChar char="•"/>
            </a:pPr>
            <a:r>
              <a:rPr lang="en-US" sz="2000" dirty="0">
                <a:solidFill>
                  <a:srgbClr val="111111"/>
                </a:solidFill>
                <a:latin typeface="Calibri" pitchFamily="34" charset="0"/>
                <a:ea typeface="Calibri" pitchFamily="34" charset="-122"/>
                <a:cs typeface="Calibri" pitchFamily="34" charset="-120"/>
              </a:rPr>
              <a:t>Without the projector (Activity 1): explain why plants need light.</a:t>
            </a:r>
            <a:endParaRPr lang="en-US" sz="2000" dirty="0"/>
          </a:p>
          <a:p>
            <a:pPr algn="l" marL="342900" indent="-342900">
              <a:spcAft>
                <a:spcPts val="800"/>
              </a:spcAft>
              <a:buSzPct val="100000"/>
              <a:buChar char="•"/>
            </a:pPr>
            <a:r>
              <a:rPr lang="en-US" sz="2000" dirty="0">
                <a:solidFill>
                  <a:srgbClr val="111111"/>
                </a:solidFill>
                <a:latin typeface="Calibri" pitchFamily="34" charset="0"/>
                <a:ea typeface="Calibri" pitchFamily="34" charset="-122"/>
                <a:cs typeface="Calibri" pitchFamily="34" charset="-120"/>
              </a:rPr>
              <a:t>Without the projector (Activity 2): write the equation in words.</a:t>
            </a:r>
            <a:endParaRPr lang="en-US" sz="2000" dirty="0"/>
          </a:p>
          <a:p>
            <a:pPr algn="l" marL="342900" indent="-342900">
              <a:spcAft>
                <a:spcPts val="800"/>
              </a:spcAft>
              <a:buSzPct val="100000"/>
              <a:buChar char="•"/>
            </a:pPr>
            <a:r>
              <a:rPr lang="en-US" sz="2000" dirty="0">
                <a:solidFill>
                  <a:srgbClr val="111111"/>
                </a:solidFill>
                <a:latin typeface="Calibri" pitchFamily="34" charset="0"/>
                <a:ea typeface="Calibri" pitchFamily="34" charset="-122"/>
                <a:cs typeface="Calibri" pitchFamily="34" charset="-120"/>
              </a:rPr>
              <a:t>Without the projector (Activity 3): do the calculation.</a:t>
            </a:r>
            <a:endParaRPr lang="en-US" sz="2000" dirty="0"/>
          </a:p>
          <a:p>
            <a:pPr algn="l" marL="342900" indent="-342900">
              <a:spcAft>
                <a:spcPts val="800"/>
              </a:spcAft>
              <a:buSzPct val="100000"/>
              <a:buChar char="•"/>
            </a:pPr>
            <a:r>
              <a:rPr lang="en-US" sz="2000" dirty="0">
                <a:solidFill>
                  <a:srgbClr val="111111"/>
                </a:solidFill>
                <a:latin typeface="Calibri" pitchFamily="34" charset="0"/>
                <a:ea typeface="Calibri" pitchFamily="34" charset="-122"/>
                <a:cs typeface="Calibri" pitchFamily="34" charset="-120"/>
              </a:rPr>
              <a:t>Without the projector (Activity 4): feel body heat after running.</a:t>
            </a:r>
            <a:endParaRPr lang="en-US" sz="2000" dirty="0"/>
          </a:p>
          <a:p>
            <a:pPr algn="l" marL="342900" indent="-342900">
              <a:spcAft>
                <a:spcPts val="800"/>
              </a:spcAft>
              <a:buSzPct val="100000"/>
              <a:buChar char="•"/>
            </a:pPr>
            <a:r>
              <a:rPr lang="en-US" sz="2000" dirty="0">
                <a:solidFill>
                  <a:srgbClr val="111111"/>
                </a:solidFill>
                <a:latin typeface="Calibri" pitchFamily="34" charset="0"/>
                <a:ea typeface="Calibri" pitchFamily="34" charset="-122"/>
                <a:cs typeface="Calibri" pitchFamily="34" charset="-120"/>
              </a:rPr>
              <a:t>Without the projector (Activity 5): compare numbers in a park.</a:t>
            </a:r>
            <a:endParaRPr lang="en-US" sz="2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50</a:t>
            </a:fld>
            <a:endParaRPr lang="en-US"/>
          </a:p>
        </p:txBody>
      </p:sp>
    </p:spTree>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name="Slide 51">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REFERENCES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References</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marL="342900" indent="-342900">
              <a:spcAft>
                <a:spcPts val="800"/>
              </a:spcAft>
              <a:buSzPct val="100000"/>
              <a:buChar char="•"/>
            </a:pPr>
            <a:r>
              <a:rPr lang="en-US" sz="1800" dirty="0">
                <a:solidFill>
                  <a:srgbClr val="111111"/>
                </a:solidFill>
                <a:latin typeface="Calibri" pitchFamily="34" charset="0"/>
                <a:ea typeface="Calibri" pitchFamily="34" charset="-122"/>
                <a:cs typeface="Calibri" pitchFamily="34" charset="-120"/>
              </a:rPr>
              <a:t>National Geography Syllabus, MINESEC/IGE/IP-SS, 2019 — Module 3 (Biogeography).</a:t>
            </a:r>
            <a:endParaRPr lang="en-US" sz="1800" dirty="0"/>
          </a:p>
          <a:p>
            <a:pPr algn="l" marL="342900" indent="-342900">
              <a:spcAft>
                <a:spcPts val="800"/>
              </a:spcAft>
              <a:buSzPct val="100000"/>
              <a:buChar char="•"/>
            </a:pPr>
            <a:r>
              <a:rPr lang="en-US" sz="1800" dirty="0">
                <a:solidFill>
                  <a:srgbClr val="111111"/>
                </a:solidFill>
                <a:latin typeface="Calibri" pitchFamily="34" charset="0"/>
                <a:ea typeface="Calibri" pitchFamily="34" charset="-122"/>
                <a:cs typeface="Calibri" pitchFamily="34" charset="-120"/>
              </a:rPr>
              <a:t>Photo, Activity 1: “Scientists Propose Mechanism to Describe Solar Eruptions of All Sizes” by NASA's Marshall Space Flight Center, CC BY-NC 2.0, via nasa (https://www.flickr.com/photos/28634332@N05/36084784530)</a:t>
            </a:r>
            <a:endParaRPr lang="en-US" sz="1800" dirty="0"/>
          </a:p>
          <a:p>
            <a:pPr algn="l" marL="342900" indent="-342900">
              <a:spcAft>
                <a:spcPts val="800"/>
              </a:spcAft>
              <a:buSzPct val="100000"/>
              <a:buChar char="•"/>
            </a:pPr>
            <a:r>
              <a:rPr lang="en-US" sz="1800" dirty="0">
                <a:solidFill>
                  <a:srgbClr val="111111"/>
                </a:solidFill>
                <a:latin typeface="Calibri" pitchFamily="34" charset="0"/>
                <a:ea typeface="Calibri" pitchFamily="34" charset="-122"/>
                <a:cs typeface="Calibri" pitchFamily="34" charset="-120"/>
              </a:rPr>
              <a:t>Photo, Activity 4: “Zebra” by mape_s, CC BY 2.0, via Flickr (https://www.flickr.com/photos/50931380@N00/333863114)</a:t>
            </a:r>
            <a:endParaRPr lang="en-US" sz="1800" dirty="0"/>
          </a:p>
          <a:p>
            <a:pPr algn="l" marL="342900" indent="-342900">
              <a:spcAft>
                <a:spcPts val="800"/>
              </a:spcAft>
              <a:buSzPct val="100000"/>
              <a:buChar char="•"/>
            </a:pPr>
            <a:r>
              <a:rPr lang="en-US" sz="1800" dirty="0">
                <a:solidFill>
                  <a:srgbClr val="111111"/>
                </a:solidFill>
                <a:latin typeface="Calibri" pitchFamily="34" charset="0"/>
                <a:ea typeface="Calibri" pitchFamily="34" charset="-122"/>
                <a:cs typeface="Calibri" pitchFamily="34" charset="-120"/>
              </a:rPr>
              <a:t>Photo, Activity 5: “hunt is on” by @Doug88888, CC BY-NC-SA 2.0, via Flickr (https://www.flickr.com/photos/29468339@N02/2930690305)</a:t>
            </a:r>
            <a:endParaRPr lang="en-US" sz="1800" dirty="0"/>
          </a:p>
          <a:p>
            <a:pPr algn="l" marL="342900" indent="-342900">
              <a:spcAft>
                <a:spcPts val="800"/>
              </a:spcAft>
              <a:buSzPct val="100000"/>
              <a:buChar char="•"/>
            </a:pPr>
            <a:r>
              <a:rPr lang="en-US" sz="1800" dirty="0">
                <a:solidFill>
                  <a:srgbClr val="111111"/>
                </a:solidFill>
                <a:latin typeface="Calibri" pitchFamily="34" charset="0"/>
                <a:ea typeface="Calibri" pitchFamily="34" charset="-122"/>
                <a:cs typeface="Calibri" pitchFamily="34" charset="-120"/>
              </a:rPr>
              <a:t>Diagrams and animations: drawn for this lesson (Geography Department).</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51</a:t>
            </a:fld>
            <a:endParaRPr lang="en-US"/>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51</Slides>
  <Notes>51</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51</vt:i4>
      </vt:variant>
    </vt:vector>
  </HeadingPairs>
  <TitlesOfParts>
    <vt:vector size="54"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lpstr>Slide 30</vt:lpstr>
      <vt:lpstr>Slide 31</vt:lpstr>
      <vt:lpstr>Slide 32</vt:lpstr>
      <vt:lpstr>Slide 33</vt:lpstr>
      <vt:lpstr>Slide 34</vt:lpstr>
      <vt:lpstr>Slide 35</vt:lpstr>
      <vt:lpstr>Slide 36</vt:lpstr>
      <vt:lpstr>Slide 37</vt:lpstr>
      <vt:lpstr>Slide 38</vt:lpstr>
      <vt:lpstr>Slide 39</vt:lpstr>
      <vt:lpstr>Slide 40</vt:lpstr>
      <vt:lpstr>Slide 41</vt:lpstr>
      <vt:lpstr>Slide 42</vt:lpstr>
      <vt:lpstr>Slide 43</vt:lpstr>
      <vt:lpstr>Slide 44</vt:lpstr>
      <vt:lpstr>Slide 45</vt:lpstr>
      <vt:lpstr>Slide 46</vt:lpstr>
      <vt:lpstr>Slide 47</vt:lpstr>
      <vt:lpstr>Slide 48</vt:lpstr>
      <vt:lpstr>Slide 49</vt:lpstr>
      <vt:lpstr>Slide 50</vt:lpstr>
      <vt:lpstr>Slide 51</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PptxGenJS</cp:lastModifiedBy>
  <cp:revision>1</cp:revision>
  <dcterms:created xsi:type="dcterms:W3CDTF">2026-09-27T10:31:38Z</dcterms:created>
  <dcterms:modified xsi:type="dcterms:W3CDTF">2026-09-27T10:31:38Z</dcterms:modified>
</cp:coreProperties>
</file>