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</p:sldIdLst>
  <p:notesMasterIdLst>
    <p:notesMasterId r:id="rId4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notesMaster" Target="notesMasters/notesMaster1.xml"/><Relationship Id="rId50" Type="http://schemas.openxmlformats.org/officeDocument/2006/relationships/presProps" Target="presProps.xml"/><Relationship Id="rId51" Type="http://schemas.openxmlformats.org/officeDocument/2006/relationships/viewProps" Target="viewProps.xml"/><Relationship Id="rId52" Type="http://schemas.openxmlformats.org/officeDocument/2006/relationships/theme" Target="theme/theme1.xml"/><Relationship Id="rId5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Good morning, class. Today we study Lesson 2: Structure of the Atmosphere.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situation slowly, twice.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draw four bands on the board.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draw the zigzag curve.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describe the cold felt on a mountain.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mention old fridges and aerosol sprays.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explain that radio waves bounce on this layer.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Learners copy the board summary now. Give them enough time for each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Answers: 1. troposphere 2. stratosphere 3. ozone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homework prepares the next lesson.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 the English word; learners give the French word, then the reverse.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pic>
        <p:nvPicPr>
          <p:cNvPr id="4" name="Image 0" descr="/home/claude/pw1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09590" y="457200"/>
            <a:ext cx="1371600" cy="137160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731520" y="1965960"/>
            <a:ext cx="107259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C3F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DIVINE GRACE COLLEGE OF ARTS, SCIENCE AND TECHNOLOGY</a:t>
            </a:r>
            <a:endParaRPr lang="en-US" sz="2000" dirty="0"/>
          </a:p>
        </p:txBody>
      </p:sp>
      <p:sp>
        <p:nvSpPr>
          <p:cNvPr id="6" name="Text 3"/>
          <p:cNvSpPr txBox="1"/>
          <p:nvPr/>
        </p:nvSpPr>
        <p:spPr>
          <a:xfrm>
            <a:off x="914400" y="2606040"/>
            <a:ext cx="103601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(DGCAST) — GAROUA   |   GEOGRAPHY DEPARTMENT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914400" y="3200400"/>
            <a:ext cx="103601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LOWER SIXTH ARTS  —  CLIMATOLOGY  —  LESSON 2</a:t>
            </a:r>
            <a:endParaRPr lang="en-US" sz="3400" dirty="0"/>
          </a:p>
        </p:txBody>
      </p:sp>
      <p:sp>
        <p:nvSpPr>
          <p:cNvPr id="8" name="Text 5"/>
          <p:cNvSpPr txBox="1"/>
          <p:nvPr/>
        </p:nvSpPr>
        <p:spPr>
          <a:xfrm>
            <a:off x="914400" y="3931920"/>
            <a:ext cx="103601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B886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Structure of the Atmosphere</a:t>
            </a:r>
            <a:endParaRPr lang="en-US" sz="2100" dirty="0"/>
          </a:p>
        </p:txBody>
      </p:sp>
      <p:sp>
        <p:nvSpPr>
          <p:cNvPr id="9" name="Text 6"/>
          <p:cNvSpPr txBox="1"/>
          <p:nvPr/>
        </p:nvSpPr>
        <p:spPr>
          <a:xfrm>
            <a:off x="914400" y="5394960"/>
            <a:ext cx="1036015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EMMANUEL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Teacher — PLEG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Academic Year 2026 / 2027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 INFO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Class, Chapter &amp; Duration</a:t>
            </a:r>
            <a:endParaRPr lang="en-US" sz="30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889711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Class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Lower Sixth Arts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Chapter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Module 1: Understanding and managing atmospheric and hydrological phenomena and hazards across the world in general and Cameroon in particular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Duration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periods (2 × 50 minutes)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IDENTIFICATION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Lesson Identification</a:t>
            </a:r>
            <a:endParaRPr lang="en-US" sz="30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889711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Topic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Atmosphere as a Centre of Weather and Climate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Sub-topic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Atmosphere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 2: Structure of the Atmosphere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Notions / Concepts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Homosphere, heterosphere, troposphere, stratosphere, mesosphere, thermosphere, tropopause, ozone layer.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Syllabus focus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Layers of the atmosphere, their thermal characteristics and the ozone layer.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Learners are able to describe the layers of the atmosphere and explain how to protect the ozone layer.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OBJECTIVES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Learning Objectives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22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the end of the lesson, the learner should be able to:</a:t>
            </a:r>
            <a:endParaRPr lang="en-US" sz="22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 and describe the layers of the atmosphere.</a:t>
            </a:r>
            <a:endParaRPr lang="en-US" sz="22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 how temperature changes in each layer.</a:t>
            </a:r>
            <a:endParaRPr lang="en-US" sz="22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 the role and depletion of the ozone layer.</a:t>
            </a:r>
            <a:endParaRPr lang="en-US" sz="2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RECALL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Recall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Char char="•"/>
            </a:pPr>
            <a:r>
              <a:rPr lang="en-US" sz="24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atmosphere is mostly nitrogen and oxygen.</a:t>
            </a:r>
            <a:endParaRPr lang="en-US" sz="24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Char char="•"/>
            </a:pPr>
            <a:r>
              <a:rPr lang="en-US" sz="24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Ozone is a variable gas.</a:t>
            </a:r>
            <a:endParaRPr lang="en-US" sz="2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Real-Life Situation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 pilot tells a class that at 10,000 metres the air outside the plane is at −50 °C, although it is 32 °C on the ground in Garoua. The learners wonder why the air gets colder as we go up.</a:t>
            </a:r>
            <a:endParaRPr lang="en-US" sz="4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Situation — Question 1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What is the problem in the situation?</a:t>
            </a:r>
            <a:endParaRPr lang="en-US" sz="4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Learners do not know how temperature changes with height.</a:t>
            </a:r>
            <a:endParaRPr lang="en-US" sz="4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Situation — Question 2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In which layer do planes fly?</a:t>
            </a:r>
            <a:endParaRPr lang="en-US" sz="4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Near the top of the troposphere.</a:t>
            </a:r>
            <a:endParaRPr lang="en-US" sz="4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Situation — Question 3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Does the air always get colder upwards?</a:t>
            </a:r>
            <a:endParaRPr lang="en-US" sz="4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Possible 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No. In some layers it gets warmer.</a:t>
            </a:r>
            <a:endParaRPr lang="en-US" sz="4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JUSTIFICATION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Justification of the Lesson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This lesson helps us to understand the layers of the atmosphere and why the ozone layer must be protected.</a:t>
            </a:r>
            <a:endParaRPr lang="en-US" sz="4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THE LAYERS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1</a:t>
            </a:r>
            <a:endParaRPr lang="en-US" sz="3600" dirty="0"/>
          </a:p>
        </p:txBody>
      </p:sp>
      <p:pic>
        <p:nvPicPr>
          <p:cNvPr id="13" name="Image 0" descr="/home/claude/f4/img/v2/atmosphere_bi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00838" y="1691640"/>
            <a:ext cx="11587277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four main layers of the atmosphere.</a:t>
            </a:r>
            <a:endParaRPr lang="en-US" sz="14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THE LAYERS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1: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In which layer do we find weather, clouds and rain?</a:t>
            </a:r>
            <a:endParaRPr lang="en-US" sz="4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THE LAYERS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In the troposphere (0–12 km).</a:t>
            </a:r>
            <a:endParaRPr lang="en-US" sz="4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TEMPERATURE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2</a:t>
            </a:r>
            <a:endParaRPr lang="en-US" sz="3600" dirty="0"/>
          </a:p>
        </p:txBody>
      </p:sp>
      <p:pic>
        <p:nvPicPr>
          <p:cNvPr id="13" name="Image 0" descr="/home/claude/f4/img/v2/temp_profile_bi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21585" y="1691640"/>
            <a:ext cx="10345783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Temperature from the ground to 110 km.</a:t>
            </a:r>
            <a:endParaRPr lang="en-US" sz="14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TEMPERATURE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2: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In which layers does temperature rise with height?</a:t>
            </a:r>
            <a:endParaRPr lang="en-US" sz="4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TEMPERATURE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In the stratosphere and in the thermosphere.</a:t>
            </a:r>
            <a:endParaRPr lang="en-US" sz="4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TEMPERATURE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3</a:t>
            </a:r>
            <a:endParaRPr lang="en-US" sz="3600" dirty="0"/>
          </a:p>
        </p:txBody>
      </p:sp>
      <p:pic>
        <p:nvPicPr>
          <p:cNvPr id="13" name="Image 0" descr="/home/claude/f4/img/v2/f4_planewindow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14449" y="1691640"/>
            <a:ext cx="8160054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 plane flying above the clouds.</a:t>
            </a:r>
            <a:endParaRPr lang="en-US" sz="14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TEMPERATURE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3: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Planes fly near the tropopause. Why is the air so cold there?</a:t>
            </a:r>
            <a:endParaRPr lang="en-US" sz="4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TEMPERATURE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In the troposphere temperature falls with height, to about −56 °C at the top.</a:t>
            </a:r>
            <a:endParaRPr lang="en-US" sz="40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THE OZONE LAYER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4</a:t>
            </a:r>
            <a:endParaRPr lang="en-US" sz="3600" dirty="0"/>
          </a:p>
        </p:txBody>
      </p:sp>
      <p:pic>
        <p:nvPicPr>
          <p:cNvPr id="13" name="Image 0" descr="/home/claude/f4/img/v2/f4_ozonehole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14449" y="1691640"/>
            <a:ext cx="8160054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ozone hole over Antarctica (in blue).</a:t>
            </a:r>
            <a:endParaRPr lang="en-US" sz="14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THE OZONE LAYER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4: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What does the ozone layer do? What destroyed part of it?</a:t>
            </a:r>
            <a:endParaRPr lang="en-US" sz="40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THE OZONE LAYER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absorbs harmful ultraviolet rays. CFC gases from sprays and fridges destroyed part of it.</a:t>
            </a:r>
            <a:endParaRPr lang="en-US" sz="40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IV. HETEROSPHERE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5</a:t>
            </a:r>
            <a:endParaRPr lang="en-US" sz="3600" dirty="0"/>
          </a:p>
        </p:txBody>
      </p:sp>
      <p:pic>
        <p:nvPicPr>
          <p:cNvPr id="13" name="Image 0" descr="/home/claude/f4/img/v2/lsa_aurora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14449" y="1691640"/>
            <a:ext cx="8160054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 aurora (northern lights) in the upper atmosphere.</a:t>
            </a:r>
            <a:endParaRPr lang="en-US" sz="14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IV. HETEROSPHERE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5: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These lights appear above 85 km. In which layer are they?</a:t>
            </a:r>
            <a:endParaRPr lang="en-US" sz="40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IV. HETEROSPHERE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In the thermosphere (the ionosphere is part of it).</a:t>
            </a:r>
            <a:endParaRPr lang="en-US" sz="40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Structure of the Atmosphere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200" b="1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Topic: The Atmosphere as a Centre of Weather and Climate</a:t>
            </a:r>
            <a:endParaRPr lang="en-US" sz="32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200" b="1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Sub-topic: The Atmosphere</a:t>
            </a:r>
            <a:endParaRPr lang="en-US" sz="32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2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Lesson 2: Structure of the Atmosphere</a:t>
            </a:r>
            <a:endParaRPr lang="en-US" sz="32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I. Definitions (1/2)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Homosphere: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is the lower atmosphere (0–85 km) where the gases are well mixed.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Heterosphere: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is the upper atmosphere (above 85 km) where the gases are in layers.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Tropopause: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is the boundary between the troposphere and the stratosphere.</a:t>
            </a:r>
            <a:endParaRPr lang="en-US" sz="40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I. Definitions (2/2)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Ozone layer: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is a layer of ozone gas in the stratosphere that absorbs ultraviolet rays.</a:t>
            </a:r>
            <a:endParaRPr lang="en-US" sz="40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II. The Layers (1/2)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A. Troposphere (0–12 km):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contains most of the air and water vapour. Weather happens here, and temperature falls by about 6.5 °C every 1,000 m.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B. Stratosphere (12–50 km):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air is calm and dry. Temperature rises with height because ozone absorbs ultraviolet rays.</a:t>
            </a:r>
            <a:endParaRPr lang="en-US" sz="40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II. The Layers (2/2)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C. Mesosphere (50–85 km):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Temperature falls to about −90 °C. It is the coldest layer, where meteors burn.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D. Thermosphere (above 85 km):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Temperature rises again because the Sun heats the thin gases. Auroras appear and radio waves are reflected.</a:t>
            </a:r>
            <a:endParaRPr lang="en-US" sz="40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III. The Ozone Layer (1/3)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A. Function: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Ozone absorbs harmful ultraviolet rays. It protects people from skin cancer and eye disease.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B. Depletion: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CFC gases from sprays, fridges and air conditioners destroy ozone. A hole appears over Antarctica every year.</a:t>
            </a:r>
            <a:endParaRPr lang="en-US" sz="40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III. The Ozone Layer (2/3)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C. Measures: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Montreal Protocol (1987) banned CFCs. Old fridges must be recycled, and ozone-friendly gases must be used.</a:t>
            </a:r>
            <a:endParaRPr lang="en-US" sz="40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III. The Ozone Layer (3/3)</a:t>
            </a:r>
            <a:endParaRPr lang="en-US" sz="3600" dirty="0"/>
          </a:p>
        </p:txBody>
      </p:sp>
      <p:pic>
        <p:nvPicPr>
          <p:cNvPr id="13" name="Image 0" descr="/home/claude/f4/img/v2/temp_profile_bi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21585" y="1691640"/>
            <a:ext cx="10345783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Copy the temperature curve.</a:t>
            </a:r>
            <a:endParaRPr lang="en-US" sz="14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Formative Evaluation 1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Name the four layers of the atmosphere from the ground up.</a:t>
            </a:r>
            <a:endParaRPr lang="en-US" sz="40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Expected 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Troposphere, stratosphere, mesosphere and thermosphere.</a:t>
            </a:r>
            <a:endParaRPr lang="en-US" sz="40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Formative Evaluation 2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Why does temperature rise in the stratosphere?</a:t>
            </a:r>
            <a:endParaRPr lang="en-US" sz="40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Expected 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Ozone absorbs ultraviolet rays and warms the air.</a:t>
            </a:r>
            <a:endParaRPr lang="en-US" sz="40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REMEDIATION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Remediation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600" b="1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Fill in the blanks:</a:t>
            </a:r>
            <a:endParaRPr lang="en-US" sz="36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36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Weather happens in the ______.</a:t>
            </a:r>
            <a:endParaRPr lang="en-US" sz="36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36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ozone layer is in the ______.</a:t>
            </a:r>
            <a:endParaRPr lang="en-US" sz="36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36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CFC gases destroy ______.</a:t>
            </a:r>
            <a:endParaRPr lang="en-US" sz="360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HOMEWORK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Homework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Draw the layers of the atmosphere with their heights and one feature of each.</a:t>
            </a:r>
            <a:endParaRPr lang="en-US" sz="40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This prepares Lesson 3: Solar Radiation.</a:t>
            </a:r>
            <a:endParaRPr lang="en-US" sz="400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BILINGUAL GAME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Bilingual Game (Jeu Bilingue)</a:t>
            </a:r>
            <a:endParaRPr lang="en-US" sz="3000" dirty="0"/>
          </a:p>
        </p:txBody>
      </p:sp>
      <p:graphicFrame>
        <p:nvGraphicFramePr>
          <p:cNvPr id="4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011680" y="1783080"/>
          <a:ext cx="8138160" cy="914400"/>
        </p:xfrm>
        <a:graphic>
          <a:graphicData uri="http://schemas.openxmlformats.org/drawingml/2006/table">
            <a:tbl>
              <a:tblPr/>
              <a:tblGrid>
                <a:gridCol w="4069080"/>
                <a:gridCol w="406908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English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9001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Français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9001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Layer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 couche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Ozone layer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 couche d'ozone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Troposphere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 troposphère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Ultraviolet rays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 rayons ultraviolets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Height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L'altitude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Boundary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 limite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LOGBOOK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Official Logbook (1/2)</a:t>
            </a:r>
            <a:endParaRPr lang="en-US" sz="3000" dirty="0"/>
          </a:p>
        </p:txBody>
      </p:sp>
      <p:graphicFrame>
        <p:nvGraphicFramePr>
          <p:cNvPr id="4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834847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Module / Topic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Atmosphere as a Centre of Weather and Climate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 Title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 2: Structure of the Atmosphere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Expected Learning Outcomes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Name and describe the layers of the atmosphere. Explain how temperature changes in each layer. Explain the role and depletion of the ozone layer.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Learners are able to describe the layers of the atmosphere and explain how to protect the ozone layer.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LOGBOOK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Official Logbook (2/2)</a:t>
            </a:r>
            <a:endParaRPr lang="en-US" sz="3000" dirty="0"/>
          </a:p>
        </p:txBody>
      </p:sp>
      <p:graphicFrame>
        <p:nvGraphicFramePr>
          <p:cNvPr id="4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834847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Matter Taught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I. Definitions: Homosphere, Heterosphere, Tropopause, Ozone layer; II. The Layers: Troposphere (0–12 km), Stratosphere (12–50 km), Mesosphere (50–85 km), Thermosphere (above 85 km); III. The Ozone Layer: Function, Depletion, Measures.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Evaluation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Formative evaluation (3 questions) and remediation exercise.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Homework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Draw the layers of the atmosphere with their heights and one feature of each.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Enrolment / Present / Absent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____ / ____ / ____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Achievement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 be completed by the teacher after the lesson.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TEACHER'S NOTE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Teacher's Note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20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Timing: Set-up, recall 8 min | Situation 8 min | 5 activities 30 min | Board summary (copying) 30 min | Evaluation, remediation 10 min | Homework, logbook 9 min | Spare 5 min</a:t>
            </a:r>
            <a:endParaRPr lang="en-US" sz="2000" dirty="0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References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National Geography Syllabus, Sixth Forms (Lower &amp; Upper Sixth), MINESEC/IGE/IP-SS, August 2019 — Module 1 (Meteorology, Climatology &amp; Hydrology).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Photo, Activity 3: “flying” by { pranav }, CC BY 2.0, via Flickr (https://www.flickr.com/photos/29220600@N08/3469129491)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Photo, Activity 4: “Sauron's Eye” by sjrankin, CC BY-NC 2.0, via Flickr (https://www.flickr.com/photos/24354425@N03/15252220086)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Photo, Activity 5: “Aurora Borealis” by Haukur H., CC BY-NC-ND 2.0, via Flickr (https://www.flickr.com/photos/34699962@N04/3256810738)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Diagrams and animations: drawn for this lesson (DGCAST Geography Department).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47</Slides>
  <Notes>47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47</vt:i4>
      </vt:variant>
    </vt:vector>
  </HeadingPairs>
  <TitlesOfParts>
    <vt:vector size="5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2026-09-27T04:25:27Z</dcterms:created>
  <dcterms:modified xsi:type="dcterms:W3CDTF">2026-09-27T04:25:27Z</dcterms:modified>
</cp:coreProperties>
</file>