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Good morning, class. Today we study Lesson 8: Vertical Distribution of Temperature.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situation slowly, twice.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describe the cold of Buea at night.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do the calculation on the 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touch the warm ground at midday.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mention breathing problems on high mountains.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Without the projector: feel the cold air from a pumped tyre valve.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Learners copy the board summary now. Give them enough time for each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1. 6.5 2. ground 3. cools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homework prepares the next lesson.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English word; learners give the French word, then the reverse.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gif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pic>
        <p:nvPicPr>
          <p:cNvPr id="4" name="Image 0" descr="/home/claude/pw1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09590" y="4572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1965960"/>
            <a:ext cx="10725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C3F6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DIVINE GRACE COLLEGE OF ARTS, SCIENCE AND TECHNOLOGY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914400" y="2606040"/>
            <a:ext cx="10360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(DGCAST) — GAROUA   |   GEOGRAPHY DEPARTMENT</a:t>
            </a: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914400" y="3200400"/>
            <a:ext cx="103601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SIXTH ARTS  —  CLIMATOLOGY  —  LESSON 8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914400" y="3931920"/>
            <a:ext cx="10360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Vertical Distribution of Temperature</a:t>
            </a:r>
            <a:endParaRPr lang="en-US" sz="2100" dirty="0"/>
          </a:p>
        </p:txBody>
      </p:sp>
      <p:sp>
        <p:nvSpPr>
          <p:cNvPr id="9" name="Text 6"/>
          <p:cNvSpPr txBox="1"/>
          <p:nvPr/>
        </p:nvSpPr>
        <p:spPr>
          <a:xfrm>
            <a:off x="914400" y="5394960"/>
            <a:ext cx="103601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EMMANUEL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Teacher — PLEG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Academic Year 2026 / 2027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INFO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Chapter &amp; Duration</a:t>
            </a:r>
            <a:endParaRPr lang="en-US" sz="3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Lower Sixth Arts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Chapter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1: Understanding and managing atmospheric and hydrological phenomena and hazards across the world in general and Cameroon in particular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periods (2 × 50 minutes)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 Identification</a:t>
            </a:r>
            <a:endParaRPr lang="en-US" sz="30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89711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Sub-topic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Vertical Distribution of Heat in the Atmosphere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Vertical Distribution of Temperature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Notions / Concepts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Lapse rate, environmental lapse rate, adiabatic cooling, air pressure, altitude.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Syllabus focus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temperature changes with height and the reasons for lapse rate.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temperature at different heights and explain why air is colder higher up.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the lesson, the learner should be able to: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lapse rate.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temperature at a given height.</a:t>
            </a:r>
            <a:endParaRPr lang="en-US" sz="22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22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 the reasons why temperature falls with height.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Recall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 falls with altitude in the troposphere.</a:t>
            </a:r>
            <a:endParaRPr lang="en-US" sz="24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Char char="•"/>
            </a:pPr>
            <a:r>
              <a:rPr lang="en-US" sz="24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ground heats the air.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Real-Life Situation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Climbers of Mount Cameroon leave Buea in T-shirts but need warm coats near the top. A learner thinks that the top should be hotter because it is closer to the Sun.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problem in the situation?</a:t>
            </a:r>
            <a:endParaRPr lang="en-US" sz="4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learner does not know why the top of a mountain is cold.</a:t>
            </a:r>
            <a:endParaRPr lang="en-US" sz="4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top of the mountain hotter?</a:t>
            </a:r>
            <a:endParaRPr lang="en-US" sz="4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No, it is colder.</a:t>
            </a:r>
            <a:endParaRPr lang="en-US" sz="4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Situation — Question 3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heats the air?</a:t>
            </a:r>
            <a:endParaRPr lang="en-US" sz="4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REAL-LIFE SITUATION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Possible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ground, not the Sun directly.</a:t>
            </a:r>
            <a:endParaRPr lang="en-US" sz="4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JUSTIFICATION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Justification of the Lesson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lesson helps us to understand why mountains and highlands are cooler than lowlands.</a:t>
            </a:r>
            <a:endParaRPr lang="en-US" sz="4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</a:t>
            </a:r>
            <a:endParaRPr lang="en-US" sz="3600" dirty="0"/>
          </a:p>
        </p:txBody>
      </p:sp>
      <p:pic>
        <p:nvPicPr>
          <p:cNvPr id="13" name="Image 0" descr="/home/claude/f4/img/v2/lsa_mtcameroo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Mount Cameroon (4,095 m).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1: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Is the top of the mountain warmer or colder than Buea? Why?</a:t>
            </a:r>
            <a:endParaRPr lang="en-US" sz="4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Colder, because temperature falls with height.</a:t>
            </a:r>
            <a:endParaRPr lang="en-US" sz="4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</a:t>
            </a:r>
            <a:endParaRPr lang="en-US" sz="3600" dirty="0"/>
          </a:p>
        </p:txBody>
      </p:sp>
      <p:pic>
        <p:nvPicPr>
          <p:cNvPr id="13" name="Image 0" descr="/home/claude/f4/img/v2/lapse_r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6.5 °C every 1,000 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2: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If it is 27 °C at sea level, what is the temperature at 2,000 m?</a:t>
            </a:r>
            <a:endParaRPr lang="en-US" sz="4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I. LAPSE RATE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19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27 − (2 × 6.5) = 14 °C.</a:t>
            </a:r>
            <a:endParaRPr lang="en-US" sz="4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</a:t>
            </a:r>
            <a:endParaRPr lang="en-US" sz="3600" dirty="0"/>
          </a:p>
        </p:txBody>
      </p:sp>
      <p:pic>
        <p:nvPicPr>
          <p:cNvPr id="13" name="Image 0" descr="/home/claude/f4/img/v2/heated_below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heats the air from below.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3: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air warmest near the ground?</a:t>
            </a:r>
            <a:endParaRPr lang="en-US" sz="4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ground absorbs sunlight and heats the air above it.</a:t>
            </a:r>
            <a:endParaRPr lang="en-US" sz="4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</a:t>
            </a:r>
            <a:endParaRPr lang="en-US" sz="3600" dirty="0"/>
          </a:p>
        </p:txBody>
      </p:sp>
      <p:pic>
        <p:nvPicPr>
          <p:cNvPr id="13" name="Image 0" descr="/home/claude/f4/img/v2/f4_planewindow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4449" y="1691640"/>
            <a:ext cx="8160054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plane at 10,000 m, where the air is about −50 °C.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4: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is the air thin and cold so high up?</a:t>
            </a:r>
            <a:endParaRPr lang="en-US" sz="4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less dense and holds less water vapour, so it keeps less heat.</a:t>
            </a:r>
            <a:endParaRPr lang="en-US" sz="4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</a:t>
            </a:r>
            <a:endParaRPr lang="en-US" sz="3600" dirty="0"/>
          </a:p>
        </p:txBody>
      </p:sp>
      <p:pic>
        <p:nvPicPr>
          <p:cNvPr id="13" name="Image 0" descr="/home/claude/f4/img/v2/parcel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Animation: rising air cools as it expands.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Activity 5: Question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happens to air when it rises?</a:t>
            </a:r>
            <a:endParaRPr lang="en-US" sz="4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II. REASONS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expands because pressure is lower, and it cools (adiabatic cooling).</a:t>
            </a:r>
            <a:endParaRPr lang="en-US" sz="4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29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Vertical Distribution of Temperature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Topic: Energy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Sub-topic: Vertical Distribution of Heat in the Atmosphere</a:t>
            </a:r>
            <a:endParaRPr lang="en-US" sz="32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2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Lesson 8: Vertical Distribution of Temperature</a:t>
            </a:r>
            <a:endParaRPr lang="en-US" sz="3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I. Definitions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Lapse rate: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rate at which temperature falls with height.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Environmental lapse rate: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real fall in temperature with height, about 6.5 °C per 1,000 m.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Adiabatic cooling: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cooling of air when it rises and expands.</a:t>
            </a:r>
            <a:endParaRPr lang="en-US" sz="4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II. Nature of the Variation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In the troposphere: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with height by about 6.5 °C every 1,000 m. It reaches about −56 °C at the tropopause.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Calculation: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at height = ground temperature − (height in km × 6.5). At 3,000 m above a 27 °C coast it is about 7.5 °C.</a:t>
            </a:r>
            <a:endParaRPr lang="en-US" sz="4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Reasons (1/3)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A. Heating from below: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heated by the ground, not directly by the Sun. So the air far from the ground is cooler.</a:t>
            </a:r>
            <a:endParaRPr lang="en-US" sz="40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B. Thin air: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Higher up the air is less dense and holds less water vapour and dust. It absorbs and keeps less heat.</a:t>
            </a:r>
            <a:endParaRPr lang="en-US" sz="4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Reasons (2/3)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C. Expansion: </a:t>
            </a:r>
            <a:pPr indent="0" marL="0">
              <a:spcAft>
                <a:spcPts val="10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air meets lower pressure and expands. When air expands, it cools.</a:t>
            </a:r>
            <a:endParaRPr lang="en-US" sz="4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 SUMMARY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III. Reasons (3/3)</a:t>
            </a:r>
            <a:endParaRPr lang="en-US" sz="3600" dirty="0"/>
          </a:p>
        </p:txBody>
      </p:sp>
      <p:pic>
        <p:nvPicPr>
          <p:cNvPr id="13" name="Image 0" descr="/home/claude/f4/img/v2/lapse_rate_bi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0838" y="1691640"/>
            <a:ext cx="11587277" cy="4526280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457200" y="624535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55555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Copy the diagram.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1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is the environmental lapse rate?</a:t>
            </a:r>
            <a:endParaRPr lang="en-US" sz="4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36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fall of about 6.5 °C per 1,000 m of height.</a:t>
            </a:r>
            <a:endParaRPr lang="en-US" sz="4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37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Formative Evaluation 2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30 °C at sea level. Find the temperature at 1,000 m.</a:t>
            </a:r>
            <a:endParaRPr lang="en-US" sz="4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FORMATIVE EVALUATION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Expected Answer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30 − 6.5 = 23.5 °C.</a:t>
            </a:r>
            <a:endParaRPr lang="en-US" sz="4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39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Remediation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3600" b="1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Fill in the blanks: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Temperature falls by about ______ °C every 1,000 m.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air is heated by the ______.</a:t>
            </a:r>
            <a:endParaRPr lang="en-US" sz="3600" dirty="0"/>
          </a:p>
          <a:p>
            <a:pPr marL="342900" indent="-342900">
              <a:lnSpc>
                <a:spcPct val="100000"/>
              </a:lnSpc>
              <a:spcAft>
                <a:spcPts val="800"/>
              </a:spcAft>
              <a:buSzPct val="100000"/>
              <a:buFont typeface="+mj-lt"/>
              <a:buAutoNum type="arabicPeriod" startAt="1"/>
            </a:pPr>
            <a:r>
              <a:rPr lang="en-US" sz="36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Rising air expands and ______.</a:t>
            </a:r>
            <a:endParaRPr lang="en-US" sz="36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HOMEWORK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40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Homework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dirty="0">
                <a:solidFill>
                  <a:srgbClr val="1111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Calculate the temperature at the top of Mount Cameroon if it is 28 °C in Limbe.</a:t>
            </a:r>
            <a:endParaRPr lang="en-US" sz="4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4000" b="1" dirty="0">
                <a:solidFill>
                  <a:srgbClr val="99001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prepares Lesson 9: Temperature Inversion.</a:t>
            </a:r>
            <a:endParaRPr lang="en-US" sz="4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BILINGUAL GAME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41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Bilingual Game (Jeu Bilingue)</a:t>
            </a:r>
            <a:endParaRPr lang="en-US" sz="300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011680" y="1783080"/>
          <a:ext cx="8138160" cy="914400"/>
        </p:xfrm>
        <a:graphic>
          <a:graphicData uri="http://schemas.openxmlformats.org/drawingml/2006/table">
            <a:tbl>
              <a:tblPr/>
              <a:tblGrid>
                <a:gridCol w="4069080"/>
                <a:gridCol w="4069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English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Français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001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Lapse rate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 gradient thermique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Height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L'altitude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Expansion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détente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Dense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Mountain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montagne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Pressure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pression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42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(1/2)</a:t>
            </a:r>
            <a:endParaRPr lang="en-US" sz="300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 / Topic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Energy in the Atmosphere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Title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Lesson 8: Vertical Distribution of Temperature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Learning Outcomes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Define lapse rate. Calculate temperature at a given height. Explain the reasons why temperature falls with height.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Learners are able to calculate temperature at different heights and explain why air is colder higher up.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LOGBOOK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Official Logbook (2/2)</a:t>
            </a:r>
            <a:endParaRPr lang="en-US" sz="30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783080"/>
          <a:ext cx="112745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3484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Matter Taught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I. Definitions: Lapse rate, Environmental lapse rate, Adiabatic cooling; II. Nature of the Variation: In the troposphere, Calculation; III. Reasons: Heating from below, Thin air, Expansion.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Evaluation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Formative evaluation (3 questions) and remediation exercise.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Homework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Calculate the temperature at the top of Mount Cameroon if it is 28 °C in Limbe.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Enrolment / Present / Absent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____ / ____ / ____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Achievement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C3F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111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 be completed by the teacher after the lesson.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TEACHER'S NOTE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44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Teacher's Note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Timing: Set-up, recall 8 min | Situation 8 min | 5 activities 30 min | Board summary (copying) 30 min | Evaluation, remediation 10 min | Homework, logbook 9 min | Spare 5 min</a:t>
            </a:r>
            <a:endParaRPr lang="en-US" sz="20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20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5 is an animation (GIF): it plays automatically in slide-show mode.</a:t>
            </a:r>
            <a:endParaRPr lang="en-US" sz="2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668366" cy="777240"/>
          </a:xfrm>
          <a:prstGeom prst="rect">
            <a:avLst/>
          </a:prstGeom>
          <a:solidFill>
            <a:srgbClr val="990011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0"/>
            <a:ext cx="5394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GEOGRAPHY — LOWER SIXTH ARTS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5668366" y="0"/>
            <a:ext cx="6523330" cy="777240"/>
          </a:xfrm>
          <a:prstGeom prst="chevron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126480" y="0"/>
            <a:ext cx="5760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0" y="6548018"/>
            <a:ext cx="3657600" cy="310896"/>
          </a:xfrm>
          <a:prstGeom prst="rect">
            <a:avLst/>
          </a:prstGeom>
          <a:solidFill>
            <a:srgbClr val="1C3F6E"/>
          </a:solidFill>
          <a:ln w="12700">
            <a:solidFill>
              <a:srgbClr val="1C3F6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6548018"/>
            <a:ext cx="3383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/ 2027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0" y="6548018"/>
            <a:ext cx="5852160" cy="310896"/>
          </a:xfrm>
          <a:prstGeom prst="rect">
            <a:avLst/>
          </a:prstGeom>
          <a:solidFill>
            <a:srgbClr val="B8860B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94760" y="6548018"/>
            <a:ext cx="5577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DGCAST GAROUA — GEOGRAPHY DEPARTMENT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9509760" y="6548018"/>
            <a:ext cx="2681935" cy="310896"/>
          </a:xfrm>
          <a:prstGeom prst="rect">
            <a:avLst/>
          </a:prstGeom>
          <a:solidFill>
            <a:srgbClr val="36454F"/>
          </a:solidFill>
          <a:ln w="12700">
            <a:solidFill>
              <a:srgbClr val="36454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601200" y="6548018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KAMDEM E.   |   45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457200" y="896112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9001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1783080"/>
            <a:ext cx="11274552" cy="466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Geography Syllabus, Sixth Forms (Lower &amp; Upper Sixth), MINESEC/IGE/IP-SS, August 2019 — Module 1 (Meteorology, Climatology &amp; Hydrology).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1: “Mount Cameroon” by John &amp; Mel Kots, CC BY-NC-ND 2.0, via Flickr (https://www.flickr.com/photos/26745817@N00/2347261849)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Photo, Activity 4: “flying” by { pranav }, CC BY 2.0, via Flickr (https://www.flickr.com/photos/29220600@N08/3469129491)</a:t>
            </a:r>
            <a:endParaRPr lang="en-US" sz="1800" dirty="0"/>
          </a:p>
          <a:p>
            <a:pPr indent="0" marL="0">
              <a:lnSpc>
                <a:spcPct val="100000"/>
              </a:lnSpc>
              <a:spcAft>
                <a:spcPts val="800"/>
              </a:spcAft>
              <a:buNone/>
            </a:pPr>
            <a:r>
              <a:rPr lang="en-US" sz="1800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Diagrams and animations: drawn for this lesson (DGCAST Geography Department).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2026-09-26T11:58:16Z</dcterms:created>
  <dcterms:modified xsi:type="dcterms:W3CDTF">2026-09-26T11:58:16Z</dcterms:modified>
</cp:coreProperties>
</file>