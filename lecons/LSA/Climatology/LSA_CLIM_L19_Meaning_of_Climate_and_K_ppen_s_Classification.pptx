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class, and welcome to our geography lesson. I am your geography teacher, Mr Kamdem. Today we are starting Lesson 19: Meaning of Climate and Köppen's Classification.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lesson is for Lower Sixth Arts. It belongs to Module 1: Understanding and managing atmospheric and hydrological phenomena and hazards across the world in general and Cameroon in particular. We shall need 2 periods to cover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topic is Climates, and the sub-topic is Basic Notions of Climate. The key notions we shall use today are: climate, climatic elements, climatic controls, genetic and empirical classification, Köppen. At the end, you should be able to do this: learners are able to classify climates using Köppen's letters and explain the controls of climate.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we start the new lesson, let us correct the homework I gave you at the end of Lesson 18: Air Masses. The question was: Draw West Africa and show the mT, cT and the ITF in January and in July. Take out your exercise books.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a good answer. In January the ITF is near 5–7° N: cT air (Harmattan) covers most of Cameroon and mT air stays near the coast. In July the ITF is near 20° N: mT air (monsoon) covers the whole country. Compare it with your own answer and correct your work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plan of our lesson today. We shall correction of the homework; then objectives and recall; then real-life situation and action to take; then learning activities; then board summary; then evaluation, remediation and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this lesson, you should be able to do three things. Number 1: define climate and name its elements. Number 2: explain the general factors (controls) of climate. Number 3: describe Köppen's classification.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first remember what you already know. Weather is the state of the air for a short time. Temperature and rain change with latitude. Keep this in mind, because we shall build on it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carefully to this situation from real life. A student finds the code "Aw" for Garoua and "Af" for Douala in an atlas. He does not know what these letters mean. Think about it, because I am going to ask you some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1: What is the problem in the situation? Think for a moment, then raise your hand to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Good. The student cannot read climate codes.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2: Who created these letters? Think for a moment, then raise your hand to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Good. The climatologist Wladimir Köppen.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3: What does "A" mean? Think for a moment, then raise your hand to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Good. A tropical humid climate, hot all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this situation, the action we are working towards in this lesson is the following: classify and describe climates to understand the environments of the world.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is this lesson important for you? This lesson helps us to classify and compare the climates of the world.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1. Look carefully at this picture: a Stevenson screen in a weather station. Observe every detail before I ask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question for Activity 1: How many years of records are needed to describe a climate? Take one minute to think and write your answer in your rough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check the answer together. About 30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2. Look carefully at this diagram: a simplified map of Köppen's climate groups. Observe every detail before I ask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question for Activity 2: Which group is found near the Equator? Which near 30°? Take one minute to think and write your answer in your rough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check the answer together. A (tropical humid) near the Equator; B (dry) near 30°.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3. Look carefully at this diagram: climate graph of Garoua. Observe every detail before I ask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question for Activity 3: Garoua has a long dry season in winter. What is its Köppen code? Take one minute to think and write your answer in your rough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check the answer together. Aw (tropical wet and dry, savanna).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 Look carefully at this diagram: climate graph of London. Observe every detail before I ask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question for Activity 4: London is mild and wet all year. Which letter group is it? Take one minute to think and write your answer in your rough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check the answer together. C (warm temperate); its code is Cfb.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5. Look carefully at this diagram: the climates of Africa. Observe every detail before I ask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is the question for Activity 5: Name three factors that explain the climates of Africa. Take one minute to think and write your answer in your rough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check the answer together. Latitude, pressure and winds, relief (also ocean currents, distance from the sea).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we are going to copy the board summary. Write the title and the headings neatly in your notebooks. I will give you enough time for each slide, so do not rush.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copy Meaning, Elements and Characteristics. Climate can be understood as follows. Write each point on a new line, with the key term first. When you finish, we go to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continue with the same part. Write each point on a new line, with the key term first. When you finish, we go to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continue with the same part. Write each point on a new line, with the key term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copy Classification of Climate. Climates are classified in two ways. Write each point on a new line, with the key term first. When you finish, we go to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continue with the same part. Write each point on a new line, with the key term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copy Köppen's Classification. Köppen uses letters for the main climate groups. Write each point on a new line, with the key term first. When you finish, we go to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continue with the same part. Write each point on a new line, with the key term first. When you finish, we go to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continue with the same part. Write each point on a new line, with the key term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draw this illustration in your notebook: köppen climate groups. Give it a title and label it clearly.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copy General Factors (Controls) of Climate. The main factors of climate are. Write each point on a new line, with the key term first. When you finish, we go to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continue with the same part. Write each point on a new line, with the key term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let us check what you have understood. Question 1: Distinguish weather and climate. Answer in your exercise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expected answer is: weather is short-term; climate is the average weather over about 30 years. If you got it right, well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let us check what you have understood. Question 2: What do the letters A, B and E mean in Köppen's classification? Answer in your exercise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expected answer is: a: tropical humid; B: dry; E: polar. If you got it right, well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your time to copy this part; we will continue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those who need more practice, fill in the blanks in your exercise book. The answers are: number 1, 30; number 2, B; number 3, 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your homework: Find the Köppen code of Douala, Maroua and Paris. We shall correct it at the beginning of our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next lesson will be on Lesson 20: Micro-climates. Thank you for your attention, and see you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play the bilingual game. I say a word in English, and you give me the French word. Then we do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record this information in the official logbook of the class after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complete the second page of the logbook: the matter taught, the evaluation, the homework and the attendance.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for me, the teacher: it gives the timing of the lesson and what to do if the projector is not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references and picture credits used to prepare this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0" cy="6583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0"/>
            <a:ext cx="4754880" cy="658368"/>
          </a:xfrm>
          <a:prstGeom prst="homePlate">
            <a:avLst/>
          </a:prstGeom>
          <a:solidFill>
            <a:srgbClr val="990011"/>
          </a:solidFill>
          <a:ln>
            <a:solidFill>
              <a:srgbClr val="9900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/ LOWER SIXTH ARTS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212080" y="0"/>
            <a:ext cx="6979615" cy="658368"/>
          </a:xfrm>
          <a:prstGeom prst="chevron">
            <a:avLst/>
          </a:prstGeom>
          <a:solidFill>
            <a:srgbClr val="1C3F6E"/>
          </a:solidFill>
          <a:ln>
            <a:solidFill>
              <a:srgbClr val="1C3F6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19: MEANING OF CLIMATE AND KÖPPEN'S CLASSIFICATION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492240"/>
            <a:ext cx="2743200" cy="365760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" y="6492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2026 / 2027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0" y="6492240"/>
            <a:ext cx="6035040" cy="36576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64922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MINESEC  —  HOD – GBHS GAROUA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778240" y="6492240"/>
            <a:ext cx="3413455" cy="365760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0" y="6492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—  Geography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888736" cy="6492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26480" y="50292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565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MINESEC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6126480" y="13258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GBHS GAROUA  —  GEOGRAPHY DEPARTMENT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126480" y="52578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KAMDEM Emmanuel Berthaut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Geography Teacher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0" y="6492240"/>
            <a:ext cx="2743200" cy="365760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7160" y="6492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2026 / 2027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743200" y="6492240"/>
            <a:ext cx="6035040" cy="36576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834640" y="64922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MINESEC  —  HOD – GBHS GAROUA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778240" y="6492240"/>
            <a:ext cx="3413455" cy="365760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69680" y="6492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—  Geography</a:t>
            </a:r>
            <a:endParaRPr lang="en-US" sz="13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0" y="196596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LOWER SIXTH ARTS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GEOGRAPHY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126480" y="3063240"/>
            <a:ext cx="5760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19: Meaning of Climate and Köppen's Classification</a:t>
            </a:r>
            <a:endParaRPr lang="en-US" sz="26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Meaning of Climate and Köppen's Classification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Class, Chapter and Duration</a:t>
            </a:r>
            <a:endParaRPr lang="en-US" sz="3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8572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Identification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8572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Notions of Climate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Meaning of Climate and Köppen's Classification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Climate, climatic elements, climatic controls, genetic and empirical classification, Köppen.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elements of climate; general factors; Köppen's classification (A, B, C, D, E).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climates using Köppen's letters and explain the controls of climate.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CORRECTION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Correction of the Homework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C3F6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 (Lesson 18: Air Masses):</a:t>
            </a:r>
            <a:endParaRPr lang="en-US" sz="4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West Africa and show the mT, cT and the ITF in January and in July.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CORRECTION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Correction: Possible Answer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January the ITF is near 5–7° N: cT air (Harmattan) covers most of Cameroon and mT air stays near the coast. In July the ITF is near 20° N: mT air (monsoon) covers the whole country.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246888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697480" y="1005840"/>
            <a:ext cx="9174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Plan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2697480" y="1783080"/>
            <a:ext cx="91741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Correction of the homework</a:t>
            </a:r>
            <a:endParaRPr lang="en-US" sz="4000" dirty="0"/>
          </a:p>
          <a:p>
            <a:pPr algn="l"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Objectives and recall</a:t>
            </a:r>
            <a:endParaRPr lang="en-US" sz="4000" dirty="0"/>
          </a:p>
          <a:p>
            <a:pPr algn="l"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 and action to take</a:t>
            </a:r>
            <a:endParaRPr lang="en-US" sz="4000" dirty="0"/>
          </a:p>
          <a:p>
            <a:pPr algn="l"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activities</a:t>
            </a:r>
            <a:endParaRPr lang="en-US" sz="4000" dirty="0"/>
          </a:p>
          <a:p>
            <a:pPr algn="l"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Board summary</a:t>
            </a:r>
            <a:endParaRPr lang="en-US" sz="4000" dirty="0"/>
          </a:p>
          <a:p>
            <a:pPr algn="l"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Evaluation, remediation and homework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246888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697480" y="1005840"/>
            <a:ext cx="9174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Objectives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2697480" y="1783080"/>
            <a:ext cx="91741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the end of this lesson, you should be able to:</a:t>
            </a:r>
            <a:endParaRPr lang="en-US" sz="4000" dirty="0"/>
          </a:p>
          <a:p>
            <a:pPr algn="l"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climate and name its elements.</a:t>
            </a:r>
            <a:endParaRPr lang="en-US" sz="4000" dirty="0"/>
          </a:p>
          <a:p>
            <a:pPr algn="l"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the general factors (controls) of climate.</a:t>
            </a:r>
            <a:endParaRPr lang="en-US" sz="4000" dirty="0"/>
          </a:p>
          <a:p>
            <a:pPr algn="l"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Köppen's classification.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KNOWLEDGE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Previous Knowledge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is the state of the air for a short time.</a:t>
            </a:r>
            <a:endParaRPr lang="en-US" sz="4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and rain change with latitude.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in Real Life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student finds the code "Aw" for Garoua and "Af" for Douala in an atlas. He does not know what these letters mean.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Situation: Question 1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student cannot read climate codes.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Situation: Question 2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created these letters?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climatologist Wladimir Köppen.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Situation: Question 3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"A" mean?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tropical humid climate, hot all year.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TO TAKE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Action to Take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Classify and describe climates to understand the environments of the world.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classify and compare the climates of the world.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MEANING AND ELEMENTS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4" name="Image 0" descr="/home/claude/f4/img/v2/f4_stevens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6610" y="1783080"/>
            <a:ext cx="7698475" cy="4270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Stevenson screen in a weather station.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MEANING AND ELEMENTS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many years of records are needed to describe a climate?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MEANING AND ELEMENTS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Answer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30 years.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KÖPPEN CLASSIFICATION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4" name="Image 0" descr="/home/claude/f4/img/v2/koppe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5600" y="1783080"/>
            <a:ext cx="8540496" cy="4270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simplified map of Köppen's climate groups.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KÖPPEN CLASSIFICATION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group is found near the Equator? Which near 30°?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KÖPPEN CLASSIFICATION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Answer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(tropical humid) near the Equator; B (dry) near 30°.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KÖPPEN: TROPICAL EXAMPLE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4" name="Image 0" descr="/home/claude/f4/img/v2/garoua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5564" y="1783080"/>
            <a:ext cx="9760567" cy="4270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graph of Garoua.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KÖPPEN: TROPICAL EXAMPLE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Garoua has a long dry season in winter. What is its Köppen code?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KÖPPEN: TROPICAL EXAMPLE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Answer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Aw (tropical wet and dry, savanna).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KÖPPEN: TEMPERATE EXAMPLE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4" name="Image 0" descr="/home/claude/f4/img/v2/london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5564" y="1783080"/>
            <a:ext cx="9760567" cy="4270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graph of London.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KÖPPEN: TEMPERATE EXAMPLE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London is mild and wet all year. Which letter group is it?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KÖPPEN: TEMPERATE EXAMPLE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Answer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(warm temperate); its code is Cfb.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GENERAL FACTORS OF CLIMATE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4" name="Image 0" descr="/home/claude/f4/img/v2/africa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0072" y="1783080"/>
            <a:ext cx="7591552" cy="4270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climates of Africa.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GENERAL FACTORS OF CLIMATE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factors that explain the climates of Africa.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GENERAL FACTORS OF CLIMATE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Answer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Latitude, pressure and winds, relief (also ocean currents, distance from the sea).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Board Summary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Climates</a:t>
            </a:r>
            <a:endParaRPr lang="en-US" sz="4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Basic Notions of Climate</a:t>
            </a:r>
            <a:endParaRPr lang="en-US" sz="4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19: Meaning of Climate and Köppen's Classification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Meaning, Elements and Characteristics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i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can be understood as follows:</a:t>
            </a:r>
            <a:endParaRPr lang="en-US" sz="4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Climate: </a:t>
            </a:r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average weather conditions of a place over a long period, usually 30 years or more.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Meaning, Elements and Characteristics (continued)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Elements of climate: </a:t>
            </a:r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temperature, precipitation, humidity, pressure, winds, sunshine and cloud cover. They are measured at weather stations.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Meaning, Elements and Characteristics (continued)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Characteristics: </a:t>
            </a:r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climate is described by its mean temperatures, annual range, total rainfall and its seasons. It changes only slowly over time.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Classification of Climate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i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Climates are classified in two ways:</a:t>
            </a:r>
            <a:endParaRPr lang="en-US" sz="4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Genetic classification: </a:t>
            </a:r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groups climates by their causes, such as air masses and winds. An example is Strahler's classification.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Classification of Climate (continued)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Empirical classification: </a:t>
            </a:r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groups climates by measured temperature and rainfall. Köppen's classification is the best known.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246888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697480" y="1005840"/>
            <a:ext cx="9174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Classification of Climate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2697480" y="1737360"/>
            <a:ext cx="91741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Köppen's Classification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2697480" y="2240280"/>
            <a:ext cx="917417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i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Köppen uses letters for the main climate groups:</a:t>
            </a:r>
            <a:endParaRPr lang="en-US" sz="4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– Tropical humid climates: </a:t>
            </a:r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month is above 18 °C. Af is equatorial (Douala), Aw is tropical with a dry winter (Garoua).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14630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005840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Classification of Climate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691640" y="173736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Köppen's Classification (continued)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691640" y="2240280"/>
            <a:ext cx="1018001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 – Dry climates: </a:t>
            </a:r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is greater than rainfall. BW is desert and BS is steppe (Kousseri, Sahel).</a:t>
            </a:r>
            <a:endParaRPr lang="en-US" sz="4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– Warm temperate climates: </a:t>
            </a:r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coldest month is between −3 °C and 18 °C. Cs is Mediterranean and Cfb is oceanic (London).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384048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69080" y="1005840"/>
            <a:ext cx="7802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Classification of Climate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069080" y="1737360"/>
            <a:ext cx="7802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Köppen's Classification (continued)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069080" y="2240280"/>
            <a:ext cx="780257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 and E – Cold and polar climates: </a:t>
            </a:r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 climates have cold snowy winters (Moscow). E climates have all months below 10 °C (tundra and ice cap); H is used for highlands.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Classification of Climate</a:t>
            </a:r>
            <a:endParaRPr lang="en-US" sz="3600" dirty="0"/>
          </a:p>
        </p:txBody>
      </p:sp>
      <p:pic>
        <p:nvPicPr>
          <p:cNvPr id="4" name="Image 0" descr="/home/claude/f4/img/v2/koppe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5600" y="1783080"/>
            <a:ext cx="8540496" cy="4270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Illustration: Köppen climate groups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384048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69080" y="1005840"/>
            <a:ext cx="7802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General Factors (Controls) of Climate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069080" y="1783080"/>
            <a:ext cx="78025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i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factors of climate are:</a:t>
            </a:r>
            <a:endParaRPr lang="en-US" sz="4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Insolation and latitude: </a:t>
            </a:r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amount of solar energy decides whether a place is hot or cold. It decreases from the Equator to the poles.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14630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005840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General Factors (Controls) of Climate (continued)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691640" y="1783080"/>
            <a:ext cx="101800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Pressure, air masses and winds: </a:t>
            </a:r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decide whether a place is wet or dry. For example, the subtropical highs create deserts.</a:t>
            </a:r>
            <a:endParaRPr lang="en-US" sz="4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Relief, ocean currents and man: </a:t>
            </a:r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Mountains are cooler and wetter, and currents warm or cool the coasts. Man changes climate through towns, deforestation and greenhouse gases.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Evaluation 1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weather and climate.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 is short-term; climate is the average weather over about 30 years.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Evaluation 2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the letters A, B and E mean in Köppen's classification?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A: tropical humid; B: dry; E: polar.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4000" dirty="0"/>
          </a:p>
          <a:p>
            <a:pPr algn="l"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 is based on about ______ years of records.</a:t>
            </a:r>
            <a:endParaRPr lang="en-US" sz="4000" dirty="0"/>
          </a:p>
          <a:p>
            <a:pPr algn="l"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Köppen's system, dry climates are group ______.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 (continued)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Garoua has a tropical wet and dry climate: ______.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Köppen code of Douala, Maroua and Paris.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Lesson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Our next lesson will be on:</a:t>
            </a:r>
            <a:endParaRPr lang="en-US" sz="40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20: Micro-climates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Bilingual Game (Jeu Bilingue)</a:t>
            </a:r>
            <a:endParaRPr lang="en-US" sz="36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06728" y="1783080"/>
          <a:ext cx="877824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43891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climat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classification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L'élément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facteur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 climate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 sec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Polaire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Official Logbook (1/2)</a:t>
            </a:r>
            <a:endParaRPr lang="en-US" sz="36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8572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257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19: Meaning of Climate and Köppen's Classification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climate and name its elements. Explain the general factors (controls) of climate. Describe Köppen's classification.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climates using Köppen's letters and explain the controls of climate.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Official Logbook (2/2)</a:t>
            </a:r>
            <a:endParaRPr lang="en-US" sz="3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8572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257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Elements and Characteristics; Classification of Climate; Köppen's Classification; General Factors (Controls) of Climate.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and remediation exercise.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Köppen code of Douala, Maroua and Paris.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after the lesson.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384048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69080" y="1005840"/>
            <a:ext cx="7802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Teacher's Note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069080" y="1783080"/>
            <a:ext cx="780257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Homework correction, plan, objectives 8 min | Recall, situation, action 10 min | 5 activities 30 min | Board summary (copying) 30 min | Evaluation, remediation 10 min | Homework, next lesson 5 min | Logbook 7 min</a:t>
            </a:r>
            <a:endParaRPr lang="en-US" sz="2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projector (Activity 1): list the weather elements on the board.</a:t>
            </a:r>
            <a:endParaRPr lang="en-US" sz="2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projector (Activity 2): write A, B, C, D, E with their meanings.</a:t>
            </a:r>
            <a:endParaRPr lang="en-US" sz="2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projector (Activity 3): read the graph with the class.</a:t>
            </a:r>
            <a:endParaRPr lang="en-US" sz="2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projector (Activity 4): compare with Garoua.</a:t>
            </a:r>
            <a:endParaRPr lang="en-US" sz="2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projector (Activity 5): show Africa on the map.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13232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C3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400" dirty="0"/>
          </a:p>
        </p:txBody>
      </p:sp>
      <p:pic>
        <p:nvPicPr>
          <p:cNvPr id="3" name="Image 0" descr="/home/claude/f4/img/minesec_sh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58368"/>
            <a:ext cx="5120640" cy="5833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100584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349240" y="1783080"/>
            <a:ext cx="652241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MINESEC/IGE/IP-SS, 2019 — Module 1 (Meteorology, Climatology &amp; Hydrology).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“Adelaide. Urrbrae. The weather station at the Waite campus of the Univ” by denisbin, CC BY-ND 2.0, via Flickr (https://www.flickr.com/photos/82134796@N03/49865994827)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(Geography Department).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27432" y="91440"/>
            <a:ext cx="585216" cy="4754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2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2026-09-27T09:27:34Z</dcterms:created>
  <dcterms:modified xsi:type="dcterms:W3CDTF">2026-09-27T09:27:34Z</dcterms:modified>
</cp:coreProperties>
</file>