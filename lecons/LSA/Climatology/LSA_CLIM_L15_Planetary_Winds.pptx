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</p:sldIdLst>
  <p:notesMasterIdLst>
    <p:notesMasterId r:id="rId4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notesMaster" Target="notesMasters/notesMaster1.xml"/><Relationship Id="rId48" Type="http://schemas.openxmlformats.org/officeDocument/2006/relationships/presProps" Target="presProps.xml"/><Relationship Id="rId49" Type="http://schemas.openxmlformats.org/officeDocument/2006/relationships/viewProps" Target="viewProps.xml"/><Relationship Id="rId50" Type="http://schemas.openxmlformats.org/officeDocument/2006/relationships/theme" Target="theme/theme1.xml"/><Relationship Id="rId5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Good morning, class. Today we study Lesson 15: Planetary Winds.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 the situation slowly, twice.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Without the projector: let air out of a balloon.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Without the projector: draw a line on a spinning plate.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Without the projector: draw the winds on a circle.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Without the projector: describe a sailing canoe.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Without the projector: explain that there is little land to slow them.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Learners copy the board summary now. Give them enough time for each slide.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Answers: 1. high 2. right 3. trade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homework prepares the next lesson.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Say the English word; learners give the French word, then the reverse.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gif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pic>
        <p:nvPicPr>
          <p:cNvPr id="4" name="Image 0" descr="/home/claude/pw1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09590" y="457200"/>
            <a:ext cx="1371600" cy="137160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731520" y="1965960"/>
            <a:ext cx="1072591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C3F6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DIVINE GRACE COLLEGE OF ARTS, SCIENCE AND TECHNOLOGY</a:t>
            </a:r>
            <a:endParaRPr lang="en-US" sz="2000" dirty="0"/>
          </a:p>
        </p:txBody>
      </p:sp>
      <p:sp>
        <p:nvSpPr>
          <p:cNvPr id="6" name="Text 3"/>
          <p:cNvSpPr txBox="1"/>
          <p:nvPr/>
        </p:nvSpPr>
        <p:spPr>
          <a:xfrm>
            <a:off x="914400" y="2606040"/>
            <a:ext cx="1036015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(DGCAST) — GAROUA   |   GEOGRAPHY DEPARTMENT</a:t>
            </a:r>
            <a:endParaRPr lang="en-US" sz="1500" dirty="0"/>
          </a:p>
        </p:txBody>
      </p:sp>
      <p:sp>
        <p:nvSpPr>
          <p:cNvPr id="7" name="Text 4"/>
          <p:cNvSpPr txBox="1"/>
          <p:nvPr/>
        </p:nvSpPr>
        <p:spPr>
          <a:xfrm>
            <a:off x="914400" y="3200400"/>
            <a:ext cx="103601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LOWER SIXTH ARTS  —  CLIMATOLOGY  —  LESSON 15</a:t>
            </a:r>
            <a:endParaRPr lang="en-US" sz="3400" dirty="0"/>
          </a:p>
        </p:txBody>
      </p:sp>
      <p:sp>
        <p:nvSpPr>
          <p:cNvPr id="8" name="Text 5"/>
          <p:cNvSpPr txBox="1"/>
          <p:nvPr/>
        </p:nvSpPr>
        <p:spPr>
          <a:xfrm>
            <a:off x="914400" y="3931920"/>
            <a:ext cx="103601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B886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Planetary Winds</a:t>
            </a:r>
            <a:endParaRPr lang="en-US" sz="2100" dirty="0"/>
          </a:p>
        </p:txBody>
      </p:sp>
      <p:sp>
        <p:nvSpPr>
          <p:cNvPr id="9" name="Text 6"/>
          <p:cNvSpPr txBox="1"/>
          <p:nvPr/>
        </p:nvSpPr>
        <p:spPr>
          <a:xfrm>
            <a:off x="914400" y="5394960"/>
            <a:ext cx="1036015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EMMANUEL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Teacher — PLEG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Academic Year 2026 / 2027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 INFO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Class, Chapter &amp; Duration</a:t>
            </a:r>
            <a:endParaRPr lang="en-US" sz="300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783080"/>
          <a:ext cx="11274552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889711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Class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Lower Sixth Arts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Chapter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Module 1: Understanding and managing atmospheric and hydrological phenomena and hazards across the world in general and Cameroon in particular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Duration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 periods (2 × 50 minutes)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IDENTIFICATION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Lesson Identification</a:t>
            </a:r>
            <a:endParaRPr lang="en-US" sz="30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783080"/>
          <a:ext cx="11274552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889711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Topic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Global and Local Atmospheric Circulation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Sub-topic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Macroscale or Global Scale Winds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Lesson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Lesson 15: Planetary Winds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Notions / Concepts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Wind, pressure gradient, Coriolis force, trade winds, westerlies, polar easterlies, doldrums.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Syllabus focus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Meaning, illustration, types and characteristics of planetary winds.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Competence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Learners are able to describe the planetary winds and explain their direction.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OBJECTIVES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Learning Objectives</a:t>
            </a:r>
            <a:endParaRPr lang="en-US" sz="30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220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 the end of the lesson, the learner should be able to:</a:t>
            </a:r>
            <a:endParaRPr lang="en-US" sz="22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22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Define wind and explain its cause.</a:t>
            </a:r>
            <a:endParaRPr lang="en-US" sz="22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22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Explain the Coriolis force.</a:t>
            </a:r>
            <a:endParaRPr lang="en-US" sz="22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22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Describe the trades, westerlies and polar easterlies.</a:t>
            </a:r>
            <a:endParaRPr lang="en-US" sz="2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RECALL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5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Recall</a:t>
            </a:r>
            <a:endParaRPr lang="en-US" sz="30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Char char="•"/>
            </a:pPr>
            <a:r>
              <a:rPr lang="en-US" sz="24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Air moves from high to low pressure.</a:t>
            </a:r>
            <a:endParaRPr lang="en-US" sz="24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Char char="•"/>
            </a:pPr>
            <a:r>
              <a:rPr lang="en-US" sz="24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There are four pressure belts in each hemisphere.</a:t>
            </a:r>
            <a:endParaRPr lang="en-US" sz="2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6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Real-Life Situation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In the past, sailing ships crossed the Atlantic from Europe to America by going south first to catch steady winds. Sailors called these winds the "trade winds".</a:t>
            </a:r>
            <a:endParaRPr lang="en-US" sz="4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7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Situation — Question 1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What is the problem in the situation?</a:t>
            </a:r>
            <a:endParaRPr lang="en-US" sz="4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8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Sailors needed to know the direction of the great winds.</a:t>
            </a:r>
            <a:endParaRPr lang="en-US" sz="4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9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Situation — Question 2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Why are the trade winds steady?</a:t>
            </a:r>
            <a:endParaRPr lang="en-US" sz="4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10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They blow all year from the subtropical highs to the Equator.</a:t>
            </a:r>
            <a:endParaRPr lang="en-US" sz="4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11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Situation — Question 3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Why do winds not blow straight?</a:t>
            </a:r>
            <a:endParaRPr lang="en-US" sz="4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12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Possible 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The rotation of the Earth deflects them.</a:t>
            </a:r>
            <a:endParaRPr lang="en-US" sz="4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JUSTIFICATION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13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Justification of the Lesson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This lesson helps us to understand the great wind systems that carry heat and moisture around the Earth.</a:t>
            </a:r>
            <a:endParaRPr lang="en-US" sz="4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I. MEANING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14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1</a:t>
            </a:r>
            <a:endParaRPr lang="en-US" sz="3600" dirty="0"/>
          </a:p>
        </p:txBody>
      </p:sp>
      <p:pic>
        <p:nvPicPr>
          <p:cNvPr id="13" name="Image 0" descr="/home/claude/f4/img/v2/f4_windsock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14449" y="1691640"/>
            <a:ext cx="8160054" cy="452628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457200" y="6245352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 windsock shows wind direction.</a:t>
            </a:r>
            <a:endParaRPr lang="en-US" sz="14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I. MEANING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15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1: Question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What is wind? What causes it?</a:t>
            </a:r>
            <a:endParaRPr lang="en-US" sz="40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I. MEANING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16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Moving air; it blows from high to low pressure.</a:t>
            </a:r>
            <a:endParaRPr lang="en-US" sz="40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II. CORIOLIS FORCE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17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2</a:t>
            </a:r>
            <a:endParaRPr lang="en-US" sz="3600" dirty="0"/>
          </a:p>
        </p:txBody>
      </p:sp>
      <p:pic>
        <p:nvPicPr>
          <p:cNvPr id="13" name="Image 0" descr="/home/claude/f4/img/v2/coriolis.gif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00838" y="1691640"/>
            <a:ext cx="11587277" cy="452628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457200" y="6245352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Animation: winds turn right in the north and left in the south.</a:t>
            </a:r>
            <a:endParaRPr lang="en-US" sz="14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II. CORIOLIS FORCE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18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2: Question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Why do winds turn instead of blowing straight?</a:t>
            </a:r>
            <a:endParaRPr lang="en-US" sz="40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II. CORIOLIS FORCE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19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The rotation of the Earth (Coriolis force).</a:t>
            </a:r>
            <a:endParaRPr lang="en-US" sz="40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III. TYPES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20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3</a:t>
            </a:r>
            <a:endParaRPr lang="en-US" sz="3600" dirty="0"/>
          </a:p>
        </p:txBody>
      </p:sp>
      <p:pic>
        <p:nvPicPr>
          <p:cNvPr id="13" name="Image 0" descr="/home/claude/f4/img/v2/planetary_winds_bi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00838" y="1691640"/>
            <a:ext cx="11587277" cy="452628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457200" y="6245352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The planetary winds.</a:t>
            </a:r>
            <a:endParaRPr lang="en-US" sz="14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III. TYPES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21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3: Question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Which winds blow between 30° and 60°? From which direction in the north?</a:t>
            </a:r>
            <a:endParaRPr lang="en-US" sz="4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III. TYPES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22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The westerlies; from the south-west.</a:t>
            </a:r>
            <a:endParaRPr lang="en-US" sz="40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III. TYPES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23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4</a:t>
            </a:r>
            <a:endParaRPr lang="en-US" sz="3600" dirty="0"/>
          </a:p>
        </p:txBody>
      </p:sp>
      <p:pic>
        <p:nvPicPr>
          <p:cNvPr id="13" name="Image 0" descr="/home/claude/f4/img/v2/lsa_ship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926391" y="1691640"/>
            <a:ext cx="8336170" cy="452628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457200" y="6245352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Tall sailing ships.</a:t>
            </a:r>
            <a:endParaRPr lang="en-US" sz="14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III. TYPES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24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4: Question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Why did sailing ships follow the trade winds?</a:t>
            </a:r>
            <a:endParaRPr lang="en-US" sz="40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III. TYPES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25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They are steady winds that blow in the same direction all year.</a:t>
            </a:r>
            <a:endParaRPr lang="en-US" sz="40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III. TYPES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26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5</a:t>
            </a:r>
            <a:endParaRPr lang="en-US" sz="3600" dirty="0"/>
          </a:p>
        </p:txBody>
      </p:sp>
      <p:pic>
        <p:nvPicPr>
          <p:cNvPr id="13" name="Image 0" descr="/home/claude/f4/img/v2/f4_bigwaves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14449" y="1691640"/>
            <a:ext cx="8160054" cy="452628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457200" y="6245352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Big waves in a stormy ocean.</a:t>
            </a:r>
            <a:endParaRPr lang="en-US" sz="14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III. TYPES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27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5: Question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The westerlies of the southern ocean are very strong. What are they called by sailors?</a:t>
            </a:r>
            <a:endParaRPr lang="en-US" sz="40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III. TYPES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28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The Roaring Forties.</a:t>
            </a:r>
            <a:endParaRPr lang="en-US" sz="40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29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Planetary Winds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3200" b="1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Topic: Global and Local Atmospheric Circulation</a:t>
            </a:r>
            <a:endParaRPr lang="en-US" sz="32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3200" b="1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Sub-topic: Macroscale or Global Scale Winds</a:t>
            </a:r>
            <a:endParaRPr lang="en-US" sz="32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32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Lesson 15: Planetary Winds</a:t>
            </a:r>
            <a:endParaRPr lang="en-US" sz="32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30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I. Definitions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Wind: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It is air moving from high to low pressure.</a:t>
            </a:r>
            <a:endParaRPr lang="en-US" sz="40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Coriolis force: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It is the effect of the Earth's rotation that deflects winds.</a:t>
            </a:r>
            <a:endParaRPr lang="en-US" sz="40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Planetary winds: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They are the main winds that blow over large parts of the Earth all year.</a:t>
            </a:r>
            <a:endParaRPr lang="en-US" sz="40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31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II. Direction of Winds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A. Pressure gradient: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Winds blow from high to low pressure. The greater the difference, the stronger the wind.</a:t>
            </a:r>
            <a:endParaRPr lang="en-US" sz="40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B. Coriolis force: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Winds turn to the right in the northern hemisphere and to the left in the southern hemisphere (Ferrel's law). The force is zero at the Equator.</a:t>
            </a:r>
            <a:endParaRPr lang="en-US" sz="40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32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III. Types of Planetary Winds (1/3)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A. Trade winds: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They blow from the subtropical highs to the Equator, from the north-east and south-east. They are steady and meet at the ITCZ.</a:t>
            </a:r>
            <a:endParaRPr lang="en-US" sz="40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B. Westerlies: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They blow from the subtropical highs to the temperate lows, from the south-west in the north. They bring rain and storms to Europe.</a:t>
            </a:r>
            <a:endParaRPr lang="en-US" sz="40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33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III. Types of Planetary Winds (2/3)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C. Polar easterlies: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They blow from the polar highs to the temperate lows. They are cold and dry.</a:t>
            </a:r>
            <a:endParaRPr lang="en-US" sz="40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34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III. Types of Planetary Winds (3/3)</a:t>
            </a:r>
            <a:endParaRPr lang="en-US" sz="3600" dirty="0"/>
          </a:p>
        </p:txBody>
      </p:sp>
      <p:pic>
        <p:nvPicPr>
          <p:cNvPr id="13" name="Image 0" descr="/home/claude/f4/img/v2/planetary_winds_bi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00838" y="1691640"/>
            <a:ext cx="11587277" cy="452628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457200" y="6245352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Copy the diagram.</a:t>
            </a:r>
            <a:endParaRPr lang="en-US" sz="14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FORMATIVE EVALUATION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35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Formative Evaluation 1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What is the Coriolis force?</a:t>
            </a:r>
            <a:endParaRPr lang="en-US" sz="40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FORMATIVE EVALUATION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36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Expected 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The effect of the Earth's rotation that deflects winds.</a:t>
            </a:r>
            <a:endParaRPr lang="en-US" sz="40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FORMATIVE EVALUATION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37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Formative Evaluation 2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Name the three planetary winds.</a:t>
            </a:r>
            <a:endParaRPr lang="en-US" sz="4000" dirty="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FORMATIVE EVALUATION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38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Expected 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Trade winds, westerlies and polar easterlies.</a:t>
            </a:r>
            <a:endParaRPr lang="en-US" sz="4000" dirty="0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REMEDIATION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39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Remediation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3600" b="1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Fill in the blanks:</a:t>
            </a:r>
            <a:endParaRPr lang="en-US" sz="36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36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Winds blow from ______ to low pressure.</a:t>
            </a:r>
            <a:endParaRPr lang="en-US" sz="36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36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In the north, winds turn to the ______.</a:t>
            </a:r>
            <a:endParaRPr lang="en-US" sz="36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36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Winds from the subtropical highs to the Equator are the ______ winds.</a:t>
            </a:r>
            <a:endParaRPr lang="en-US" sz="3600" dirty="0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HOMEWORK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40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Homework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Draw the planetary winds and pressure belts on one diagram.</a:t>
            </a:r>
            <a:endParaRPr lang="en-US" sz="40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This prepares Lesson 16: Monsoon and Harmattan Winds.</a:t>
            </a:r>
            <a:endParaRPr lang="en-US" sz="4000" dirty="0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BILINGUAL GAME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41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Bilingual Game (Jeu Bilingue)</a:t>
            </a:r>
            <a:endParaRPr lang="en-US" sz="3000" dirty="0"/>
          </a:p>
        </p:txBody>
      </p:sp>
      <p:graphicFrame>
        <p:nvGraphicFramePr>
          <p:cNvPr id="4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011680" y="1783080"/>
          <a:ext cx="8138160" cy="914400"/>
        </p:xfrm>
        <a:graphic>
          <a:graphicData uri="http://schemas.openxmlformats.org/drawingml/2006/table">
            <a:tbl>
              <a:tblPr/>
              <a:tblGrid>
                <a:gridCol w="4069080"/>
                <a:gridCol w="4069080"/>
              </a:tblGrid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English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9001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Français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90011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Wind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 vent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Trade winds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Les alizés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Westerlies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Les vents d'ouest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Deflection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 déviation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Rotation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 rotation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Windsock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 manche à air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LOGBOOK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42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Official Logbook (1/2)</a:t>
            </a:r>
            <a:endParaRPr lang="en-US" sz="3000" dirty="0"/>
          </a:p>
        </p:txBody>
      </p:sp>
      <p:graphicFrame>
        <p:nvGraphicFramePr>
          <p:cNvPr id="4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783080"/>
          <a:ext cx="11274552" cy="914400"/>
        </p:xfrm>
        <a:graphic>
          <a:graphicData uri="http://schemas.openxmlformats.org/drawingml/2006/table">
            <a:tbl>
              <a:tblPr/>
              <a:tblGrid>
                <a:gridCol w="2926080"/>
                <a:gridCol w="834847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Module / Topic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Global and Local Atmospheric Circulation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Lesson Title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Lesson 15: Planetary Winds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Expected Learning Outcomes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Define wind and explain its cause. Explain the Coriolis force. Describe the trades, westerlies and polar easterlies.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Learners are able to describe the planetary winds and explain their direction.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LOGBOOK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43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Official Logbook (2/2)</a:t>
            </a:r>
            <a:endParaRPr lang="en-US" sz="3000" dirty="0"/>
          </a:p>
        </p:txBody>
      </p:sp>
      <p:graphicFrame>
        <p:nvGraphicFramePr>
          <p:cNvPr id="4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783080"/>
          <a:ext cx="11274552" cy="914400"/>
        </p:xfrm>
        <a:graphic>
          <a:graphicData uri="http://schemas.openxmlformats.org/drawingml/2006/table">
            <a:tbl>
              <a:tblPr/>
              <a:tblGrid>
                <a:gridCol w="2926080"/>
                <a:gridCol w="834847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Matter Taught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I. Definitions: Wind, Coriolis force, Planetary winds; II. Direction of Winds: Pressure gradient, Coriolis force; III. Types of Planetary Winds: Trade winds, Westerlies, Polar easterlies.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Evaluation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Formative evaluation (3 questions) and remediation exercise.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Homework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Draw the planetary winds and pressure belts on one diagram.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Enrolment / Present / Absent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____ / ____ / ____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Achievement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 be completed by the teacher after the lesson.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TEACHER'S NOTE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44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Teacher's Note</a:t>
            </a:r>
            <a:endParaRPr lang="en-US" sz="30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20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Timing: Set-up, recall 8 min | Situation 8 min | 5 activities 30 min | Board summary (copying) 30 min | Evaluation, remediation 10 min | Homework, logbook 9 min | Spare 5 min</a:t>
            </a:r>
            <a:endParaRPr lang="en-US" sz="20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20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Activity 2 is an animation (GIF): it plays automatically in slide-show mode.</a:t>
            </a:r>
            <a:endParaRPr lang="en-US" sz="2000" dirty="0"/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REFERENCES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45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References</a:t>
            </a:r>
            <a:endParaRPr lang="en-US" sz="30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18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National Geography Syllabus, Sixth Forms (Lower &amp; Upper Sixth), MINESEC/IGE/IP-SS, August 2019 — Module 1 (Meteorology, Climatology &amp; Hydrology).</a:t>
            </a:r>
            <a:endParaRPr lang="en-US" sz="18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18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Photo, Activity 1: “Windsock” by Wajahat Mahmood, CC BY-SA 2.0, via Flickr (https://www.flickr.com/photos/26116471@N03/6613272897)</a:t>
            </a:r>
            <a:endParaRPr lang="en-US" sz="18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18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Photo, Activity 4: “The Amerigo Vespucci Arrives In Dublin (Tall Ships Race Dublin - 2012)” by infomatique, CC BY-SA 2.0, via Flickr (https://www.flickr.com/photos/80824546@N00/7846937046)</a:t>
            </a:r>
            <a:endParaRPr lang="en-US" sz="18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18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Photo, Activity 5: “Wave Explosion, Monterey Bay, California” by John William Hammond, CC BY-NC-SA 2.0, via Flickr (https://www.flickr.com/photos/8398907@N02/16328053911)</a:t>
            </a:r>
            <a:endParaRPr lang="en-US" sz="18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18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Diagrams and animations: drawn for this lesson (DGCAST Geography Department).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45</Slides>
  <Notes>45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45</vt:i4>
      </vt:variant>
    </vt:vector>
  </HeadingPairs>
  <TitlesOfParts>
    <vt:vector size="4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2026-09-27T04:25:29Z</dcterms:created>
  <dcterms:modified xsi:type="dcterms:W3CDTF">2026-09-27T04:25:29Z</dcterms:modified>
</cp:coreProperties>
</file>