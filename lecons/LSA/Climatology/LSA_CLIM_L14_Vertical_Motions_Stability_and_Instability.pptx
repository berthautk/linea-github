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Vertical Motions: Stability and Instability.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Atmospheric Motions. The key notions we shall use today are: air parcel, stability, instability, conditional instability, dry and saturated adiabatic lapse rates. At the end, you should be able to do this: learners are able to explain why air rises or sinks and predict the weather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Pressure Systems. The question was: Draw the tricellular model and label the pressure belts.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diagram shows the Hadley cell (0–30°), the Ferrel cell (30–60°) and the polar cell (60–90°), with the equatorial low, subtropical highs, subpolar lows and polar highs labelled.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We shall correction of the homework; then objectives and recall; then real-life situation and action to take; then learning activities; then board summary; then evaluation, remediation and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stability and instability. Number 2: compare the lapse rates of a rising parcel and the surrounding air. Number 3: describe the weather of stable and unstable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Rising air cools by expansion. The environmental lapse rate is about 6.5 °C per 1,000 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some afternoons in Yaoundé, huge clouds grow very fast and storms break out. On other days the sky stays grey and flat, and smoke hangs low over the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why some days are stormy and others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on stormy days?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rises quickly: it is unstable.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on calm grey days?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Air does not rise: it is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predict storms or calm weather from the stability of the air and protect lives and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storms form and why some days stay calm.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warm bubble of air rises and forms a cloud.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the parcel keep 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stays warmer and lighter than the air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unstable and a stable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the unstable case, is the rising air warmer or colder than the air around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Warmer, so it keeps 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cumulonimbus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weather comes with unstable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clouds, heavy showers, thunder and sometimes hail.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flat layers of cloud below a stable layer.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weather comes with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layer clouds, fog or clear skies, and no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smoke and haze trapped over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smoke stay near the ground in stable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air cannot rise, so smoke and dust are trapped.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DEFINITIONS. The key terms of this lesson are defined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Instability. Instability can be studied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stable and unstable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Atmospheric Stability. Stability can be studied as follows.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same part. Write each point on a new line, with the key term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stability and instability.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unstable air keeps rising because it stays warmer; stable air sinks back because it becomes colder.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the weather of unstable air.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tall cumulonimbus clouds, heavy showers, thunderstorms.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 number 2, unstable; number 3,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For one week, note whether the afternoon is stormy or calm and link it to stability.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Planetary Winds.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14: VERTICAL MOTIONS: STABILITY AND INSTABILITY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 Vertical Motions: Stability and Instability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Motions: Stability and Instability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Atmospheric Motions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Vertical Motions: Stability and Instability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Air parcel, stability, instability, conditional instability, dry and saturated adiabatic lapse rates.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and weather of instability and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air rises or sinks and predict the weather that follows.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Pressure 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tricellular model and label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diagram shows the Hadley cell (0–30°), the Ferrel cell (30–60°) and the polar cell (60–90°), with the equatorial low, subtropical highs, subpolar lows and polar highs labelled.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stability and instability.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the lapse rates of a rising parcel and the surrounding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weather of stable and unstable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Rising air cools by expansion.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environmental lapse rate is about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some afternoons in Yaoundé, huge clouds grow very fast and storms break out. On other days the sky stays grey and flat, and smoke hangs low over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why some days are stormy and others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on stormy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quickly: it is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on calm grey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does not rise: it is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Predict storms or calm weather from the stability of the air and protect lives and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storms form and why some days stay calm.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INSTABILITY: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warm bubble of air rises and forms a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INSTABILITY: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parcel keep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INSTABILITY: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stays warmer and lighter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TYPES OF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unstable and a stable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TYPES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unstable case, is the rising air warmer or colder than the air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TYPES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Warmer, so it keeps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WEATHER OF INSTABILITY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cumulonimbus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WEATHER OF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unstable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 WEATHER OF INSTABILITY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clouds, heavy showers, thunder and sometimes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Flat layers of cloud below a stable layer.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weather comes with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layer clouds, fog or clear skies, and no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and haze trapped over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smoke stay near the ground in 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WEATHER OF STABILITY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cannot rise, so smoke and dust are trapped.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Atmospheric Motions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Vertical Motions: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adiabatic lapse rate (DALR):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unsaturated rising air cools, about 10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Saturated adiabatic lapse rate (SALR):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saturated rising air cools, about 5–6 °C per 1,000 m, because condensation releases latent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Instability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is unstable when a rising parcel stays warmer than the air around it. It keeps rising on its own, like a hot-air balloon.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instability occurs when the environmental lapse rate is greater than the DALR. Conditional instability occurs when it lies between the SALR and the DALR, so air becomes unstable only when saturated.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Associated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Unstable air forms tall cumulus and cumulonimbus clouds. It brings heavy showers, thunderstorms, lightning and sometimes hail.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Atmospheric Instability</a:t>
            </a:r>
            <a:endParaRPr lang="en-US" sz="3600" dirty="0"/>
          </a:p>
        </p:txBody>
      </p:sp>
      <p:pic>
        <p:nvPicPr>
          <p:cNvPr id="4" name="Image 0" descr="/home/claude/f4/img/v2/stability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stable and unstable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Stability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Stability can be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is stable when a rising parcel becomes colder than the surrounding air. It sinks back to its starting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Absolute stability occurs when the environmental lapse rate is lower than the SALR. Inversions are the most stable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Atmospheric Stability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Associated 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air gives clear skies or flat layer clouds such as stratus. It brings fog, calm conditions and trapped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stability and instability.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Unstable air keeps rising because it stays warmer; stable air sinks back because it becomes colder.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weather of unstable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cumulonimbus clouds, heavy showers,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Unsaturated air cools at about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Storms come with ______ air.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Fog and smog come with ______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one week, note whether the afternoon is stormy or calm and link it to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Instability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L'instabilité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parcel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particule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Thunderstorm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Vertical Motions: Stability and Instability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stability and instability. Compare the lapse rates of a rising parcel and the surrounding air. Describe the weather of stable and unstable air.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air rises or sinks and predict the weather that follows.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Atmospheric Instability; Atmospheric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 one week, note whether the afternoon is stormy or calm and link it to stability.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hot-air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graphs.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afternoon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grey, calm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watch smoke from a kitchen fire.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2026-09-27T09:27:34Z</dcterms:created>
  <dcterms:modified xsi:type="dcterms:W3CDTF">2026-09-27T09:27:34Z</dcterms:modified>
</cp:coreProperties>
</file>