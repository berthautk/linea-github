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</p:sldIdLst>
  <p:notesMasterIdLst>
    <p:notesMasterId r:id="rId4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notesMaster" Target="notesMasters/notesMaster1.xml"/><Relationship Id="rId48" Type="http://schemas.openxmlformats.org/officeDocument/2006/relationships/presProps" Target="presProps.xml"/><Relationship Id="rId49" Type="http://schemas.openxmlformats.org/officeDocument/2006/relationships/viewProps" Target="viewProps.xml"/><Relationship Id="rId50" Type="http://schemas.openxmlformats.org/officeDocument/2006/relationships/theme" Target="theme/theme1.xml"/><Relationship Id="rId5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Good morning, class. Today we study Lesson 16: Tropical Seasonal Winds: Monsoon and Harmattan.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situation slowly, twice.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draw India with arrows.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compare with the rainy season in Douala.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move a paper band up and down a map.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describe Harmattan mornings.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ask learners how the Harmattan affects them.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Learners copy the board summary now. Give them enough time for each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1. monsoon 2. Sahara 3. rice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homework prepares the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the English word; learners give the French word, then the reverse.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gif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pic>
        <p:nvPicPr>
          <p:cNvPr id="4" name="Image 0" descr="/home/claude/pw1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09590" y="457200"/>
            <a:ext cx="1371600" cy="13716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31520" y="1965960"/>
            <a:ext cx="107259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C3F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DIVINE GRACE COLLEGE OF ARTS, SCIENCE AND TECHNOLOGY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914400" y="2606040"/>
            <a:ext cx="103601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(DGCAST) — GAROUA   |   GEOGRAPHY DEPARTMENT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914400" y="3200400"/>
            <a:ext cx="103601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LOWER SIXTH ARTS  —  CLIMATOLOGY  —  LESSON 16</a:t>
            </a:r>
            <a:endParaRPr lang="en-US" sz="3400" dirty="0"/>
          </a:p>
        </p:txBody>
      </p:sp>
      <p:sp>
        <p:nvSpPr>
          <p:cNvPr id="8" name="Text 5"/>
          <p:cNvSpPr txBox="1"/>
          <p:nvPr/>
        </p:nvSpPr>
        <p:spPr>
          <a:xfrm>
            <a:off x="914400" y="3931920"/>
            <a:ext cx="103601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Tropical Seasonal Winds: Monsoon and Harmattan</a:t>
            </a:r>
            <a:endParaRPr lang="en-US" sz="2100" dirty="0"/>
          </a:p>
        </p:txBody>
      </p:sp>
      <p:sp>
        <p:nvSpPr>
          <p:cNvPr id="9" name="Text 6"/>
          <p:cNvSpPr txBox="1"/>
          <p:nvPr/>
        </p:nvSpPr>
        <p:spPr>
          <a:xfrm>
            <a:off x="914400" y="5394960"/>
            <a:ext cx="103601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EMMANUEL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Teacher — PLEG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Academic Year 2026 / 2027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INFO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Class, Chapter &amp; Duration</a:t>
            </a:r>
            <a:endParaRPr lang="en-US" sz="30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Lower Sixth Arts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Chapter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 1: Understanding and managing atmospheric and hydrological phenomena and hazards across the world in general and Cameroon in particular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Duration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periods (2 × 50 minutes)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Lesson Identification</a:t>
            </a:r>
            <a:endParaRPr lang="en-US" sz="30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Global and Local Atmospheric Circulation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Sub-topic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Mesoscale Winds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16: Tropical Seasonal Winds: Monsoon and Harmattan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Notions / Concepts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Monsoon, Harmattan, ITCZ, seasonal reversal of winds.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Syllabus focus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Monsoon winds (meaning, causes, areas, effects) and the Harmattan, with effects in Asia and West Africa/Cameroon.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explain seasonal winds and their effects on people in Asia and Cameroon.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Learning Objectives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the end of the lesson, the learner should be able to: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 monsoon and explain its causes.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Describe the Asian and West African monsoons.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the causes and effects of the Harmattan.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Recall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Land heats faster than the sea.</a:t>
            </a:r>
            <a:endParaRPr lang="en-US" sz="24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overhead sun moves between the tropics.</a:t>
            </a:r>
            <a:endParaRPr lang="en-US" sz="2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Real-Life Situation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In Garoua the rainy season starts in May when the wind comes from the south-west. In November the wind turns and blows from the north-east, bringing dust, dry skin and meningitis.</a:t>
            </a:r>
            <a:endParaRPr lang="en-US" sz="4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is the problem in the situation?</a:t>
            </a:r>
            <a:endParaRPr lang="en-US" sz="4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wind changes direction with the seasons and changes life.</a:t>
            </a:r>
            <a:endParaRPr lang="en-US" sz="4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is the wet south-west wind called?</a:t>
            </a:r>
            <a:endParaRPr lang="en-US" sz="4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West African monsoon.</a:t>
            </a:r>
            <a:endParaRPr lang="en-US" sz="4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3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is the dry north-east wind called?</a:t>
            </a:r>
            <a:endParaRPr lang="en-US" sz="4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Possible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Harmattan.</a:t>
            </a:r>
            <a:endParaRPr lang="en-US" sz="4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Justification of the Lesson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lesson helps us to understand the winds that make the rainy and dry seasons of Cameroon.</a:t>
            </a:r>
            <a:endParaRPr lang="en-US" sz="4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MONSOON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</a:t>
            </a:r>
            <a:endParaRPr lang="en-US" sz="3600" dirty="0"/>
          </a:p>
        </p:txBody>
      </p:sp>
      <p:pic>
        <p:nvPicPr>
          <p:cNvPr id="13" name="Image 0" descr="/home/claude/f4/img/v2/monsoon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68196" y="1691640"/>
            <a:ext cx="9052560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summer and winter monsoons of India.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MONSOON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In which season does the wind blow from the sea to India? What does it bring?</a:t>
            </a:r>
            <a:endParaRPr lang="en-US" sz="4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MONSOON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In summer; it brings heavy rain.</a:t>
            </a:r>
            <a:endParaRPr lang="en-US" sz="4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MONSOON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</a:t>
            </a:r>
            <a:endParaRPr lang="en-US" sz="3600" dirty="0"/>
          </a:p>
        </p:txBody>
      </p:sp>
      <p:pic>
        <p:nvPicPr>
          <p:cNvPr id="13" name="Image 0" descr="/home/claude/f4/img/v2/lsa_monsoon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street in heavy rain in India.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MONSOON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Give one good and one bad effect of monsoon rain.</a:t>
            </a:r>
            <a:endParaRPr lang="en-US" sz="4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MONSOON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Good: water for rice farming. Bad: floods and landslides.</a:t>
            </a:r>
            <a:endParaRPr lang="en-US" sz="4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WEST AFRICAN MONSOON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</a:t>
            </a:r>
            <a:endParaRPr lang="en-US" sz="3600" dirty="0"/>
          </a:p>
        </p:txBody>
      </p:sp>
      <p:pic>
        <p:nvPicPr>
          <p:cNvPr id="13" name="Image 0" descr="/home/claude/f4/img/v2/itcz.gif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838" y="1691640"/>
            <a:ext cx="11587277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Animation: the rain belt moves north and south.</a:t>
            </a:r>
            <a:endParaRPr lang="en-US" sz="1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WEST AFRICAN MONSOON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Why does the rain belt move north in July?</a:t>
            </a:r>
            <a:endParaRPr lang="en-US" sz="4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WEST AFRICAN MONSOON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overhead sun moves north and heats the land, pulling in wet sea winds.</a:t>
            </a:r>
            <a:endParaRPr lang="en-US" sz="4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HARMATTAN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4</a:t>
            </a:r>
            <a:endParaRPr lang="en-US" sz="3600" dirty="0"/>
          </a:p>
        </p:txBody>
      </p:sp>
      <p:pic>
        <p:nvPicPr>
          <p:cNvPr id="13" name="Image 0" descr="/home/claude/f4/img/v2/f2t_harmattan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Bamenda under the Harmattan dust.</a:t>
            </a:r>
            <a:endParaRPr lang="en-US" sz="14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HARMATTAN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4: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Where does the Harmattan come from? What does it bring?</a:t>
            </a:r>
            <a:endParaRPr lang="en-US" sz="4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HARMATTAN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From the Sahara (north-east); it brings dry, dusty, cool air.</a:t>
            </a:r>
            <a:endParaRPr lang="en-US" sz="4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HARMATTAN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5</a:t>
            </a:r>
            <a:endParaRPr lang="en-US" sz="3600" dirty="0"/>
          </a:p>
        </p:txBody>
      </p:sp>
      <p:pic>
        <p:nvPicPr>
          <p:cNvPr id="13" name="Image 0" descr="/home/claude/f4/img/v2/f2t_sandstorm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1012" y="1691640"/>
            <a:ext cx="10266928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Dust carried by a strong wind.</a:t>
            </a:r>
            <a:endParaRPr lang="en-US" sz="14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HARMATTAN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5: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Give two effects of the Harmattan on people.</a:t>
            </a:r>
            <a:endParaRPr lang="en-US" sz="4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HARMATTAN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Poor visibility (flights cancelled) and diseases such as meningitis and colds.</a:t>
            </a:r>
            <a:endParaRPr lang="en-US" sz="4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Tropical Seasonal Winds: Monsoon and Harmattan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Topic: Global and Local Atmospheric Circulation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Sub-topic: Mesoscale Winds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16: Tropical Seasonal Winds: Monsoon and Harmattan</a:t>
            </a:r>
            <a:endParaRPr lang="en-US" sz="32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I. Definitions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Monsoon: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a wind that changes direction with the seasons.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Harmattan: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a dry, dusty north-east wind from the Sahara.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ITCZ: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the zone where the trade winds meet, near the overhead sun.</a:t>
            </a:r>
            <a:endParaRPr lang="en-US" sz="4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II. Monsoon Winds (1/2)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Causes: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In summer the land heats more than the sea and forms low pressure. Wet winds blow from the sea to the land.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Areas: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Monsoons blow over India, South-East Asia and West Africa. In winter the wind blows from the land and is dry.</a:t>
            </a:r>
            <a:endParaRPr lang="en-US" sz="4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II. Monsoon Winds (2/2)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C. Effects: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Monsoon rain waters rice and fills rivers. It also causes floods and landslides.</a:t>
            </a:r>
            <a:endParaRPr lang="en-US" sz="40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The Harmattan (1/2)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Causes: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In the dry season the ITCZ moves south. The north-east trade wind blows from the Sahara across West Africa.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Effects in Cameroon: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brings dust, cold nights and very low humidity. Flights are cancelled, and colds and meningitis spread.</a:t>
            </a:r>
            <a:endParaRPr lang="en-US" sz="40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The Harmattan (2/2)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C. Benefits: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dries crops like cotton and grains. It brings fewer mosquitoes.</a:t>
            </a:r>
            <a:endParaRPr lang="en-US" sz="40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is a monsoon?</a:t>
            </a:r>
            <a:endParaRPr lang="en-US" sz="40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wind that changes direction with the seasons.</a:t>
            </a:r>
            <a:endParaRPr lang="en-US" sz="4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Give two effects of the Harmattan in Cameroon.</a:t>
            </a:r>
            <a:endParaRPr lang="en-US" sz="40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Dust and poor visibility; diseases such as meningitis (also cold nights, dry skin).</a:t>
            </a:r>
            <a:endParaRPr lang="en-US" sz="40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REMEDIATION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Remediation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6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Fill in the blanks: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wet south-west wind of West Africa is the ______.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Harmattan comes from the ______.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Monsoon rain is important for ______ farming.</a:t>
            </a:r>
            <a:endParaRPr lang="en-US" sz="36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HOMEWORK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Write the months of the monsoon and of the Harmattan in your town.</a:t>
            </a:r>
            <a:endParaRPr lang="en-US" sz="40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prepares Lesson 17: Local Winds.</a:t>
            </a:r>
            <a:endParaRPr lang="en-US" sz="40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BILINGUAL GAME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Bilingual Game (Jeu Bilingue)</a:t>
            </a:r>
            <a:endParaRPr lang="en-US" sz="3000" dirty="0"/>
          </a:p>
        </p:txBody>
      </p:sp>
      <p:graphicFrame>
        <p:nvGraphicFramePr>
          <p:cNvPr id="4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011680" y="1783080"/>
          <a:ext cx="8138160" cy="914400"/>
        </p:xfrm>
        <a:graphic>
          <a:graphicData uri="http://schemas.openxmlformats.org/drawingml/2006/table">
            <a:tbl>
              <a:tblPr/>
              <a:tblGrid>
                <a:gridCol w="4069080"/>
                <a:gridCol w="4069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English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Français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Monsoon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mousson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Harmattan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L'harmattan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Dust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poussière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Dry season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saison sèche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Rainy season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saison des pluies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Meningitis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méningite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(1/2)</a:t>
            </a:r>
            <a:endParaRPr lang="en-US" sz="3000" dirty="0"/>
          </a:p>
        </p:txBody>
      </p:sp>
      <p:graphicFrame>
        <p:nvGraphicFramePr>
          <p:cNvPr id="4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 / Topic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Global and Local Atmospheric Circulation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Title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16: Tropical Seasonal Winds: Monsoon and Harmattan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Expected Learning Outcomes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Define monsoon and explain its causes. Describe the Asian and West African monsoons. Explain the causes and effects of the Harmattan.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explain seasonal winds and their effects on people in Asia and Cameroon.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(2/2)</a:t>
            </a:r>
            <a:endParaRPr lang="en-US" sz="3000" dirty="0"/>
          </a:p>
        </p:txBody>
      </p:sp>
      <p:graphicFrame>
        <p:nvGraphicFramePr>
          <p:cNvPr id="4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Matter Taught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I. Definitions: Monsoon, Harmattan, ITCZ; II. Monsoon Winds: Causes, Areas, Effects; III. The Harmattan: Causes, Effects in Cameroon, Benefits.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Evaluation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Formative evaluation (3 questions) and remediation exercise.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Homework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Write the months of the monsoon and of the Harmattan in your town.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Enrolment / Present / Absent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____ / ____ / ____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Achievement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 be completed by the teacher after the lesson.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TEACHER'S NOTE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Teacher's Note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0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Timing: Set-up, recall 8 min | Situation 8 min | 5 activities 30 min | Board summary (copying) 30 min | Evaluation, remediation 10 min | Homework, logbook 9 min | Spare 5 min</a:t>
            </a:r>
            <a:endParaRPr lang="en-US" sz="20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0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Activity 3 is an animation (GIF): it plays automatically in slide-show mode.</a:t>
            </a:r>
            <a:endParaRPr lang="en-US" sz="20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References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National Geography Syllabus, Sixth Forms (Lower &amp; Upper Sixth), MINESEC/IGE/IP-SS, August 2019 — Module 1 (Meteorology, Climatology &amp; Hydrology).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2: “Running in the rain” by VinothChandar, CC BY 2.0, via Flickr (https://www.flickr.com/photos/44345361@N06/10960940954)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4: “Bamenda sob a poeira do Harmattan” by carlosoliveirareis, CC BY-NC-SA 2.0, via Flickr (https://www.flickr.com/photos/54218923@N00/387054136)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5: “Sandstorm at Camp Bastion, Afghanistan” by Defence Images, CC BY-NC 2.0, via Flickr (https://www.flickr.com/photos/48399297@N04/10343833885)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Diagrams and animations: drawn for this lesson (DGCAST Geography Department).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45</Slides>
  <Notes>45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45</vt:i4>
      </vt:variant>
    </vt:vector>
  </HeadingPairs>
  <TitlesOfParts>
    <vt:vector size="4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2026-09-26T11:58:17Z</dcterms:created>
  <dcterms:modified xsi:type="dcterms:W3CDTF">2026-09-26T11:58:17Z</dcterms:modified>
</cp:coreProperties>
</file>