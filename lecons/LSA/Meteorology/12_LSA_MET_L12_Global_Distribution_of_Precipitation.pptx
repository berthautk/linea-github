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Lst>
  <p:notesMasterIdLst>
    <p:notesMasterId r:id="rId7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notesMaster" Target="notesMasters/notesMaster1.xml"/><Relationship Id="rId71" Type="http://schemas.openxmlformats.org/officeDocument/2006/relationships/presProps" Target="presProps.xml"/><Relationship Id="rId72" Type="http://schemas.openxmlformats.org/officeDocument/2006/relationships/viewProps" Target="viewProps.xml"/><Relationship Id="rId73" Type="http://schemas.openxmlformats.org/officeDocument/2006/relationships/theme" Target="theme/theme1.xml"/><Relationship Id="rId7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12: Global Distribution of Precipitation.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Moisture in the Atmosphere, and the sub-topic is Precipitation. The key notions we shall use today are: pressure belts, ITCZ, subtropical high, temperate low, polar high, maritime and continental air masses, relief rainfall, rain shadow, continentality. At the end, you should be able to do this: learners are able to explain the world pattern of rainfall and the contrast between Douala and Garoua.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11: Forms of Condensation and Precipitation. The question was: Name the world's wettest belt of latitude.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equatorial belt, around the Equator.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four things. Number 1: describe the global pattern of precipitation. Number 2: explain the role of pressure belts. Number 3: explain the role of air masses. Number 4: explain the secondary factors of rainfall.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Rising air cools and forms clouds. Relief forces air to rise. The Harmattan is continental air.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late March, the heat in Garoua is intense and there is no rain yet. Your uncle in Douala calls and complains that heavy rains have already started there and flooded his quarter. He says: "You people in Garoua are lucky with your long dry season!" You ask: "Why does Douala receive so much rain so early, while Garoua has less rain and a shorter rainy season?"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learner does not know the factors of the distribution of rainfall.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is Douala so wet?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is near the equatorial low-pressure belt, on the coast, and at the foot of Mount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is Garoua drier?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is far inland and under the dry Harmattan for a long part of the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save water during the long dry season and plan farming with the rainfall calendar.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explains the world pattern of rainfall and the differences in water availability within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rainfall by latitude.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Where is rainfall heaviest on the globe?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Around the Equator.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pressure belts.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are the great deserts near 30° N and 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Air sinks in the subtropical high-pressure belts, so clouds do not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the Sahara.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Which pressure belt lies over the Sahara?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subtropical high-pressure belt.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rainfall of Douala and Garoua.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one reason why Douala is wetter than Garoua.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on the coast, close to the moist monsoon air, and at the foot of Mount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factors of rainfall.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do forests increase rainfall?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release water vapour by transpiration.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Pressure belt.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Intertropical Convergence Zone (ITCZ) and Air mass.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Continentality and Insularity.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Spatial Pattern of Distribution by Latitude. Precipitation is distributed by latitude as follows. Copy the point on Equatorial zone (0° to 10° N and S) on the left, then draw the diagram on the right: rainfall and latitude.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Tropical and subtropical zones (10° to 30°) on the left, then draw the diagram on the right: the hot deserts.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Spatial Pattern of Distribution by Latitude. Copy the point on Temperate zone (40° to 60°):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Polar zones (above 60°) on the left, then draw the diagram on the right: an ice cap.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Pressure Belts. The pressure belts explain this pattern in the following ways. Copy the point on Equatorial low pressure (ITCZ) on the left, then draw the diagram on the right: the pressure belts.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Subtropical high pressure (about 30° N and S) on the left, then draw the diagram on the right: a sand desert.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Pressure Belts. Copy the point on Temperate low pressure (about 60° N and 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Pressure Belts. Copy the point on Polar high pressure: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Air Masses. Air masses influence precipitation in the following ways. Copy the point on Maritime air masses: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Continental air masses on the left, then draw the diagram on the right: the Harmattan.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Relief, the Sea and Ocean Currents. Local rainfall is influenced by the following physical factors. Copy the point on Relief on the left, then draw the diagram on the right: local factors of rainfall.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Distance from the sea (insularity and continentality) on the left, then draw the diagram on the right: rainfall of Douala and Garoua.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Relief, the Sea and Ocean Currents. Copy the point on Ocean currents: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Vegetation, Water Bodies and Towns. Local rainfall is also influenced by the following factors. Copy the point on Vegetation on the left, then draw the diagram on the right: a rainforest.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Water bodies on the left, then draw the diagram on the right: lake Chad.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Vegetation, Water Bodies and Towns. Copy the point on Urban effects: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Why does the Equator receive heavy rain all year while 30° N is very dry?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at the Equator, low pressure makes air rise and form rain clouds; at 30° N, high pressure makes air sink and warm, so no clouds form.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reasons why Douala is wetter than Garoua.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is on the coast near moist monsoon air; Mount Cameroon forces the air to rise (relief rain).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ITCZ; number 2, high; number 3, shadow.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Define atmospheric pressure.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13: Pressure Systems.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12: GLOBAL DISTRIBUTION OF PRECIPITATION</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jp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jp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2.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2.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2.xml"/><Relationship Id="rId3" Type="http://schemas.openxmlformats.org/officeDocument/2006/relationships/notesSlide" Target="../notesSlides/notesSlide6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Global Distribution of Precipitation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Moisture in the Atmosphere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Precipitation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12: Global Distribution of Precipitation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Pressure belts, ITCZ, subtropical high, temperate low, polar high, maritime and continental air masses, relief rainfall, rain shadow, continentality.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global pattern of precipitation and its primary factors (pressure belts, air masses); secondary factors (relief, distance from the sea, vegetation, currents, lakes, towns).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world pattern of rainfall and the contrast between Douala and Garoua.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11: Forms of Condensation and Precipitation):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world's wettest belt of latitude.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equatorial belt, around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global pattern of precipitation.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role of pressure belts.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role of air masses.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secondary factors of rainfall.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Rising air cools and forms clouds.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Relief forces air to rise.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Harmattan is continental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late March, the heat in Garoua is intense and there is no rain yet.</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Your uncle in Douala calls and complains that heavy rains have already started there and flooded his quarter.</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 says: "You people in Garoua are lucky with your long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 ask: "Why does Douala receive so much rain so early, while Garoua has less rain and a shorter rainy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learner does not know the factors of the distribution of rainfall.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Douala so wet?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near the equatorial low-pressure belt, on the coast, and at the foot of Mount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Garoua drier?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far inland and under the dry Harmattan for a long part of the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Save water during the long dry season and plan farming with the rainfall calendar.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explains the world pattern of rainfall and the differences in water availability within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GLOBAL PATTERN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rain_latitud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Rainfall by latitude.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GLOBAL PATTERN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is rainfall heaviest on the globe?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GLOBAL PATTERN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Around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PRESSURE BELTS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pressure_bel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pressure belts.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PRESSURE BELTS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 great deserts near 30° N and 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PRESSURE BELTS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Air sinks in the subtropical high-pressure belts, so clouds do not 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PRESSURE BELTS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er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Sahara.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PRESSURE BELTS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pressure belt lies over the Sahara?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PRESSURE BELTS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subtropical high-pressure belt.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SECONDARY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rain_compare_big.png">    </p:cNvPr>
          <p:cNvPicPr>
            <a:picLocks noChangeAspect="1"/>
          </p:cNvPicPr>
          <p:nvPr/>
        </p:nvPicPr>
        <p:blipFill>
          <a:blip r:embed="rId1"/>
          <a:stretch>
            <a:fillRect/>
          </a:stretch>
        </p:blipFill>
        <p:spPr>
          <a:xfrm>
            <a:off x="1034813" y="1783080"/>
            <a:ext cx="10122069"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Rainfall of Douala and Garoua.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SECONDARY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reason why Douala is wetter than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SECONDARY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on the coast, close to the moist monsoon air, and at the foot of Mount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SECONDARY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met2_rain_factors.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Factors of rainfall.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SECONDARY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forests increase rainfall?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SECONDARY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release water vapour by transpiration.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Moisture in the Atmosphere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Precipitation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12: Global Distribution of Precipitation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Pressure belt: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zone of high or low pressure that circles the globe along a latitude.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Intertropical Convergence Zone (ITCZ):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equatorial low-pressure zone where the trade winds meet and air rises.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Air mass: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large body of air with similar temperature and humidity.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Continentality: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effect of distance from the sea, which makes inland areas drier and their temperatures more extreme.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Insularity: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effect of being surrounded by the sea, which makes islands and coasts wetter and milder.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Spatial Pattern of Distribution by Latitude</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000" i="1" dirty="0">
                <a:solidFill>
                  <a:srgbClr val="111111"/>
                </a:solidFill>
                <a:latin typeface="Times New Roman" pitchFamily="34" charset="0"/>
                <a:ea typeface="Times New Roman" pitchFamily="34" charset="-122"/>
                <a:cs typeface="Times New Roman" pitchFamily="34" charset="-120"/>
              </a:rPr>
              <a:t>Precipitation is distributed by latitude as follows:</a:t>
            </a:r>
            <a:endParaRPr lang="en-US" sz="3000" dirty="0"/>
          </a:p>
          <a:p>
            <a:pPr algn="l" indent="0" marL="0">
              <a:spcAft>
                <a:spcPts val="800"/>
              </a:spcAft>
              <a:buNone/>
            </a:pPr>
            <a:r>
              <a:rPr lang="en-US" sz="3000" b="1" dirty="0">
                <a:solidFill>
                  <a:srgbClr val="111111"/>
                </a:solidFill>
                <a:latin typeface="Times New Roman" pitchFamily="34" charset="0"/>
                <a:ea typeface="Times New Roman" pitchFamily="34" charset="-122"/>
                <a:cs typeface="Times New Roman" pitchFamily="34" charset="-120"/>
              </a:rPr>
              <a:t>Equatorial zone (0° to 10° N and S): </a:t>
            </a:r>
            <a:pPr algn="l" indent="0" marL="0">
              <a:spcAft>
                <a:spcPts val="800"/>
              </a:spcAft>
              <a:buNone/>
            </a:pPr>
            <a:r>
              <a:rPr lang="en-US" sz="3000" dirty="0">
                <a:solidFill>
                  <a:srgbClr val="111111"/>
                </a:solidFill>
                <a:latin typeface="Times New Roman" pitchFamily="34" charset="0"/>
                <a:ea typeface="Times New Roman" pitchFamily="34" charset="-122"/>
                <a:cs typeface="Times New Roman" pitchFamily="34" charset="-120"/>
              </a:rPr>
              <a:t>This zone receives the heaviest rainfall on Earth, usually more than 2,000 mm a year, with rain in every month. It is the zone of rainforests, such as the Congo Basin and the Amazon.</a:t>
            </a:r>
            <a:endParaRPr lang="en-US" sz="3000" dirty="0"/>
          </a:p>
        </p:txBody>
      </p:sp>
      <p:pic>
        <p:nvPicPr>
          <p:cNvPr id="5" name="Image 0" descr="/home/claude/f4/img/v2/rain_latitude_big.png">    </p:cNvPr>
          <p:cNvPicPr>
            <a:picLocks noChangeAspect="1"/>
          </p:cNvPicPr>
          <p:nvPr/>
        </p:nvPicPr>
        <p:blipFill>
          <a:blip r:embed="rId1"/>
          <a:stretch>
            <a:fillRect/>
          </a:stretch>
        </p:blipFill>
        <p:spPr>
          <a:xfrm>
            <a:off x="6537960" y="2721454"/>
            <a:ext cx="5470855" cy="2393499"/>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rainfall and latitude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Spatial Pattern of Distribution by Latitude</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Tropical and subtropical zones (10° to 30°):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Rainfall decreases away from the Equator, and the dry season becomes longer. Around 20° to 30°, it falls below 250 mm a year in the great hot deserts such as the Sahara.</a:t>
            </a:r>
            <a:endParaRPr lang="en-US" sz="3600" dirty="0"/>
          </a:p>
        </p:txBody>
      </p:sp>
      <p:pic>
        <p:nvPicPr>
          <p:cNvPr id="5" name="Image 0" descr="/home/claude/f4/img/v2/deserts_world_big.png">    </p:cNvPr>
          <p:cNvPicPr>
            <a:picLocks noChangeAspect="1"/>
          </p:cNvPicPr>
          <p:nvPr/>
        </p:nvPicPr>
        <p:blipFill>
          <a:blip r:embed="rId1"/>
          <a:stretch>
            <a:fillRect/>
          </a:stretch>
        </p:blipFill>
        <p:spPr>
          <a:xfrm>
            <a:off x="6537960" y="2721454"/>
            <a:ext cx="5470855" cy="2393499"/>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hot deserts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Spatial Pattern of Distribution by Latitude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Temperate zone (40° to 60°):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Rainfall rises again to a moderate amount, between about 500 and 1,500 mm a year. It falls in all seasons, especially on the western coasts of the continents.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Spatial Pattern of Distribution by Latitude</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Polar zones (above 60°):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Precipitation is very low, often less than 250 mm a year, and falls mainly as snow. These regions are therefore called cold or ice deserts.</a:t>
            </a:r>
            <a:endParaRPr lang="en-US" sz="3600" dirty="0"/>
          </a:p>
        </p:txBody>
      </p:sp>
      <p:pic>
        <p:nvPicPr>
          <p:cNvPr id="5" name="Image 0" descr="/home/claude/f4/img/v2/lsa_icecap.jpg">    </p:cNvPr>
          <p:cNvPicPr>
            <a:picLocks noChangeAspect="1"/>
          </p:cNvPicPr>
          <p:nvPr/>
        </p:nvPicPr>
        <p:blipFill>
          <a:blip r:embed="rId1"/>
          <a:stretch>
            <a:fillRect/>
          </a:stretch>
        </p:blipFill>
        <p:spPr>
          <a:xfrm>
            <a:off x="6537960" y="2400897"/>
            <a:ext cx="5470855" cy="3034615"/>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an ice cap</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Primary Factors of Variation</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Pressure Belts</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000" i="1" dirty="0">
                <a:solidFill>
                  <a:srgbClr val="111111"/>
                </a:solidFill>
                <a:latin typeface="Times New Roman" pitchFamily="34" charset="0"/>
                <a:ea typeface="Times New Roman" pitchFamily="34" charset="-122"/>
                <a:cs typeface="Times New Roman" pitchFamily="34" charset="-120"/>
              </a:rPr>
              <a:t>The pressure belts explain this pattern in the following ways:</a:t>
            </a:r>
            <a:endParaRPr lang="en-US" sz="3000" dirty="0"/>
          </a:p>
          <a:p>
            <a:pPr algn="l" indent="0" marL="0">
              <a:spcAft>
                <a:spcPts val="800"/>
              </a:spcAft>
              <a:buNone/>
            </a:pPr>
            <a:r>
              <a:rPr lang="en-US" sz="3000" b="1" dirty="0">
                <a:solidFill>
                  <a:srgbClr val="111111"/>
                </a:solidFill>
                <a:latin typeface="Times New Roman" pitchFamily="34" charset="0"/>
                <a:ea typeface="Times New Roman" pitchFamily="34" charset="-122"/>
                <a:cs typeface="Times New Roman" pitchFamily="34" charset="-120"/>
              </a:rPr>
              <a:t>Equatorial low pressure (ITCZ): </a:t>
            </a:r>
            <a:pPr algn="l" indent="0" marL="0">
              <a:spcAft>
                <a:spcPts val="800"/>
              </a:spcAft>
              <a:buNone/>
            </a:pPr>
            <a:r>
              <a:rPr lang="en-US" sz="3000" dirty="0">
                <a:solidFill>
                  <a:srgbClr val="111111"/>
                </a:solidFill>
                <a:latin typeface="Times New Roman" pitchFamily="34" charset="0"/>
                <a:ea typeface="Times New Roman" pitchFamily="34" charset="-122"/>
                <a:cs typeface="Times New Roman" pitchFamily="34" charset="-120"/>
              </a:rPr>
              <a:t>Intense heating makes the air rise, expand and cool, so its vapour condenses into cumulonimbus clouds. This gives heavy convectional rain all year near the Equator.</a:t>
            </a:r>
            <a:endParaRPr lang="en-US" sz="3000" dirty="0"/>
          </a:p>
        </p:txBody>
      </p:sp>
      <p:pic>
        <p:nvPicPr>
          <p:cNvPr id="6" name="Image 0" descr="/home/claude/f4/img/v2/pressure_belts_big.png">    </p:cNvPr>
          <p:cNvPicPr>
            <a:picLocks noChangeAspect="1"/>
          </p:cNvPicPr>
          <p:nvPr/>
        </p:nvPicPr>
        <p:blipFill>
          <a:blip r:embed="rId1"/>
          <a:stretch>
            <a:fillRect/>
          </a:stretch>
        </p:blipFill>
        <p:spPr>
          <a:xfrm>
            <a:off x="6537960" y="2849678"/>
            <a:ext cx="5470855" cy="2137053"/>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pressure belts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Primary Factors of Variation</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Pressure Belts</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000" b="1" dirty="0">
                <a:solidFill>
                  <a:srgbClr val="111111"/>
                </a:solidFill>
                <a:latin typeface="Times New Roman" pitchFamily="34" charset="0"/>
                <a:ea typeface="Times New Roman" pitchFamily="34" charset="-122"/>
                <a:cs typeface="Times New Roman" pitchFamily="34" charset="-120"/>
              </a:rPr>
              <a:t>Subtropical high pressure (about 30° N and S): </a:t>
            </a:r>
            <a:pPr algn="l" indent="0" marL="0">
              <a:spcAft>
                <a:spcPts val="800"/>
              </a:spcAft>
              <a:buNone/>
            </a:pPr>
            <a:r>
              <a:rPr lang="en-US" sz="3000" dirty="0">
                <a:solidFill>
                  <a:srgbClr val="111111"/>
                </a:solidFill>
                <a:latin typeface="Times New Roman" pitchFamily="34" charset="0"/>
                <a:ea typeface="Times New Roman" pitchFamily="34" charset="-122"/>
                <a:cs typeface="Times New Roman" pitchFamily="34" charset="-120"/>
              </a:rPr>
              <a:t>Here, air sinks from high altitudes, is compressed and warms, so it can hold its vapour and no clouds form. This is why the great deserts, such as the Sahara and the Kalahari, lie along these latitudes.</a:t>
            </a:r>
            <a:endParaRPr lang="en-US" sz="3000" dirty="0"/>
          </a:p>
        </p:txBody>
      </p:sp>
      <p:pic>
        <p:nvPicPr>
          <p:cNvPr id="6" name="Image 0" descr="/home/claude/f4/img/v2/f2t_erg.jpg">    </p:cNvPr>
          <p:cNvPicPr>
            <a:picLocks noChangeAspect="1"/>
          </p:cNvPicPr>
          <p:nvPr/>
        </p:nvPicPr>
        <p:blipFill>
          <a:blip r:embed="rId1"/>
          <a:stretch>
            <a:fillRect/>
          </a:stretch>
        </p:blipFill>
        <p:spPr>
          <a:xfrm>
            <a:off x="6537960" y="2400897"/>
            <a:ext cx="5470855" cy="3034615"/>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sand desert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Primary Factors of Variation</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Pressure Belts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Temperate low pressure (about 60° N and 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Warm tropical air and cold polar air meet along the polar front. The warm air is forced to rise, which gives frontal rain throughout the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Primary Factors of Variation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Pressure Belts</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Polar high pressure: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Very cold, dense air sinks over the poles and holds very little moisture. Precipitation is therefore very 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Primary Factors of Variation</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Air Masses</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3400" i="1" dirty="0">
                <a:solidFill>
                  <a:srgbClr val="111111"/>
                </a:solidFill>
                <a:latin typeface="Times New Roman" pitchFamily="34" charset="0"/>
                <a:ea typeface="Times New Roman" pitchFamily="34" charset="-122"/>
                <a:cs typeface="Times New Roman" pitchFamily="34" charset="-120"/>
              </a:rPr>
              <a:t>Air masses influence precipitation in the following ways:</a:t>
            </a:r>
            <a:endParaRPr lang="en-US" sz="3400" dirty="0"/>
          </a:p>
          <a:p>
            <a:pPr algn="l" indent="0" marL="0">
              <a:spcAft>
                <a:spcPts val="800"/>
              </a:spcAft>
              <a:buNone/>
            </a:pPr>
            <a:r>
              <a:rPr lang="en-US" sz="3400" b="1" dirty="0">
                <a:solidFill>
                  <a:srgbClr val="111111"/>
                </a:solidFill>
                <a:latin typeface="Times New Roman" pitchFamily="34" charset="0"/>
                <a:ea typeface="Times New Roman" pitchFamily="34" charset="-122"/>
                <a:cs typeface="Times New Roman" pitchFamily="34" charset="-120"/>
              </a:rPr>
              <a:t>Maritime air masses: </a:t>
            </a:r>
            <a:pPr algn="l" indent="0" marL="0">
              <a:spcAft>
                <a:spcPts val="800"/>
              </a:spcAft>
              <a:buNone/>
            </a:pPr>
            <a:r>
              <a:rPr lang="en-US" sz="3400" dirty="0">
                <a:solidFill>
                  <a:srgbClr val="111111"/>
                </a:solidFill>
                <a:latin typeface="Times New Roman" pitchFamily="34" charset="0"/>
                <a:ea typeface="Times New Roman" pitchFamily="34" charset="-122"/>
                <a:cs typeface="Times New Roman" pitchFamily="34" charset="-120"/>
              </a:rPr>
              <a:t>They form over the oceans and are moist, so they bring rain to the lands they cross. For example, the maritime tropical air of the south-west monsoon brings the rainy season to Cameroon from April to October in the North.</a:t>
            </a:r>
            <a:endParaRPr lang="en-US" sz="34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Primary Factors of Variation</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Air Masses</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400" b="1" dirty="0">
                <a:solidFill>
                  <a:srgbClr val="111111"/>
                </a:solidFill>
                <a:latin typeface="Times New Roman" pitchFamily="34" charset="0"/>
                <a:ea typeface="Times New Roman" pitchFamily="34" charset="-122"/>
                <a:cs typeface="Times New Roman" pitchFamily="34" charset="-120"/>
              </a:rPr>
              <a:t>Continental air masses: </a:t>
            </a:r>
            <a:pPr algn="l" indent="0" marL="0">
              <a:spcAft>
                <a:spcPts val="800"/>
              </a:spcAft>
              <a:buNone/>
            </a:pPr>
            <a:r>
              <a:rPr lang="en-US" sz="3400" dirty="0">
                <a:solidFill>
                  <a:srgbClr val="111111"/>
                </a:solidFill>
                <a:latin typeface="Times New Roman" pitchFamily="34" charset="0"/>
                <a:ea typeface="Times New Roman" pitchFamily="34" charset="-122"/>
                <a:cs typeface="Times New Roman" pitchFamily="34" charset="-120"/>
              </a:rPr>
              <a:t>They form over land and are dry, so they bring dry weather. For example, the continental tropical air of the Harmattan, from the Sahara, brings the dry season to northern Cameroon.</a:t>
            </a:r>
            <a:endParaRPr lang="en-US" sz="3400" dirty="0"/>
          </a:p>
        </p:txBody>
      </p:sp>
      <p:pic>
        <p:nvPicPr>
          <p:cNvPr id="6" name="Image 0" descr="/home/claude/f4/img/v2/f2t_harmattan.jpg">    </p:cNvPr>
          <p:cNvPicPr>
            <a:picLocks noChangeAspect="1"/>
          </p:cNvPicPr>
          <p:nvPr/>
        </p:nvPicPr>
        <p:blipFill>
          <a:blip r:embed="rId1"/>
          <a:stretch>
            <a:fillRect/>
          </a:stretch>
        </p:blipFill>
        <p:spPr>
          <a:xfrm>
            <a:off x="6537960" y="2400897"/>
            <a:ext cx="5470855" cy="3034615"/>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Harmattan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Secondary (Local) Factors</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Relief, the Sea and Ocean Currents</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2800" i="1" dirty="0">
                <a:solidFill>
                  <a:srgbClr val="111111"/>
                </a:solidFill>
                <a:latin typeface="Times New Roman" pitchFamily="34" charset="0"/>
                <a:ea typeface="Times New Roman" pitchFamily="34" charset="-122"/>
                <a:cs typeface="Times New Roman" pitchFamily="34" charset="-120"/>
              </a:rPr>
              <a:t>Local rainfall is influenced by the following physical factors:</a:t>
            </a:r>
            <a:endParaRPr lang="en-US" sz="2800" dirty="0"/>
          </a:p>
          <a:p>
            <a:pPr algn="l" indent="0" marL="0">
              <a:spcAft>
                <a:spcPts val="800"/>
              </a:spcAft>
              <a:buNone/>
            </a:pPr>
            <a:r>
              <a:rPr lang="en-US" sz="2800" b="1" dirty="0">
                <a:solidFill>
                  <a:srgbClr val="111111"/>
                </a:solidFill>
                <a:latin typeface="Times New Roman" pitchFamily="34" charset="0"/>
                <a:ea typeface="Times New Roman" pitchFamily="34" charset="-122"/>
                <a:cs typeface="Times New Roman" pitchFamily="34" charset="-120"/>
              </a:rPr>
              <a:t>Relief: </a:t>
            </a:r>
            <a:pPr algn="l" indent="0" marL="0">
              <a:spcAft>
                <a:spcPts val="800"/>
              </a:spcAft>
              <a:buNone/>
            </a:pPr>
            <a:r>
              <a:rPr lang="en-US" sz="2800" dirty="0">
                <a:solidFill>
                  <a:srgbClr val="111111"/>
                </a:solidFill>
                <a:latin typeface="Times New Roman" pitchFamily="34" charset="0"/>
                <a:ea typeface="Times New Roman" pitchFamily="34" charset="-122"/>
                <a:cs typeface="Times New Roman" pitchFamily="34" charset="-120"/>
              </a:rPr>
              <a:t>Moist air forced to rise over mountains gives heavy rain on the windward side and a rain shadow on the leeward side. Debundscha, at the foot of Mount Cameroon, receives about 10,000 mm a year, one of the highest totals in the world.</a:t>
            </a:r>
            <a:endParaRPr lang="en-US" sz="2800" dirty="0"/>
          </a:p>
        </p:txBody>
      </p:sp>
      <p:pic>
        <p:nvPicPr>
          <p:cNvPr id="6" name="Image 0" descr="/home/claude/f4/img/v2/met2_rain_factors.png">    </p:cNvPr>
          <p:cNvPicPr>
            <a:picLocks noChangeAspect="1"/>
          </p:cNvPicPr>
          <p:nvPr/>
        </p:nvPicPr>
        <p:blipFill>
          <a:blip r:embed="rId1"/>
          <a:stretch>
            <a:fillRect/>
          </a:stretch>
        </p:blipFill>
        <p:spPr>
          <a:xfrm>
            <a:off x="6537960" y="2849678"/>
            <a:ext cx="5470855" cy="2137053"/>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local factors of rainfall</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Secondary (Local) Factors</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Relief, the Sea and Ocean Currents</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Distance from the sea (insularity and continentality):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Coasts and islands receive much moisture from the sea, while inland areas are far from it and drier. Douala receives about 4,000 mm a year, but Garoua only about 1,000 mm.</a:t>
            </a:r>
            <a:endParaRPr lang="en-US" sz="3200" dirty="0"/>
          </a:p>
        </p:txBody>
      </p:sp>
      <p:pic>
        <p:nvPicPr>
          <p:cNvPr id="6" name="Image 0" descr="/home/claude/f4/img/v2/rain_compare_big.png">    </p:cNvPr>
          <p:cNvPicPr>
            <a:picLocks noChangeAspect="1"/>
          </p:cNvPicPr>
          <p:nvPr/>
        </p:nvPicPr>
        <p:blipFill>
          <a:blip r:embed="rId1"/>
          <a:stretch>
            <a:fillRect/>
          </a:stretch>
        </p:blipFill>
        <p:spPr>
          <a:xfrm>
            <a:off x="6537960" y="2764195"/>
            <a:ext cx="5470855" cy="2308017"/>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rainfall of Douala and Garoua</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Secondary (Local) Factors</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Relief, the Sea and Ocean Currents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Ocean currents: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Warm currents warm the air above them, which picks up moisture and brings rain to the coast. Cold currents cool the air, which becomes stable, so coasts along them are dry, like the Namib and Atacama deserts.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Secondary (Local) Factors</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Vegetation, Water Bodies and Towns</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Local rainfall is also influenced by the following factors: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Vegetation: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Forests release a lot of water vapour by transpiration, which feeds the clouds and encourages convectional rain. Deforestation therefore tends to reduce local rainfall.</a:t>
            </a:r>
            <a:endParaRPr lang="en-US" sz="3200" dirty="0"/>
          </a:p>
        </p:txBody>
      </p:sp>
      <p:pic>
        <p:nvPicPr>
          <p:cNvPr id="6" name="Image 0" descr="/home/claude/f4/img/v2/f2t_rainforest.jpg">    </p:cNvPr>
          <p:cNvPicPr>
            <a:picLocks noChangeAspect="1"/>
          </p:cNvPicPr>
          <p:nvPr/>
        </p:nvPicPr>
        <p:blipFill>
          <a:blip r:embed="rId1"/>
          <a:stretch>
            <a:fillRect/>
          </a:stretch>
        </p:blipFill>
        <p:spPr>
          <a:xfrm>
            <a:off x="6537960" y="2400897"/>
            <a:ext cx="5470855" cy="3034615"/>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rainforest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Secondary (Local) Factors</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Vegetation, Water Bodies and Towns</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Water bodies: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Large lakes and reservoirs, such as Lake Chad and Lake Lagdo, add water vapour to the air by evaporation. They can increase rainfall on their shores, especially on the side where the winds blow.</a:t>
            </a:r>
            <a:endParaRPr lang="en-US" sz="3200" dirty="0"/>
          </a:p>
        </p:txBody>
      </p:sp>
      <p:pic>
        <p:nvPicPr>
          <p:cNvPr id="6" name="Image 0" descr="/home/claude/f4/img/v2/f2t_lake_chad.jpg">    </p:cNvPr>
          <p:cNvPicPr>
            <a:picLocks noChangeAspect="1"/>
          </p:cNvPicPr>
          <p:nvPr/>
        </p:nvPicPr>
        <p:blipFill>
          <a:blip r:embed="rId1"/>
          <a:stretch>
            <a:fillRect/>
          </a:stretch>
        </p:blipFill>
        <p:spPr>
          <a:xfrm>
            <a:off x="6537960" y="2400897"/>
            <a:ext cx="5470855" cy="3034615"/>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Lake Chad</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Secondary (Local) Factors</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Vegetation, Water Bodies and Towns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Urban effects: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Towns are warmer than the countryside and their air contains many dust particles. The rising warm air and these condensation nuclei can increase storms and rainfall over and downwind of big cities.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the Equator receive heavy rain all year while 30° N is very dry?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the Equator, low pressure makes air rise and form rain clouds; at 30° N, high pressure makes air sink and warm, so no clouds 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reasons why Douala is wetter than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on the coast near moist monsoon air; Mount Cameroon forces the air to rise (relief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equatorial low-pressure zone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Deserts lie under the subtropical ______ pressure belts.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dry side of a mountain is the rain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atmospheric pressure.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13: Pressure Systems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Precipitation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précipitations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Pressure belt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ceinture de pression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Relief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relief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Windward side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versant au vent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Rain shadow</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L'ombre pluviométrique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Air mass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masse d'air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Moisture in the Atmosphere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12: Global Distribution of Precipitation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global pattern of precipitation. Explain the role of pressure belts. Explain the role of air masses. Explain the secondary factors of rainfall.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world pattern of rainfall and the contrast between Douala and Garoua.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6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Spatial Pattern of Distribution by Latitude; Pressure Belts; Air Masses; Relief, the Sea and Ocean Currents; Vegetation, Water Bodies and Towns.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atmospheric pressure.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rainfall bars by latitude.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pressure belts.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locate the Sahara.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compare the two towns.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 the factors.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Meteorology (LSA),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“Desert trekking in Merzouga” by Antonio Cinotti , CC BY-NC-ND 2.0, via Flickr (https://www.flickr.com/photos/46378751@N02/15331399979)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(Polar zones (above 60°)): “The Art of Retreat” by subarcticmike, CC BY 2.0, via Flickr (https://www.flickr.com/photos/31856336@N03/7048837663)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(Continental air masses): “Bamenda sob a poeira do Harmattan” by carlosoliveirareis, CC BY-NC-SA 2.0, via Flickr (https://www.flickr.com/photos/54218923@N00/387054136)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(Vegetation): “Amazon 11” by CIAT International Center for Tropical Agriculture, CC BY-SA 2.0, via Flickr (https://www.flickr.com/photos/38476503@N08/5641587148)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(Water bodies): “Lake Chad: almost gone” by GRIDArendal, CC BY-NC-SA 2.0, via Flickr (https://www.flickr.com/photos/148768555@N05/32323646926)</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68</Slides>
  <Notes>68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68</vt:i4>
      </vt:variant>
    </vt:vector>
  </HeadingPairs>
  <TitlesOfParts>
    <vt:vector size="7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2026-09-29T12:18:27Z</dcterms:created>
  <dcterms:modified xsi:type="dcterms:W3CDTF">2026-09-29T12:18:27Z</dcterms:modified>
</cp:coreProperties>
</file>