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Nature of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Atmospheric Humidity. The key notions we shall use today are: evapotranspiration, humidity, condensation, sublimation, freezing, saturation, dew point. At the end, you should be able to do this: learners are able to explain the humidity of the air in the rainy and dry seasons of Garoua and calculate relative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Temperature Inversion. The question was: Define relative humidity.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Relative humidity is the amount of water vapour in the air compared with the maximum it can hold at that temperature, in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moisture and identify its sources. Number 2: describe the three states of moisture. Number 3: distinguish absolute and relative humidity. Number 4: describe the spatial distribution of humidity. Number 5: explain the factors and the relevance of atmospheric moisture on weather and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vapour is a variable gas. Latent heat is stored in water vapour. The Harmattan is very dry.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during the rainy season in Garoua, you play football with friends. Although the sun is not very hot, you sweat a lot and your clothes feel damp and sticky. In January, during the Harmattan, the air was so dry that your lips cracked and the same game did not make you feel so uncomfortable. You ask: "What invisible thing in the air makes it so sticky in August and so dry in January?"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nature of atmospheric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invisible thing in the air?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vapour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moisture around Garoua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Evaporation from the Benue and Lake Lagdo, the soil, and transpiration from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drink enough water in dry, hot weather and protect water bodies and vegetation that feed moisture to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humidity, which controls clouds, rain and our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water cycle.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sources of moisture in the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from seas, lakes and rivers, and transpiration from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ice.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three states can water exist in the atmosphere?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Gas (vapour), liquid (droplets) and solid (ice crystals).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warm air can hold more water vapour.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relative humidity of 100 %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is saturated.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equatorial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air very humid in the Congo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temperatures and much water from rivers and forests give strong evaporation and 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harmattan haze.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air of Garoua so dry in January?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Harmattan brings dry air from the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Evapotranspiration.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Condensation and Sublimation.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Freezing and Saturation.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Dew point.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Moisture. Moisture is defined as follows. Copy the point on Moisture: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Moisture. The atmosphere receives its moisture from the following sources. Copy the point on Oceans and seas: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Lakes and rivers on the left, then draw the diagram on the right: lake Lagdo.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Moisture. Copy the point on Moist soil: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Plants on the left, then draw the diagram on the right: evapotranspiration.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Three States of Moisture. Moisture exists in the atmosphere in the following three states. Copy the point on Gaseous state (water vapour):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Liquid state on the left, then draw the diagram on the right: dew drops on grass.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Solid state on the left, then draw the diagram on the right: snow.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Atmospheric Humidity. Atmospheric humidity is expressed in the following two types. Copy the point on Absolute humidity on the left, then draw the diagram on the right: warm air can hold more water vapour.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Relative humidity (RH) on the left, then draw the diagram on the right: relative humidity and temperature.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Distribution of Humidity. Humidity is distributed over the Earth as follows. Copy the point on Equatorial regions on the left, then draw the diagram on the right: the equatorial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Tropical deserts (15° to 30° N and S) on the left, then draw the diagram on the right: the hot deserts.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Distribution of Humidity. Copy the point on Coasts and continental interiors: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Distribution of Humidity. Copy the point on Polar regions: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that Influence Atmospheric Humidity. Atmospheric humidity is influenced by the following factors. Copy the point on Temperature on the left, then draw the diagram on the right: morning fog.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that Influence Atmospheric Humidity. Copy the point on Nearness to water bodies: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Vegetation cover on the left, then draw the diagram on the right: a dense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Winds and air masses on the left, then draw the diagram on the right: harmattan haze.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On Weather. Atmospheric moisture is important for weather in the following ways. Copy the point on Formation of clouds and precipitation on the left, then draw the diagram on the right: clouds.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Transfer of heat energy on the left, then draw the diagram on the right: a storm cloud.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On Weather. Copy the point on Regulation of temperature: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On Man. Atmospheric moisture is important for man in the following ways. Copy the point on Water supply on the left, then draw the diagram on the right: lake Lagdo.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Agriculture and livestock on the left, then draw the diagram on the right: a rice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On Man. Copy the point on Human comfort and health: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absolute humidity from relative humidity.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absolute humidity is the mass of vapour in a volume of air; relative humidity compares this amount with the maximum possible at that temperature, in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why relative humidity rises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air cools and can hold less vapour, so the same amount of vapour gives a higher percentage.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transpiration; number 2, saturated; number 3, dew.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types of clouds.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Forms of Condensation and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NATURE OF MOISTURE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Nature of Moisture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Humidity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Nature of Moisture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Evapotranspiration, humidity, condensation, sublimation, freezing, saturation, dew point.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sources of moisture; the three states of moisture; absolute and relative humidity; spatial distribution of humidity; factors of humidity; relevance of moisture on weather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humidity of the air in the rainy and dry seasons of Garoua and calculate relative humidity.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Temperature Inversion):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Relative humidity is the amount of water vapour in the air compared with the maximum it can hold at that temperature, in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moisture and identify its 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states of moisture.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absolute and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spatial distribution of humidity.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the relevance of atmospheric moisture on weather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vapour is a variable gas.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Latent heat is stored in water vapour.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very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during the rainy season in Garoua, you play football with friends.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Although the sun is not very hot, you sweat a lot and your clothes feel damp and sticky.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during the Harmattan, the air was so dry that your lips cracked and the same game did not make you feel so uncomfortable.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invisible thing in the air makes it so sticky in August and so dry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nature of atmospheric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invisible thing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moisture around Garoua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from the Benue and Lake Lagdo, the soil, and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Drink enough water in dry, hot weather and protect water bodies and vegetation that feed moisture 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humidity, which controls clouds, rain and our comfort.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water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sources of moisture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from seas, lakes and rivers, and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ic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three states can water exist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Gas (vapour), liquid (droplets) and solid (ice crystals).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umid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Warm air can hold more water vapour.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relative humidity of 100 %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saturated.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equatorial_world_big.png">    </p:cNvPr>
          <p:cNvPicPr>
            <a:picLocks noChangeAspect="1"/>
          </p:cNvPicPr>
          <p:nvPr/>
        </p:nvPicPr>
        <p:blipFill>
          <a:blip r:embed="rId1"/>
          <a:stretch>
            <a:fillRect/>
          </a:stretch>
        </p:blipFill>
        <p:spPr>
          <a:xfrm>
            <a:off x="274320" y="2508303"/>
            <a:ext cx="11643055" cy="2819802"/>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equatorial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very humid in the Congo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temperatures and much water from rivers and forests give strong evaporation and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Harmattan haze.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of Garoua so dry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brings dry air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Atmospheric Humidity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Nature of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loss of water to the atmosphere by evaporation from water and soil and by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liquid water when air is cooled to its dew point.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Sublimation: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direct change of ice into water vapour, or of water vapour into ice, without passing through the liquid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Freezing: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liquid water into ice at 0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Saturation: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state of air that holds the maximum water vapour possible at its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temperature at which air becomes saturated and condensation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of Moisture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Moisture is defined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Moisture: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Moisture, also known as atmospheric humidity, is the water held in the atmosphere, mainly as invisible water vapour but also as droplets and ice crystals. In a strict sense, humidity refers only to the water vapour. Although it forms less than 4 % of the air, moisture is the source of all clouds and precipitation.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Sources of Moisture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atmosphere receives its moisture from the following sources: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Oceans and seas: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Oceans cover about 71 % of the Earth and supply about 86 % of the water vapour in the air by evaporation. This is why the air over the Gulf of Guinea and around Douala is always humid.</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Sources of Moisture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Lakes and rivers: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Inland water bodies such as Lake Lagdo, the Benue and Lake Chad also lose water by evaporation, especially in the hot season. They make the air around them more humid than the surrounding dry land.</a:t>
            </a:r>
            <a:endParaRPr lang="en-US" sz="3200" dirty="0"/>
          </a:p>
        </p:txBody>
      </p:sp>
      <p:pic>
        <p:nvPicPr>
          <p:cNvPr id="6" name="Image 0" descr="/home/claude/f4/img/v2/f2t_lagdo.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Lagdo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Sources of Moisture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Moist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rain, the sun heats the soil and its water evaporates into the air. This source is important in the rainy season but becomes very weak in the dry season when soils dry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Sources of Moisture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Plants: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Plants take water from the soil through their roots and release it as vapour through the pores (stomata) of their leaves. With evaporation, this transpiration forms evapotranspiration, which makes the air over forests such as the Congo Basin very humid.</a:t>
            </a:r>
            <a:endParaRPr lang="en-US" sz="2800" dirty="0"/>
          </a:p>
        </p:txBody>
      </p:sp>
      <p:pic>
        <p:nvPicPr>
          <p:cNvPr id="6" name="Image 0" descr="/home/claude/f4/img/v2/evapotranspiration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evapotranspiration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Three States of Moisture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3800" i="1" dirty="0">
                <a:solidFill>
                  <a:srgbClr val="111111"/>
                </a:solidFill>
                <a:latin typeface="Times New Roman" pitchFamily="34" charset="0"/>
                <a:ea typeface="Times New Roman" pitchFamily="34" charset="-122"/>
                <a:cs typeface="Times New Roman" pitchFamily="34" charset="-120"/>
              </a:rPr>
              <a:t>Moisture exists in the atmosphere in the following three states:</a:t>
            </a:r>
            <a:endParaRPr lang="en-US" sz="3800" dirty="0"/>
          </a:p>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Gaseous state (water vapour):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Water vapour is an invisible gas formed when water evaporates or when ice sublimates. It is the most common state of moisture and it stores latent heat, which is released when it condenses.</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Three States of Moisture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Liquid state: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When water vapour is cooled to its dew point, it condenses into tiny droplets. These droplets form clouds, fog, mist and dew, and when they grow big enough they fall as drizzle or rain.</a:t>
            </a:r>
            <a:endParaRPr lang="en-US" sz="3600" dirty="0"/>
          </a:p>
        </p:txBody>
      </p:sp>
      <p:pic>
        <p:nvPicPr>
          <p:cNvPr id="5" name="Image 0" descr="/home/claude/f4/img/v2/lsa_dew.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dew drops on grass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Three States of Moisture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Solid state: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When droplets freeze, or when vapour changes directly into ice by sublimation, ice crystals are formed. They make up high clouds such as cirrus and fall as snow, hail or frost in cold regions and on high mountains.</a:t>
            </a:r>
            <a:endParaRPr lang="en-US" sz="3400" dirty="0"/>
          </a:p>
        </p:txBody>
      </p:sp>
      <p:pic>
        <p:nvPicPr>
          <p:cNvPr id="5" name="Image 0" descr="/home/claude/f4/img/v2/lsa_snow.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snow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Atmospheric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Atmospheric humidity is expressed in the following two types: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Absolute humidity: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Absolute humidity is the mass of water vapour in a given volume of air, expressed in grams per cubic metre (g/m³). For example, 15 g/m³ means 15 grams of vapour in each cubic metre of air. It is high in hot equatorial air and very low in cold polar air and in deserts.</a:t>
            </a:r>
            <a:endParaRPr lang="en-US" sz="2600" dirty="0"/>
          </a:p>
        </p:txBody>
      </p:sp>
      <p:pic>
        <p:nvPicPr>
          <p:cNvPr id="5" name="Image 0" descr="/home/claude/f4/img/v2/humidity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warm air can hold more water vapour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Atmospheric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Relative humidity (RH):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Relative humidity compares the vapour in the air with the maximum the air can hold at the same temperature, in %: RH = actual vapour ÷ maximum vapour × 100. Air at 30 °C can hold about 30 g/m³, so if it contains 15 g/m³, its RH is 50 %. At 100 % the air is saturated and condensation begins.</a:t>
            </a:r>
            <a:endParaRPr lang="en-US" sz="3000" dirty="0"/>
          </a:p>
        </p:txBody>
      </p:sp>
      <p:pic>
        <p:nvPicPr>
          <p:cNvPr id="5" name="Image 0" descr="/home/claude/f4/img/v2/met2_humidity.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relative humidity and temperature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Spatial Distribution of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Humidity is distributed over the Earth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Equatorial regions: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High temperatures and abundant water from oceans, rivers and forests give very high humidity all year. In the Congo Basin and on the Guinea coast, relative humidity is often above 80 %.</a:t>
            </a:r>
            <a:endParaRPr lang="en-US" sz="3200" dirty="0"/>
          </a:p>
        </p:txBody>
      </p:sp>
      <p:pic>
        <p:nvPicPr>
          <p:cNvPr id="5" name="Image 0" descr="/home/claude/f4/img/v2/equatorial_world_big.png">    </p:cNvPr>
          <p:cNvPicPr>
            <a:picLocks noChangeAspect="1"/>
          </p:cNvPicPr>
          <p:nvPr/>
        </p:nvPicPr>
        <p:blipFill>
          <a:blip r:embed="rId1"/>
          <a:stretch>
            <a:fillRect/>
          </a:stretch>
        </p:blipFill>
        <p:spPr>
          <a:xfrm>
            <a:off x="6537960" y="3255718"/>
            <a:ext cx="5470855" cy="132497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equatorial regions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Spatial Distribution of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Tropical deserts (15° to 30° N and 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 the subtropical high-pressure belts, sinking air is warmed and dried, so relative humidity is very low, often under 20 %. The Sahara and the Kalahari therefore have clear skies and very little rain.</a:t>
            </a:r>
            <a:endParaRPr lang="en-US" sz="3200" dirty="0"/>
          </a:p>
        </p:txBody>
      </p:sp>
      <p:pic>
        <p:nvPicPr>
          <p:cNvPr id="5" name="Image 0" descr="/home/claude/f4/img/v2/deserts_world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hot deserts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Spatial Distribution of Humidity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Coasts and continental interiors: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over oceans and along coasts is humid because of constant evaporation from the sea. Humidity decreases towards the interior of continents, which is why Douala is far more humid than Maroua.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Spatial Distribution of Humidity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cold air can hold little water vapour, so absolute humidity is extremely low. However, relative humidity can be high because this cold air is close to saturation even with little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Factors that Influence Atmospheric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Atmospheric humidity is influenced by the following factors: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Warm air can hold more water vapour than cold air, so a change of temperature changes relative humidity even when the amount of vapour stays the same. When the air cools at night, RH rises and dew or fog forms at dawn; when it warms in the afternoon, RH falls.</a:t>
            </a:r>
            <a:endParaRPr lang="en-US" sz="2800" dirty="0"/>
          </a:p>
        </p:txBody>
      </p:sp>
      <p:pic>
        <p:nvPicPr>
          <p:cNvPr id="5" name="Image 0" descr="/home/claude/f4/img/v2/f4_fog.jpg">    </p:cNvPr>
          <p:cNvPicPr>
            <a:picLocks noChangeAspect="1"/>
          </p:cNvPicPr>
          <p:nvPr/>
        </p:nvPicPr>
        <p:blipFill>
          <a:blip r:embed="rId1"/>
          <a:stretch>
            <a:fillRect/>
          </a:stretch>
        </p:blipFill>
        <p:spPr>
          <a:xfrm>
            <a:off x="6537960" y="2903104"/>
            <a:ext cx="5470855" cy="2030200"/>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morning fog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Factors that Influence Atmospheric Humidity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Nearness to water bodies: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near seas, lakes and rivers receive more water vapour by evaporation. For this reason, coastal and lakeside areas are more humid than places far 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Factors that Influence Atmospheric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Vegetation cover: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Dense vegetation releases large amounts of water vapour by transpiration. Forested areas are therefore more humid than bare land, and deforestation lowers humidity.</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dense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Factors that Influence Atmospheric Humidity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Winds and air masses: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Winds bring the humidity of the regions they come from. In Garoua, the moist south-west monsoon from the Atlantic raises RH above 70 % in the rainy season, while the dry Harmattan from the Sahara lowers it below 20 % in the dry season.</a:t>
            </a:r>
            <a:endParaRPr lang="en-US" sz="3200" dirty="0"/>
          </a:p>
        </p:txBody>
      </p:sp>
      <p:pic>
        <p:nvPicPr>
          <p:cNvPr id="5" name="Image 0" descr="/home/claude/f4/img/v2/f2t_harmattan.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Harmattan haze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Relevance of Atmospheric Moisture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On Weather</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Atmospheric moisture is important for weather in the following ways: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Formation of clouds and precipitation: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All clouds, fog, dew and precipitation come from the condensation of water vapour. Moisture is therefore the source of the rain that falls on the Earth; without it, there would be no rain at all.</a:t>
            </a:r>
            <a:endParaRPr lang="en-US" sz="2600" dirty="0"/>
          </a:p>
        </p:txBody>
      </p:sp>
      <p:pic>
        <p:nvPicPr>
          <p:cNvPr id="6" name="Image 0" descr="/home/claude/f4/img/v2/lsa_cloudsea.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clouds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Relevance of Atmospheric Moisture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On Weather</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Transfer of heat energy: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Water vapour takes latent heat during evaporation and releases it when it condenses. In this way, moisture carries heat from warm oceans and low latitudes to cooler regions and supplies the energy of thunderstorms.</a:t>
            </a:r>
            <a:endParaRPr lang="en-US" sz="3200" dirty="0"/>
          </a:p>
        </p:txBody>
      </p:sp>
      <p:pic>
        <p:nvPicPr>
          <p:cNvPr id="6" name="Image 0" descr="/home/claude/f4/img/v2/f2t_storm.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storm cloud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Relevance of Atmospheric Moisture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On Weather</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Regulation of temperature: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Water vapour is a greenhouse gas that absorbs the heat radiated by the Earth and keeps the lower air warm at night. It thus reduces the daily range of temperature, which is why humid regions do not become as cold at night as dry deserts.</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Relevance of Atmospheric Moisture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On Man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Atmospheric moisture is important for man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Water supply: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rain formed from atmospheric moisture fills the rivers, lakes, springs and wells that people use every day. It also fills the reservoirs of dams such as Lagdo, which produce hydroelectricity for the North.</a:t>
            </a:r>
            <a:endParaRPr lang="en-US" sz="2800" dirty="0"/>
          </a:p>
        </p:txBody>
      </p:sp>
      <p:pic>
        <p:nvPicPr>
          <p:cNvPr id="6" name="Image 0" descr="/home/claude/f4/img/v2/f2t_lagdo.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Lagdo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Relevance of Atmospheric Moisture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On Man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Agriculture and livestock: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Moisture supplies the rain and dew that crops and pastures need to grow. In the North, farmers plant millet, maize and cotton at the start of the rains, and herders depend on the green pastures of the rainy season.</a:t>
            </a:r>
            <a:endParaRPr lang="en-US" sz="3200" dirty="0"/>
          </a:p>
        </p:txBody>
      </p:sp>
      <p:pic>
        <p:nvPicPr>
          <p:cNvPr id="6" name="Image 0" descr="/home/claude/f4/img/v2/f4_ricefield.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rice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Relevance of Atmospheric Moisture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On Man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comfort and 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moderate humidity keeps the skin, eyes, nose and throat moist and protects them from dryness and dust. It also makes the hot season more bearable, because the air is cooler and less dusty than during the dry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absolute humidity from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Absolute humidity is the mass of vapour in a volume of air; relative humidity compares this amount with the maximum possible at that temperature, in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relative humidity rises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cools and can hold less vapour, so the same amount of vapour gives a higher percentage.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water released by plants through their leaves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Air at 100 % relative humidity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temperature at which condensation begins is the ______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Forms of Condensation and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Moisture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Relative 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 relative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Sublimation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sublimation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Nature of Moisture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moisture and identify its sources. Describe the three states of moisture. Distinguish absolute and relative humidity. Describe the spatial distribution of humidity. Explain the factors and the relevance of atmospheric moisture on weather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humidity of the air in the rainy and dry seasons of Garoua and calculate relative humidity.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Moisture; Sources of Moisture; The Three States of Moisture; Types of Atmospheric Humidity; Spatial Distribution of Humidity; Factors that Influence Atmospheric Humidity; On Weather;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types of clouds.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water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ice, water and steam.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fill a cup to the brim.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the equator on a globe.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Harmattan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“Thrice” by mpardo.photo, CC0 1.0, via Flickr (https://www.flickr.com/photos/130551911@N05/16875162129)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(Lakes and rivers):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(Liquid state): “Dew drops on grass” by Ervins Strauhmanis, CC BY 2.0, via Flickr (https://www.flickr.com/photos/76523360@N03/9537409567)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(Solid state): “Peaceful Winter” by `James Wheeler, CC BY-NC-SA 2.0, via Flickr (https://www.flickr.com/photos/24128704@N08/25673217581)</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(Temperature):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(Vegetation cover):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(Formation of clouds and precipitation): “Rising above the Inversion” by Pictoscribe -, CC BY-NC-ND 2.0, via Flickr (https://www.flickr.com/photos/70414856@N00/6535713585)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(Transfer of heat energy):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(Agriculture and livestock):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2026-09-29T11:11:27Z</dcterms:created>
  <dcterms:modified xsi:type="dcterms:W3CDTF">2026-09-29T11:11:27Z</dcterms:modified>
</cp:coreProperties>
</file>