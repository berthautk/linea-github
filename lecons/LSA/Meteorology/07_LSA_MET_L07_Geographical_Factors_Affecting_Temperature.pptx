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slideMasters/slideMaster51.xml" ContentType="application/vnd.openxmlformats-officedocument.presentationml.slideMaster+xml"/>
  <Override PartName="/ppt/slides/slide51.xml" ContentType="application/vnd.openxmlformats-officedocument.presentationml.slide+xml"/>
  <Override PartName="/ppt/slideMasters/slideMaster52.xml" ContentType="application/vnd.openxmlformats-officedocument.presentationml.slideMaster+xml"/>
  <Override PartName="/ppt/slides/slide52.xml" ContentType="application/vnd.openxmlformats-officedocument.presentationml.slide+xml"/>
  <Override PartName="/ppt/slideMasters/slideMaster53.xml" ContentType="application/vnd.openxmlformats-officedocument.presentationml.slideMaster+xml"/>
  <Override PartName="/ppt/slides/slide53.xml" ContentType="application/vnd.openxmlformats-officedocument.presentationml.slide+xml"/>
  <Override PartName="/ppt/slideMasters/slideMaster54.xml" ContentType="application/vnd.openxmlformats-officedocument.presentationml.slideMaster+xml"/>
  <Override PartName="/ppt/slides/slide54.xml" ContentType="application/vnd.openxmlformats-officedocument.presentationml.slide+xml"/>
  <Override PartName="/ppt/slideMasters/slideMaster55.xml" ContentType="application/vnd.openxmlformats-officedocument.presentationml.slideMaster+xml"/>
  <Override PartName="/ppt/slides/slide55.xml" ContentType="application/vnd.openxmlformats-officedocument.presentationml.slide+xml"/>
  <Override PartName="/ppt/slideMasters/slideMaster56.xml" ContentType="application/vnd.openxmlformats-officedocument.presentationml.slideMaster+xml"/>
  <Override PartName="/ppt/slides/slide56.xml" ContentType="application/vnd.openxmlformats-officedocument.presentationml.slide+xml"/>
  <Override PartName="/ppt/slideMasters/slideMaster57.xml" ContentType="application/vnd.openxmlformats-officedocument.presentationml.slideMaster+xml"/>
  <Override PartName="/ppt/slides/slide57.xml" ContentType="application/vnd.openxmlformats-officedocument.presentationml.slide+xml"/>
  <Override PartName="/ppt/slideMasters/slideMaster58.xml" ContentType="application/vnd.openxmlformats-officedocument.presentationml.slideMaster+xml"/>
  <Override PartName="/ppt/slides/slide58.xml" ContentType="application/vnd.openxmlformats-officedocument.presentationml.slide+xml"/>
  <Override PartName="/ppt/slideMasters/slideMaster59.xml" ContentType="application/vnd.openxmlformats-officedocument.presentationml.slideMaster+xml"/>
  <Override PartName="/ppt/slides/slide59.xml" ContentType="application/vnd.openxmlformats-officedocument.presentationml.slide+xml"/>
  <Override PartName="/ppt/slideMasters/slideMaster60.xml" ContentType="application/vnd.openxmlformats-officedocument.presentationml.slideMaster+xml"/>
  <Override PartName="/ppt/slides/slide60.xml" ContentType="application/vnd.openxmlformats-officedocument.presentationml.slide+xml"/>
  <Override PartName="/ppt/slideMasters/slideMaster61.xml" ContentType="application/vnd.openxmlformats-officedocument.presentationml.slideMaster+xml"/>
  <Override PartName="/ppt/slides/slide61.xml" ContentType="application/vnd.openxmlformats-officedocument.presentationml.slide+xml"/>
  <Override PartName="/ppt/slideMasters/slideMaster62.xml" ContentType="application/vnd.openxmlformats-officedocument.presentationml.slideMaster+xml"/>
  <Override PartName="/ppt/slides/slide62.xml" ContentType="application/vnd.openxmlformats-officedocument.presentationml.slide+xml"/>
  <Override PartName="/ppt/slideMasters/slideMaster63.xml" ContentType="application/vnd.openxmlformats-officedocument.presentationml.slideMaster+xml"/>
  <Override PartName="/ppt/slides/slide63.xml" ContentType="application/vnd.openxmlformats-officedocument.presentationml.slide+xml"/>
  <Override PartName="/ppt/slideMasters/slideMaster64.xml" ContentType="application/vnd.openxmlformats-officedocument.presentationml.slideMaster+xml"/>
  <Override PartName="/ppt/slides/slide64.xml" ContentType="application/vnd.openxmlformats-officedocument.presentationml.slide+xml"/>
  <Override PartName="/ppt/slideMasters/slideMaster65.xml" ContentType="application/vnd.openxmlformats-officedocument.presentationml.slideMaster+xml"/>
  <Override PartName="/ppt/slides/slide6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 id="312" r:id="rId58"/>
    <p:sldId id="313" r:id="rId59"/>
    <p:sldId id="314" r:id="rId60"/>
    <p:sldId id="315" r:id="rId61"/>
    <p:sldId id="316" r:id="rId62"/>
    <p:sldId id="317" r:id="rId63"/>
    <p:sldId id="318" r:id="rId64"/>
    <p:sldId id="319" r:id="rId65"/>
    <p:sldId id="320" r:id="rId66"/>
  </p:sldIdLst>
  <p:notesMasterIdLst>
    <p:notesMasterId r:id="rId67"/>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slide" Target="slides/slide54.xml"/><Relationship Id="rId56" Type="http://schemas.openxmlformats.org/officeDocument/2006/relationships/slide" Target="slides/slide55.xml"/><Relationship Id="rId57" Type="http://schemas.openxmlformats.org/officeDocument/2006/relationships/slide" Target="slides/slide56.xml"/><Relationship Id="rId58" Type="http://schemas.openxmlformats.org/officeDocument/2006/relationships/slide" Target="slides/slide57.xml"/><Relationship Id="rId59" Type="http://schemas.openxmlformats.org/officeDocument/2006/relationships/slide" Target="slides/slide58.xml"/><Relationship Id="rId60" Type="http://schemas.openxmlformats.org/officeDocument/2006/relationships/slide" Target="slides/slide59.xml"/><Relationship Id="rId61" Type="http://schemas.openxmlformats.org/officeDocument/2006/relationships/slide" Target="slides/slide60.xml"/><Relationship Id="rId62" Type="http://schemas.openxmlformats.org/officeDocument/2006/relationships/slide" Target="slides/slide61.xml"/><Relationship Id="rId63" Type="http://schemas.openxmlformats.org/officeDocument/2006/relationships/slide" Target="slides/slide62.xml"/><Relationship Id="rId64" Type="http://schemas.openxmlformats.org/officeDocument/2006/relationships/slide" Target="slides/slide63.xml"/><Relationship Id="rId65" Type="http://schemas.openxmlformats.org/officeDocument/2006/relationships/slide" Target="slides/slide64.xml"/><Relationship Id="rId66" Type="http://schemas.openxmlformats.org/officeDocument/2006/relationships/slide" Target="slides/slide65.xml"/><Relationship Id="rId67" Type="http://schemas.openxmlformats.org/officeDocument/2006/relationships/notesMaster" Target="notesMasters/notesMaster1.xml"/><Relationship Id="rId68" Type="http://schemas.openxmlformats.org/officeDocument/2006/relationships/presProps" Target="presProps.xml"/><Relationship Id="rId69" Type="http://schemas.openxmlformats.org/officeDocument/2006/relationships/viewProps" Target="viewProps.xml"/><Relationship Id="rId70" Type="http://schemas.openxmlformats.org/officeDocument/2006/relationships/theme" Target="theme/theme1.xml"/><Relationship Id="rId7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_rels/notesSlide5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2.xml"/>
		</Relationships>
</file>

<file path=ppt/notesSlides/_rels/notesSlide5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3.xml"/>
		</Relationships>
</file>

<file path=ppt/notesSlides/_rels/notesSlide5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4.xml"/>
		</Relationships>
</file>

<file path=ppt/notesSlides/_rels/notesSlide5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5.xml"/>
		</Relationships>
</file>

<file path=ppt/notesSlides/_rels/notesSlide5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6.xml"/>
		</Relationships>
</file>

<file path=ppt/notesSlides/_rels/notesSlide5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7.xml"/>
		</Relationships>
</file>

<file path=ppt/notesSlides/_rels/notesSlide5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8.xml"/>
		</Relationships>
</file>

<file path=ppt/notesSlides/_rels/notesSlide5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9.xml"/>
		</Relationships>
</file>

<file path=ppt/notesSlides/_rels/notesSlide6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0.xml"/>
		</Relationships>
</file>

<file path=ppt/notesSlides/_rels/notesSlide6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1.xml"/>
		</Relationships>
</file>

<file path=ppt/notesSlides/_rels/notesSlide6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2.xml"/>
		</Relationships>
</file>

<file path=ppt/notesSlides/_rels/notesSlide6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3.xml"/>
		</Relationships>
</file>

<file path=ppt/notesSlides/_rels/notesSlide6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4.xml"/>
		</Relationships>
</file>

<file path=ppt/notesSlides/_rels/notesSlide6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class, and welcome to our geography lesson. I am your geography teacher, Mr Kamdem. Today we are starting Lesson 7: Geographical Factors Affecting Temperature.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lesson is for Lower Sixth Arts. It belongs to Module 1: Understanding and managing atmospheric and hydrological phenomena and hazards across the world in general and Cameroon in particular. We shall need 2 periods to cover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topic is Energy in the Atmosphere, and the sub-topic is Global Distribution of Heat (Temperature). The key notions we shall use today are: continentality, maritime influence, specific heat, relief, altitude, aspect, ocean currents, prevailing winds, cloud cover, urban heat island. At the end, you should be able to do this: learners are able to explain why places at the same latitude have different temperatures, with examples around Garoua.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we start the new lesson, let us correct the homework I gave you at the end of Lesson 6: Latitudinal Distribution of Temperature. The question was: Define continentality. Take out your exercise books.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a good answer. Continentality is the effect of distance from the sea: inland areas have hotter summers, cooler winters and less rain. Compare it with your own answer and correct your work in red.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plan of our lesson today. First, we shall correct the homework. Then we shall look at the objectives and recall what you already know. After that, we shall study a situation from real life and the action to take, and do the learning activities. Finally, we shall copy the board summary, do the evaluation and the remediation, and I will give you the homework.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Take your time to copy this part; we will continue together.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By the end of this lesson, you should be able to do five things. Number 1: explain the different heating of land and water (continentality). Number 2: explain the effects of altitude and aspect. Number 3: explain the effects of ocean currents and winds. Number 4: explain the double role of clouds. Number 5: explain the urban heat island.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first remember what you already know. Temperature decreases with latitude. The Harmattan brings hot, dry air. Clouds reflect sunlight. Keep this in mind, because we shall build on it today.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Take your time to copy this part; we will continue together.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Listen carefully to this situation from real life. You spend Saturday afternoon in your grandmother's village, 30 km from Garoua. Coming back in the evening, as your bus enters the city around the Central Market, the air suddenly feels much hotter and stuffier than in the village. You ask: "We are at the same latitude, so why does the town feel like an oven compared to the village?" Think about it, because I am going to ask you some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1: What is the problem in the situation?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The learner does not know the geographical factors that change temperature at the same latitude.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2: Why is the town hotter than the village?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Tar and concrete store heat, and there are fewer trees: an urban heat island.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3: Name another factor that changes temperature locally.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Altitude, nearness to water (Lagdo), winds or cloud cover.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From this situation, the action we are working towards in this lesson is the following: plant and protect trees in town to reduce the urban heat island.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is this lesson important for you? This lesson explains local differences of temperature and the importance of green spaces in towns.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1. Look carefully at this diagram: coastal and inland temperatures.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1: Why do places far inland have more extreme temperatures?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Land heats and cools quickly, while the sea moderates coastal temperatures.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2. Look carefully at this picture: snow on Kilimanjaro near the Equator.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2: Why is there snow on Kilimanjaro near the Equator?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Temperature falls with altitude (about 6.5 °C per 1,000 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3. Look carefully at this diagram: the aspect of slopes.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3: What is aspect?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The direction a slope faces.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4. Look carefully at this diagram: warm and cold currents.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4: How does the cold Benguela Current affect Namibia?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It cools the coast and makes it dry.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5. Look carefully at this diagram: the urban heat island.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5: Give two causes of the urban heat island.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Tar and concrete, heat from vehicles and machines, few trees, tall buildings (any two).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we are going to copy the board summary. Write the title and the headings neatly in your notebooks. I will give you enough time for each slide, so do not rush.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the definitions. The key terms of this lesson are defined as follows. On this slide we have Continentality.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the definitions. On this slide we have Adret and Ubac.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the definitions. On this slide we have Temperature lapsing and Heat island.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Nature of the Surface. The nature of the surface influences temperature in the following ways. Copy the point on Land surfaces on the left, then draw the diagram on the right: land and sea.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Nature of the Surface. Copy the point on Water surfaces: write the key term first, then its explanation.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Nature of the Surface. Copy the point on Distance from the sea: write the key term first, then its explanation.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Relief. Relief influences temperature in the following ways. Copy the point on Altitude above sea level on the left, then draw the diagram on the right: a snow-capped mountain in the tropics.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Copy the point on Aspect of slope on the left, then draw the diagram on the right: adret and ubac.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Ocean Currents. Ocean currents influence temperature in the following ways. Copy the point on Warm currents on the left, then draw the diagram on the right: ocean currents.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Ocean Currents. Copy the point on Cold currents: write the key term first, then its explanation.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Prevailing Winds. Prevailing winds influence temperature in the following ways. Copy the point on Winds from warm regions on the left, then draw the diagram on the right: the Harmattan.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Prevailing Winds. Copy the point on Winds from the sea or cold regions: write the key term first, then its explanation.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Cloud Cover. Cloud cover influences temperature in the following ways. Copy the point on By day: write the key term first, then its explanation.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Cloud Cover. Copy the point on By night: write the key term first, then its explanation.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Urbanisation: the Heat Island. Towns are warmer than the countryside for the following reasons. Copy the point on Artificial surfaces on the left, then draw the diagram on the right: the urban heat island.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Urbanisation: the Heat Island. Copy the point on Heat from human activities: write the key term first, then its explanation.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Urbanisation: the Heat Island. Copy the point on Lack of vegetation: write the key term first, then its explanation.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Urbanisation: the Heat Island. Copy the point on Buildings and pollution: write the key term first, then its explanation.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check what you have understood. Question 1: Distinguish a maritime climate from a continental climate. Answer in your exercise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answer is: a maritime climate near the sea has small temperature ranges; a continental climate far inland has large ranges. If you got it right, well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check what you have understood. Question 2: Explain the double role of clouds on temperature. Answer in your exercise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answer is: by day they reflect sunlight and cool the ground; at night they trap heat and keep it warm. If you got it right, well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those who need more practice, fill in the blanks in your exercise book. The answers are: number 1, ; number 6, 5; number 2, aspect; number 3, island.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your homework: Define the environmental lapse rate. We shall correct it at the beginning of our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next lesson will be on Lesson 8: Vertical Distribution of Temperature. Thank you for your attention, and see you next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play the bilingual game. I say a word in English, and you give me the French word. Then we do the reverse.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record this information in the official logbook of the class after the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complete the second page of the logbook: the matter taught, the evaluation, the homework and the attendance.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is for me, the teacher: it gives the timing of the lesson and what to do if the projector is not available.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references and picture credits used to prepare this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LESSON">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640080" cy="658368"/>
          </a:xfrm>
          <a:prstGeom prst="rect">
            <a:avLst/>
          </a:prstGeom>
          <a:solidFill>
            <a:srgbClr val="990011"/>
          </a:solidFill>
          <a:ln w="12700">
            <a:solidFill>
              <a:srgbClr val="990011"/>
            </a:solidFill>
            <a:prstDash val="solid"/>
          </a:ln>
        </p:spPr>
      </p:sp>
      <p:sp>
        <p:nvSpPr>
          <p:cNvPr id="3" name="Text 1"/>
          <p:cNvSpPr/>
          <p:nvPr/>
        </p:nvSpPr>
        <p:spPr>
          <a:xfrm>
            <a:off x="640080" y="0"/>
            <a:ext cx="4754880" cy="658368"/>
          </a:xfrm>
          <a:prstGeom prst="homePlate">
            <a:avLst/>
          </a:prstGeom>
          <a:solidFill>
            <a:srgbClr val="990011"/>
          </a:solidFill>
          <a:ln>
            <a:solidFill>
              <a:srgbClr val="990011"/>
            </a:solid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GEOGRAPHY / LOWER SIXTH ARTS</a:t>
            </a:r>
            <a:endParaRPr lang="en-US" sz="1800" dirty="0"/>
          </a:p>
        </p:txBody>
      </p:sp>
      <p:sp>
        <p:nvSpPr>
          <p:cNvPr id="4" name="Text 2"/>
          <p:cNvSpPr/>
          <p:nvPr/>
        </p:nvSpPr>
        <p:spPr>
          <a:xfrm>
            <a:off x="5212080" y="0"/>
            <a:ext cx="6979615" cy="658368"/>
          </a:xfrm>
          <a:prstGeom prst="chevron">
            <a:avLst/>
          </a:prstGeom>
          <a:solidFill>
            <a:srgbClr val="1C3F6E"/>
          </a:solidFill>
          <a:ln>
            <a:solidFill>
              <a:srgbClr val="1C3F6E"/>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LESSON 7: GEOGRAPHICAL FACTORS AFFECTING TEMPERATURE</a:t>
            </a:r>
            <a:endParaRPr lang="en-US" sz="1400" dirty="0"/>
          </a:p>
        </p:txBody>
      </p:sp>
      <p:sp>
        <p:nvSpPr>
          <p:cNvPr id="5" name="Shape 3"/>
          <p:cNvSpPr/>
          <p:nvPr/>
        </p:nvSpPr>
        <p:spPr>
          <a:xfrm>
            <a:off x="0" y="6492240"/>
            <a:ext cx="2743200" cy="365760"/>
          </a:xfrm>
          <a:prstGeom prst="rect">
            <a:avLst/>
          </a:prstGeom>
          <a:solidFill>
            <a:srgbClr val="1C3F6E"/>
          </a:solidFill>
          <a:ln w="12700">
            <a:solidFill>
              <a:srgbClr val="1C3F6E"/>
            </a:solidFill>
            <a:prstDash val="solid"/>
          </a:ln>
        </p:spPr>
      </p:sp>
      <p:sp>
        <p:nvSpPr>
          <p:cNvPr id="6" name="Text 4"/>
          <p:cNvSpPr/>
          <p:nvPr/>
        </p:nvSpPr>
        <p:spPr>
          <a:xfrm>
            <a:off x="137160" y="6492240"/>
            <a:ext cx="256032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Date: 2026 / 2027</a:t>
            </a:r>
            <a:endParaRPr lang="en-US" sz="1300" dirty="0"/>
          </a:p>
        </p:txBody>
      </p:sp>
      <p:sp>
        <p:nvSpPr>
          <p:cNvPr id="7" name="Shape 5"/>
          <p:cNvSpPr/>
          <p:nvPr/>
        </p:nvSpPr>
        <p:spPr>
          <a:xfrm>
            <a:off x="2743200" y="6492240"/>
            <a:ext cx="6035040" cy="365760"/>
          </a:xfrm>
          <a:prstGeom prst="rect">
            <a:avLst/>
          </a:prstGeom>
          <a:solidFill>
            <a:srgbClr val="B8860B"/>
          </a:solidFill>
          <a:ln w="12700">
            <a:solidFill>
              <a:srgbClr val="B8860B"/>
            </a:solidFill>
            <a:prstDash val="solid"/>
          </a:ln>
        </p:spPr>
      </p:sp>
      <p:sp>
        <p:nvSpPr>
          <p:cNvPr id="8" name="Text 6"/>
          <p:cNvSpPr/>
          <p:nvPr/>
        </p:nvSpPr>
        <p:spPr>
          <a:xfrm>
            <a:off x="2834640" y="6492240"/>
            <a:ext cx="58521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Copyright MINESEC  —  HOD – GBHS GAROUA</a:t>
            </a:r>
            <a:endParaRPr lang="en-US" sz="1300" dirty="0"/>
          </a:p>
        </p:txBody>
      </p:sp>
      <p:sp>
        <p:nvSpPr>
          <p:cNvPr id="9" name="Shape 7"/>
          <p:cNvSpPr/>
          <p:nvPr/>
        </p:nvSpPr>
        <p:spPr>
          <a:xfrm>
            <a:off x="8778240" y="6492240"/>
            <a:ext cx="3413455" cy="365760"/>
          </a:xfrm>
          <a:prstGeom prst="rect">
            <a:avLst/>
          </a:prstGeom>
          <a:solidFill>
            <a:srgbClr val="36454F"/>
          </a:solidFill>
          <a:ln w="12700">
            <a:solidFill>
              <a:srgbClr val="36454F"/>
            </a:solidFill>
            <a:prstDash val="solid"/>
          </a:ln>
        </p:spPr>
      </p:sp>
      <p:sp>
        <p:nvSpPr>
          <p:cNvPr id="10" name="Text 8"/>
          <p:cNvSpPr/>
          <p:nvPr/>
        </p:nvSpPr>
        <p:spPr>
          <a:xfrm>
            <a:off x="8869680" y="6492240"/>
            <a:ext cx="3200400" cy="365760"/>
          </a:xfrm>
          <a:prstGeom prst="rect">
            <a:avLst/>
          </a:prstGeom>
          <a:noFill/>
          <a:ln/>
        </p:spPr>
        <p:txBody>
          <a:bodyPr wrap="square" lIns="0" tIns="0" rIns="0" bIns="0" rtlCol="0" anchor="ctr"/>
          <a:lstStyle/>
          <a:p>
            <a:pPr algn="r" indent="0" marL="0">
              <a:buNone/>
            </a:pPr>
            <a:r>
              <a:rPr lang="en-US" sz="1300" dirty="0">
                <a:solidFill>
                  <a:srgbClr val="FFFFFF"/>
                </a:solidFill>
                <a:latin typeface="Calibri" pitchFamily="34" charset="0"/>
                <a:ea typeface="Calibri" pitchFamily="34" charset="-122"/>
                <a:cs typeface="Calibri" pitchFamily="34" charset="-120"/>
              </a:rPr>
              <a:t>Mr KAMDEM E.  —  Geography</a:t>
            </a:r>
            <a:endParaRPr lang="en-US" sz="13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VER">
    <p:bg>
      <p:bgPr>
        <a:solidFill>
          <a:srgbClr val="FFFFFF"/>
        </a:solidFill>
      </p:bgPr>
    </p:bg>
    <p:spTree>
      <p:nvGrpSpPr>
        <p:cNvPr id="1" name=""/>
        <p:cNvGrpSpPr/>
        <p:nvPr/>
      </p:nvGrpSpPr>
      <p:grpSpPr>
        <a:xfrm>
          <a:off x="0" y="0"/>
          <a:ext cx="0" cy="0"/>
          <a:chOff x="0" y="0"/>
          <a:chExt cx="0" cy="0"/>
        </a:xfrm>
      </p:grpSpPr>
      <p:pic>
        <p:nvPicPr>
          <p:cNvPr id="2" name="Image 0" descr="/home/claude/f4/img/minesec_sheet.png">    </p:cNvPr>
          <p:cNvPicPr>
            <a:picLocks noChangeAspect="1"/>
          </p:cNvPicPr>
          <p:nvPr/>
        </p:nvPicPr>
        <p:blipFill>
          <a:blip r:embed="rId1"/>
          <a:stretch>
            <a:fillRect/>
          </a:stretch>
        </p:blipFill>
        <p:spPr>
          <a:xfrm>
            <a:off x="0" y="0"/>
            <a:ext cx="5888736" cy="6492240"/>
          </a:xfrm>
          <a:prstGeom prst="rect">
            <a:avLst/>
          </a:prstGeom>
        </p:spPr>
      </p:pic>
      <p:sp>
        <p:nvSpPr>
          <p:cNvPr id="3" name="Text 0"/>
          <p:cNvSpPr/>
          <p:nvPr/>
        </p:nvSpPr>
        <p:spPr>
          <a:xfrm>
            <a:off x="6126480" y="502920"/>
            <a:ext cx="5760720" cy="822960"/>
          </a:xfrm>
          <a:prstGeom prst="rect">
            <a:avLst/>
          </a:prstGeom>
          <a:noFill/>
          <a:ln/>
        </p:spPr>
        <p:txBody>
          <a:bodyPr wrap="square" lIns="0" tIns="0" rIns="0" bIns="0" rtlCol="0" anchor="ctr"/>
          <a:lstStyle/>
          <a:p>
            <a:pPr algn="ctr" indent="0" marL="0">
              <a:buNone/>
            </a:pPr>
            <a:r>
              <a:rPr lang="en-US" sz="4400" b="1" dirty="0">
                <a:solidFill>
                  <a:srgbClr val="1565C0"/>
                </a:solidFill>
                <a:latin typeface="Times New Roman" pitchFamily="34" charset="0"/>
                <a:ea typeface="Times New Roman" pitchFamily="34" charset="-122"/>
                <a:cs typeface="Times New Roman" pitchFamily="34" charset="-120"/>
              </a:rPr>
              <a:t>MINESEC</a:t>
            </a:r>
            <a:endParaRPr lang="en-US" sz="4400" dirty="0"/>
          </a:p>
        </p:txBody>
      </p:sp>
      <p:sp>
        <p:nvSpPr>
          <p:cNvPr id="4" name="Text 1"/>
          <p:cNvSpPr/>
          <p:nvPr/>
        </p:nvSpPr>
        <p:spPr>
          <a:xfrm>
            <a:off x="6126480" y="1325880"/>
            <a:ext cx="5760720" cy="457200"/>
          </a:xfrm>
          <a:prstGeom prst="rect">
            <a:avLst/>
          </a:prstGeom>
          <a:noFill/>
          <a:ln/>
        </p:spPr>
        <p:txBody>
          <a:bodyPr wrap="square" lIns="0" tIns="0" rIns="0" bIns="0" rtlCol="0" anchor="ctr"/>
          <a:lstStyle/>
          <a:p>
            <a:pPr algn="ctr" indent="0" marL="0">
              <a:buNone/>
            </a:pPr>
            <a:r>
              <a:rPr lang="en-US" sz="1800" b="1" dirty="0">
                <a:solidFill>
                  <a:srgbClr val="1C3F6E"/>
                </a:solidFill>
                <a:latin typeface="Calibri" pitchFamily="34" charset="0"/>
                <a:ea typeface="Calibri" pitchFamily="34" charset="-122"/>
                <a:cs typeface="Calibri" pitchFamily="34" charset="-120"/>
              </a:rPr>
              <a:t>GBHS GAROUA  —  GEOGRAPHY DEPARTMENT</a:t>
            </a:r>
            <a:endParaRPr lang="en-US" sz="1800" dirty="0"/>
          </a:p>
        </p:txBody>
      </p:sp>
      <p:sp>
        <p:nvSpPr>
          <p:cNvPr id="5" name="Text 2"/>
          <p:cNvSpPr/>
          <p:nvPr/>
        </p:nvSpPr>
        <p:spPr>
          <a:xfrm>
            <a:off x="6126480" y="5257800"/>
            <a:ext cx="5760720" cy="914400"/>
          </a:xfrm>
          <a:prstGeom prst="rect">
            <a:avLst/>
          </a:prstGeom>
          <a:noFill/>
          <a:ln/>
        </p:spPr>
        <p:txBody>
          <a:bodyPr wrap="square" lIns="0" tIns="0" rIns="0" bIns="0" rtlCol="0" anchor="ctr"/>
          <a:lstStyle/>
          <a:p>
            <a:pPr algn="ctr" indent="0" marL="0">
              <a:buNone/>
            </a:pPr>
            <a:r>
              <a:rPr lang="en-US" sz="2000" b="1" dirty="0">
                <a:solidFill>
                  <a:srgbClr val="111111"/>
                </a:solidFill>
                <a:latin typeface="Times New Roman" pitchFamily="34" charset="0"/>
                <a:ea typeface="Times New Roman" pitchFamily="34" charset="-122"/>
                <a:cs typeface="Times New Roman" pitchFamily="34" charset="-120"/>
              </a:rPr>
              <a:t>KAMDEM Emmanuel Berthaut</a:t>
            </a:r>
            <a:endParaRPr lang="en-US" sz="2000" dirty="0"/>
          </a:p>
          <a:p>
            <a:pPr algn="ctr" indent="0" marL="0">
              <a:buNone/>
            </a:pPr>
            <a:r>
              <a:rPr lang="en-US" sz="2000" b="1" dirty="0">
                <a:solidFill>
                  <a:srgbClr val="111111"/>
                </a:solidFill>
                <a:latin typeface="Times New Roman" pitchFamily="34" charset="0"/>
                <a:ea typeface="Times New Roman" pitchFamily="34" charset="-122"/>
                <a:cs typeface="Times New Roman" pitchFamily="34" charset="-120"/>
              </a:rPr>
              <a:t>Geography Teacher</a:t>
            </a:r>
            <a:endParaRPr lang="en-US" sz="2000" dirty="0"/>
          </a:p>
        </p:txBody>
      </p:sp>
      <p:sp>
        <p:nvSpPr>
          <p:cNvPr id="6" name="Shape 3"/>
          <p:cNvSpPr/>
          <p:nvPr/>
        </p:nvSpPr>
        <p:spPr>
          <a:xfrm>
            <a:off x="0" y="6492240"/>
            <a:ext cx="2743200" cy="365760"/>
          </a:xfrm>
          <a:prstGeom prst="rect">
            <a:avLst/>
          </a:prstGeom>
          <a:solidFill>
            <a:srgbClr val="1C3F6E"/>
          </a:solidFill>
          <a:ln w="12700">
            <a:solidFill>
              <a:srgbClr val="1C3F6E"/>
            </a:solidFill>
            <a:prstDash val="solid"/>
          </a:ln>
        </p:spPr>
      </p:sp>
      <p:sp>
        <p:nvSpPr>
          <p:cNvPr id="7" name="Text 4"/>
          <p:cNvSpPr/>
          <p:nvPr/>
        </p:nvSpPr>
        <p:spPr>
          <a:xfrm>
            <a:off x="137160" y="6492240"/>
            <a:ext cx="256032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Date: 2026 / 2027</a:t>
            </a:r>
            <a:endParaRPr lang="en-US" sz="1300" dirty="0"/>
          </a:p>
        </p:txBody>
      </p:sp>
      <p:sp>
        <p:nvSpPr>
          <p:cNvPr id="8" name="Shape 5"/>
          <p:cNvSpPr/>
          <p:nvPr/>
        </p:nvSpPr>
        <p:spPr>
          <a:xfrm>
            <a:off x="2743200" y="6492240"/>
            <a:ext cx="6035040" cy="365760"/>
          </a:xfrm>
          <a:prstGeom prst="rect">
            <a:avLst/>
          </a:prstGeom>
          <a:solidFill>
            <a:srgbClr val="B8860B"/>
          </a:solidFill>
          <a:ln w="12700">
            <a:solidFill>
              <a:srgbClr val="B8860B"/>
            </a:solidFill>
            <a:prstDash val="solid"/>
          </a:ln>
        </p:spPr>
      </p:sp>
      <p:sp>
        <p:nvSpPr>
          <p:cNvPr id="9" name="Text 6"/>
          <p:cNvSpPr/>
          <p:nvPr/>
        </p:nvSpPr>
        <p:spPr>
          <a:xfrm>
            <a:off x="2834640" y="6492240"/>
            <a:ext cx="58521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Copyright MINESEC  —  HOD – GBHS GAROUA</a:t>
            </a:r>
            <a:endParaRPr lang="en-US" sz="1300" dirty="0"/>
          </a:p>
        </p:txBody>
      </p:sp>
      <p:sp>
        <p:nvSpPr>
          <p:cNvPr id="10" name="Shape 7"/>
          <p:cNvSpPr/>
          <p:nvPr/>
        </p:nvSpPr>
        <p:spPr>
          <a:xfrm>
            <a:off x="8778240" y="6492240"/>
            <a:ext cx="3413455" cy="365760"/>
          </a:xfrm>
          <a:prstGeom prst="rect">
            <a:avLst/>
          </a:prstGeom>
          <a:solidFill>
            <a:srgbClr val="36454F"/>
          </a:solidFill>
          <a:ln w="12700">
            <a:solidFill>
              <a:srgbClr val="36454F"/>
            </a:solidFill>
            <a:prstDash val="solid"/>
          </a:ln>
        </p:spPr>
      </p:sp>
      <p:sp>
        <p:nvSpPr>
          <p:cNvPr id="11" name="Text 8"/>
          <p:cNvSpPr/>
          <p:nvPr/>
        </p:nvSpPr>
        <p:spPr>
          <a:xfrm>
            <a:off x="8869680" y="6492240"/>
            <a:ext cx="3200400" cy="365760"/>
          </a:xfrm>
          <a:prstGeom prst="rect">
            <a:avLst/>
          </a:prstGeom>
          <a:noFill/>
          <a:ln/>
        </p:spPr>
        <p:txBody>
          <a:bodyPr wrap="square" lIns="0" tIns="0" rIns="0" bIns="0" rtlCol="0" anchor="ctr"/>
          <a:lstStyle/>
          <a:p>
            <a:pPr algn="r" indent="0" marL="0">
              <a:buNone/>
            </a:pPr>
            <a:r>
              <a:rPr lang="en-US" sz="1300" dirty="0">
                <a:solidFill>
                  <a:srgbClr val="FFFFFF"/>
                </a:solidFill>
                <a:latin typeface="Calibri" pitchFamily="34" charset="0"/>
                <a:ea typeface="Calibri" pitchFamily="34" charset="-122"/>
                <a:cs typeface="Calibri" pitchFamily="34" charset="-120"/>
              </a:rPr>
              <a:t>Mr KAMDEM E.  —  Geography</a:t>
            </a:r>
            <a:endParaRPr lang="en-US" sz="13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2.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2.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2.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2.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2.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2.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2.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2.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2.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2.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2.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2.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2.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2.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2.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2.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2.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slideLayout" Target="../slideLayouts/slideLayout2.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slideLayout" Target="../slideLayouts/slideLayout2.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jpg"/><Relationship Id="rId2" Type="http://schemas.openxmlformats.org/officeDocument/2006/relationships/slideLayout" Target="../slideLayouts/slideLayout2.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slideLayout" Target="../slideLayouts/slideLayout2.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slideLayout" Target="../slideLayouts/slideLayout2.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slideLayout" Target="../slideLayouts/slideLayout2.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slideLayout" Target="../slideLayouts/slideLayout2.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slideLayout" Target="../slideLayouts/slideLayout2.xml"/><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slideLayout" Target="../slideLayouts/slideLayout2.xml"/><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png"/><Relationship Id="rId2" Type="http://schemas.openxmlformats.org/officeDocument/2006/relationships/slideLayout" Target="../slideLayouts/slideLayout2.xml"/><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png"/><Relationship Id="rId2" Type="http://schemas.openxmlformats.org/officeDocument/2006/relationships/slideLayout" Target="../slideLayouts/slideLayout2.xml"/><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png"/><Relationship Id="rId2" Type="http://schemas.openxmlformats.org/officeDocument/2006/relationships/slideLayout" Target="../slideLayouts/slideLayout2.xml"/><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png"/><Relationship Id="rId2" Type="http://schemas.openxmlformats.org/officeDocument/2006/relationships/slideLayout" Target="../slideLayouts/slideLayout2.xml"/><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34-1.png"/><Relationship Id="rId2" Type="http://schemas.openxmlformats.org/officeDocument/2006/relationships/slideLayout" Target="../slideLayouts/slideLayout2.xml"/><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image-35-1.png"/><Relationship Id="rId2" Type="http://schemas.openxmlformats.org/officeDocument/2006/relationships/slideLayout" Target="../slideLayouts/slideLayout2.xml"/><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image" Target="../media/image-36-1.png"/><Relationship Id="rId2" Type="http://schemas.openxmlformats.org/officeDocument/2006/relationships/slideLayout" Target="../slideLayouts/slideLayout2.xml"/><Relationship Id="rId3"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image" Target="../media/image-37-1.png"/><Relationship Id="rId2" Type="http://schemas.openxmlformats.org/officeDocument/2006/relationships/slideLayout" Target="../slideLayouts/slideLayout2.xml"/><Relationship Id="rId3"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image" Target="../media/image-38-1.png"/><Relationship Id="rId2" Type="http://schemas.openxmlformats.org/officeDocument/2006/relationships/slideLayout" Target="../slideLayouts/slideLayout2.xml"/><Relationship Id="rId3"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image" Target="../media/image-39-1.png"/><Relationship Id="rId2" Type="http://schemas.openxmlformats.org/officeDocument/2006/relationships/slideLayout" Target="../slideLayouts/slideLayout2.xml"/><Relationship Id="rId3"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image" Target="../media/image-40-1.png"/><Relationship Id="rId2" Type="http://schemas.openxmlformats.org/officeDocument/2006/relationships/slideLayout" Target="../slideLayouts/slideLayout2.xml"/><Relationship Id="rId3"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image" Target="../media/image-41-1.png"/><Relationship Id="rId2" Type="http://schemas.openxmlformats.org/officeDocument/2006/relationships/slideLayout" Target="../slideLayouts/slideLayout2.xml"/><Relationship Id="rId3"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image" Target="../media/image-42-1.jpg"/><Relationship Id="rId2" Type="http://schemas.openxmlformats.org/officeDocument/2006/relationships/slideLayout" Target="../slideLayouts/slideLayout2.xml"/><Relationship Id="rId3"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image" Target="../media/image-43-1.png"/><Relationship Id="rId2" Type="http://schemas.openxmlformats.org/officeDocument/2006/relationships/slideLayout" Target="../slideLayouts/slideLayout2.xml"/><Relationship Id="rId3"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image" Target="../media/image-44-1.png"/><Relationship Id="rId2" Type="http://schemas.openxmlformats.org/officeDocument/2006/relationships/slideLayout" Target="../slideLayouts/slideLayout2.xml"/><Relationship Id="rId3"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image" Target="../media/image-45-1.png"/><Relationship Id="rId2" Type="http://schemas.openxmlformats.org/officeDocument/2006/relationships/slideLayout" Target="../slideLayouts/slideLayout2.xml"/><Relationship Id="rId3"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image" Target="../media/image-46-1.jpg"/><Relationship Id="rId2" Type="http://schemas.openxmlformats.org/officeDocument/2006/relationships/slideLayout" Target="../slideLayouts/slideLayout2.xml"/><Relationship Id="rId3"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image" Target="../media/image-47-1.png"/><Relationship Id="rId2" Type="http://schemas.openxmlformats.org/officeDocument/2006/relationships/slideLayout" Target="../slideLayouts/slideLayout2.xml"/><Relationship Id="rId3"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image" Target="../media/image-48-1.png"/><Relationship Id="rId2" Type="http://schemas.openxmlformats.org/officeDocument/2006/relationships/slideLayout" Target="../slideLayouts/slideLayout2.xml"/><Relationship Id="rId3"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image" Target="../media/image-49-1.png"/><Relationship Id="rId2" Type="http://schemas.openxmlformats.org/officeDocument/2006/relationships/slideLayout" Target="../slideLayouts/slideLayout2.xml"/><Relationship Id="rId3"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image" Target="../media/image-50-1.png"/><Relationship Id="rId2" Type="http://schemas.openxmlformats.org/officeDocument/2006/relationships/slideLayout" Target="../slideLayouts/slideLayout2.xml"/><Relationship Id="rId3"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image" Target="../media/image-51-1.png"/><Relationship Id="rId2" Type="http://schemas.openxmlformats.org/officeDocument/2006/relationships/slideLayout" Target="../slideLayouts/slideLayout2.xml"/><Relationship Id="rId3"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image" Target="../media/image-52-1.png"/><Relationship Id="rId2" Type="http://schemas.openxmlformats.org/officeDocument/2006/relationships/slideLayout" Target="../slideLayouts/slideLayout2.xml"/><Relationship Id="rId3"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image" Target="../media/image-53-1.png"/><Relationship Id="rId2" Type="http://schemas.openxmlformats.org/officeDocument/2006/relationships/slideLayout" Target="../slideLayouts/slideLayout2.xml"/><Relationship Id="rId3"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image" Target="../media/image-54-1.png"/><Relationship Id="rId2" Type="http://schemas.openxmlformats.org/officeDocument/2006/relationships/slideLayout" Target="../slideLayouts/slideLayout2.xml"/><Relationship Id="rId3"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image" Target="../media/image-55-1.png"/><Relationship Id="rId2" Type="http://schemas.openxmlformats.org/officeDocument/2006/relationships/slideLayout" Target="../slideLayouts/slideLayout2.xml"/><Relationship Id="rId3"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image" Target="../media/image-56-1.png"/><Relationship Id="rId2" Type="http://schemas.openxmlformats.org/officeDocument/2006/relationships/slideLayout" Target="../slideLayouts/slideLayout2.xml"/><Relationship Id="rId3"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image" Target="../media/image-57-1.png"/><Relationship Id="rId2" Type="http://schemas.openxmlformats.org/officeDocument/2006/relationships/slideLayout" Target="../slideLayouts/slideLayout2.xml"/><Relationship Id="rId3"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image" Target="../media/image-58-1.png"/><Relationship Id="rId2" Type="http://schemas.openxmlformats.org/officeDocument/2006/relationships/slideLayout" Target="../slideLayouts/slideLayout2.xml"/><Relationship Id="rId3"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image" Target="../media/image-59-1.png"/><Relationship Id="rId2" Type="http://schemas.openxmlformats.org/officeDocument/2006/relationships/slideLayout" Target="../slideLayouts/slideLayout2.xml"/><Relationship Id="rId3"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image" Target="../media/image-60-1.png"/><Relationship Id="rId2" Type="http://schemas.openxmlformats.org/officeDocument/2006/relationships/slideLayout" Target="../slideLayouts/slideLayout2.xml"/><Relationship Id="rId3" Type="http://schemas.openxmlformats.org/officeDocument/2006/relationships/notesSlide" Target="../notesSlides/notesSlide60.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1.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3.xml"/></Relationships>
</file>

<file path=ppt/slides/_rels/slide64.xml.rels><?xml version="1.0" encoding="UTF-8" standalone="yes"?>
<Relationships xmlns="http://schemas.openxmlformats.org/package/2006/relationships"><Relationship Id="rId1" Type="http://schemas.openxmlformats.org/officeDocument/2006/relationships/image" Target="../media/image-64-1.png"/><Relationship Id="rId2" Type="http://schemas.openxmlformats.org/officeDocument/2006/relationships/slideLayout" Target="../slideLayouts/slideLayout2.xml"/><Relationship Id="rId3" Type="http://schemas.openxmlformats.org/officeDocument/2006/relationships/notesSlide" Target="../notesSlides/notesSlide64.xml"/></Relationships>
</file>

<file path=ppt/slides/_rels/slide65.xml.rels><?xml version="1.0" encoding="UTF-8" standalone="yes"?>
<Relationships xmlns="http://schemas.openxmlformats.org/package/2006/relationships"><Relationship Id="rId1" Type="http://schemas.openxmlformats.org/officeDocument/2006/relationships/image" Target="../media/image-65-1.png"/><Relationship Id="rId2" Type="http://schemas.openxmlformats.org/officeDocument/2006/relationships/slideLayout" Target="../slideLayouts/slideLayout2.xml"/><Relationship Id="rId3" Type="http://schemas.openxmlformats.org/officeDocument/2006/relationships/notesSlide" Target="../notesSlides/notesSlide65.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nvSpPr>
        <p:spPr>
          <a:xfrm>
            <a:off x="6126480" y="1965960"/>
            <a:ext cx="5760720" cy="1005840"/>
          </a:xfrm>
          <a:prstGeom prst="rect">
            <a:avLst/>
          </a:prstGeom>
          <a:noFill/>
          <a:ln/>
        </p:spPr>
        <p:txBody>
          <a:bodyPr wrap="square" lIns="0" tIns="0" rIns="0" bIns="0" rtlCol="0" anchor="ctr"/>
          <a:lstStyle/>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LOWER SIXTH ARTS</a:t>
            </a:r>
            <a:endParaRPr lang="en-US" sz="2600" dirty="0"/>
          </a:p>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GEOGRAPHY</a:t>
            </a:r>
            <a:endParaRPr lang="en-US" sz="2600" dirty="0"/>
          </a:p>
        </p:txBody>
      </p:sp>
      <p:sp>
        <p:nvSpPr>
          <p:cNvPr id="3" name="Text 1"/>
          <p:cNvSpPr/>
          <p:nvPr/>
        </p:nvSpPr>
        <p:spPr>
          <a:xfrm>
            <a:off x="6126480" y="3063240"/>
            <a:ext cx="5760720" cy="2103120"/>
          </a:xfrm>
          <a:prstGeom prst="rect">
            <a:avLst/>
          </a:prstGeom>
          <a:noFill/>
          <a:ln/>
        </p:spPr>
        <p:txBody>
          <a:bodyPr wrap="square" lIns="0" tIns="0" rIns="0" bIns="0" rtlCol="0" anchor="ctr">
            <a:normAutofit/>
          </a:bodyPr>
          <a:lstStyle/>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Lesson 7</a:t>
            </a:r>
            <a:endParaRPr lang="en-US" sz="2600" dirty="0"/>
          </a:p>
          <a:p>
            <a:pPr algn="ctr" indent="0" marL="0">
              <a:buNone/>
            </a:pPr>
            <a:r>
              <a:rPr lang="en-US" sz="3200" b="1" dirty="0">
                <a:solidFill>
                  <a:srgbClr val="990011"/>
                </a:solidFill>
                <a:latin typeface="Times New Roman" pitchFamily="34" charset="0"/>
                <a:ea typeface="Times New Roman" pitchFamily="34" charset="-122"/>
                <a:cs typeface="Times New Roman" pitchFamily="34" charset="-120"/>
              </a:rPr>
              <a:t>Geographical Factors Affecting Temperature</a:t>
            </a:r>
            <a:endParaRPr lang="en-US" sz="2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CLASS INFO</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Class, Chapter and Duration</a:t>
            </a:r>
            <a:endParaRPr lang="en-US" sz="360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2377440"/>
                <a:gridCol w="8897112"/>
              </a:tblGrid>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Class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Lower Sixth Arts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Chapter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Module 1: Understanding and managing atmospheric and hydrological phenomena and hazards across the world in general and Cameroon in particular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Duration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2 periods (2 × 50 minutes)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IDENTIFICATION</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Lesson Identification</a:t>
            </a:r>
            <a:endParaRPr lang="en-US" sz="36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2377440"/>
                <a:gridCol w="8897112"/>
              </a:tblGrid>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Topic</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Energy in the Atmosphere</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Sub-topic</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Global Distribution of Heat (Temperature)</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Lesson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Lesson 7: Geographical Factors Affecting Temperature</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Notions / Concepts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Continentality, maritime influence, specific heat, relief, altitude, aspect, ocean currents, prevailing winds, cloud cover, urban heat island.</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Syllabus focus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Geographical factors that modify temperatures at the same latitude: land and sea, relief (altitude, aspect), ocean currents, winds, cloud cover, urbanisation.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Competence</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Learners are able to explain why places at the same latitude have different temperatures, with examples around Garoua.</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 CORRECTION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Correction of the Homework</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C3F6E"/>
                </a:solidFill>
                <a:latin typeface="Times New Roman" pitchFamily="34" charset="0"/>
                <a:ea typeface="Times New Roman" pitchFamily="34" charset="-122"/>
                <a:cs typeface="Times New Roman" pitchFamily="34" charset="-120"/>
              </a:rPr>
              <a:t>Question (Lesson 6: Latitudinal Distribution of Temperature):</a:t>
            </a:r>
            <a:endParaRPr lang="en-US" sz="4000" dirty="0"/>
          </a:p>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Define continentality.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 CORRECTION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Correction: Possible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Continentality is the effect of distance from the sea: inland areas have hotter summers, cooler winters and less rain.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LESSON PLAN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Lesson Plan</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Correction of the homework</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Objectives and recall</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Real-life situation and action to take</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Learning activities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Board summary</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Evaluation, remediation and homework</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OBJECTIVES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Objectives</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By the end of this lesson, you should be able to:</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Explain the different heating of land and water (continentality).</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Explain the effects of altitude and aspect.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OBJECTIVES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Objectives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Explain the effects of ocean currents and winds.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Explain the double role of clouds.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Explain the urban heat island.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PREVIOUS KNOWLEDGE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Previous Knowledge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Temperature decreases with latitude.</a:t>
            </a:r>
            <a:endParaRPr lang="en-US" sz="4000" dirty="0"/>
          </a:p>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The Harmattan brings hot, dry air.</a:t>
            </a:r>
            <a:endParaRPr lang="en-US" sz="4000" dirty="0"/>
          </a:p>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Clouds reflect sunlight.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in Real Life</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You spend Saturday afternoon in your grandmother's village, 30 km from Garoua.</a:t>
            </a:r>
            <a:endParaRPr lang="en-US" sz="4000" dirty="0"/>
          </a:p>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Coming back in the evening, as your bus enters the city around the Central Market, the air suddenly feels much hotter and stuffier than in the village.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in Real Life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You ask: "We are at the same latitude, so why does the town feel like an oven compared to the village?"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is the problem in the situation?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learner does not know the geographical factors that change temperature at the same latitude.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Why is the town hotter than the village?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Tar and concrete store heat, and there are fewer trees: an urban heat island.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3</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Name another factor that changes temperature locally.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Possible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Altitude, nearness to water (Lagdo), winds or cloud cover.</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ACTION TO TAKE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Action to Take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Plant and protect trees in town to reduce the urban heat island.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JUSTIFICATION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Justification of the Lesson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This lesson explains local differences of temperature and the importance of green spaces in towns.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LAND AND SEA</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a:t>
            </a:r>
            <a:endParaRPr lang="en-US" sz="3600" dirty="0"/>
          </a:p>
        </p:txBody>
      </p:sp>
      <p:pic>
        <p:nvPicPr>
          <p:cNvPr id="4" name="Image 0" descr="/home/claude/f4/img/v2/continentality_big.png">    </p:cNvPr>
          <p:cNvPicPr>
            <a:picLocks noChangeAspect="1"/>
          </p:cNvPicPr>
          <p:nvPr/>
        </p:nvPicPr>
        <p:blipFill>
          <a:blip r:embed="rId1"/>
          <a:stretch>
            <a:fillRect/>
          </a:stretch>
        </p:blipFill>
        <p:spPr>
          <a:xfrm>
            <a:off x="1215564" y="1783080"/>
            <a:ext cx="9760567"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Coastal and inland temperatures.</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LAND AND SEA</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Why do places far inland have more extreme temperatures?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LAND AND SEA</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Land heats and cools quickly, while the sea moderates coastal temperatures.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RELIEF</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a:t>
            </a:r>
            <a:endParaRPr lang="en-US" sz="3600" dirty="0"/>
          </a:p>
        </p:txBody>
      </p:sp>
      <p:pic>
        <p:nvPicPr>
          <p:cNvPr id="4" name="Image 0" descr="/home/claude/f4/img/v2/f2t_kilimanjaro.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Snow on Kilimanjaro near the Equator.</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RELIEF</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Why is there snow on Kilimanjaro near the Equator?</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RELIEF</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Temperature falls with altitude (about 6.5 °C per 1,000 m).</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RELIEF</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a:t>
            </a:r>
            <a:endParaRPr lang="en-US" sz="3600" dirty="0"/>
          </a:p>
        </p:txBody>
      </p:sp>
      <p:pic>
        <p:nvPicPr>
          <p:cNvPr id="4" name="Image 0" descr="/home/claude/f4/img/v2/aspect_big.png">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The aspect of slopes.</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RELIEF</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is aspect?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RELIEF</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direction a slope faces.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CURRENTS AND WINDS</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a:t>
            </a:r>
            <a:endParaRPr lang="en-US" sz="3600" dirty="0"/>
          </a:p>
        </p:txBody>
      </p:sp>
      <p:pic>
        <p:nvPicPr>
          <p:cNvPr id="4" name="Image 0" descr="/home/claude/f4/img/v2/ocean_currents_big.png">    </p:cNvPr>
          <p:cNvPicPr>
            <a:picLocks noChangeAspect="1"/>
          </p:cNvPicPr>
          <p:nvPr/>
        </p:nvPicPr>
        <p:blipFill>
          <a:blip r:embed="rId1"/>
          <a:stretch>
            <a:fillRect/>
          </a:stretch>
        </p:blipFill>
        <p:spPr>
          <a:xfrm>
            <a:off x="1825600" y="1783080"/>
            <a:ext cx="8540496"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Warm and cold currents.</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CURRENTS AND WINDS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How does the cold Benguela Current affect Namibia?</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CURRENTS AND WINDS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cools the coast and makes it dry.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31</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4. TOWNS</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a:t>
            </a:r>
            <a:endParaRPr lang="en-US" sz="3600" dirty="0"/>
          </a:p>
        </p:txBody>
      </p:sp>
      <p:pic>
        <p:nvPicPr>
          <p:cNvPr id="4" name="Image 0" descr="/home/claude/f4/img/v2/heat_island_big.png">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The urban heat island.</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32</a:t>
            </a:fld>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4. TOWNS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Give two causes of the urban heat island.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33</a:t>
            </a:fld>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4. TOWNS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Tar and concrete, heat from vehicles and machines, few trees, tall buildings (any two).</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34</a:t>
            </a:fld>
            <a:endParaRPr 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Board Summary</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3200" b="1" dirty="0">
                <a:solidFill>
                  <a:srgbClr val="111111"/>
                </a:solidFill>
                <a:latin typeface="Times New Roman" pitchFamily="34" charset="0"/>
                <a:ea typeface="Times New Roman" pitchFamily="34" charset="-122"/>
                <a:cs typeface="Times New Roman" pitchFamily="34" charset="-120"/>
              </a:rPr>
              <a:t>Topic: Energy in the Atmosphere</a:t>
            </a:r>
            <a:endParaRPr lang="en-US" sz="3200" dirty="0"/>
          </a:p>
          <a:p>
            <a:pPr algn="l" indent="0" marL="0">
              <a:spcAft>
                <a:spcPts val="800"/>
              </a:spcAft>
              <a:buNone/>
            </a:pPr>
            <a:r>
              <a:rPr lang="en-US" sz="3200" b="1" dirty="0">
                <a:solidFill>
                  <a:srgbClr val="111111"/>
                </a:solidFill>
                <a:latin typeface="Times New Roman" pitchFamily="34" charset="0"/>
                <a:ea typeface="Times New Roman" pitchFamily="34" charset="-122"/>
                <a:cs typeface="Times New Roman" pitchFamily="34" charset="-120"/>
              </a:rPr>
              <a:t>Sub-topic: Global Distribution of Heat (Temperature)</a:t>
            </a:r>
            <a:endParaRPr lang="en-US" sz="3200" dirty="0"/>
          </a:p>
          <a:p>
            <a:pPr algn="l" indent="0" marL="0">
              <a:spcAft>
                <a:spcPts val="800"/>
              </a:spcAft>
              <a:buNone/>
            </a:pPr>
            <a:r>
              <a:rPr lang="en-US" sz="3200" b="1" dirty="0">
                <a:solidFill>
                  <a:srgbClr val="990011"/>
                </a:solidFill>
                <a:latin typeface="Times New Roman" pitchFamily="34" charset="0"/>
                <a:ea typeface="Times New Roman" pitchFamily="34" charset="-122"/>
                <a:cs typeface="Times New Roman" pitchFamily="34" charset="-120"/>
              </a:rPr>
              <a:t>Lesson 7: Geographical Factors Affecting Temperature</a:t>
            </a:r>
            <a:endParaRPr lang="en-US" sz="32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35</a:t>
            </a:fld>
            <a:endParaRPr 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DEFINITIONS</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The key terms of this lesson are defined as follows: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Continentality: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the effect of distance from the sea, which makes inland temperatures more extreme.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36</a:t>
            </a:fld>
            <a:endParaRPr 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DEFINITIONS (continued)</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Adret: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the slope that faces the sun (south-facing in the northern hemisphere), which is warmer and drier.</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Ubac: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the slope that faces away from the sun, which is cooler and more humid.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37</a:t>
            </a:fld>
            <a:endParaRPr lang="en-US"/>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DEFINITIONS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Temperature lapsing: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the fall of temperature with height, on average 6.5 °C per 1,000 m.</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Heat island: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a town that is warmer than the surrounding countryside.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38</a:t>
            </a:fld>
            <a:endParaRPr lang="en-US"/>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365760" y="1005840"/>
            <a:ext cx="11460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Nature of the Surface</a:t>
            </a:r>
            <a:endParaRPr lang="en-US" sz="3600" dirty="0"/>
          </a:p>
        </p:txBody>
      </p:sp>
      <p:sp>
        <p:nvSpPr>
          <p:cNvPr id="4" name="Text 2"/>
          <p:cNvSpPr/>
          <p:nvPr/>
        </p:nvSpPr>
        <p:spPr>
          <a:xfrm>
            <a:off x="365760" y="1783080"/>
            <a:ext cx="6035040" cy="4617720"/>
          </a:xfrm>
          <a:prstGeom prst="rect">
            <a:avLst/>
          </a:prstGeom>
          <a:noFill/>
          <a:ln/>
        </p:spPr>
        <p:txBody>
          <a:bodyPr wrap="square" lIns="0" tIns="0" rIns="0" bIns="0" rtlCol="0" anchor="t"/>
          <a:lstStyle/>
          <a:p>
            <a:pPr algn="l" indent="0" marL="0">
              <a:spcAft>
                <a:spcPts val="800"/>
              </a:spcAft>
              <a:buNone/>
            </a:pPr>
            <a:r>
              <a:rPr lang="en-US" sz="2800" i="1" dirty="0">
                <a:solidFill>
                  <a:srgbClr val="111111"/>
                </a:solidFill>
                <a:latin typeface="Times New Roman" pitchFamily="34" charset="0"/>
                <a:ea typeface="Times New Roman" pitchFamily="34" charset="-122"/>
                <a:cs typeface="Times New Roman" pitchFamily="34" charset="-120"/>
              </a:rPr>
              <a:t>The nature of the surface influences temperature in the following ways:</a:t>
            </a:r>
            <a:endParaRPr lang="en-US" sz="2800" dirty="0"/>
          </a:p>
          <a:p>
            <a:pPr algn="l" indent="0" marL="0">
              <a:spcAft>
                <a:spcPts val="800"/>
              </a:spcAft>
              <a:buNone/>
            </a:pPr>
            <a:r>
              <a:rPr lang="en-US" sz="2800" b="1" dirty="0">
                <a:solidFill>
                  <a:srgbClr val="111111"/>
                </a:solidFill>
                <a:latin typeface="Times New Roman" pitchFamily="34" charset="0"/>
                <a:ea typeface="Times New Roman" pitchFamily="34" charset="-122"/>
                <a:cs typeface="Times New Roman" pitchFamily="34" charset="-120"/>
              </a:rPr>
              <a:t>Land surfaces: </a:t>
            </a:r>
            <a:pPr algn="l" indent="0" marL="0">
              <a:spcAft>
                <a:spcPts val="800"/>
              </a:spcAft>
              <a:buNone/>
            </a:pPr>
            <a:r>
              <a:rPr lang="en-US" sz="2800" dirty="0">
                <a:solidFill>
                  <a:srgbClr val="111111"/>
                </a:solidFill>
                <a:latin typeface="Times New Roman" pitchFamily="34" charset="0"/>
                <a:ea typeface="Times New Roman" pitchFamily="34" charset="-122"/>
                <a:cs typeface="Times New Roman" pitchFamily="34" charset="-120"/>
              </a:rPr>
              <a:t>Land has a low specific heat, so it heats up quickly by day and in summer and cools quickly at night and in winter. Heat also stays in the top few centimetres of rock and soil, which makes land temperatures extreme.</a:t>
            </a:r>
            <a:endParaRPr lang="en-US" sz="2800" dirty="0"/>
          </a:p>
        </p:txBody>
      </p:sp>
      <p:pic>
        <p:nvPicPr>
          <p:cNvPr id="5" name="Image 0" descr="/home/claude/f4/img/v2/continentality_big.png">    </p:cNvPr>
          <p:cNvPicPr>
            <a:picLocks noChangeAspect="1"/>
          </p:cNvPicPr>
          <p:nvPr/>
        </p:nvPicPr>
        <p:blipFill>
          <a:blip r:embed="rId1"/>
          <a:stretch>
            <a:fillRect/>
          </a:stretch>
        </p:blipFill>
        <p:spPr>
          <a:xfrm>
            <a:off x="6537960" y="2721454"/>
            <a:ext cx="5470855" cy="2393499"/>
          </a:xfrm>
          <a:prstGeom prst="rect">
            <a:avLst/>
          </a:prstGeom>
        </p:spPr>
      </p:pic>
      <p:sp>
        <p:nvSpPr>
          <p:cNvPr id="6" name="Text 3"/>
          <p:cNvSpPr/>
          <p:nvPr/>
        </p:nvSpPr>
        <p:spPr>
          <a:xfrm>
            <a:off x="6537960" y="6089904"/>
            <a:ext cx="5470855" cy="347472"/>
          </a:xfrm>
          <a:prstGeom prst="rect">
            <a:avLst/>
          </a:prstGeom>
          <a:noFill/>
          <a:ln/>
        </p:spPr>
        <p:txBody>
          <a:bodyPr wrap="square" lIns="0" tIns="0" rIns="0" bIns="0" rtlCol="0" anchor="ctr"/>
          <a:lstStyle/>
          <a:p>
            <a:pPr algn="ctr" indent="0" marL="0">
              <a:buNone/>
            </a:pPr>
            <a:r>
              <a:rPr lang="en-US" sz="1600" i="1" dirty="0">
                <a:solidFill>
                  <a:srgbClr val="555555"/>
                </a:solidFill>
                <a:latin typeface="Times New Roman" pitchFamily="34" charset="0"/>
                <a:ea typeface="Times New Roman" pitchFamily="34" charset="-122"/>
                <a:cs typeface="Times New Roman" pitchFamily="34" charset="-120"/>
              </a:rPr>
              <a:t>Illustration: land and sea</a:t>
            </a:r>
            <a:endParaRPr lang="en-US" sz="16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39</a:t>
            </a:fld>
            <a:endParaRPr lang="en-US"/>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Nature of the Surface</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Water surfaces: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Water heats and cools slowly because it has a high specific heat, it is transparent and it is mixed by waves and currents. It therefore stores heat and moderates the temperature of the air above it.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40</a:t>
            </a:fld>
            <a:endParaRPr lang="en-US"/>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Nature of the Surface</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Distance from the sea: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Coastal places such as Douala and Kribi have a small range of temperature because the sea keeps them mild. Inland places such as Garoua and Maroua have a large range, with very hot days in March and April and cool nights in December and January.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41</a:t>
            </a:fld>
            <a:endParaRPr lang="en-US"/>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365760" y="1005840"/>
            <a:ext cx="11460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Relief</a:t>
            </a:r>
            <a:endParaRPr lang="en-US" sz="3600" dirty="0"/>
          </a:p>
        </p:txBody>
      </p:sp>
      <p:sp>
        <p:nvSpPr>
          <p:cNvPr id="4" name="Text 2"/>
          <p:cNvSpPr/>
          <p:nvPr/>
        </p:nvSpPr>
        <p:spPr>
          <a:xfrm>
            <a:off x="365760" y="1783080"/>
            <a:ext cx="6035040" cy="4617720"/>
          </a:xfrm>
          <a:prstGeom prst="rect">
            <a:avLst/>
          </a:prstGeom>
          <a:noFill/>
          <a:ln/>
        </p:spPr>
        <p:txBody>
          <a:bodyPr wrap="square" lIns="0" tIns="0" rIns="0" bIns="0" rtlCol="0" anchor="t"/>
          <a:lstStyle/>
          <a:p>
            <a:pPr algn="l" indent="0" marL="0">
              <a:spcAft>
                <a:spcPts val="800"/>
              </a:spcAft>
              <a:buNone/>
            </a:pPr>
            <a:r>
              <a:rPr lang="en-US" sz="2800" i="1" dirty="0">
                <a:solidFill>
                  <a:srgbClr val="111111"/>
                </a:solidFill>
                <a:latin typeface="Times New Roman" pitchFamily="34" charset="0"/>
                <a:ea typeface="Times New Roman" pitchFamily="34" charset="-122"/>
                <a:cs typeface="Times New Roman" pitchFamily="34" charset="-120"/>
              </a:rPr>
              <a:t>Relief influences temperature in the following ways:</a:t>
            </a:r>
            <a:endParaRPr lang="en-US" sz="2800" dirty="0"/>
          </a:p>
          <a:p>
            <a:pPr algn="l" indent="0" marL="0">
              <a:spcAft>
                <a:spcPts val="800"/>
              </a:spcAft>
              <a:buNone/>
            </a:pPr>
            <a:r>
              <a:rPr lang="en-US" sz="2800" b="1" dirty="0">
                <a:solidFill>
                  <a:srgbClr val="111111"/>
                </a:solidFill>
                <a:latin typeface="Times New Roman" pitchFamily="34" charset="0"/>
                <a:ea typeface="Times New Roman" pitchFamily="34" charset="-122"/>
                <a:cs typeface="Times New Roman" pitchFamily="34" charset="-120"/>
              </a:rPr>
              <a:t>Altitude above sea level: </a:t>
            </a:r>
            <a:pPr algn="l" indent="0" marL="0">
              <a:spcAft>
                <a:spcPts val="800"/>
              </a:spcAft>
              <a:buNone/>
            </a:pPr>
            <a:r>
              <a:rPr lang="en-US" sz="2800" dirty="0">
                <a:solidFill>
                  <a:srgbClr val="111111"/>
                </a:solidFill>
                <a:latin typeface="Times New Roman" pitchFamily="34" charset="0"/>
                <a:ea typeface="Times New Roman" pitchFamily="34" charset="-122"/>
                <a:cs typeface="Times New Roman" pitchFamily="34" charset="-120"/>
              </a:rPr>
              <a:t>Temperature falls by about 6.5 °C for every 1,000 m of height, because the air is thinner and further from the heated ground. This is why Ngaoundéré (about 1,100 m) and the Mandara Mountains are cooler than Garoua.</a:t>
            </a:r>
            <a:endParaRPr lang="en-US" sz="2800" dirty="0"/>
          </a:p>
        </p:txBody>
      </p:sp>
      <p:pic>
        <p:nvPicPr>
          <p:cNvPr id="5" name="Image 0" descr="/home/claude/f4/img/v2/f2t_kilimanjaro.jpg">    </p:cNvPr>
          <p:cNvPicPr>
            <a:picLocks noChangeAspect="1"/>
          </p:cNvPicPr>
          <p:nvPr/>
        </p:nvPicPr>
        <p:blipFill>
          <a:blip r:embed="rId1"/>
          <a:stretch>
            <a:fillRect/>
          </a:stretch>
        </p:blipFill>
        <p:spPr>
          <a:xfrm>
            <a:off x="6537960" y="2400897"/>
            <a:ext cx="5470855" cy="3034615"/>
          </a:xfrm>
          <a:prstGeom prst="rect">
            <a:avLst/>
          </a:prstGeom>
        </p:spPr>
      </p:pic>
      <p:sp>
        <p:nvSpPr>
          <p:cNvPr id="6" name="Text 3"/>
          <p:cNvSpPr/>
          <p:nvPr/>
        </p:nvSpPr>
        <p:spPr>
          <a:xfrm>
            <a:off x="6537960" y="6089904"/>
            <a:ext cx="5470855" cy="347472"/>
          </a:xfrm>
          <a:prstGeom prst="rect">
            <a:avLst/>
          </a:prstGeom>
          <a:noFill/>
          <a:ln/>
        </p:spPr>
        <p:txBody>
          <a:bodyPr wrap="square" lIns="0" tIns="0" rIns="0" bIns="0" rtlCol="0" anchor="ctr"/>
          <a:lstStyle/>
          <a:p>
            <a:pPr algn="ctr" indent="0" marL="0">
              <a:buNone/>
            </a:pPr>
            <a:r>
              <a:rPr lang="en-US" sz="1600" i="1" dirty="0">
                <a:solidFill>
                  <a:srgbClr val="555555"/>
                </a:solidFill>
                <a:latin typeface="Times New Roman" pitchFamily="34" charset="0"/>
                <a:ea typeface="Times New Roman" pitchFamily="34" charset="-122"/>
                <a:cs typeface="Times New Roman" pitchFamily="34" charset="-120"/>
              </a:rPr>
              <a:t>Illustration: a snow-capped mountain in the tropics</a:t>
            </a:r>
            <a:endParaRPr lang="en-US" sz="16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42</a:t>
            </a:fld>
            <a:endParaRPr lang="en-US"/>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365760" y="1005840"/>
            <a:ext cx="11460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Relief</a:t>
            </a:r>
            <a:endParaRPr lang="en-US" sz="3600" dirty="0"/>
          </a:p>
        </p:txBody>
      </p:sp>
      <p:sp>
        <p:nvSpPr>
          <p:cNvPr id="4" name="Text 2"/>
          <p:cNvSpPr/>
          <p:nvPr/>
        </p:nvSpPr>
        <p:spPr>
          <a:xfrm>
            <a:off x="365760" y="1783080"/>
            <a:ext cx="6035040" cy="4617720"/>
          </a:xfrm>
          <a:prstGeom prst="rect">
            <a:avLst/>
          </a:prstGeom>
          <a:noFill/>
          <a:ln/>
        </p:spPr>
        <p:txBody>
          <a:bodyPr wrap="square" lIns="0" tIns="0" rIns="0" bIns="0" rtlCol="0" anchor="t"/>
          <a:lstStyle/>
          <a:p>
            <a:pPr algn="l" indent="0" marL="0">
              <a:spcAft>
                <a:spcPts val="800"/>
              </a:spcAft>
              <a:buNone/>
            </a:pPr>
            <a:r>
              <a:rPr lang="en-US" sz="3200" b="1" dirty="0">
                <a:solidFill>
                  <a:srgbClr val="111111"/>
                </a:solidFill>
                <a:latin typeface="Times New Roman" pitchFamily="34" charset="0"/>
                <a:ea typeface="Times New Roman" pitchFamily="34" charset="-122"/>
                <a:cs typeface="Times New Roman" pitchFamily="34" charset="-120"/>
              </a:rPr>
              <a:t>Aspect of slope: </a:t>
            </a:r>
            <a:pPr algn="l" indent="0" marL="0">
              <a:spcAft>
                <a:spcPts val="800"/>
              </a:spcAft>
              <a:buNone/>
            </a:pPr>
            <a:r>
              <a:rPr lang="en-US" sz="3200" dirty="0">
                <a:solidFill>
                  <a:srgbClr val="111111"/>
                </a:solidFill>
                <a:latin typeface="Times New Roman" pitchFamily="34" charset="0"/>
                <a:ea typeface="Times New Roman" pitchFamily="34" charset="-122"/>
                <a:cs typeface="Times New Roman" pitchFamily="34" charset="-120"/>
              </a:rPr>
              <a:t>In the northern hemisphere, the adret (south-facing slope) receives the rays of the sun more directly and is warmer and drier. The ubac (north-facing slope) is shaded, so it is cooler, and in the Alps villages and farms are built on the adret.</a:t>
            </a:r>
            <a:endParaRPr lang="en-US" sz="3200" dirty="0"/>
          </a:p>
        </p:txBody>
      </p:sp>
      <p:pic>
        <p:nvPicPr>
          <p:cNvPr id="5" name="Image 0" descr="/home/claude/f4/img/v2/aspect_big.png">    </p:cNvPr>
          <p:cNvPicPr>
            <a:picLocks noChangeAspect="1"/>
          </p:cNvPicPr>
          <p:nvPr/>
        </p:nvPicPr>
        <p:blipFill>
          <a:blip r:embed="rId1"/>
          <a:stretch>
            <a:fillRect/>
          </a:stretch>
        </p:blipFill>
        <p:spPr>
          <a:xfrm>
            <a:off x="6537960" y="2849678"/>
            <a:ext cx="5470855" cy="2137053"/>
          </a:xfrm>
          <a:prstGeom prst="rect">
            <a:avLst/>
          </a:prstGeom>
        </p:spPr>
      </p:pic>
      <p:sp>
        <p:nvSpPr>
          <p:cNvPr id="6" name="Text 3"/>
          <p:cNvSpPr/>
          <p:nvPr/>
        </p:nvSpPr>
        <p:spPr>
          <a:xfrm>
            <a:off x="6537960" y="6089904"/>
            <a:ext cx="5470855" cy="347472"/>
          </a:xfrm>
          <a:prstGeom prst="rect">
            <a:avLst/>
          </a:prstGeom>
          <a:noFill/>
          <a:ln/>
        </p:spPr>
        <p:txBody>
          <a:bodyPr wrap="square" lIns="0" tIns="0" rIns="0" bIns="0" rtlCol="0" anchor="ctr"/>
          <a:lstStyle/>
          <a:p>
            <a:pPr algn="ctr" indent="0" marL="0">
              <a:buNone/>
            </a:pPr>
            <a:r>
              <a:rPr lang="en-US" sz="1600" i="1" dirty="0">
                <a:solidFill>
                  <a:srgbClr val="555555"/>
                </a:solidFill>
                <a:latin typeface="Times New Roman" pitchFamily="34" charset="0"/>
                <a:ea typeface="Times New Roman" pitchFamily="34" charset="-122"/>
                <a:cs typeface="Times New Roman" pitchFamily="34" charset="-120"/>
              </a:rPr>
              <a:t>Illustration: adret and ubac</a:t>
            </a:r>
            <a:endParaRPr lang="en-US" sz="16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43</a:t>
            </a:fld>
            <a:endParaRPr lang="en-US"/>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365760" y="1005840"/>
            <a:ext cx="11460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3. Ocean Currents</a:t>
            </a:r>
            <a:endParaRPr lang="en-US" sz="3600" dirty="0"/>
          </a:p>
        </p:txBody>
      </p:sp>
      <p:sp>
        <p:nvSpPr>
          <p:cNvPr id="4" name="Text 2"/>
          <p:cNvSpPr/>
          <p:nvPr/>
        </p:nvSpPr>
        <p:spPr>
          <a:xfrm>
            <a:off x="365760" y="1783080"/>
            <a:ext cx="6035040" cy="4617720"/>
          </a:xfrm>
          <a:prstGeom prst="rect">
            <a:avLst/>
          </a:prstGeom>
          <a:noFill/>
          <a:ln/>
        </p:spPr>
        <p:txBody>
          <a:bodyPr wrap="square" lIns="0" tIns="0" rIns="0" bIns="0" rtlCol="0" anchor="t"/>
          <a:lstStyle/>
          <a:p>
            <a:pPr algn="l" indent="0" marL="0">
              <a:spcAft>
                <a:spcPts val="800"/>
              </a:spcAft>
              <a:buNone/>
            </a:pPr>
            <a:r>
              <a:rPr lang="en-US" sz="2800" i="1" dirty="0">
                <a:solidFill>
                  <a:srgbClr val="111111"/>
                </a:solidFill>
                <a:latin typeface="Times New Roman" pitchFamily="34" charset="0"/>
                <a:ea typeface="Times New Roman" pitchFamily="34" charset="-122"/>
                <a:cs typeface="Times New Roman" pitchFamily="34" charset="-120"/>
              </a:rPr>
              <a:t>Ocean currents influence temperature in the following ways:</a:t>
            </a:r>
            <a:endParaRPr lang="en-US" sz="2800" dirty="0"/>
          </a:p>
          <a:p>
            <a:pPr algn="l" indent="0" marL="0">
              <a:spcAft>
                <a:spcPts val="800"/>
              </a:spcAft>
              <a:buNone/>
            </a:pPr>
            <a:r>
              <a:rPr lang="en-US" sz="2800" b="1" dirty="0">
                <a:solidFill>
                  <a:srgbClr val="111111"/>
                </a:solidFill>
                <a:latin typeface="Times New Roman" pitchFamily="34" charset="0"/>
                <a:ea typeface="Times New Roman" pitchFamily="34" charset="-122"/>
                <a:cs typeface="Times New Roman" pitchFamily="34" charset="-120"/>
              </a:rPr>
              <a:t>Warm currents: </a:t>
            </a:r>
            <a:pPr algn="l" indent="0" marL="0">
              <a:spcAft>
                <a:spcPts val="800"/>
              </a:spcAft>
              <a:buNone/>
            </a:pPr>
            <a:r>
              <a:rPr lang="en-US" sz="2800" dirty="0">
                <a:solidFill>
                  <a:srgbClr val="111111"/>
                </a:solidFill>
                <a:latin typeface="Times New Roman" pitchFamily="34" charset="0"/>
                <a:ea typeface="Times New Roman" pitchFamily="34" charset="-122"/>
                <a:cs typeface="Times New Roman" pitchFamily="34" charset="-120"/>
              </a:rPr>
              <a:t>Warm currents flow from the tropics towards the poles and warm the air of the coasts they touch. For example, the North Atlantic Drift keeps the ports of Norway free of ice in winter, and the Guinea Current keeps the coast of Cameroon warm.</a:t>
            </a:r>
            <a:endParaRPr lang="en-US" sz="2800" dirty="0"/>
          </a:p>
        </p:txBody>
      </p:sp>
      <p:pic>
        <p:nvPicPr>
          <p:cNvPr id="5" name="Image 0" descr="/home/claude/f4/img/v2/ocean_currents_big.png">    </p:cNvPr>
          <p:cNvPicPr>
            <a:picLocks noChangeAspect="1"/>
          </p:cNvPicPr>
          <p:nvPr/>
        </p:nvPicPr>
        <p:blipFill>
          <a:blip r:embed="rId1"/>
          <a:stretch>
            <a:fillRect/>
          </a:stretch>
        </p:blipFill>
        <p:spPr>
          <a:xfrm>
            <a:off x="6537960" y="2550490"/>
            <a:ext cx="5470855" cy="2735428"/>
          </a:xfrm>
          <a:prstGeom prst="rect">
            <a:avLst/>
          </a:prstGeom>
        </p:spPr>
      </p:pic>
      <p:sp>
        <p:nvSpPr>
          <p:cNvPr id="6" name="Text 3"/>
          <p:cNvSpPr/>
          <p:nvPr/>
        </p:nvSpPr>
        <p:spPr>
          <a:xfrm>
            <a:off x="6537960" y="6089904"/>
            <a:ext cx="5470855" cy="347472"/>
          </a:xfrm>
          <a:prstGeom prst="rect">
            <a:avLst/>
          </a:prstGeom>
          <a:noFill/>
          <a:ln/>
        </p:spPr>
        <p:txBody>
          <a:bodyPr wrap="square" lIns="0" tIns="0" rIns="0" bIns="0" rtlCol="0" anchor="ctr"/>
          <a:lstStyle/>
          <a:p>
            <a:pPr algn="ctr" indent="0" marL="0">
              <a:buNone/>
            </a:pPr>
            <a:r>
              <a:rPr lang="en-US" sz="1600" i="1" dirty="0">
                <a:solidFill>
                  <a:srgbClr val="555555"/>
                </a:solidFill>
                <a:latin typeface="Times New Roman" pitchFamily="34" charset="0"/>
                <a:ea typeface="Times New Roman" pitchFamily="34" charset="-122"/>
                <a:cs typeface="Times New Roman" pitchFamily="34" charset="-120"/>
              </a:rPr>
              <a:t>Illustration: ocean currents</a:t>
            </a:r>
            <a:endParaRPr lang="en-US" sz="16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44</a:t>
            </a:fld>
            <a:endParaRPr lang="en-US"/>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3. Ocean Currents</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Cold currents: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Cold currents flow from the poles towards the Equator and cool the air above them. For example, the Benguela Current cools the coast of Namibia and helps to form the Namib Desert.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45</a:t>
            </a:fld>
            <a:endParaRPr lang="en-US"/>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365760" y="1005840"/>
            <a:ext cx="11460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4. Prevailing Winds</a:t>
            </a:r>
            <a:endParaRPr lang="en-US" sz="3600" dirty="0"/>
          </a:p>
        </p:txBody>
      </p:sp>
      <p:sp>
        <p:nvSpPr>
          <p:cNvPr id="4" name="Text 2"/>
          <p:cNvSpPr/>
          <p:nvPr/>
        </p:nvSpPr>
        <p:spPr>
          <a:xfrm>
            <a:off x="365760" y="1783080"/>
            <a:ext cx="6035040" cy="4617720"/>
          </a:xfrm>
          <a:prstGeom prst="rect">
            <a:avLst/>
          </a:prstGeom>
          <a:noFill/>
          <a:ln/>
        </p:spPr>
        <p:txBody>
          <a:bodyPr wrap="square" lIns="0" tIns="0" rIns="0" bIns="0" rtlCol="0" anchor="t"/>
          <a:lstStyle/>
          <a:p>
            <a:pPr algn="l" indent="0" marL="0">
              <a:spcAft>
                <a:spcPts val="800"/>
              </a:spcAft>
              <a:buNone/>
            </a:pPr>
            <a:r>
              <a:rPr lang="en-US" sz="3000" i="1" dirty="0">
                <a:solidFill>
                  <a:srgbClr val="111111"/>
                </a:solidFill>
                <a:latin typeface="Times New Roman" pitchFamily="34" charset="0"/>
                <a:ea typeface="Times New Roman" pitchFamily="34" charset="-122"/>
                <a:cs typeface="Times New Roman" pitchFamily="34" charset="-120"/>
              </a:rPr>
              <a:t>Prevailing winds influence temperature in the following ways:</a:t>
            </a:r>
            <a:endParaRPr lang="en-US" sz="3000" dirty="0"/>
          </a:p>
          <a:p>
            <a:pPr algn="l" indent="0" marL="0">
              <a:spcAft>
                <a:spcPts val="800"/>
              </a:spcAft>
              <a:buNone/>
            </a:pPr>
            <a:r>
              <a:rPr lang="en-US" sz="3000" b="1" dirty="0">
                <a:solidFill>
                  <a:srgbClr val="111111"/>
                </a:solidFill>
                <a:latin typeface="Times New Roman" pitchFamily="34" charset="0"/>
                <a:ea typeface="Times New Roman" pitchFamily="34" charset="-122"/>
                <a:cs typeface="Times New Roman" pitchFamily="34" charset="-120"/>
              </a:rPr>
              <a:t>Winds from warm regions: </a:t>
            </a:r>
            <a:pPr algn="l" indent="0" marL="0">
              <a:spcAft>
                <a:spcPts val="800"/>
              </a:spcAft>
              <a:buNone/>
            </a:pPr>
            <a:r>
              <a:rPr lang="en-US" sz="3000" dirty="0">
                <a:solidFill>
                  <a:srgbClr val="111111"/>
                </a:solidFill>
                <a:latin typeface="Times New Roman" pitchFamily="34" charset="0"/>
                <a:ea typeface="Times New Roman" pitchFamily="34" charset="-122"/>
                <a:cs typeface="Times New Roman" pitchFamily="34" charset="-120"/>
              </a:rPr>
              <a:t>Winds carry the temperature of the regions they come from. For example, the Harmattan brings hot, dry air from the Sahara, so it raises the day temperature of Garoua in February and March.</a:t>
            </a:r>
            <a:endParaRPr lang="en-US" sz="3000" dirty="0"/>
          </a:p>
        </p:txBody>
      </p:sp>
      <p:pic>
        <p:nvPicPr>
          <p:cNvPr id="5" name="Image 0" descr="/home/claude/f4/img/v2/f2t_harmattan.jpg">    </p:cNvPr>
          <p:cNvPicPr>
            <a:picLocks noChangeAspect="1"/>
          </p:cNvPicPr>
          <p:nvPr/>
        </p:nvPicPr>
        <p:blipFill>
          <a:blip r:embed="rId1"/>
          <a:stretch>
            <a:fillRect/>
          </a:stretch>
        </p:blipFill>
        <p:spPr>
          <a:xfrm>
            <a:off x="6537960" y="2400897"/>
            <a:ext cx="5470855" cy="3034615"/>
          </a:xfrm>
          <a:prstGeom prst="rect">
            <a:avLst/>
          </a:prstGeom>
        </p:spPr>
      </p:pic>
      <p:sp>
        <p:nvSpPr>
          <p:cNvPr id="6" name="Text 3"/>
          <p:cNvSpPr/>
          <p:nvPr/>
        </p:nvSpPr>
        <p:spPr>
          <a:xfrm>
            <a:off x="6537960" y="6089904"/>
            <a:ext cx="5470855" cy="347472"/>
          </a:xfrm>
          <a:prstGeom prst="rect">
            <a:avLst/>
          </a:prstGeom>
          <a:noFill/>
          <a:ln/>
        </p:spPr>
        <p:txBody>
          <a:bodyPr wrap="square" lIns="0" tIns="0" rIns="0" bIns="0" rtlCol="0" anchor="ctr"/>
          <a:lstStyle/>
          <a:p>
            <a:pPr algn="ctr" indent="0" marL="0">
              <a:buNone/>
            </a:pPr>
            <a:r>
              <a:rPr lang="en-US" sz="1600" i="1" dirty="0">
                <a:solidFill>
                  <a:srgbClr val="555555"/>
                </a:solidFill>
                <a:latin typeface="Times New Roman" pitchFamily="34" charset="0"/>
                <a:ea typeface="Times New Roman" pitchFamily="34" charset="-122"/>
                <a:cs typeface="Times New Roman" pitchFamily="34" charset="-120"/>
              </a:rPr>
              <a:t>Illustration: the Harmattan</a:t>
            </a:r>
            <a:endParaRPr lang="en-US" sz="16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46</a:t>
            </a:fld>
            <a:endParaRPr lang="en-US"/>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4. Prevailing Winds</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Winds from the sea or cold regions: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Winds that blow from the sea keep coastal places mild, as the westerlies do in western Europe. Winds from cold regions lower temperatures, as polar winds do in North America in winter.</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47</a:t>
            </a:fld>
            <a:endParaRPr lang="en-US"/>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5. Cloud Cover</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Cloud cover influences temperature in the following ways: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By day: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Clouds reflect a large part of the solar radiation back to space before it reaches the ground. Cloudy days, as in the rainy season, are therefore cooler than clear days.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48</a:t>
            </a:fld>
            <a:endParaRPr lang="en-US"/>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5. Cloud Cover</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By night: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Clouds absorb the heat given off by the ground and send it back down, acting like a blanket. Cloudy nights are therefore warmer than clear nights, which explains the cold nights of the Harmattan season in the North.</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49</a:t>
            </a:fld>
            <a:endParaRPr lang="en-US"/>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365760" y="1005840"/>
            <a:ext cx="11460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6. Urbanisation: the Heat Island</a:t>
            </a:r>
            <a:endParaRPr lang="en-US" sz="3600" dirty="0"/>
          </a:p>
        </p:txBody>
      </p:sp>
      <p:sp>
        <p:nvSpPr>
          <p:cNvPr id="4" name="Text 2"/>
          <p:cNvSpPr/>
          <p:nvPr/>
        </p:nvSpPr>
        <p:spPr>
          <a:xfrm>
            <a:off x="365760" y="1783080"/>
            <a:ext cx="6035040" cy="4617720"/>
          </a:xfrm>
          <a:prstGeom prst="rect">
            <a:avLst/>
          </a:prstGeom>
          <a:noFill/>
          <a:ln/>
        </p:spPr>
        <p:txBody>
          <a:bodyPr wrap="square" lIns="0" tIns="0" rIns="0" bIns="0" rtlCol="0" anchor="t"/>
          <a:lstStyle/>
          <a:p>
            <a:pPr algn="l" indent="0" marL="0">
              <a:spcAft>
                <a:spcPts val="800"/>
              </a:spcAft>
              <a:buNone/>
            </a:pPr>
            <a:r>
              <a:rPr lang="en-US" sz="2800" i="1" dirty="0">
                <a:solidFill>
                  <a:srgbClr val="111111"/>
                </a:solidFill>
                <a:latin typeface="Times New Roman" pitchFamily="34" charset="0"/>
                <a:ea typeface="Times New Roman" pitchFamily="34" charset="-122"/>
                <a:cs typeface="Times New Roman" pitchFamily="34" charset="-120"/>
              </a:rPr>
              <a:t>Towns are warmer than the countryside for the following reasons:</a:t>
            </a:r>
            <a:endParaRPr lang="en-US" sz="2800" dirty="0"/>
          </a:p>
          <a:p>
            <a:pPr algn="l" indent="0" marL="0">
              <a:spcAft>
                <a:spcPts val="800"/>
              </a:spcAft>
              <a:buNone/>
            </a:pPr>
            <a:r>
              <a:rPr lang="en-US" sz="2800" b="1" dirty="0">
                <a:solidFill>
                  <a:srgbClr val="111111"/>
                </a:solidFill>
                <a:latin typeface="Times New Roman" pitchFamily="34" charset="0"/>
                <a:ea typeface="Times New Roman" pitchFamily="34" charset="-122"/>
                <a:cs typeface="Times New Roman" pitchFamily="34" charset="-120"/>
              </a:rPr>
              <a:t>Artificial surfaces: </a:t>
            </a:r>
            <a:pPr algn="l" indent="0" marL="0">
              <a:spcAft>
                <a:spcPts val="800"/>
              </a:spcAft>
              <a:buNone/>
            </a:pPr>
            <a:r>
              <a:rPr lang="en-US" sz="2800" dirty="0">
                <a:solidFill>
                  <a:srgbClr val="111111"/>
                </a:solidFill>
                <a:latin typeface="Times New Roman" pitchFamily="34" charset="0"/>
                <a:ea typeface="Times New Roman" pitchFamily="34" charset="-122"/>
                <a:cs typeface="Times New Roman" pitchFamily="34" charset="-120"/>
              </a:rPr>
              <a:t>Concrete, tar and metal roofs absorb more solar energy than soil and plants and release it slowly at night. For this reason, a large town can be 2 to 5 °C warmer than the countryside after sunset.</a:t>
            </a:r>
            <a:endParaRPr lang="en-US" sz="2800" dirty="0"/>
          </a:p>
        </p:txBody>
      </p:sp>
      <p:pic>
        <p:nvPicPr>
          <p:cNvPr id="5" name="Image 0" descr="/home/claude/f4/img/v2/heat_island_big.png">    </p:cNvPr>
          <p:cNvPicPr>
            <a:picLocks noChangeAspect="1"/>
          </p:cNvPicPr>
          <p:nvPr/>
        </p:nvPicPr>
        <p:blipFill>
          <a:blip r:embed="rId1"/>
          <a:stretch>
            <a:fillRect/>
          </a:stretch>
        </p:blipFill>
        <p:spPr>
          <a:xfrm>
            <a:off x="6537960" y="2849678"/>
            <a:ext cx="5470855" cy="2137053"/>
          </a:xfrm>
          <a:prstGeom prst="rect">
            <a:avLst/>
          </a:prstGeom>
        </p:spPr>
      </p:pic>
      <p:sp>
        <p:nvSpPr>
          <p:cNvPr id="6" name="Text 3"/>
          <p:cNvSpPr/>
          <p:nvPr/>
        </p:nvSpPr>
        <p:spPr>
          <a:xfrm>
            <a:off x="6537960" y="6089904"/>
            <a:ext cx="5470855" cy="347472"/>
          </a:xfrm>
          <a:prstGeom prst="rect">
            <a:avLst/>
          </a:prstGeom>
          <a:noFill/>
          <a:ln/>
        </p:spPr>
        <p:txBody>
          <a:bodyPr wrap="square" lIns="0" tIns="0" rIns="0" bIns="0" rtlCol="0" anchor="ctr"/>
          <a:lstStyle/>
          <a:p>
            <a:pPr algn="ctr" indent="0" marL="0">
              <a:buNone/>
            </a:pPr>
            <a:r>
              <a:rPr lang="en-US" sz="1600" i="1" dirty="0">
                <a:solidFill>
                  <a:srgbClr val="555555"/>
                </a:solidFill>
                <a:latin typeface="Times New Roman" pitchFamily="34" charset="0"/>
                <a:ea typeface="Times New Roman" pitchFamily="34" charset="-122"/>
                <a:cs typeface="Times New Roman" pitchFamily="34" charset="-120"/>
              </a:rPr>
              <a:t>Illustration: the urban heat island</a:t>
            </a:r>
            <a:endParaRPr lang="en-US" sz="16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50</a:t>
            </a:fld>
            <a:endParaRPr lang="en-US"/>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6. Urbanisation: the Heat Island</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Heat from human activities: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Vehicles, motorbikes, air conditioners, kitchens and factories all release heat into the air. The more people and activities a town has, the more heat it produces.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51</a:t>
            </a:fld>
            <a:endParaRPr lang="en-US"/>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6. Urbanisation: the Heat Island</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Lack of vegetation: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Towns have few trees and little open water, so there is less shade and less cooling by evaporation and transpiration. The heat is therefore used to warm the air instead.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52</a:t>
            </a:fld>
            <a:endParaRPr lang="en-US"/>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5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6. Urbanisation: the Heat Island</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Buildings and pollution: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Tall buildings trap heat in narrow streets and slow down the wind that could carry it away. A layer of pollution over the town also absorbs heat and sends it back to the ground.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53</a:t>
            </a:fld>
            <a:endParaRPr lang="en-US"/>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name="Slide 5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Evaluation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Distinguish a maritime climate from a continental climate.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54</a:t>
            </a:fld>
            <a:endParaRPr lang="en-US"/>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name="Slide 5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 maritime climate near the sea has small temperature ranges; a continental climate far inland has large ranges.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55</a:t>
            </a:fld>
            <a:endParaRPr lang="en-US"/>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name="Slide 5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Evaluation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Explain the double role of clouds on temperature.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56</a:t>
            </a:fld>
            <a:endParaRPr lang="en-US"/>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name="Slide 5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By day they reflect sunlight and cool the ground; at night they trap heat and keep it warm.</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57</a:t>
            </a:fld>
            <a:endParaRPr lang="en-US"/>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name="Slide 5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REMEDIATION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1463040" cy="5833872"/>
          </a:xfrm>
          <a:prstGeom prst="rect">
            <a:avLst/>
          </a:prstGeom>
        </p:spPr>
      </p:pic>
      <p:sp>
        <p:nvSpPr>
          <p:cNvPr id="4" name="Text 1"/>
          <p:cNvSpPr/>
          <p:nvPr/>
        </p:nvSpPr>
        <p:spPr>
          <a:xfrm>
            <a:off x="1691640" y="1005840"/>
            <a:ext cx="101800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Remediation</a:t>
            </a:r>
            <a:endParaRPr lang="en-US" sz="3600" dirty="0"/>
          </a:p>
        </p:txBody>
      </p:sp>
      <p:sp>
        <p:nvSpPr>
          <p:cNvPr id="5" name="Text 2"/>
          <p:cNvSpPr/>
          <p:nvPr/>
        </p:nvSpPr>
        <p:spPr>
          <a:xfrm>
            <a:off x="1691640" y="1783080"/>
            <a:ext cx="101800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Fill in the blanks: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Temperature falls by about ______ °C per 1,000 m.</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The direction a slope faces is its ______.</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A town warmer than the countryside is an urban heat ______.</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58</a:t>
            </a:fld>
            <a:endParaRPr lang="en-US"/>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name="Slide 5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Homework</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Define the environmental lapse rate.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59</a:t>
            </a:fld>
            <a:endParaRPr lang="en-US"/>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name="Slide 6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NEXT LESSON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Next Lesson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ctr"/>
          <a:lstStyle/>
          <a:p>
            <a:pPr algn="ctr"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Our next lesson will be on:</a:t>
            </a:r>
            <a:endParaRPr lang="en-US" sz="4000" dirty="0"/>
          </a:p>
          <a:p>
            <a:pPr algn="ctr" indent="0" marL="0">
              <a:spcAft>
                <a:spcPts val="800"/>
              </a:spcAft>
              <a:buNone/>
            </a:pPr>
            <a:r>
              <a:rPr lang="en-US" sz="4000" b="1" dirty="0">
                <a:solidFill>
                  <a:srgbClr val="990011"/>
                </a:solidFill>
                <a:latin typeface="Times New Roman" pitchFamily="34" charset="0"/>
                <a:ea typeface="Times New Roman" pitchFamily="34" charset="-122"/>
                <a:cs typeface="Times New Roman" pitchFamily="34" charset="-120"/>
              </a:rPr>
              <a:t>Lesson 8: Vertical Distribution of Temperature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60</a:t>
            </a:fld>
            <a:endParaRPr lang="en-US"/>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name="Slide 6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BILINGUAL GAME</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Bilingual Game (Jeu Bilingue)</a:t>
            </a:r>
            <a:endParaRPr lang="en-US" sz="3600" dirty="0"/>
          </a:p>
        </p:txBody>
      </p:sp>
      <p:graphicFrame>
        <p:nvGraphicFramePr>
          <p:cNvPr id="62" name="Table 0"/>
          <p:cNvGraphicFramePr>
            <a:graphicFrameLocks noGrp="1"/>
          </p:cNvGraphicFramePr>
          <p:nvPr>
            <p:extLst>
              <p:ext uri="{D42A27DB-BD31-4B8C-83A1-F6EECF244321}">
                <p14:modId xmlns:p14="http://schemas.microsoft.com/office/powerpoint/2010/main" val="1579011935"/>
              </p:ext>
            </p:extLst>
          </p:nvPr>
        </p:nvGraphicFramePr>
        <p:xfrm>
          <a:off x="1706728" y="1783080"/>
          <a:ext cx="8778240" cy="914400"/>
        </p:xfrm>
        <a:graphic>
          <a:graphicData uri="http://schemas.openxmlformats.org/drawingml/2006/table">
            <a:tbl>
              <a:tblPr/>
              <a:tblGrid>
                <a:gridCol w="4389120"/>
                <a:gridCol w="4389120"/>
              </a:tblGrid>
              <a:tr h="0">
                <a:tc>
                  <a:txBody>
                    <a:bodyPr/>
                    <a:lstStyle/>
                    <a:p>
                      <a:pPr algn="ctr" indent="0" marL="0">
                        <a:buNone/>
                      </a:pPr>
                      <a:r>
                        <a:rPr lang="en-US" sz="2200" b="1" dirty="0">
                          <a:solidFill>
                            <a:srgbClr val="FFFFFF"/>
                          </a:solidFill>
                          <a:latin typeface="Calibri" pitchFamily="34" charset="0"/>
                          <a:ea typeface="Calibri" pitchFamily="34" charset="-122"/>
                          <a:cs typeface="Calibri" pitchFamily="34" charset="-120"/>
                        </a:rPr>
                        <a:t>English</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c>
                  <a:txBody>
                    <a:bodyPr/>
                    <a:lstStyle/>
                    <a:p>
                      <a:pPr algn="ctr" indent="0" marL="0">
                        <a:buNone/>
                      </a:pPr>
                      <a:r>
                        <a:rPr lang="en-US" sz="2200" b="1" dirty="0">
                          <a:solidFill>
                            <a:srgbClr val="FFFFFF"/>
                          </a:solidFill>
                          <a:latin typeface="Calibri" pitchFamily="34" charset="0"/>
                          <a:ea typeface="Calibri" pitchFamily="34" charset="-122"/>
                          <a:cs typeface="Calibri" pitchFamily="34" charset="-120"/>
                        </a:rPr>
                        <a:t>Français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Relief</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relief</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Altitude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L'altitude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Wind</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vent</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Cloud</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nuage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Urban heat island</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L'îlot de chaleur urbain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Continentality</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continentalité</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61</a:t>
            </a:fld>
            <a:endParaRPr lang="en-US"/>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name="Slide 6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LOGBOOK</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Official Logbook (1/2)</a:t>
            </a:r>
            <a:endParaRPr lang="en-US" sz="3600" dirty="0"/>
          </a:p>
        </p:txBody>
      </p:sp>
      <p:graphicFrame>
        <p:nvGraphicFramePr>
          <p:cNvPr id="63"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3017520"/>
                <a:gridCol w="8257032"/>
              </a:tblGrid>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Module / Topic</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Energy in the Atmosphere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Lesson Title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Lesson 7: Geographical Factors Affecting Temperature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Expected Learning Outcomes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Explain the different heating of land and water (continentality). Explain the effects of altitude and aspect. Explain the effects of ocean currents and winds. Explain the double role of clouds. Explain the urban heat island.</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Competence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Learners are able to explain why places at the same latitude have different temperatures, with examples around Garoua.</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62</a:t>
            </a:fld>
            <a:endParaRPr lang="en-US"/>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name="Slide 6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LOGBOOK</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Official Logbook (2/2)</a:t>
            </a:r>
            <a:endParaRPr lang="en-US" sz="3600" dirty="0"/>
          </a:p>
        </p:txBody>
      </p:sp>
      <p:graphicFrame>
        <p:nvGraphicFramePr>
          <p:cNvPr id="64"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3017520"/>
                <a:gridCol w="8257032"/>
              </a:tblGrid>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Matter Taught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DEFINITIONS; Nature of the Surface; Relief; Ocean Currents; Prevailing Winds; Cloud Cover; Urbanisation: the Heat Island.</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Evaluation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Formative evaluation and remediation exercise.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Homework</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Define the environmental lapse rate.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Enrolment / Present / Absent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____ / ____ / ____</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Achievement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To be completed after the lesson.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63</a:t>
            </a:fld>
            <a:endParaRPr lang="en-US"/>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name="Slide 6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TEACHER'S NOTE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Teacher's Note</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Timing: Homework correction, plan, objectives 8 min | Recall, situation, action 10 min | 5 activities 30 min | Board summary (copying) 30 min | Evaluation, remediation 10 min | Homework, next lesson 5 min | Logbook 7 min</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1): compare Douala and Garoua.</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2): calculate the fall of temperature for 2,000 m.</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3): find a slope facing the sun.</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4): locate Namibia.</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5): feel a tar road and grass at noon.</a:t>
            </a:r>
            <a:endParaRPr lang="en-US" sz="2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64</a:t>
            </a:fld>
            <a:endParaRPr lang="en-US"/>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name="Slide 6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REFERENCES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References</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Geography Syllabus for Sixth Forms (Lower and Upper Sixth), MINESEC, 2019 — Module 1 (Meteorology, Climatology &amp; Hydrology).</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Teacher's course notes: Mr KAMDEM E., Meteorology (LSA), GBHS Garoua, 2026.</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2: “Kilimanjaro” by ian 1602, CC BY-NC 2.0, via Flickr (https://www.flickr.com/photos/98181641@N00/2179855841)</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board summary (Winds from warm regions): “Bamenda sob a poeira do Harmattan” by carlosoliveirareis, CC BY-NC-SA 2.0, via Flickr (https://www.flickr.com/photos/54218923@N00/387054136)</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Diagrams and animations: drawn for this lesson (Geography Department).</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65</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65</Slides>
  <Notes>65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65</vt:i4>
      </vt:variant>
    </vt:vector>
  </HeadingPairs>
  <TitlesOfParts>
    <vt:vector size="6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lpstr>Slide 53</vt:lpstr>
      <vt:lpstr>Slide 54</vt:lpstr>
      <vt:lpstr>Slide 55</vt:lpstr>
      <vt:lpstr>Slide 56</vt:lpstr>
      <vt:lpstr>Slide 57</vt:lpstr>
      <vt:lpstr>Slide 58</vt:lpstr>
      <vt:lpstr>Slide 59</vt:lpstr>
      <vt:lpstr>Slide 60</vt:lpstr>
      <vt:lpstr>Slide 61</vt:lpstr>
      <vt:lpstr>Slide 62</vt:lpstr>
      <vt:lpstr>Slide 63</vt:lpstr>
      <vt:lpstr>Slide 64</vt:lpstr>
      <vt:lpstr>Slide 65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2026-10-06T05:43:36Z</dcterms:created>
  <dcterms:modified xsi:type="dcterms:W3CDTF">2026-10-06T05:43:36Z</dcterms:modified>
</cp:coreProperties>
</file>