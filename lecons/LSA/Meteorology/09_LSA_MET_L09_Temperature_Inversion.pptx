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Lst>
  <p:notesMasterIdLst>
    <p:notesMasterId r:id="rId7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notesMaster" Target="notesMasters/notesMaster1.xml"/><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9: Temperature Inversion.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Energy in the Atmosphere, and the sub-topic is Vertical Distribution of Heat in the Atmosphere. The key notions we shall use today are: temperature inversion, surface (radiation) inversion, upper-air inversion, fog, smog, frost, stability. At the end, you should be able to do this: learners are able to explain the formation of temperature inversions and their effects, such as morning haze in the Benue valley.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8: Vertical Distribution of Temperature. The question was: Define a temperature inversion.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temperature inversion is a situation in which temperature increases with height instead of decreasing.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a temperature inversion. Number 2: distinguish surface and upper-air inversions. Number 3: explain the conditions for a surface inversion. Number 4: explain the effects of inversions.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Temperature normally falls with height. The ground loses heat at night. The Harmattan air is very dry.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an early January morning in Garoua, you walk to school. The air near the ground is surprisingly cold on your legs, and a low haze of dust and smoke from cooking fires hangs in the air without rising. You have learnt that air gets colder with height. You ask: "Why is the air colder at the ground this morning, and why does the smoke not rise?"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understand the temperature inversion.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this condition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temperature inversion: cold air below warmer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the smoke not rise?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warm layer above acts like a lid that stops rising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avoid burning waste on calm, cold mornings, and drive carefully in fog and haze.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explains morning fog and haze, air pollution and frost, which affect health, transport and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temperature in an inversion.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does temperature change with height in an inversion?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increases instead of decreasing.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a night inversion forms.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is the coldest air in a surface inversion?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Just above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conditions for an inversion.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clear skies help an inversion to 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Heat escapes from the ground to space, so the ground and the air above it cool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fog in a valley.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fog form in valleys during an inversion?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cold air near the ground is cooled to its dew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smog over a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health effect of pollution trapped by an inversion.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Coughing and breathing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Temperature inversion.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Capping inversion and Subsidence inversion.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Fog.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Temperature Inversion. Temperature inversion is explained as follows. Copy the point on Temperature inversion on the left, then draw the diagram on the right: a temperature inversion.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Surface Inversions. The surface inversions are the following. Copy the point on Radiation (ground) inversion on the left, then draw the diagram on the right: a surface inversion.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Surface Inversions. Copy the point on Valley inversion: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Above-Surface (Upper-Air) Inversions. The above-surface inversions are the following. Copy the point on Subsidence inversion: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Above-Surface (Upper-Air) Inversions. Copy the point on Frontal inversion: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Above-Surface (Upper-Air) Inversions. Copy the point on Capping inversion: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of a Surface Inversion. A surface inversion forms best under the following conditions. Copy the point on Long nights on the left, then draw the diagram on the right: the causes of inversions.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a Surface Inversion. Copy the point on Clear skies and dry air: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a Surface Inversion. Copy the point on Calm air: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a Surface Inversion. Copy the point on Valleys and basins: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on Weather. Temperature inversions have the following effects on weather. Copy the point on Stable air and clear skies: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Frost on the left, then draw the diagram on the right: frost.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on Weather. Copy the point on Haze and low clouds: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on Man. Temperature inversions have the following effects on man. Copy the point on Air pollution on the left, then draw the diagram on the right: smog.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on Man. Copy the point on Danger for transport: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on Man. Copy the point on Damage to crops: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Fog Formation. Fog is formed in the following ways. Copy the point on Radiation fog on the left, then draw the diagram on the right: fog in the valleys.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Advection fog on the left, then draw the diagram on the right: fog.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How do a clear sky and calm winds help an inversion to form at night?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clear skies let the ground lose heat quickly; calm air lets the cold air stay near the ground without mixing.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effects of temperature inversion on human activities.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fog and reduced visibility, trapped pollution and health problems, frost damaging crops (any two).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increases; number 2, smog; number 3,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relative humidity.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10: Nature of Moisture.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9: TEMPERATURE INVERSION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gif"/><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Temperature Inversion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Vertical Distribution of Heat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9: Temperature Inversion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Temperature inversion, surface (radiation) inversion, upper-air inversion, fog, smog, frost, stability.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types of temperature inversion; causes of surface inversion; effects on weather and human activities (fog, pollution, frost).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formation of temperature inversions and their effects, such as morning haze in the Benue valley.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8: Vertical Distribution of Temperature):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temperature inversion.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temperature inversion is a situation in which temperature increases with height instead of decreasing.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temperature inversion.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surface and upper-air inversions.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conditions for a surface inversion.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effects of inversions.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normally falls with height.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ground loses heat at night.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Harmattan air is very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an early January morning in Garoua, you walk to school.</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air near the ground is surprisingly cold on your legs, and a low haze of dust and smoke from cooking fires hangs in the air without rising.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have learnt that air gets colder with height.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"Why is the air colder at the ground this morning, and why does the smoke not rise?"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understand the temperature inversion.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condition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temperature inversion: cold air below warmer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smoke not rise?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warm layer above acts like a lid that stops rising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Avoid burning waste on calm, cold mornings, and drive carefully in fog and haze.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explains morning fog and haze, air pollution and frost, which affect health, transport and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inversion_grap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Temperature in an inversion.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temperature change with height in an inversion?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increases instead of decreasing.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invers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 night inversion forms.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coldest air in a surface inversion?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Just above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met2_inv_causes.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Conditions for an inversion.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clear skies help an inversion to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Heat escapes from the ground to space, so the ground and the air above it cool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cloudse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Fog in a valley.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fog form in valleys during an inversion?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cold air near the ground is cooled to its dew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smo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Smog over a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health effect of pollution trapped by an inversion.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Coughing and breathing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Energy in the Atmosphere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Vertical Distribution of Heat in the Atmosphere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Temperature Inversion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Temperature inversion: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situation in which temperature increases with height, so warm air lies above cold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Capping inversion: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warm layer of air aloft that stops rising air and clouds from going higher.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Subsidence inversion: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inversion formed when a large mass of air sinks slowly and warms by compression.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cloud at ground level that reduces visibility to less than 1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Temperature Inversion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Temperature inversion is explained as follows: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Temperature inversion: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Normally, temperature falls with height, but during an inversion a layer of warm air lies above cooler air. This warm layer acts like a lid that stops the cold air below from rising, so the air becomes very stable.</a:t>
            </a:r>
            <a:endParaRPr lang="en-US" sz="2800" dirty="0"/>
          </a:p>
        </p:txBody>
      </p:sp>
      <p:pic>
        <p:nvPicPr>
          <p:cNvPr id="5" name="Image 0" descr="/home/claude/f4/img/v2/inversion_graph_big.png">    </p:cNvPr>
          <p:cNvPicPr>
            <a:picLocks noChangeAspect="1"/>
          </p:cNvPicPr>
          <p:nvPr/>
        </p:nvPicPr>
        <p:blipFill>
          <a:blip r:embed="rId1"/>
          <a:stretch>
            <a:fillRect/>
          </a:stretch>
        </p:blipFill>
        <p:spPr>
          <a:xfrm>
            <a:off x="6537960" y="2721454"/>
            <a:ext cx="5470855" cy="2393499"/>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temperature inversion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Temperature Inversion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Surface Inversions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surface inversions are the following:</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Radiation (ground) inversion: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On clear, calm nights, the ground loses its heat quickly by radiation and cools the air in contact with it. The air near the ground becomes colder than the air above, and this is the most common type of inversion.</a:t>
            </a:r>
            <a:endParaRPr lang="en-US" sz="2800" dirty="0"/>
          </a:p>
        </p:txBody>
      </p:sp>
      <p:pic>
        <p:nvPicPr>
          <p:cNvPr id="6" name="Image 0" descr="/home/claude/f4/img/v2/inversion_last.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surface inversion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Temperature Inversion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Surface Inversions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Valley inversion: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night, cold, heavy air on the slopes drains down and collects in valleys and basins. The valley floor becomes colder than the slopes above, as happens in the Benue valley in the Harmattan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Temperature Inversion</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Above-Surface (Upper-Air) Inversions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above-surface inversions are the following:</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Subsidence inversion: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In high-pressure areas, a large mass of air sinks slowly and is warmed by compression. A warm layer then forms a few hundred metres above the ground, as over the Sahara and the subtropical oceans.</a:t>
            </a:r>
            <a:endParaRPr lang="en-US" sz="3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Temperature Inversion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600" b="1" dirty="0">
                <a:solidFill>
                  <a:srgbClr val="990011"/>
                </a:solidFill>
                <a:latin typeface="Times New Roman" pitchFamily="34" charset="0"/>
                <a:ea typeface="Times New Roman" pitchFamily="34" charset="-122"/>
                <a:cs typeface="Times New Roman" pitchFamily="34" charset="-120"/>
              </a:rPr>
              <a:t>B) Above-Surface (Upper-Air) Inversions</a:t>
            </a:r>
            <a:endParaRPr lang="en-US" sz="26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Frontal inversion: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Along a front, warm air rises over cold, heavy air. The warm air above the cold air forms an inversion that slopes along the front.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Temperature Inversion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Above-Surface (Upper-Air) Inversions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Capping inversion: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warm layer at the top of the lowest part of the atmosphere acts as a cap on rising air. It stops clouds from growing, but if strong heating breaks through it, violent storms can develop.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Causes of a Surface Inversion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400" i="1" dirty="0">
                <a:solidFill>
                  <a:srgbClr val="111111"/>
                </a:solidFill>
                <a:latin typeface="Times New Roman" pitchFamily="34" charset="0"/>
                <a:ea typeface="Times New Roman" pitchFamily="34" charset="-122"/>
                <a:cs typeface="Times New Roman" pitchFamily="34" charset="-120"/>
              </a:rPr>
              <a:t>A surface inversion forms best under the following conditions:</a:t>
            </a:r>
            <a:endParaRPr lang="en-US" sz="3400" dirty="0"/>
          </a:p>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Long nights: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Long nights give the ground more time to lose heat by terrestrial radiation. This is why inversions are strongest in winter in the temperate regions.</a:t>
            </a:r>
            <a:endParaRPr lang="en-US" sz="3400" dirty="0"/>
          </a:p>
        </p:txBody>
      </p:sp>
      <p:pic>
        <p:nvPicPr>
          <p:cNvPr id="5" name="Image 0" descr="/home/claude/f4/img/v2/met2_inv_causes.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causes of inversions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Causes of a Surface Inversion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Clear skies and dry air: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Without clouds, and in dry air such as that of the Harmattan, heat escapes quickly to space. The ground and the air near it therefore cool rapidly after sunset.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Causes of a Surface Inversion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Calm air: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Without wind, the cold, heavy air is not mixed with the warmer air above. It therefore stays near the ground and forms a cold layer.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Causes of a Surface Inversion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Valleys and basins: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Cold air flows down the slopes at night like water and collects in low places. Valleys and basins are therefore the places where inversions are most frequent.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Effects on Weather Conditions and Man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Effects on Weather</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Temperature inversions have the following effects on weather:</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Stable air and clear skies: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warm layer stops air from rising, so clouds and rain cannot form. For this reason, inversions give dry weather, as in the Sahara and on coastal deserts.</a:t>
            </a:r>
            <a:endParaRPr lang="en-US" sz="3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Effects on Weather Conditions and Man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Effects on Weather</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Frost: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In cold regions and on high mountains, the air trapped near the ground can fall below 0 °C. Frost then forms on the ground and on plants.</a:t>
            </a:r>
            <a:endParaRPr lang="en-US" sz="3600" dirty="0"/>
          </a:p>
        </p:txBody>
      </p:sp>
      <p:pic>
        <p:nvPicPr>
          <p:cNvPr id="6" name="Image 0" descr="/home/claude/f4/img/v2/lsa_frost.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frost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Effects on Weather Conditions and Man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Effects on Weather</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Haze and low clouds: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Moisture and dust are trapped below the warm layer. They form a layer of haze or flat stratus clouds under the inversion.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Effects on Weather Conditions and Man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Effects on Man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Temperature inversions have the following effects on man:</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Air pollution: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Smoke, exhaust fumes and dust cannot rise and stay trapped near the ground, forming smog. This causes breathing problems, as in the London smog of 1952, which killed about 4,000 people.</a:t>
            </a:r>
            <a:endParaRPr lang="en-US" sz="2800" dirty="0"/>
          </a:p>
        </p:txBody>
      </p:sp>
      <p:pic>
        <p:nvPicPr>
          <p:cNvPr id="6" name="Image 0" descr="/home/claude/f4/img/v2/lsa_smog.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smog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Effects on Weather Conditions and Man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Effects on Man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Danger for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Fog and smog reduce visibility on roads and at airports. They cause road accidents and delay or cancel flights.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Effects on Weather Conditions and Man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Effects on Man</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Damage to crops: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Frost in valleys destroys crops such as coffee, tea and fruit trees. For this reason, farmers in temperate regions plant orchards on slopes above the cold valley floors.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Fog Formation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Fog is formed in the following ways: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Radiation fog: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On clear, calm nights, the air near the cold ground is cooled to its dew point and its vapour condenses into droplets. This fog is common in valleys and near rivers in the early morning and clears as the sun heats the ground.</a:t>
            </a:r>
            <a:endParaRPr lang="en-US" sz="2800" dirty="0"/>
          </a:p>
        </p:txBody>
      </p:sp>
      <p:pic>
        <p:nvPicPr>
          <p:cNvPr id="5" name="Image 0" descr="/home/claude/f4/img/v2/lsa_cloudsea.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fog in the valleys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Fog Formation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Advection fog: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When warm, moist air moves over a cold surface, such as a cold sea current, it is cooled to its dew point. This fog forms along coasts such as San Francisco and the Namib coast.</a:t>
            </a:r>
            <a:endParaRPr lang="en-US" sz="3600" dirty="0"/>
          </a:p>
        </p:txBody>
      </p:sp>
      <p:pic>
        <p:nvPicPr>
          <p:cNvPr id="5" name="Image 0" descr="/home/claude/f4/img/v2/f4_fog.jpg">    </p:cNvPr>
          <p:cNvPicPr>
            <a:picLocks noChangeAspect="1"/>
          </p:cNvPicPr>
          <p:nvPr/>
        </p:nvPicPr>
        <p:blipFill>
          <a:blip r:embed="rId1"/>
          <a:stretch>
            <a:fillRect/>
          </a:stretch>
        </p:blipFill>
        <p:spPr>
          <a:xfrm>
            <a:off x="6537960" y="2903104"/>
            <a:ext cx="5470855" cy="2030200"/>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fog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a clear sky and calm winds help an inversion to form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Clear skies let the ground lose heat quickly; calm air lets the cold air stay near the ground without mixing.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effects of temperature inversion on human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Fog and reduced visibility, trapped pollution and health problems, frost damaging crops (any two).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an inversion, temperature ______ with height.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mixture of smoke and fog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Inversions are strongest on ______ and calm nights.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relative humidity.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Nature of Moisture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Inversion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L'inversion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brouillard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Pollutant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polluant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Visibility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visibilité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Smog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smog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Energy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9: Temperature Inversion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temperature inversion. Distinguish surface and upper-air inversions. Explain the conditions for a surface inversion. Explain the effects of inversions.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formation of temperature inversions and their effects, such as morning haze in the Benue valley.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Meaning of Temperature Inversion; Surface Inversions; Above-Surface (Upper-Air) Inversions; Causes of a Surface Inversion; Effects on Weather; Effects on Man; Fog Formation.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relative humidity.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normal and the inverted line.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cold early morning.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cloudy and clear nights.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fog over the Benue.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smoke from cooking fires.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Meteorology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“Rising above the Inversion” by Pictoscribe -, CC BY-NC-ND 2.0, via Flickr (https://www.flickr.com/photos/70414856@N00/6535713585)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“Beijing smog” by kevin dooley, CC BY 2.0, via Flickr (https://www.flickr.com/photos/12836528@N00/386198516)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(Frost): “Frosty Morning” by Tom Gill., CC BY-NC-ND 2.0, via Flickr (https://www.flickr.com/photos/10199807@N00/4283143427)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(Advection fog): “Mist” by Art by MarkAC, CC BY-SA 2.0, via Flickr (https://www.flickr.com/photos/60580775@N08/40783321332)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68</Slides>
  <Notes>68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68</vt:i4>
      </vt:variant>
    </vt:vector>
  </HeadingPairs>
  <TitlesOfParts>
    <vt:vector size="7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2026-09-29T11:14:47Z</dcterms:created>
  <dcterms:modified xsi:type="dcterms:W3CDTF">2026-09-29T11:14:47Z</dcterms:modified>
</cp:coreProperties>
</file>