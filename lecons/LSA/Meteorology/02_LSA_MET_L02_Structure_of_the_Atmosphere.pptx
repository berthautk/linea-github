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Lst>
  <p:notesMasterIdLst>
    <p:notesMasterId r:id="rId6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notesMaster" Target="notesMasters/notesMaster1.xml"/><Relationship Id="rId68" Type="http://schemas.openxmlformats.org/officeDocument/2006/relationships/presProps" Target="presProps.xml"/><Relationship Id="rId69" Type="http://schemas.openxmlformats.org/officeDocument/2006/relationships/viewProps" Target="viewProps.xml"/><Relationship Id="rId70" Type="http://schemas.openxmlformats.org/officeDocument/2006/relationships/theme" Target="theme/theme1.xml"/><Relationship Id="rId7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2: Structure of the Atmosphere.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Lower Sixth Arts. It belongs to Module 1: Understanding and managing atmospheric and hydrological phenomena and hazards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The Atmosphere as a Centre of Weather and Climate, and the sub-topic is The Atmosphere. The key notions we shall use today are: homosphere, heterosphere, troposphere, tropopause, stratosphere, ozone layer, mesosphere, thermosphere, CFCs, Montreal Protocol. At the end, you should be able to do this: learners are able to describe the layers of the atmosphere and explain the importance and protection of the ozone layer.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1: The Meaning and Composition of the Atmosphere. The question was: Name the four layers of the atmosphere.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The troposphere, the stratosphere, the mesosphere and the thermosphere.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four things. Number 1: distinguish the homosphere and the heterosphere. Number 2: describe the four thermal layers of the atmosphere. Number 3: explain the importance of the ozone layer. Number 4: explain the causes of its depletion and the measures to protect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Nitrogen and oxygen are constant gases. Ozone absorbs ultraviolet rays. Clouds form in the air near the Earth.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You fly with Camair-Co from Garoua to Douala. As the plane climbs, the air outside becomes very cold and you fly above the clouds. You wonder what it is like even higher, where satellites move, and why the plane does not keep climbing. You also remember that the sun of Garoua is very strong. You ask: "Is the atmosphere the same all the way up, and what protects us from the dangerous rays of the Sun?"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learner does not know the structure of the atmosphere.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Does it always get colder as we go up?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No: it gets colder in the troposphere, but warmer again in the stratosphere.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protects us from dangerous solar rays?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ozone layer in the stratosphere.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avoid products containing CFCs and protect yourself from strong ultraviolet rays.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where weather happens and why the ozone layer must be protected.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homosphere and heterosphere.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In which part of the atmosphere are gases well mixed?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homosphere (up to about 80 km).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the layers of the atmosphere.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In which layer does almost all weather happen?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troposphere.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diagram: temperature and height.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Why does temperature rise in the stratosphere?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Ozone absorbs ultraviolet rays and heats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an aurora.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In which layer do auroras and the space station occur?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thermosphere.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the ozone hole over Antarctica.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Which chemicals caused the ozone hole?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CFCs (chlorofluorocarbons) from old fridges, air conditioners and sprays.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Homosphere and Heterosphere.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definitions. On this slide we have Isothermal layer and Ozone layer.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Chemical Characteristics: Homosphere and Heterosphere. By its chemical composition, the atmosphere is divided into the following two layers. Copy the point on Homosphere (0 to about 80 km) on the left, then draw the diagram on the right: homosphere and heterosphere.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Chemical Characteristics: Homosphere and Heterosphere. Copy the point on Heterosphere (above 80 km):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Four Layers. By temperature, the atmosphere has the following four layers. Copy the point on Troposphere on the left, then draw the diagram on the right: the layers of the atmosphere.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Stratosphere (to about 50 km) on the left, then draw the diagram on the right: temperature and height.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Four Layers. Copy the point on Mesosphere (50 to 80 km):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Thermosphere (above 80 km) on the left, then draw the diagram on the right: an aurora.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Isothermal Layers. The isothermal layers of the atmosphere are the following. Copy the point on Tropopause and lower stratosphere: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Isothermal Layers. Copy the point on Stratopause and mesopause: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Function. The ozone layer has the following functions. Copy the point on Absorption of ultraviolet rays on the left, then draw the diagram on the right: the ozone layer.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Function. Copy the point on Heating of the stratosphere: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Depletion. The ozone layer is depleted in the following ways. Copy the point on Chlorofluorocarbons (CFCs):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Depletion. Copy the point on Other ozone-destroying gases: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The ozone hole on the left, then draw the diagram on the right: the ozone hole.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Measures. The ozone layer is protected by the following measures. Copy the point on The Montreal Protocol (1987):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Measures. Copy the point on Collection of old equipment: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Measures. Copy the point on Education and sun protection: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Why does temperature fall in the troposphere but rise in the stratosphere?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 troposphere is heated from the ground below; the stratosphere is heated by ozone absorbing ultraviolet rays.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two measures to protect the ozone layer.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apply the Montreal Protocol, stop using CFCs, recycle old fridges, educate people (any two).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troposphere; number 2, stratosphere; number 3, mesosphere.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Define insolation.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3: Solar Radiation.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2: STRUCTURE OF THE ATMOSPHERE</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jp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jp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jp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jp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2.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slideLayout" Target="../slideLayouts/slideLayout2.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slideLayout" Target="../slideLayouts/slideLayout2.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png"/><Relationship Id="rId2" Type="http://schemas.openxmlformats.org/officeDocument/2006/relationships/slideLayout" Target="../slideLayouts/slideLayout2.xml"/><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png"/><Relationship Id="rId2" Type="http://schemas.openxmlformats.org/officeDocument/2006/relationships/slideLayout" Target="../slideLayouts/slideLayout2.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60-1.png"/><Relationship Id="rId2" Type="http://schemas.openxmlformats.org/officeDocument/2006/relationships/slideLayout" Target="../slideLayouts/slideLayout2.xml"/><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image" Target="../media/image-64-1.png"/><Relationship Id="rId2" Type="http://schemas.openxmlformats.org/officeDocument/2006/relationships/slideLayout" Target="../slideLayouts/slideLayout2.xml"/><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image" Target="../media/image-65-1.png"/><Relationship Id="rId2" Type="http://schemas.openxmlformats.org/officeDocument/2006/relationships/slideLayout" Target="../slideLayouts/slideLayout2.xml"/><Relationship Id="rId3" Type="http://schemas.openxmlformats.org/officeDocument/2006/relationships/notesSlide" Target="../notesSlides/notesSlide6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LOWER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2</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Structure of the Atmosphere</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Lower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1: Understanding and managing atmospheric and hydrological phenomena and hazards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Atmosphere as a Centre of Weather and Climate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Atmosphere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2: Structure of the Atmosphere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Homosphere, heterosphere, troposphere, tropopause, stratosphere, ozone layer, mesosphere, thermosphere, CFCs, Montreal Protocol.</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Structure by chemical composition (homosphere, heterosphere) and by temperature (four layers and pauses); the ozone layer, its depletion and protection.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describe the layers of the atmosphere and explain the importance and protection of the ozone layer.</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1: The Meaning and Composition of the Atmosphere):</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four layers of the atmosphere.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troposphere, the stratosphere, the mesosphere and the thermosphere.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Distinguish the homosphere and the heterosphere.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four thermal layers of the atmosphere.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importance of the ozone layer.</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causes of its depletion and the measures to protect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Nitrogen and oxygen are constant gases.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Ozone absorbs ultraviolet rays.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Clouds form in the air near the Earth.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You fly with Camair-Co from Garoua to Douala.</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As the plane climbs, the air outside becomes very cold and you fly above the clouds.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You wonder what it is like even higher, where satellites move, and why the plane does not keep climbing.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You also remember that the sun of Garoua is very strong.</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You ask: "Is the atmosphere the same all the way up, and what protects us from the dangerous rays of the Sun?"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learner does not know the structure of the atmosphere.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Does it always get colder as we go up?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No: it gets colder in the troposphere, but warmer again in the stratosphere.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protects us from dangerous solar rays?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ozone layer in the stratosphere.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Avoid products containing CFCs and protect yourself from strong ultraviolet rays.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where weather happens and why the ozone layer must be protected.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COMPOSITION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met2_homo.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Homosphere and heterosphere.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COMPOSITION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which part of the atmosphere are gases well mixed?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COMPOSITION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homosphere (up to about 80 km).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THERMAL LAYERS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atmosphere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layers of the atmosphere.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THERMAL LAYERS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which layer does almost all weather happen?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THERMAL LAYERS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troposphere.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THERMAL LAYERS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temp_profile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Temperature and height.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THERMAL LAYERS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does temperature rise in the stratosphere?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THERMAL LAYERS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Ozone absorbs ultraviolet rays and heats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THERMAL LAYERS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lsa_aurora.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An aurora.</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THERMAL LAYERS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which layer do auroras and the space station occur?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THERMAL LAYERS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thermosphere.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OZONE LAYER</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4_ozonehole.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ozone hole over Antarctica.</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OZONE LAYER</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chemicals caused the ozone hole?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OZONE LAYER</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CFCs (chlorofluorocarbons) from old fridges, air conditioners and sprays.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The Atmosphere as a Centre of Weather and Climate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The Atmosphere</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 Structure of the Atmosphere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Homosphere: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lower atmosphere (up to about 80 km) where gases are well mixed.</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Heterosphere: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upper atmosphere (above 80 km) where gases form layers according to their weight.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 (continued)</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Isothermal layer: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layer of the atmosphere in which the temperature does not change with height.</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Ozone layer: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zone of the stratosphere rich in ozone, which absorbs harmful ultraviolet rays.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Chemical Characteristics: Homosphere and Heterosphere</a:t>
            </a:r>
            <a:endParaRPr lang="en-US" sz="3600" dirty="0"/>
          </a:p>
        </p:txBody>
      </p:sp>
      <p:sp>
        <p:nvSpPr>
          <p:cNvPr id="4" name="Text 2"/>
          <p:cNvSpPr/>
          <p:nvPr/>
        </p:nvSpPr>
        <p:spPr>
          <a:xfrm>
            <a:off x="365760" y="1783080"/>
            <a:ext cx="6035040" cy="4617720"/>
          </a:xfrm>
          <a:prstGeom prst="rect">
            <a:avLst/>
          </a:prstGeom>
          <a:noFill/>
          <a:ln/>
        </p:spPr>
        <p:txBody>
          <a:bodyPr wrap="square" lIns="0" tIns="0" rIns="0" bIns="0" rtlCol="0" anchor="t"/>
          <a:lstStyle/>
          <a:p>
            <a:pPr algn="l" indent="0" marL="0">
              <a:spcAft>
                <a:spcPts val="800"/>
              </a:spcAft>
              <a:buNone/>
            </a:pPr>
            <a:r>
              <a:rPr lang="en-US" sz="2800" i="1" dirty="0">
                <a:solidFill>
                  <a:srgbClr val="111111"/>
                </a:solidFill>
                <a:latin typeface="Times New Roman" pitchFamily="34" charset="0"/>
                <a:ea typeface="Times New Roman" pitchFamily="34" charset="-122"/>
                <a:cs typeface="Times New Roman" pitchFamily="34" charset="-120"/>
              </a:rPr>
              <a:t>By its chemical composition, the atmosphere is divided into the following two layers:</a:t>
            </a:r>
            <a:endParaRPr lang="en-US" sz="2800" dirty="0"/>
          </a:p>
          <a:p>
            <a:pPr algn="l" indent="0" marL="0">
              <a:spcAft>
                <a:spcPts val="800"/>
              </a:spcAft>
              <a:buNone/>
            </a:pPr>
            <a:r>
              <a:rPr lang="en-US" sz="2800" b="1" dirty="0">
                <a:solidFill>
                  <a:srgbClr val="111111"/>
                </a:solidFill>
                <a:latin typeface="Times New Roman" pitchFamily="34" charset="0"/>
                <a:ea typeface="Times New Roman" pitchFamily="34" charset="-122"/>
                <a:cs typeface="Times New Roman" pitchFamily="34" charset="-120"/>
              </a:rPr>
              <a:t>Homosphere (0 to about 80 km): </a:t>
            </a:r>
            <a:pPr algn="l" indent="0" marL="0">
              <a:spcAft>
                <a:spcPts val="800"/>
              </a:spcAft>
              <a:buNone/>
            </a:pPr>
            <a:r>
              <a:rPr lang="en-US" sz="2800" dirty="0">
                <a:solidFill>
                  <a:srgbClr val="111111"/>
                </a:solidFill>
                <a:latin typeface="Times New Roman" pitchFamily="34" charset="0"/>
                <a:ea typeface="Times New Roman" pitchFamily="34" charset="-122"/>
                <a:cs typeface="Times New Roman" pitchFamily="34" charset="-120"/>
              </a:rPr>
              <a:t>In the homosphere, winds and turbulence mix the gases so well that their proportions stay the same, with about 78 % nitrogen and 21 % oxygen. It contains almost all the mass of the air and all living things.</a:t>
            </a:r>
            <a:endParaRPr lang="en-US" sz="2800" dirty="0"/>
          </a:p>
        </p:txBody>
      </p:sp>
      <p:pic>
        <p:nvPicPr>
          <p:cNvPr id="5" name="Image 0" descr="/home/claude/f4/img/v2/met2_homo.png">    </p:cNvPr>
          <p:cNvPicPr>
            <a:picLocks noChangeAspect="1"/>
          </p:cNvPicPr>
          <p:nvPr/>
        </p:nvPicPr>
        <p:blipFill>
          <a:blip r:embed="rId1"/>
          <a:stretch>
            <a:fillRect/>
          </a:stretch>
        </p:blipFill>
        <p:spPr>
          <a:xfrm>
            <a:off x="6537960" y="2849678"/>
            <a:ext cx="5470855" cy="2137053"/>
          </a:xfrm>
          <a:prstGeom prst="rect">
            <a:avLst/>
          </a:prstGeom>
        </p:spPr>
      </p:pic>
      <p:sp>
        <p:nvSpPr>
          <p:cNvPr id="6" name="Text 3"/>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homosphere and heterosphere</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Chemical Characteristics: Homosphere and Heterosphere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Heterosphere (above 80 km):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the heterosphere, the air is so thin that the gases are no longer mixed and separate according to their weight. Heavy nitrogen is found lowest, followed by oxygen, then helium, and light hydrogen at the top.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Thermal Characteristics</a:t>
            </a:r>
            <a:endParaRPr lang="en-US" sz="3600" dirty="0"/>
          </a:p>
        </p:txBody>
      </p:sp>
      <p:sp>
        <p:nvSpPr>
          <p:cNvPr id="4" name="Text 2"/>
          <p:cNvSpPr/>
          <p:nvPr/>
        </p:nvSpPr>
        <p:spPr>
          <a:xfrm>
            <a:off x="365760" y="1737360"/>
            <a:ext cx="6035040" cy="457200"/>
          </a:xfrm>
          <a:prstGeom prst="rect">
            <a:avLst/>
          </a:prstGeom>
          <a:noFill/>
          <a:ln/>
        </p:spPr>
        <p:txBody>
          <a:bodyPr wrap="square" lIns="0" tIns="0" rIns="0" bIns="0" rtlCol="0" anchor="ctr">
            <a:normAutofit/>
          </a:bodyPr>
          <a:lstStyle/>
          <a:p>
            <a:pPr algn="l" indent="0" marL="0">
              <a:buNone/>
            </a:pPr>
            <a:r>
              <a:rPr lang="en-US" sz="3000" b="1" dirty="0">
                <a:solidFill>
                  <a:srgbClr val="990011"/>
                </a:solidFill>
                <a:latin typeface="Times New Roman" pitchFamily="34" charset="0"/>
                <a:ea typeface="Times New Roman" pitchFamily="34" charset="-122"/>
                <a:cs typeface="Times New Roman" pitchFamily="34" charset="-120"/>
              </a:rPr>
              <a:t>A) The Four Layers</a:t>
            </a:r>
            <a:endParaRPr lang="en-US" sz="3000" dirty="0"/>
          </a:p>
        </p:txBody>
      </p:sp>
      <p:sp>
        <p:nvSpPr>
          <p:cNvPr id="5" name="Text 3"/>
          <p:cNvSpPr/>
          <p:nvPr/>
        </p:nvSpPr>
        <p:spPr>
          <a:xfrm>
            <a:off x="365760" y="2240280"/>
            <a:ext cx="6035040" cy="4160520"/>
          </a:xfrm>
          <a:prstGeom prst="rect">
            <a:avLst/>
          </a:prstGeom>
          <a:noFill/>
          <a:ln/>
        </p:spPr>
        <p:txBody>
          <a:bodyPr wrap="square" lIns="0" tIns="0" rIns="0" bIns="0" rtlCol="0" anchor="t"/>
          <a:lstStyle/>
          <a:p>
            <a:pPr algn="l" indent="0" marL="0">
              <a:spcAft>
                <a:spcPts val="800"/>
              </a:spcAft>
              <a:buNone/>
            </a:pPr>
            <a:r>
              <a:rPr lang="en-US" sz="2600" i="1" dirty="0">
                <a:solidFill>
                  <a:srgbClr val="111111"/>
                </a:solidFill>
                <a:latin typeface="Times New Roman" pitchFamily="34" charset="0"/>
                <a:ea typeface="Times New Roman" pitchFamily="34" charset="-122"/>
                <a:cs typeface="Times New Roman" pitchFamily="34" charset="-120"/>
              </a:rPr>
              <a:t>By temperature, the atmosphere has the following four layers:</a:t>
            </a:r>
            <a:endParaRPr lang="en-US" sz="2600" dirty="0"/>
          </a:p>
          <a:p>
            <a:pPr algn="l" indent="0" marL="0">
              <a:spcAft>
                <a:spcPts val="800"/>
              </a:spcAft>
              <a:buNone/>
            </a:pPr>
            <a:r>
              <a:rPr lang="en-US" sz="2600" b="1" dirty="0">
                <a:solidFill>
                  <a:srgbClr val="111111"/>
                </a:solidFill>
                <a:latin typeface="Times New Roman" pitchFamily="34" charset="0"/>
                <a:ea typeface="Times New Roman" pitchFamily="34" charset="-122"/>
                <a:cs typeface="Times New Roman" pitchFamily="34" charset="-120"/>
              </a:rPr>
              <a:t>Troposphere: </a:t>
            </a:r>
            <a:pPr algn="l" indent="0" marL="0">
              <a:spcAft>
                <a:spcPts val="800"/>
              </a:spcAft>
              <a:buNone/>
            </a:pPr>
            <a:r>
              <a:rPr lang="en-US" sz="2600" dirty="0">
                <a:solidFill>
                  <a:srgbClr val="111111"/>
                </a:solidFill>
                <a:latin typeface="Times New Roman" pitchFamily="34" charset="0"/>
                <a:ea typeface="Times New Roman" pitchFamily="34" charset="-122"/>
                <a:cs typeface="Times New Roman" pitchFamily="34" charset="-120"/>
              </a:rPr>
              <a:t>The troposphere reaches about 8 km at the poles and 16 to 18 km at the Equator, and its temperature falls with height by about 6.5 °C per km. It holds about 75 % of the air and almost all the water vapour, so all clouds and weather occur in it.</a:t>
            </a:r>
            <a:endParaRPr lang="en-US" sz="2600" dirty="0"/>
          </a:p>
        </p:txBody>
      </p:sp>
      <p:pic>
        <p:nvPicPr>
          <p:cNvPr id="6" name="Image 0" descr="/home/claude/f4/img/v2/atmosphere_big.png">    </p:cNvPr>
          <p:cNvPicPr>
            <a:picLocks noChangeAspect="1"/>
          </p:cNvPicPr>
          <p:nvPr/>
        </p:nvPicPr>
        <p:blipFill>
          <a:blip r:embed="rId1"/>
          <a:stretch>
            <a:fillRect/>
          </a:stretch>
        </p:blipFill>
        <p:spPr>
          <a:xfrm>
            <a:off x="6537960" y="2849678"/>
            <a:ext cx="5470855" cy="2137053"/>
          </a:xfrm>
          <a:prstGeom prst="rect">
            <a:avLst/>
          </a:prstGeom>
        </p:spPr>
      </p:pic>
      <p:sp>
        <p:nvSpPr>
          <p:cNvPr id="7" name="Text 4"/>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the layers of the atmosphere</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Thermal Characteristics</a:t>
            </a:r>
            <a:endParaRPr lang="en-US" sz="3600" dirty="0"/>
          </a:p>
        </p:txBody>
      </p:sp>
      <p:sp>
        <p:nvSpPr>
          <p:cNvPr id="4" name="Text 2"/>
          <p:cNvSpPr/>
          <p:nvPr/>
        </p:nvSpPr>
        <p:spPr>
          <a:xfrm>
            <a:off x="365760" y="1737360"/>
            <a:ext cx="6035040" cy="457200"/>
          </a:xfrm>
          <a:prstGeom prst="rect">
            <a:avLst/>
          </a:prstGeom>
          <a:noFill/>
          <a:ln/>
        </p:spPr>
        <p:txBody>
          <a:bodyPr wrap="square" lIns="0" tIns="0" rIns="0" bIns="0" rtlCol="0" anchor="ctr">
            <a:normAutofit/>
          </a:bodyPr>
          <a:lstStyle/>
          <a:p>
            <a:pPr algn="l" indent="0" marL="0">
              <a:buNone/>
            </a:pPr>
            <a:r>
              <a:rPr lang="en-US" sz="3000" b="1" dirty="0">
                <a:solidFill>
                  <a:srgbClr val="990011"/>
                </a:solidFill>
                <a:latin typeface="Times New Roman" pitchFamily="34" charset="0"/>
                <a:ea typeface="Times New Roman" pitchFamily="34" charset="-122"/>
                <a:cs typeface="Times New Roman" pitchFamily="34" charset="-120"/>
              </a:rPr>
              <a:t>A) The Four Layers</a:t>
            </a:r>
            <a:endParaRPr lang="en-US" sz="3000" dirty="0"/>
          </a:p>
        </p:txBody>
      </p:sp>
      <p:sp>
        <p:nvSpPr>
          <p:cNvPr id="5" name="Text 3"/>
          <p:cNvSpPr/>
          <p:nvPr/>
        </p:nvSpPr>
        <p:spPr>
          <a:xfrm>
            <a:off x="365760" y="2240280"/>
            <a:ext cx="6035040" cy="4160520"/>
          </a:xfrm>
          <a:prstGeom prst="rect">
            <a:avLst/>
          </a:prstGeom>
          <a:noFill/>
          <a:ln/>
        </p:spPr>
        <p:txBody>
          <a:bodyPr wrap="square" lIns="0" tIns="0" rIns="0" bIns="0" rtlCol="0" anchor="t"/>
          <a:lstStyle/>
          <a:p>
            <a:pPr algn="l" indent="0" marL="0">
              <a:spcAft>
                <a:spcPts val="800"/>
              </a:spcAft>
              <a:buNone/>
            </a:pPr>
            <a:r>
              <a:rPr lang="en-US" sz="3400" b="1" dirty="0">
                <a:solidFill>
                  <a:srgbClr val="111111"/>
                </a:solidFill>
                <a:latin typeface="Times New Roman" pitchFamily="34" charset="0"/>
                <a:ea typeface="Times New Roman" pitchFamily="34" charset="-122"/>
                <a:cs typeface="Times New Roman" pitchFamily="34" charset="-120"/>
              </a:rPr>
              <a:t>Stratosphere (to about 50 km): </a:t>
            </a:r>
            <a:pPr algn="l" indent="0" marL="0">
              <a:spcAft>
                <a:spcPts val="800"/>
              </a:spcAft>
              <a:buNone/>
            </a:pPr>
            <a:r>
              <a:rPr lang="en-US" sz="3400" dirty="0">
                <a:solidFill>
                  <a:srgbClr val="111111"/>
                </a:solidFill>
                <a:latin typeface="Times New Roman" pitchFamily="34" charset="0"/>
                <a:ea typeface="Times New Roman" pitchFamily="34" charset="-122"/>
                <a:cs typeface="Times New Roman" pitchFamily="34" charset="-120"/>
              </a:rPr>
              <a:t>In the stratosphere, temperature rises with height because the ozone absorbs ultraviolet rays. The air is calm and dry, which is why aircraft fly in its lower part.</a:t>
            </a:r>
            <a:endParaRPr lang="en-US" sz="3400" dirty="0"/>
          </a:p>
        </p:txBody>
      </p:sp>
      <p:pic>
        <p:nvPicPr>
          <p:cNvPr id="6" name="Image 0" descr="/home/claude/f4/img/v2/temp_profile_big.png">    </p:cNvPr>
          <p:cNvPicPr>
            <a:picLocks noChangeAspect="1"/>
          </p:cNvPicPr>
          <p:nvPr/>
        </p:nvPicPr>
        <p:blipFill>
          <a:blip r:embed="rId1"/>
          <a:stretch>
            <a:fillRect/>
          </a:stretch>
        </p:blipFill>
        <p:spPr>
          <a:xfrm>
            <a:off x="6537960" y="2721454"/>
            <a:ext cx="5470855" cy="2393499"/>
          </a:xfrm>
          <a:prstGeom prst="rect">
            <a:avLst/>
          </a:prstGeom>
        </p:spPr>
      </p:pic>
      <p:sp>
        <p:nvSpPr>
          <p:cNvPr id="7" name="Text 4"/>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temperature and height</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Thermal Characteristics</a:t>
            </a:r>
            <a:endParaRPr lang="en-US" sz="3600" dirty="0"/>
          </a:p>
        </p:txBody>
      </p:sp>
      <p:sp>
        <p:nvSpPr>
          <p:cNvPr id="5" name="Text 2"/>
          <p:cNvSpPr/>
          <p:nvPr/>
        </p:nvSpPr>
        <p:spPr>
          <a:xfrm>
            <a:off x="2697480" y="1737360"/>
            <a:ext cx="91741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A) The Four Layers</a:t>
            </a:r>
            <a:endParaRPr lang="en-US" sz="3200" dirty="0"/>
          </a:p>
        </p:txBody>
      </p:sp>
      <p:sp>
        <p:nvSpPr>
          <p:cNvPr id="6" name="Text 3"/>
          <p:cNvSpPr/>
          <p:nvPr/>
        </p:nvSpPr>
        <p:spPr>
          <a:xfrm>
            <a:off x="2697480" y="2240280"/>
            <a:ext cx="917417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Mesosphere (50 to 80 km):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the mesosphere, temperature falls again with height and reaches about −90 °C, the coldest point of the atmosphere. Meteors burn up in this layer and appear as shooting stars.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Thermal Characteristics</a:t>
            </a:r>
            <a:endParaRPr lang="en-US" sz="3600" dirty="0"/>
          </a:p>
        </p:txBody>
      </p:sp>
      <p:sp>
        <p:nvSpPr>
          <p:cNvPr id="4" name="Text 2"/>
          <p:cNvSpPr/>
          <p:nvPr/>
        </p:nvSpPr>
        <p:spPr>
          <a:xfrm>
            <a:off x="365760" y="1737360"/>
            <a:ext cx="6035040" cy="457200"/>
          </a:xfrm>
          <a:prstGeom prst="rect">
            <a:avLst/>
          </a:prstGeom>
          <a:noFill/>
          <a:ln/>
        </p:spPr>
        <p:txBody>
          <a:bodyPr wrap="square" lIns="0" tIns="0" rIns="0" bIns="0" rtlCol="0" anchor="ctr">
            <a:normAutofit/>
          </a:bodyPr>
          <a:lstStyle/>
          <a:p>
            <a:pPr algn="l" indent="0" marL="0">
              <a:buNone/>
            </a:pPr>
            <a:r>
              <a:rPr lang="en-US" sz="3000" b="1" dirty="0">
                <a:solidFill>
                  <a:srgbClr val="990011"/>
                </a:solidFill>
                <a:latin typeface="Times New Roman" pitchFamily="34" charset="0"/>
                <a:ea typeface="Times New Roman" pitchFamily="34" charset="-122"/>
                <a:cs typeface="Times New Roman" pitchFamily="34" charset="-120"/>
              </a:rPr>
              <a:t>A) The Four Layers</a:t>
            </a:r>
            <a:endParaRPr lang="en-US" sz="3000" dirty="0"/>
          </a:p>
        </p:txBody>
      </p:sp>
      <p:sp>
        <p:nvSpPr>
          <p:cNvPr id="5" name="Text 3"/>
          <p:cNvSpPr/>
          <p:nvPr/>
        </p:nvSpPr>
        <p:spPr>
          <a:xfrm>
            <a:off x="365760" y="2240280"/>
            <a:ext cx="6035040" cy="4160520"/>
          </a:xfrm>
          <a:prstGeom prst="rect">
            <a:avLst/>
          </a:prstGeom>
          <a:noFill/>
          <a:ln/>
        </p:spPr>
        <p:txBody>
          <a:bodyPr wrap="square" lIns="0" tIns="0" rIns="0" bIns="0" rtlCol="0" anchor="t"/>
          <a:lstStyle/>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Thermosphere (above 80 km): </a:t>
            </a:r>
            <a:pPr algn="l" indent="0" marL="0">
              <a:spcAft>
                <a:spcPts val="800"/>
              </a:spcAft>
              <a:buNone/>
            </a:pPr>
            <a:r>
              <a:rPr lang="en-US" sz="3200" dirty="0">
                <a:solidFill>
                  <a:srgbClr val="111111"/>
                </a:solidFill>
                <a:latin typeface="Times New Roman" pitchFamily="34" charset="0"/>
                <a:ea typeface="Times New Roman" pitchFamily="34" charset="-122"/>
                <a:cs typeface="Times New Roman" pitchFamily="34" charset="-120"/>
              </a:rPr>
              <a:t>In the thermosphere, the thin gases absorb very strong solar radiation, so temperature rises above 1,000 °C. Auroras form here and satellites such as the space station orbit in this layer.</a:t>
            </a:r>
            <a:endParaRPr lang="en-US" sz="3200" dirty="0"/>
          </a:p>
        </p:txBody>
      </p:sp>
      <p:pic>
        <p:nvPicPr>
          <p:cNvPr id="6" name="Image 0" descr="/home/claude/f4/img/v2/lsa_aurora.jpg">    </p:cNvPr>
          <p:cNvPicPr>
            <a:picLocks noChangeAspect="1"/>
          </p:cNvPicPr>
          <p:nvPr/>
        </p:nvPicPr>
        <p:blipFill>
          <a:blip r:embed="rId1"/>
          <a:stretch>
            <a:fillRect/>
          </a:stretch>
        </p:blipFill>
        <p:spPr>
          <a:xfrm>
            <a:off x="6537960" y="2400897"/>
            <a:ext cx="5470855" cy="3034615"/>
          </a:xfrm>
          <a:prstGeom prst="rect">
            <a:avLst/>
          </a:prstGeom>
        </p:spPr>
      </p:pic>
      <p:sp>
        <p:nvSpPr>
          <p:cNvPr id="7" name="Text 4"/>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an aurora</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Thermal Characteristics</a:t>
            </a:r>
            <a:endParaRPr lang="en-US" sz="3600" dirty="0"/>
          </a:p>
        </p:txBody>
      </p:sp>
      <p:sp>
        <p:nvSpPr>
          <p:cNvPr id="5" name="Text 2"/>
          <p:cNvSpPr/>
          <p:nvPr/>
        </p:nvSpPr>
        <p:spPr>
          <a:xfrm>
            <a:off x="2697480" y="1737360"/>
            <a:ext cx="91741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B) The Isothermal Layers</a:t>
            </a:r>
            <a:endParaRPr lang="en-US" sz="3200" dirty="0"/>
          </a:p>
        </p:txBody>
      </p:sp>
      <p:sp>
        <p:nvSpPr>
          <p:cNvPr id="6" name="Text 3"/>
          <p:cNvSpPr/>
          <p:nvPr/>
        </p:nvSpPr>
        <p:spPr>
          <a:xfrm>
            <a:off x="2697480" y="2240280"/>
            <a:ext cx="9174175" cy="4206240"/>
          </a:xfrm>
          <a:prstGeom prst="rect">
            <a:avLst/>
          </a:prstGeom>
          <a:noFill/>
          <a:ln/>
        </p:spPr>
        <p:txBody>
          <a:bodyPr wrap="square" lIns="0" tIns="0" rIns="0" bIns="0" rtlCol="0" anchor="t"/>
          <a:lstStyle/>
          <a:p>
            <a:pPr algn="l" indent="0" marL="0">
              <a:spcAft>
                <a:spcPts val="800"/>
              </a:spcAft>
              <a:buNone/>
            </a:pPr>
            <a:r>
              <a:rPr lang="en-US" sz="3200" i="1" dirty="0">
                <a:solidFill>
                  <a:srgbClr val="111111"/>
                </a:solidFill>
                <a:latin typeface="Times New Roman" pitchFamily="34" charset="0"/>
                <a:ea typeface="Times New Roman" pitchFamily="34" charset="-122"/>
                <a:cs typeface="Times New Roman" pitchFamily="34" charset="-120"/>
              </a:rPr>
              <a:t>The isothermal layers of the atmosphere are the following:</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Tropopause and lower stratosphere: </a:t>
            </a:r>
            <a:pPr algn="l" indent="0" marL="0">
              <a:spcAft>
                <a:spcPts val="800"/>
              </a:spcAft>
              <a:buNone/>
            </a:pPr>
            <a:r>
              <a:rPr lang="en-US" sz="3200" dirty="0">
                <a:solidFill>
                  <a:srgbClr val="111111"/>
                </a:solidFill>
                <a:latin typeface="Times New Roman" pitchFamily="34" charset="0"/>
                <a:ea typeface="Times New Roman" pitchFamily="34" charset="-122"/>
                <a:cs typeface="Times New Roman" pitchFamily="34" charset="-120"/>
              </a:rPr>
              <a:t>Above the troposphere, temperature stops falling and remains at about −55 °C up to about 20 km. This isothermal layer acts as a lid that stops clouds from rising higher, which gives thunderclouds their flat anvil top.</a:t>
            </a:r>
            <a:endParaRPr lang="en-US" sz="32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Thermal Characteristics</a:t>
            </a:r>
            <a:endParaRPr lang="en-US" sz="3600" dirty="0"/>
          </a:p>
        </p:txBody>
      </p:sp>
      <p:sp>
        <p:nvSpPr>
          <p:cNvPr id="5" name="Text 2"/>
          <p:cNvSpPr/>
          <p:nvPr/>
        </p:nvSpPr>
        <p:spPr>
          <a:xfrm>
            <a:off x="2697480" y="1737360"/>
            <a:ext cx="91741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B) The Isothermal Layers</a:t>
            </a:r>
            <a:endParaRPr lang="en-US" sz="3200" dirty="0"/>
          </a:p>
        </p:txBody>
      </p:sp>
      <p:sp>
        <p:nvSpPr>
          <p:cNvPr id="6" name="Text 3"/>
          <p:cNvSpPr/>
          <p:nvPr/>
        </p:nvSpPr>
        <p:spPr>
          <a:xfrm>
            <a:off x="2697480" y="2240280"/>
            <a:ext cx="9174175" cy="4206240"/>
          </a:xfrm>
          <a:prstGeom prst="rect">
            <a:avLst/>
          </a:prstGeom>
          <a:noFill/>
          <a:ln/>
        </p:spPr>
        <p:txBody>
          <a:bodyPr wrap="square" lIns="0" tIns="0" rIns="0" bIns="0" rtlCol="0" anchor="t"/>
          <a:lstStyle/>
          <a:p>
            <a:pPr algn="l" indent="0" marL="0">
              <a:spcAft>
                <a:spcPts val="800"/>
              </a:spcAft>
              <a:buNone/>
            </a:pPr>
            <a:r>
              <a:rPr lang="en-US" sz="3800" b="1" dirty="0">
                <a:solidFill>
                  <a:srgbClr val="111111"/>
                </a:solidFill>
                <a:latin typeface="Times New Roman" pitchFamily="34" charset="0"/>
                <a:ea typeface="Times New Roman" pitchFamily="34" charset="-122"/>
                <a:cs typeface="Times New Roman" pitchFamily="34" charset="-120"/>
              </a:rPr>
              <a:t>Stratopause and mesopause: </a:t>
            </a:r>
            <a:pPr algn="l" indent="0" marL="0">
              <a:spcAft>
                <a:spcPts val="800"/>
              </a:spcAft>
              <a:buNone/>
            </a:pPr>
            <a:r>
              <a:rPr lang="en-US" sz="3800" dirty="0">
                <a:solidFill>
                  <a:srgbClr val="111111"/>
                </a:solidFill>
                <a:latin typeface="Times New Roman" pitchFamily="34" charset="0"/>
                <a:ea typeface="Times New Roman" pitchFamily="34" charset="-122"/>
                <a:cs typeface="Times New Roman" pitchFamily="34" charset="-120"/>
              </a:rPr>
              <a:t>The stratopause (about 50 km) and the mesopause (about 80 km) are thin layers where temperature stays constant for a few kilometres. They mark the limits where the temperature trend changes from rising to falling, or from falling to rising.</a:t>
            </a:r>
            <a:endParaRPr lang="en-US" sz="3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The Ozone Layer</a:t>
            </a:r>
            <a:endParaRPr lang="en-US" sz="3600" dirty="0"/>
          </a:p>
        </p:txBody>
      </p:sp>
      <p:sp>
        <p:nvSpPr>
          <p:cNvPr id="4" name="Text 2"/>
          <p:cNvSpPr/>
          <p:nvPr/>
        </p:nvSpPr>
        <p:spPr>
          <a:xfrm>
            <a:off x="365760" y="1737360"/>
            <a:ext cx="6035040" cy="457200"/>
          </a:xfrm>
          <a:prstGeom prst="rect">
            <a:avLst/>
          </a:prstGeom>
          <a:noFill/>
          <a:ln/>
        </p:spPr>
        <p:txBody>
          <a:bodyPr wrap="square" lIns="0" tIns="0" rIns="0" bIns="0" rtlCol="0" anchor="ctr">
            <a:normAutofit/>
          </a:bodyPr>
          <a:lstStyle/>
          <a:p>
            <a:pPr algn="l" indent="0" marL="0">
              <a:buNone/>
            </a:pPr>
            <a:r>
              <a:rPr lang="en-US" sz="3000" b="1" dirty="0">
                <a:solidFill>
                  <a:srgbClr val="990011"/>
                </a:solidFill>
                <a:latin typeface="Times New Roman" pitchFamily="34" charset="0"/>
                <a:ea typeface="Times New Roman" pitchFamily="34" charset="-122"/>
                <a:cs typeface="Times New Roman" pitchFamily="34" charset="-120"/>
              </a:rPr>
              <a:t>A) Function</a:t>
            </a:r>
            <a:endParaRPr lang="en-US" sz="3000" dirty="0"/>
          </a:p>
        </p:txBody>
      </p:sp>
      <p:sp>
        <p:nvSpPr>
          <p:cNvPr id="5" name="Text 3"/>
          <p:cNvSpPr/>
          <p:nvPr/>
        </p:nvSpPr>
        <p:spPr>
          <a:xfrm>
            <a:off x="365760" y="2240280"/>
            <a:ext cx="6035040" cy="4160520"/>
          </a:xfrm>
          <a:prstGeom prst="rect">
            <a:avLst/>
          </a:prstGeom>
          <a:noFill/>
          <a:ln/>
        </p:spPr>
        <p:txBody>
          <a:bodyPr wrap="square" lIns="0" tIns="0" rIns="0" bIns="0" rtlCol="0" anchor="t"/>
          <a:lstStyle/>
          <a:p>
            <a:pPr algn="l" indent="0" marL="0">
              <a:spcAft>
                <a:spcPts val="800"/>
              </a:spcAft>
              <a:buNone/>
            </a:pPr>
            <a:r>
              <a:rPr lang="en-US" sz="2800" i="1" dirty="0">
                <a:solidFill>
                  <a:srgbClr val="111111"/>
                </a:solidFill>
                <a:latin typeface="Times New Roman" pitchFamily="34" charset="0"/>
                <a:ea typeface="Times New Roman" pitchFamily="34" charset="-122"/>
                <a:cs typeface="Times New Roman" pitchFamily="34" charset="-120"/>
              </a:rPr>
              <a:t>The ozone layer has the following functions:</a:t>
            </a:r>
            <a:endParaRPr lang="en-US" sz="2800" dirty="0"/>
          </a:p>
          <a:p>
            <a:pPr algn="l" indent="0" marL="0">
              <a:spcAft>
                <a:spcPts val="800"/>
              </a:spcAft>
              <a:buNone/>
            </a:pPr>
            <a:r>
              <a:rPr lang="en-US" sz="2800" b="1" dirty="0">
                <a:solidFill>
                  <a:srgbClr val="111111"/>
                </a:solidFill>
                <a:latin typeface="Times New Roman" pitchFamily="34" charset="0"/>
                <a:ea typeface="Times New Roman" pitchFamily="34" charset="-122"/>
                <a:cs typeface="Times New Roman" pitchFamily="34" charset="-120"/>
              </a:rPr>
              <a:t>Absorption of ultraviolet rays: </a:t>
            </a:r>
            <a:pPr algn="l" indent="0" marL="0">
              <a:spcAft>
                <a:spcPts val="800"/>
              </a:spcAft>
              <a:buNone/>
            </a:pPr>
            <a:r>
              <a:rPr lang="en-US" sz="2800" dirty="0">
                <a:solidFill>
                  <a:srgbClr val="111111"/>
                </a:solidFill>
                <a:latin typeface="Times New Roman" pitchFamily="34" charset="0"/>
                <a:ea typeface="Times New Roman" pitchFamily="34" charset="-122"/>
                <a:cs typeface="Times New Roman" pitchFamily="34" charset="-120"/>
              </a:rPr>
              <a:t>The ozone layer absorbs most of the harmful ultraviolet (UV-B) rays of the Sun. It thus protects people from skin cancer and eye cataracts and protects plants and sea plankton.</a:t>
            </a:r>
            <a:endParaRPr lang="en-US" sz="2800" dirty="0"/>
          </a:p>
        </p:txBody>
      </p:sp>
      <p:pic>
        <p:nvPicPr>
          <p:cNvPr id="6" name="Image 0" descr="/home/claude/f4/img/v2/met2_ozone.png">    </p:cNvPr>
          <p:cNvPicPr>
            <a:picLocks noChangeAspect="1"/>
          </p:cNvPicPr>
          <p:nvPr/>
        </p:nvPicPr>
        <p:blipFill>
          <a:blip r:embed="rId1"/>
          <a:stretch>
            <a:fillRect/>
          </a:stretch>
        </p:blipFill>
        <p:spPr>
          <a:xfrm>
            <a:off x="6537960" y="2849678"/>
            <a:ext cx="5470855" cy="2137053"/>
          </a:xfrm>
          <a:prstGeom prst="rect">
            <a:avLst/>
          </a:prstGeom>
        </p:spPr>
      </p:pic>
      <p:sp>
        <p:nvSpPr>
          <p:cNvPr id="7" name="Text 4"/>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the ozone layer</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The Ozone Layer</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A) Function</a:t>
            </a:r>
            <a:endParaRPr lang="en-US" sz="32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Heating of the stratosphere: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energy absorbed by ozone heats the stratosphere. This is why temperature rises with height in this layer.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The Ozone Layer</a:t>
            </a:r>
            <a:endParaRPr lang="en-US" sz="3600" dirty="0"/>
          </a:p>
        </p:txBody>
      </p:sp>
      <p:sp>
        <p:nvSpPr>
          <p:cNvPr id="5" name="Text 2"/>
          <p:cNvSpPr/>
          <p:nvPr/>
        </p:nvSpPr>
        <p:spPr>
          <a:xfrm>
            <a:off x="1691640" y="1737360"/>
            <a:ext cx="101800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B) Depletion</a:t>
            </a:r>
            <a:endParaRPr lang="en-US" sz="3200" dirty="0"/>
          </a:p>
        </p:txBody>
      </p:sp>
      <p:sp>
        <p:nvSpPr>
          <p:cNvPr id="6" name="Text 3"/>
          <p:cNvSpPr/>
          <p:nvPr/>
        </p:nvSpPr>
        <p:spPr>
          <a:xfrm>
            <a:off x="1691640" y="2240280"/>
            <a:ext cx="10180015" cy="4206240"/>
          </a:xfrm>
          <a:prstGeom prst="rect">
            <a:avLst/>
          </a:prstGeom>
          <a:noFill/>
          <a:ln/>
        </p:spPr>
        <p:txBody>
          <a:bodyPr wrap="square" lIns="0" tIns="0" rIns="0" bIns="0" rtlCol="0" anchor="t"/>
          <a:lstStyle/>
          <a:p>
            <a:pPr algn="l" indent="0" marL="0">
              <a:spcAft>
                <a:spcPts val="800"/>
              </a:spcAft>
              <a:buNone/>
            </a:pPr>
            <a:r>
              <a:rPr lang="en-US" sz="3600" i="1" dirty="0">
                <a:solidFill>
                  <a:srgbClr val="111111"/>
                </a:solidFill>
                <a:latin typeface="Times New Roman" pitchFamily="34" charset="0"/>
                <a:ea typeface="Times New Roman" pitchFamily="34" charset="-122"/>
                <a:cs typeface="Times New Roman" pitchFamily="34" charset="-120"/>
              </a:rPr>
              <a:t>The ozone layer is depleted in the following ways:</a:t>
            </a:r>
            <a:endParaRPr lang="en-US" sz="3600" dirty="0"/>
          </a:p>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Chlorofluorocarbons (CFCs):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CFCs from old fridges, air conditioners and aerosol sprays rise slowly into the stratosphere. There, ultraviolet rays release chlorine, and each chlorine atom can destroy thousands of ozone molecules.</a:t>
            </a:r>
            <a:endParaRPr lang="en-US" sz="3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The Ozone Layer</a:t>
            </a:r>
            <a:endParaRPr lang="en-US" sz="3600" dirty="0"/>
          </a:p>
        </p:txBody>
      </p:sp>
      <p:sp>
        <p:nvSpPr>
          <p:cNvPr id="5" name="Text 2"/>
          <p:cNvSpPr/>
          <p:nvPr/>
        </p:nvSpPr>
        <p:spPr>
          <a:xfrm>
            <a:off x="4069080" y="1737360"/>
            <a:ext cx="78025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B) Depletion</a:t>
            </a:r>
            <a:endParaRPr lang="en-US" sz="3200" dirty="0"/>
          </a:p>
        </p:txBody>
      </p:sp>
      <p:sp>
        <p:nvSpPr>
          <p:cNvPr id="6" name="Text 3"/>
          <p:cNvSpPr/>
          <p:nvPr/>
        </p:nvSpPr>
        <p:spPr>
          <a:xfrm>
            <a:off x="4069080" y="2240280"/>
            <a:ext cx="780257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Other ozone-destroying gases: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Halons from fire extinguishers, methyl bromide used against pests and nitrous oxide from fertilisers also destroy ozone. Their effect adds to that of CFCs.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The Ozone Layer</a:t>
            </a:r>
            <a:endParaRPr lang="en-US" sz="3600" dirty="0"/>
          </a:p>
        </p:txBody>
      </p:sp>
      <p:sp>
        <p:nvSpPr>
          <p:cNvPr id="4" name="Text 2"/>
          <p:cNvSpPr/>
          <p:nvPr/>
        </p:nvSpPr>
        <p:spPr>
          <a:xfrm>
            <a:off x="365760" y="1737360"/>
            <a:ext cx="6035040" cy="457200"/>
          </a:xfrm>
          <a:prstGeom prst="rect">
            <a:avLst/>
          </a:prstGeom>
          <a:noFill/>
          <a:ln/>
        </p:spPr>
        <p:txBody>
          <a:bodyPr wrap="square" lIns="0" tIns="0" rIns="0" bIns="0" rtlCol="0" anchor="ctr">
            <a:normAutofit/>
          </a:bodyPr>
          <a:lstStyle/>
          <a:p>
            <a:pPr algn="l" indent="0" marL="0">
              <a:buNone/>
            </a:pPr>
            <a:r>
              <a:rPr lang="en-US" sz="3000" b="1" dirty="0">
                <a:solidFill>
                  <a:srgbClr val="990011"/>
                </a:solidFill>
                <a:latin typeface="Times New Roman" pitchFamily="34" charset="0"/>
                <a:ea typeface="Times New Roman" pitchFamily="34" charset="-122"/>
                <a:cs typeface="Times New Roman" pitchFamily="34" charset="-120"/>
              </a:rPr>
              <a:t>B) Depletion</a:t>
            </a:r>
            <a:endParaRPr lang="en-US" sz="3000" dirty="0"/>
          </a:p>
        </p:txBody>
      </p:sp>
      <p:sp>
        <p:nvSpPr>
          <p:cNvPr id="5" name="Text 3"/>
          <p:cNvSpPr/>
          <p:nvPr/>
        </p:nvSpPr>
        <p:spPr>
          <a:xfrm>
            <a:off x="365760" y="2240280"/>
            <a:ext cx="6035040" cy="4160520"/>
          </a:xfrm>
          <a:prstGeom prst="rect">
            <a:avLst/>
          </a:prstGeom>
          <a:noFill/>
          <a:ln/>
        </p:spPr>
        <p:txBody>
          <a:bodyPr wrap="square" lIns="0" tIns="0" rIns="0" bIns="0" rtlCol="0" anchor="t"/>
          <a:lstStyle/>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The ozone hole: </a:t>
            </a:r>
            <a:pPr algn="l" indent="0" marL="0">
              <a:spcAft>
                <a:spcPts val="800"/>
              </a:spcAft>
              <a:buNone/>
            </a:pPr>
            <a:r>
              <a:rPr lang="en-US" sz="3200" dirty="0">
                <a:solidFill>
                  <a:srgbClr val="111111"/>
                </a:solidFill>
                <a:latin typeface="Times New Roman" pitchFamily="34" charset="0"/>
                <a:ea typeface="Times New Roman" pitchFamily="34" charset="-122"/>
                <a:cs typeface="Times New Roman" pitchFamily="34" charset="-120"/>
              </a:rPr>
              <a:t>Every spring (September to November), the ozone layer over Antarctica becomes very thin because extreme cold speeds up the chemical reactions. This thinning is called the ozone hole.</a:t>
            </a:r>
            <a:endParaRPr lang="en-US" sz="3200" dirty="0"/>
          </a:p>
        </p:txBody>
      </p:sp>
      <p:pic>
        <p:nvPicPr>
          <p:cNvPr id="6" name="Image 0" descr="/home/claude/f4/img/v2/f4_ozonehole.jpg">    </p:cNvPr>
          <p:cNvPicPr>
            <a:picLocks noChangeAspect="1"/>
          </p:cNvPicPr>
          <p:nvPr/>
        </p:nvPicPr>
        <p:blipFill>
          <a:blip r:embed="rId1"/>
          <a:stretch>
            <a:fillRect/>
          </a:stretch>
        </p:blipFill>
        <p:spPr>
          <a:xfrm>
            <a:off x="6537960" y="2400897"/>
            <a:ext cx="5470855" cy="3034615"/>
          </a:xfrm>
          <a:prstGeom prst="rect">
            <a:avLst/>
          </a:prstGeom>
        </p:spPr>
      </p:pic>
      <p:sp>
        <p:nvSpPr>
          <p:cNvPr id="7" name="Text 4"/>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the ozone hole</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The Ozone Layer</a:t>
            </a:r>
            <a:endParaRPr lang="en-US" sz="3600" dirty="0"/>
          </a:p>
        </p:txBody>
      </p:sp>
      <p:sp>
        <p:nvSpPr>
          <p:cNvPr id="5" name="Text 2"/>
          <p:cNvSpPr/>
          <p:nvPr/>
        </p:nvSpPr>
        <p:spPr>
          <a:xfrm>
            <a:off x="2697480" y="1737360"/>
            <a:ext cx="91741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C) Measures</a:t>
            </a:r>
            <a:endParaRPr lang="en-US" sz="3200" dirty="0"/>
          </a:p>
        </p:txBody>
      </p:sp>
      <p:sp>
        <p:nvSpPr>
          <p:cNvPr id="6" name="Text 3"/>
          <p:cNvSpPr/>
          <p:nvPr/>
        </p:nvSpPr>
        <p:spPr>
          <a:xfrm>
            <a:off x="2697480" y="2240280"/>
            <a:ext cx="9174175" cy="4206240"/>
          </a:xfrm>
          <a:prstGeom prst="rect">
            <a:avLst/>
          </a:prstGeom>
          <a:noFill/>
          <a:ln/>
        </p:spPr>
        <p:txBody>
          <a:bodyPr wrap="square" lIns="0" tIns="0" rIns="0" bIns="0" rtlCol="0" anchor="t"/>
          <a:lstStyle/>
          <a:p>
            <a:pPr algn="l" indent="0" marL="0">
              <a:spcAft>
                <a:spcPts val="800"/>
              </a:spcAft>
              <a:buNone/>
            </a:pPr>
            <a:r>
              <a:rPr lang="en-US" sz="3200" i="1" dirty="0">
                <a:solidFill>
                  <a:srgbClr val="111111"/>
                </a:solidFill>
                <a:latin typeface="Times New Roman" pitchFamily="34" charset="0"/>
                <a:ea typeface="Times New Roman" pitchFamily="34" charset="-122"/>
                <a:cs typeface="Times New Roman" pitchFamily="34" charset="-120"/>
              </a:rPr>
              <a:t>The ozone layer is protected by the following measures:</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The Montreal Protocol (1987): </a:t>
            </a:r>
            <a:pPr algn="l" indent="0" marL="0">
              <a:spcAft>
                <a:spcPts val="800"/>
              </a:spcAft>
              <a:buNone/>
            </a:pPr>
            <a:r>
              <a:rPr lang="en-US" sz="3200" dirty="0">
                <a:solidFill>
                  <a:srgbClr val="111111"/>
                </a:solidFill>
                <a:latin typeface="Times New Roman" pitchFamily="34" charset="0"/>
                <a:ea typeface="Times New Roman" pitchFamily="34" charset="-122"/>
                <a:cs typeface="Times New Roman" pitchFamily="34" charset="-120"/>
              </a:rPr>
              <a:t>Under this agreement, almost all countries, including Cameroon, stopped producing and using CFCs and other ozone-destroying chemicals. As a result, the ozone layer is slowly recovering and should return to its 1980 level by about 2066 over Antarctica.</a:t>
            </a:r>
            <a:endParaRPr lang="en-US" sz="32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The Ozone Layer</a:t>
            </a:r>
            <a:endParaRPr lang="en-US" sz="3600" dirty="0"/>
          </a:p>
        </p:txBody>
      </p:sp>
      <p:sp>
        <p:nvSpPr>
          <p:cNvPr id="5" name="Text 2"/>
          <p:cNvSpPr/>
          <p:nvPr/>
        </p:nvSpPr>
        <p:spPr>
          <a:xfrm>
            <a:off x="2697480" y="1737360"/>
            <a:ext cx="91741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C) Measures</a:t>
            </a:r>
            <a:endParaRPr lang="en-US" sz="3200" dirty="0"/>
          </a:p>
        </p:txBody>
      </p:sp>
      <p:sp>
        <p:nvSpPr>
          <p:cNvPr id="6" name="Text 3"/>
          <p:cNvSpPr/>
          <p:nvPr/>
        </p:nvSpPr>
        <p:spPr>
          <a:xfrm>
            <a:off x="2697480" y="2240280"/>
            <a:ext cx="917417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Collection of old equipment: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Old fridges and air conditioners must be collected so that their gases are recovered and destroyed. This prevents the CFCs they still contain from escaping into the air.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The Ozone Layer</a:t>
            </a:r>
            <a:endParaRPr lang="en-US" sz="3600" dirty="0"/>
          </a:p>
        </p:txBody>
      </p:sp>
      <p:sp>
        <p:nvSpPr>
          <p:cNvPr id="5" name="Text 2"/>
          <p:cNvSpPr/>
          <p:nvPr/>
        </p:nvSpPr>
        <p:spPr>
          <a:xfrm>
            <a:off x="1691640" y="1737360"/>
            <a:ext cx="101800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C) Measures</a:t>
            </a:r>
            <a:endParaRPr lang="en-US" sz="3200" dirty="0"/>
          </a:p>
        </p:txBody>
      </p:sp>
      <p:sp>
        <p:nvSpPr>
          <p:cNvPr id="6" name="Text 3"/>
          <p:cNvSpPr/>
          <p:nvPr/>
        </p:nvSpPr>
        <p:spPr>
          <a:xfrm>
            <a:off x="1691640" y="2240280"/>
            <a:ext cx="101800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Education and sun protection: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People are informed so that they buy ozone-friendly products labelled "CFC-free". In strong sun, as in Garoua, wearing hats and sunglasses protects them from the ultraviolet rays that still reach the ground.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does temperature fall in the troposphere but rise in the stratosphere?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troposphere is heated from the ground below; the stratosphere is heated by ozone absorbing ultraviolet rays.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measures to protect the ozone layer.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Apply the Montreal Protocol, stop using CFCs, recycle old fridges, educate people (any two).</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Weather happens in the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ozone layer lies in the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coldest layer is the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Define insolation.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3: Solar Radiation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62"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Layer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couche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Ozone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L'ozone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Temperature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température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Troposphere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troposphère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Stratosphere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stratosphère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Ultraviolet rays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Les rayons ultraviolets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6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The Atmosphere as a Centre of Weather and Climate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2: Structure of the Atmosphere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Distinguish the homosphere and the heterosphere. Describe the four thermal layers of the atmosphere. Explain the importance of the ozone layer. Explain the causes of its depletion and the measures to protect it.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describe the layers of the atmosphere and explain the importance and protection of the ozone layer.</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6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Chemical Characteristics: Homosphere and Heterosphere; The Four Layers; The Isothermal Layers; Function; Depletion; Measures.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insolation.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draw the two parts on the board.</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draw the four layers.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draw the zig-zag temperature line.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describe a shooting star.</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explain the ozone hole.</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64</a:t>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Geography Syllabus for Sixth Forms (Lower and Upper Sixth), MINESEC, 2019 — Module 1 (Meteorology, Climatology &amp; Hydrology).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Teacher's course notes: Mr KAMDEM E., Meteorology (LSA), GBHS Garoua, 2026.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“Aurora Borealis” by Haukur H., CC BY-NC-ND 2.0, via Flickr (https://www.flickr.com/photos/34699962@N04/3256810738)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“Sauron's Eye” by sjrankin, CC BY-NC 2.0, via Flickr (https://www.flickr.com/photos/24354425@N03/15252220086)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65</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65</Slides>
  <Notes>65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65</vt:i4>
      </vt:variant>
    </vt:vector>
  </HeadingPairs>
  <TitlesOfParts>
    <vt:vector size="6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2026-10-06T05:43:32Z</dcterms:created>
  <dcterms:modified xsi:type="dcterms:W3CDTF">2026-10-06T05:43:32Z</dcterms:modified>
</cp:coreProperties>
</file>