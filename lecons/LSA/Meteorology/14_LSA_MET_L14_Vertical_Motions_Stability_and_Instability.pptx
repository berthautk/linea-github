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Lst>
  <p:notesMasterIdLst>
    <p:notesMasterId r:id="rId6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notesMaster" Target="notesMasters/notesMaster1.xml"/><Relationship Id="rId69" Type="http://schemas.openxmlformats.org/officeDocument/2006/relationships/presProps" Target="presProps.xml"/><Relationship Id="rId70" Type="http://schemas.openxmlformats.org/officeDocument/2006/relationships/viewProps" Target="viewProps.xml"/><Relationship Id="rId71" Type="http://schemas.openxmlformats.org/officeDocument/2006/relationships/theme" Target="theme/theme1.xml"/><Relationship Id="rId7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14: Vertical Motions: Stability and Instability.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1: Understanding and managing atmospheric and hydrological phenomena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Global and Local Atmospheric Circulation, and the sub-topic is Atmospheric Motions. The key notions we shall use today are: vertical motion, air parcel, instability (absolute, conditional), stability (absolute, neutral), adiabatic, dry adiabatic lapse rate (DALR), saturated adiabatic lapse rate (SALR), environmental lapse rate (ELR). At the end, you should be able to do this: learners are able to explain why some days bring storms and others clear skies by comparing lapse rates.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13: Pressure Systems. The question was: State why warm air rises.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Warm air rises because it is lighter (less dense) than the cooler air around it.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four things. Number 1: define vertical motions and an air parcel. Number 2: explain atmospheric instability and its weather. Number 3: explain atmospheric stability and its weather. Number 4: use the DALR, SALR and ELR to determine stability.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Temperature falls about 6.5 °C per km (ELR). Rising air expands and cools. Latent heat is released when vapour condenses.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Your teacher fills one balloon with warm air from a hair dryer and another near a bowl of ice. The warm balloon rises easily while the cold one stays down. You remember that some afternoons in Garoua small clouds grow into huge storm clouds, while on other days, especially in the Harmattan, the sky stays clear and hazy all day. You ask: "Why does air rise freely on some days and not on others?"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learner does not understand atmospheric stability and instability.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Why does the warm balloon rise?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Warm air is lighter than the cooler air around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kind of atmosphere produces storm clouds?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An unstable atmosphere, where rising air keeps rising.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watch for towering clouds on unstable afternoons and shelter from storms and lightning.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and forecast storms, clear days, fog and pollution episodes.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animation: animation: a rising air parcel.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an air parcel?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small imaginary volume of air that rises or sinks without mixing with the air around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towering cumulonimbus.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weather does instability bring?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Cumulonimbus clouds, thunderstorms, heavy rain and hail.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haze trapped in stable air.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does pollution build up in stable air?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Air does not rise, so there is no vertical mixing.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lapse rates and stability.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does saturated air cool more slowly than dry air?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Condensation releases latent heat.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rules of stability.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If the ELR is greater than the DALR, is the air stable or unstable?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Absolutely unstable.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Vertical motions.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Adiabatic lapse rate and Atmospheric instability.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Atmospheric stability.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Adiabatic Lapse Rates. Stability and instability are found by comparing the following lapse rates. Copy the point on Dry adiabatic lapse rate (DALR) on the left, then draw the diagram on the right: the lapse rates.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Adiabatic Lapse Rates. Copy the point on Saturated adiabatic lapse rate (SALR):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Adiabatic Lapse Rates. Copy the point on Environmental lapse rate (ELR):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and Types. Atmospheric instability and its types are explained as follows. Copy the point on Meaning on the left, then draw the diagram on the right: a rising parcel of air.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and Types. Copy the point on Absolute instability: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and Types. Copy the point on Conditional instability: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and Types. Copy the point on Potential instability: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Associated Weather Conditions. Unstable air brings the following weather conditions. Copy the point on Towering clouds on the left, then draw the diagram on the right: a cumulonimbus cloud.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Associated Weather Conditions. Copy the point on Heavy showers and thunderstorms: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Associated Weather Conditions. Copy the point on Turbulence and good dispersion: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and Types. Atmospheric stability and its types are explained as follows. Copy the point on Meaning: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and Types. Copy the point on Absolute stability: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and Types. Copy the point on Neutral stability: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Associated Weather Conditions. Stable air brings the following weather conditions. Copy the point on Clear skies and calm weather: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Associated Weather Conditions. Copy the point on Fog and layer clouds: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Trapped pollution on the left, then draw the diagram on the right: smog.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Distinguish a stable from an unstable atmosphere.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in a stable atmosphere, lifted air sinks back and skies stay clear; in an unstable atmosphere, lifted air keeps rising and forms storm clouds.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does saturated air cool more slowly than dry air?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condensation releases latent heat, which partly compensates for the cooling.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10; number 2, absolute; number 3, pollution (haze, fog).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Define wind.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15: Planetary Winds.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14: VERTICAL MOTIONS: STABILITY AND INSTABILITY</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gif"/><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jp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jp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2.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2.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2.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2.xml"/><Relationship Id="rId3" Type="http://schemas.openxmlformats.org/officeDocument/2006/relationships/notesSlide" Target="../notesSlides/notesSlide6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14</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Vertical Motions: Stability and Instability</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1: Understanding and managing atmospheric and hydrological phenomena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Global and Local Atmospheric Circulation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Atmospheric Motions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14: Vertical Motions: Stability and Instability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Vertical motion, air parcel, instability (absolute, conditional), stability (absolute, neutral), adiabatic, dry adiabatic lapse rate (DALR), saturated adiabatic lapse rate (SALR), environmental lapse rate (ELR).</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of vertical motions; atmospheric instability and its weather; atmospheric stability and its weather; the role of adiabatic lapse rates in determining stability.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why some days bring storms and others clear skies by comparing lapse rates.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13: Pressure Systems):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State why warm air rises.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Warm air rises because it is lighter (less dense) than the cooler air around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vertical motions and an air parcel.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atmospheric instability and its weather.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atmospheric stability and its weather.</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Use the DALR, SALR and ELR to determine stability.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Temperature falls about 6.5 °C per km (ELR).</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Rising air expands and cools.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Latent heat is released when vapour condenses.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Your teacher fills one balloon with warm air from a hair dryer and another near a bowl of ice.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warm balloon rises easily while the cold one stays down.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You remember that some afternoons in Garoua small clouds grow into huge storm clouds, while on other days, especially in the Harmattan, the sky stays clear and hazy all day.</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You ask: "Why does air rise freely on some days and not on others?"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learner does not understand atmospheric stability and instability.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the warm balloon rise?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Warm air is lighter than the cooler air around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kind of atmosphere produces storm clouds?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 unstable atmosphere, where rising air keeps rising.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Watch for towering clouds on unstable afternoons and shelter from storms and lightning.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and forecast storms, clear days, fog and pollution episodes.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VERTICAL MOTIONS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parcel.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a rising air parcel.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VERTICAL MOTIONS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an air parcel?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VERTICAL MOTIONS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small imaginary volume of air that rises or sinks without mixing with the air around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INSTABILITY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4_cumulonimbus.jpg">    </p:cNvPr>
          <p:cNvPicPr>
            <a:picLocks noChangeAspect="1"/>
          </p:cNvPicPr>
          <p:nvPr/>
        </p:nvPicPr>
        <p:blipFill>
          <a:blip r:embed="rId1"/>
          <a:stretch>
            <a:fillRect/>
          </a:stretch>
        </p:blipFill>
        <p:spPr>
          <a:xfrm>
            <a:off x="2248777" y="1783080"/>
            <a:ext cx="7694141"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towering cumulonimbus.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INSTABILITY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weather does instability bring?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INSTABILITY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Cumulonimbus clouds, thunderstorms, heavy rain and hail.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STABILITY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lsa_smog.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Haze trapped in stable air.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STABILITY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pollution build up in stable air?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STABILITY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Air does not rise, so there is no vertical mixing.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LAPSE RATES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stability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Lapse rates and stability.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LAPSE RATES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saturated air cool more slowly than dry air?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LAPSE RATES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Condensation releases latent heat.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LAPSE RATES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met2_stab_rules.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Rules of stability.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LAPSE RATES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If the ELR is greater than the DALR, is the air stable or unstable?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LAPSE RATES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Absolutely unstable.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Global and Local Atmospheric Circulation</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Atmospheric Motions</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14: Vertical Motions: Stability and Instability</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Vertical motions: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the upward and downward movements of air in the atmosphere.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Adiabatic lapse rate: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rate at which rising air cools by expansion, or sinking air warms by compression, without exchange of heat with the surrounding air.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Atmospheric instability: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state in which a lifted air parcel keeps rising because it is warmer than the air around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Atmospheric stability: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state in which a lifted air parcel sinks back because it is cooler than the air around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Adiabatic Lapse Rates</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Stability and instability are found by comparing the following lapse rates: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Dry adiabatic lapse rate (DALR):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Unsaturated air that rises expands and cools at a fixed rate of about 10 °C per 1,000 m. Sinking air warms at the same rate.</a:t>
            </a:r>
            <a:endParaRPr lang="en-US" sz="3200" dirty="0"/>
          </a:p>
        </p:txBody>
      </p:sp>
      <p:pic>
        <p:nvPicPr>
          <p:cNvPr id="5" name="Image 0" descr="/home/claude/f4/img/v2/stability_big.png">    </p:cNvPr>
          <p:cNvPicPr>
            <a:picLocks noChangeAspect="1"/>
          </p:cNvPicPr>
          <p:nvPr/>
        </p:nvPicPr>
        <p:blipFill>
          <a:blip r:embed="rId1"/>
          <a:stretch>
            <a:fillRect/>
          </a:stretch>
        </p:blipFill>
        <p:spPr>
          <a:xfrm>
            <a:off x="6537960" y="2721454"/>
            <a:ext cx="5470855" cy="2393499"/>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lapse rates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Adiabatic Lapse Rates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Saturated adiabatic lapse rate (SALR):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Once rising air is saturated, it cools more slowly, at about 5 to 7 °C per 1,000 m. This is because the condensation of vapour releases latent heat that partly warms the air.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Adiabatic Lapse Rates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Environmental lapse rate (ELR):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real fall of temperature of the still air around the parcel, on average 6.5 °C per 1,000 m. It changes from day to day, so comparing it with the DALR and SALR shows whether the air is stable or unstable.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Atmospheric Instability</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Meaning and Types</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Atmospheric instability and its types are explained as follows: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Meaning: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Air is unstable when a parcel that is lifted stays warmer and lighter than the air around it. It therefore keeps rising on its own, like a hot-air balloon.</a:t>
            </a:r>
            <a:endParaRPr lang="en-US" sz="3200" dirty="0"/>
          </a:p>
        </p:txBody>
      </p:sp>
      <p:pic>
        <p:nvPicPr>
          <p:cNvPr id="6" name="Image 0" descr="/home/claude/f4/img/v2/parcel_last.png">    </p:cNvPr>
          <p:cNvPicPr>
            <a:picLocks noChangeAspect="1"/>
          </p:cNvPicPr>
          <p:nvPr/>
        </p:nvPicPr>
        <p:blipFill>
          <a:blip r:embed="rId1"/>
          <a:stretch>
            <a:fillRect/>
          </a:stretch>
        </p:blipFill>
        <p:spPr>
          <a:xfrm>
            <a:off x="6537960" y="2849678"/>
            <a:ext cx="5470855" cy="2137053"/>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rising parcel of air</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Atmospheric Instability</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Meaning and Types</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Absolute instability: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occurs when the ELR is greater than the DALR, for example on very hot afternoons when the ground is strongly heated. The parcel is always warmer than its surroundings, whether it is dry or saturated.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Atmospheric Instability</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Meaning and Types</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Conditional instability: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occurs when the ELR lies between the SALR and the DALR. The air is stable while it is dry, but becomes unstable once it is lifted enough to become saturated.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Atmospheric Instability</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Meaning and Types</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Potential instability: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occurs when a stable layer of air, dry above and moist below, is lifted as a whole, for example over mountains or at a front. The lower moist part becomes saturated first and the whole layer becomes unstable.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Atmospheric Instability</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B) Associated Weather Conditions</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Unstable air brings the following weather conditions: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Towering clouds: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Rising air forms cumulus clouds that grow into huge cumulonimbus reaching the tropopause. They are common on rainy-season afternoons in Garoua.</a:t>
            </a:r>
            <a:endParaRPr lang="en-US" sz="3200" dirty="0"/>
          </a:p>
        </p:txBody>
      </p:sp>
      <p:pic>
        <p:nvPicPr>
          <p:cNvPr id="6" name="Image 0" descr="/home/claude/f4/img/v2/f4_cumulonimbus.jpg">    </p:cNvPr>
          <p:cNvPicPr>
            <a:picLocks noChangeAspect="1"/>
          </p:cNvPicPr>
          <p:nvPr/>
        </p:nvPicPr>
        <p:blipFill>
          <a:blip r:embed="rId1"/>
          <a:stretch>
            <a:fillRect/>
          </a:stretch>
        </p:blipFill>
        <p:spPr>
          <a:xfrm>
            <a:off x="6537960" y="2400042"/>
            <a:ext cx="5470855" cy="3036325"/>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cumulonimbus cloud</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Atmospheric Instability</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Associated Weather Conditions</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Heavy showers and thunderstorms: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Cumulonimbus clouds give heavy but short showers, with thunder, lightning and sometimes hail. Strong gusts of wind blow ahead of the storm.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Atmospheric Instability</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Associated Weather Conditions</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Turbulence and good dispersion: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Strong up-currents make aircraft shake and can be dangerous for flights. On the other hand, they carry smoke and dust upwards, so the air near the ground stays clean.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Atmospheric Stability</a:t>
            </a:r>
            <a:endParaRPr lang="en-US" sz="3600" dirty="0"/>
          </a:p>
        </p:txBody>
      </p:sp>
      <p:sp>
        <p:nvSpPr>
          <p:cNvPr id="5" name="Text 2"/>
          <p:cNvSpPr/>
          <p:nvPr/>
        </p:nvSpPr>
        <p:spPr>
          <a:xfrm>
            <a:off x="1691640" y="1737360"/>
            <a:ext cx="101800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Meaning and Types</a:t>
            </a:r>
            <a:endParaRPr lang="en-US" sz="3200" dirty="0"/>
          </a:p>
        </p:txBody>
      </p:sp>
      <p:sp>
        <p:nvSpPr>
          <p:cNvPr id="6" name="Text 3"/>
          <p:cNvSpPr/>
          <p:nvPr/>
        </p:nvSpPr>
        <p:spPr>
          <a:xfrm>
            <a:off x="1691640" y="2240280"/>
            <a:ext cx="10180015" cy="4206240"/>
          </a:xfrm>
          <a:prstGeom prst="rect">
            <a:avLst/>
          </a:prstGeom>
          <a:noFill/>
          <a:ln/>
        </p:spPr>
        <p:txBody>
          <a:bodyPr wrap="square" lIns="0" tIns="0" rIns="0" bIns="0" rtlCol="0" anchor="t"/>
          <a:lstStyle/>
          <a:p>
            <a:pPr algn="l" indent="0" marL="0">
              <a:spcAft>
                <a:spcPts val="800"/>
              </a:spcAft>
              <a:buNone/>
            </a:pPr>
            <a:r>
              <a:rPr lang="en-US" sz="3800" i="1" dirty="0">
                <a:solidFill>
                  <a:srgbClr val="111111"/>
                </a:solidFill>
                <a:latin typeface="Times New Roman" pitchFamily="34" charset="0"/>
                <a:ea typeface="Times New Roman" pitchFamily="34" charset="-122"/>
                <a:cs typeface="Times New Roman" pitchFamily="34" charset="-120"/>
              </a:rPr>
              <a:t>Atmospheric stability and its types are explained as follows:</a:t>
            </a:r>
            <a:endParaRPr lang="en-US" sz="3800" dirty="0"/>
          </a:p>
          <a:p>
            <a:pPr algn="l" indent="0" marL="0">
              <a:spcAft>
                <a:spcPts val="800"/>
              </a:spcAft>
              <a:buNone/>
            </a:pPr>
            <a:r>
              <a:rPr lang="en-US" sz="3800" b="1" dirty="0">
                <a:solidFill>
                  <a:srgbClr val="111111"/>
                </a:solidFill>
                <a:latin typeface="Times New Roman" pitchFamily="34" charset="0"/>
                <a:ea typeface="Times New Roman" pitchFamily="34" charset="-122"/>
                <a:cs typeface="Times New Roman" pitchFamily="34" charset="-120"/>
              </a:rPr>
              <a:t>Meaning: </a:t>
            </a:r>
            <a:pPr algn="l" indent="0" marL="0">
              <a:spcAft>
                <a:spcPts val="800"/>
              </a:spcAft>
              <a:buNone/>
            </a:pPr>
            <a:r>
              <a:rPr lang="en-US" sz="3800" dirty="0">
                <a:solidFill>
                  <a:srgbClr val="111111"/>
                </a:solidFill>
                <a:latin typeface="Times New Roman" pitchFamily="34" charset="0"/>
                <a:ea typeface="Times New Roman" pitchFamily="34" charset="-122"/>
                <a:cs typeface="Times New Roman" pitchFamily="34" charset="-120"/>
              </a:rPr>
              <a:t>Air is stable when a parcel that is lifted becomes cooler and heavier than the air around it. It therefore sinks back to its starting level and resists vertical movement.</a:t>
            </a:r>
            <a:endParaRPr lang="en-US" sz="3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Atmospheric Stability</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Meaning and Types</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Absolute stability: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occurs when the ELR is smaller than the SALR, for example during a temperature inversion. The parcel is always cooler than its surroundings, whether it is dry or saturated.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Atmospheric Stability</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Meaning and Types</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Neutral stability: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occurs when the ELR is equal to the lapse rate of the parcel. The lifted parcel has the same temperature as its surroundings, so it neither rises nor sinks on its 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Atmospheric Stability</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Associated Weather Conditions</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Stable air brings the following weather conditions: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Clear skies and calm weather: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Air does not rise, so clouds cannot grow and there is little or no rain. This is the weather of anticyclones and of the dry season in the North.</a:t>
            </a:r>
            <a:endParaRPr lang="en-US" sz="3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Atmospheric Stability</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Associated Weather Conditions</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Fog and layer clouds: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stable air is moist, it forms fog near the ground or flat layers of stratus. These clouds give only drizzle or light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Atmospheric Stability</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B) Associated Weather Conditions</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Trapped pollution: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Smoke, dust and fumes cannot rise and remain near the ground. This produces haze and smog, as during the Harmattan season in towns.</a:t>
            </a:r>
            <a:endParaRPr lang="en-US" sz="3600" dirty="0"/>
          </a:p>
        </p:txBody>
      </p:sp>
      <p:pic>
        <p:nvPicPr>
          <p:cNvPr id="6" name="Image 0" descr="/home/claude/f4/img/v2/lsa_smog.jpg">    </p:cNvPr>
          <p:cNvPicPr>
            <a:picLocks noChangeAspect="1"/>
          </p:cNvPicPr>
          <p:nvPr/>
        </p:nvPicPr>
        <p:blipFill>
          <a:blip r:embed="rId1"/>
          <a:stretch>
            <a:fillRect/>
          </a:stretch>
        </p:blipFill>
        <p:spPr>
          <a:xfrm>
            <a:off x="6537960" y="2400897"/>
            <a:ext cx="5470855" cy="3034615"/>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smog</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a stable from an unstable atmosphere.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a stable atmosphere, lifted air sinks back and skies stay clear; in an unstable atmosphere, lifted air keeps rising and forms storm clouds.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saturated air cool more slowly than dry air?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Condensation releases latent heat, which partly compensates for the cooling.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Dry air cools at about ______ °C per km.</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An ELR greater than the DALR gives ______ instability.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Stable air often traps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wind.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15: Planetary Winds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63"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Stability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stabilité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Instability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L'instabilité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Air parcel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particule d'air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Lapse rate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gradient thermique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Thunderstorm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L'orage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Latent heat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chaleur latente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6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Global and Local Atmospheric Circulation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14: Vertical Motions: Stability and Instability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vertical motions and an air parcel. Explain atmospheric instability and its weather. Explain atmospheric stability and its weather. Use the DALR, SALR and ELR to determine stability.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why some days bring storms and others clear skies by comparing lapse rates.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6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The Adiabatic Lapse Rates; Meaning and Types; Associated Weather Conditions.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wind.</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1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use the two balloons.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 an afternoon storm.</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Harmattan haze.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draw the DALR and SALR lines.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write the three rules.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 Sixth Forms (Lower and Upper Sixth), MINESEC, 2019 — Module 1 (Meteorology, Climatology &amp; Hydrology).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course notes: Mr KAMDEM E., Meteorology (LSA), GBHS Garoua, 2026.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“06172012 Sunday evening pulse storms/cumulonimbi” by StormRider93 | Into the Storm, CC BY-NC-ND 2.0, via Flickr (https://www.flickr.com/photos/65232104@N04/7395715628)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“Beijing smog” by kevin dooley, CC BY 2.0, via Flickr (https://www.flickr.com/photos/12836528@N00/386198516)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66</Slides>
  <Notes>66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66</vt:i4>
      </vt:variant>
    </vt:vector>
  </HeadingPairs>
  <TitlesOfParts>
    <vt:vector size="6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2026-09-29T11:17:39Z</dcterms:created>
  <dcterms:modified xsi:type="dcterms:W3CDTF">2026-09-29T11:17:39Z</dcterms:modified>
</cp:coreProperties>
</file>