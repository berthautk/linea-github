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Lst>
  <p:notesMasterIdLst>
    <p:notesMasterId r:id="rId1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notesMaster" Target="notesMasters/notesMaster1.xml"/><Relationship Id="rId111" Type="http://schemas.openxmlformats.org/officeDocument/2006/relationships/presProps" Target="presProps.xml"/><Relationship Id="rId112" Type="http://schemas.openxmlformats.org/officeDocument/2006/relationships/viewProps" Target="viewProps.xml"/><Relationship Id="rId113" Type="http://schemas.openxmlformats.org/officeDocument/2006/relationships/theme" Target="theme/theme1.xml"/><Relationship Id="rId1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4: Vegetation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Geography of Cameroon.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Geography of Cameroon, and the sub-topic is The Physical Environment of Cameroon. The key notions we shall use today are: vegetation, forest, savanna, mangrove, montane forest, forest reserve, domesticated landscape, desertification. At the end, you should be able to do this: learners are able to describe the vegetation types of Cameroon, their exploitation and the measures needed to protect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 Soils of Cameroon. The question was: Name the three types of savanna found in Cameroon.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Guinea savanna, the Sudan savanna and the Sahel savanna.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define vegetation, forest, savanna and domesticated landscape. Number 2: describe the forest vegetation types of Cameroon. Number 3: describe the grassland vegetation types of Cameroon. Number 4: explain the threats to vegetation and the measures of protection.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Vegetation depends mainly on climate and soils. The South is wet all year; the North has a long dry season. Many trees around Garoua are cut for firewood and charcoal.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One evening in Garoua you watch a documentary on the Dja Reserve: giant trees form a roof so dense that the ground is dark. Outside your window you see golden grass with scattered acacias and baobabs. Your sister asks: "Why does Cameroon have such different vegetation, and how can we protect it?"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sister does not know why vegetation differs across Cameroon and how to protect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Describe the vegetation of the Dja Reserve.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very dense forest of giant trees.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Describe the vegetation around Garoua.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Grass with scattered trees such as acacias and baobabs (savanna).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trees around your home and avoid bush fires.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vegetation of Cameroon, its resources and the need to protect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vegetation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vegetation covers the south of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Dense rainforest.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trees with stilt roots.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Where does this forest with stilt roots grow in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the estuaries of the coast, such as the Wouri and the Rio del Rey (mangroves).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grass with scattered trees.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type of savanna surrounds Garoua?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Sudan savanna.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tree planting in a dry area.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Which threat does tree planting fight in the Far North?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Desertification.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oil palms in rows.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Is this natural vegetation? Why?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No: the trees were planted by people (a plantation).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Vegetation and Forest.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Savanna and Forest reserve.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Domesticated landscape.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Mangrove Forests: Distribution, Species and Exploitation. Mangrove forests are presented as follows. Copy the point on Distribution on the left, then draw the diagram on the right: mangroves.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Mangrove Forests: Distribution, Species and Exploitation. Copy the point on Salt-tolerant species: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Mangrove Forests: Distribution, Species and Exploitation. Copy the point on Exploitation: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Mangrove Forests: Threats and Measures. Mangrove forests face the following threats and measures. Copy the point on Cutting for fuelwood: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Mangrove Forests: Threats and Measures. Copy the point on Urban growth and pollution: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Mangrove Forests: Threats and Measures. Copy the point on Protected areas: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Mangrove Forests: Threats and Measures. Copy the point on Replanting and improved ovens: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Equatorial Rainforest: Distribution, Species and Exploitation. The equatorial rainforest is presented as follows. Copy the point on Distribution on the left, then draw the diagram on the right: the vegetation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Structure on the left, then draw the diagram on the right: the layers of the rainforest.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Equatorial Rainforest: Distribution, Species and Exploitation. Copy the point on Main species: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Equatorial Rainforest: Distribution, Species and Exploitation. Copy the point on Exploitation: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Equatorial Rainforest: Threats and Measures. The equatorial rainforest faces the following threats and measures. Copy the point on Logging: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Equatorial Rainforest: Threats and Measures. Copy the point on Farming and plantations: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Equatorial Rainforest: Threats and Measures. Copy the point on The forestry law and community forests: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Equatorial Rainforest: Threats and Measures. Copy the point on Protected areas: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Montane and Submontane Forests: Distribution, Species and Exploitation. Montane and submontane forests are presented as follows. Copy the point on Distribution on the left, then draw the diagram on the right: the Western Highlands.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Montane and Submontane Forests: Distribution, Species and Exploitation. Copy the point on Vegetation belts: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Montane and Submontane Forests: Distribution, Species and Exploitation. Copy the point on Main species: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Montane and Submontane Forests: Distribution, Species and Exploitation. Copy the point on Exploitation: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Montane and Submontane Forests: Threats and Measures. Montane and submontane forests face the following threats and measures. Copy the point on Farming and grazing: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Montane and Submontane Forests: Threats and Measures. Copy the point on Bush fires: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Montane and Submontane Forests: Threats and Measures. Copy the point on Mount Cameroon National Park: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Montane and Submontane Forests: Threats and Measures. Copy the point on Community forests: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Forest Reserves. Forest reserves are presented as follows. Copy the point on Types on the left, then draw the diagram on the right: the protected areas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Forest Reserves. Copy the point on Examples: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Forest Reserves. Copy the point on Purpose: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Guinea Savanna: Distribution, Species and Exploitation. The Guinea savanna is presented as follows. Copy the point on Distribution on the left, then draw the diagram on the right: the Adamawa.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Guinea Savanna: Distribution, Species and Exploitation. Copy the point on Tall grasses and trees: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Guinea Savanna: Distribution, Species and Exploitation. Copy the point on Exploitation: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Guinea Savanna: Threats and Measures. The Guinea savanna faces the following threats and measures. Copy the point on Bush fires: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Guinea Savanna: Threats and Measures. Copy the point on Overgrazing: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Guinea Savanna: Threats and Measures. Copy the point on Controlled early burning and ranching: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Guinea Savanna: Threats and Measures. Copy the point on National parks: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Sudan Savanna: Distribution, Species and Exploitation. The Sudan savanna is presented as follows. Copy the point on Distribution on the left, then draw the diagram on the right: the Sudan savanna.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Sudan Savanna: Distribution, Species and Exploitation. Copy the point on Grasses and drought-resistant trees: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Sudan Savanna: Distribution, Species and Exploitation. Copy the point on Exploitation: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Sudan Savanna: Threats and Measures. The Sudan savanna faces the following threats and measures. Copy the point on Tree cutting: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Sudan Savanna: Threats and Measures. Copy the point on Bush fires and overgrazing: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Sudan Savanna: Threats and Measures. Copy the point on National parks: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Sudan Savanna: Threats and Measures. Copy the point on Reforestation: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Sahel Savanna: Distribution, Species and Exploitation. The Sahel savanna is presented as follows. Copy the point on Distribution: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Sahel Savanna: Distribution, Species and Exploitation. Copy the point on Short grasses and thorny shrubs: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Sahel Savanna: Distribution, Species and Exploitation. Copy the point on Exploitation: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Sahel Savanna: Threats and Measures. The Sahel savanna faces the following threats and measures. Copy the point on Drought: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Sahel Savanna: Threats and Measures. Copy the point on Overgrazing and tree cutting: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Tree planting on the left, then draw the diagram on the right: tree planting in the Sahel.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Sahel Savanna: Threats and Measures. Copy the point on Waza National Park: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Examples. The main domesticated landscapes of Cameroon are the following. Copy the point on Plantations on the left, then draw the diagram on the right: an oil palm plantation.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Examples. Copy the point on Tea estates: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Examples. Copy the point on Cocoa agroforests: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Examples. Copy the point on Eucalyptus plantations: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Importance. Domesticated landscapes are important in the following ways. Copy the point on Food and raw materials: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Importance. Copy the point on Export earnings: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Importance. Copy the point on Jobs and income: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Problems. Domesticated landscapes cause the following problems. Copy the point on Loss of natural forest: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Problems. Copy the point on Drying of the soil by eucalyptus: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the three types of savanna in Cameroon from south to north.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Guinea, the Sudan and the Sahel savanna.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threats to the rainforest.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logging and shifting cultivation (also mining and plantations).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mangrove; number 2, Heritage; number 3, desertification.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four drainage basins of Cameroon.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5: The Drainage of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4: VEGETATION OF CAMEROON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jp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jp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2.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2.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slideLayout" Target="../slideLayouts/slideLayout2.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slideLayout" Target="../slideLayouts/slideLayout2.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slideLayout" Target="../slideLayouts/slideLayout2.xml"/><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slideLayout" Target="../slideLayouts/slideLayout2.xml"/><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jpg"/><Relationship Id="rId2" Type="http://schemas.openxmlformats.org/officeDocument/2006/relationships/slideLayout" Target="../slideLayouts/slideLayout2.xml"/><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png"/><Relationship Id="rId2" Type="http://schemas.openxmlformats.org/officeDocument/2006/relationships/slideLayout" Target="../slideLayouts/slideLayout2.xml"/><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slideLayout" Target="../slideLayouts/slideLayout2.xm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slideLayout" Target="../slideLayouts/slideLayout2.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png"/><Relationship Id="rId2" Type="http://schemas.openxmlformats.org/officeDocument/2006/relationships/slideLayout" Target="../slideLayouts/slideLayout2.xml"/><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image-77-1.png"/><Relationship Id="rId2" Type="http://schemas.openxmlformats.org/officeDocument/2006/relationships/slideLayout" Target="../slideLayouts/slideLayout2.xml"/><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image" Target="../media/image-78-1.png"/><Relationship Id="rId2" Type="http://schemas.openxmlformats.org/officeDocument/2006/relationships/slideLayout" Target="../slideLayouts/slideLayout2.xml"/><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image-79-1.png"/><Relationship Id="rId2" Type="http://schemas.openxmlformats.org/officeDocument/2006/relationships/slideLayout" Target="../slideLayouts/slideLayout2.xml"/><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image" Target="../media/image-80-1.png"/><Relationship Id="rId2" Type="http://schemas.openxmlformats.org/officeDocument/2006/relationships/slideLayout" Target="../slideLayouts/slideLayout2.xml"/><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image" Target="../media/image-81-1.png"/><Relationship Id="rId2" Type="http://schemas.openxmlformats.org/officeDocument/2006/relationships/slideLayout" Target="../slideLayouts/slideLayout2.xml"/><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image" Target="../media/image-82-1.png"/><Relationship Id="rId2" Type="http://schemas.openxmlformats.org/officeDocument/2006/relationships/slideLayout" Target="../slideLayouts/slideLayout2.xml"/><Relationship Id="rId3"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image" Target="../media/image-83-1.png"/><Relationship Id="rId2" Type="http://schemas.openxmlformats.org/officeDocument/2006/relationships/slideLayout" Target="../slideLayouts/slideLayout2.xml"/><Relationship Id="rId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image" Target="../media/image-84-1.jpg"/><Relationship Id="rId2" Type="http://schemas.openxmlformats.org/officeDocument/2006/relationships/slideLayout" Target="../slideLayouts/slideLayout2.xml"/><Relationship Id="rId3"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image" Target="../media/image-85-1.png"/><Relationship Id="rId2" Type="http://schemas.openxmlformats.org/officeDocument/2006/relationships/slideLayout" Target="../slideLayouts/slideLayout2.xml"/><Relationship Id="rId3"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image" Target="../media/image-86-1.jpg"/><Relationship Id="rId2" Type="http://schemas.openxmlformats.org/officeDocument/2006/relationships/slideLayout" Target="../slideLayouts/slideLayout2.xml"/><Relationship Id="rId3"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image" Target="../media/image-87-1.png"/><Relationship Id="rId2" Type="http://schemas.openxmlformats.org/officeDocument/2006/relationships/slideLayout" Target="../slideLayouts/slideLayout2.xml"/><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image" Target="../media/image-88-1.png"/><Relationship Id="rId2" Type="http://schemas.openxmlformats.org/officeDocument/2006/relationships/slideLayout" Target="../slideLayouts/slideLayout2.xml"/><Relationship Id="rId3"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image" Target="../media/image-89-1.png"/><Relationship Id="rId2" Type="http://schemas.openxmlformats.org/officeDocument/2006/relationships/slideLayout" Target="../slideLayouts/slideLayout2.xml"/><Relationship Id="rId3"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image" Target="../media/image-90-1.png"/><Relationship Id="rId2" Type="http://schemas.openxmlformats.org/officeDocument/2006/relationships/slideLayout" Target="../slideLayouts/slideLayout2.xml"/><Relationship Id="rId3"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image" Target="../media/image-91-1.png"/><Relationship Id="rId2" Type="http://schemas.openxmlformats.org/officeDocument/2006/relationships/slideLayout" Target="../slideLayouts/slideLayout2.xml"/><Relationship Id="rId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image" Target="../media/image-92-1.png"/><Relationship Id="rId2" Type="http://schemas.openxmlformats.org/officeDocument/2006/relationships/slideLayout" Target="../slideLayouts/slideLayout2.xml"/><Relationship Id="rId3"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image" Target="../media/image-93-1.png"/><Relationship Id="rId2" Type="http://schemas.openxmlformats.org/officeDocument/2006/relationships/slideLayout" Target="../slideLayouts/slideLayout2.xml"/><Relationship Id="rId3"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image" Target="../media/image-94-1.png"/><Relationship Id="rId2" Type="http://schemas.openxmlformats.org/officeDocument/2006/relationships/slideLayout" Target="../slideLayouts/slideLayout2.xml"/><Relationship Id="rId3"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image" Target="../media/image-95-1.png"/><Relationship Id="rId2" Type="http://schemas.openxmlformats.org/officeDocument/2006/relationships/slideLayout" Target="../slideLayouts/slideLayout2.xml"/><Relationship Id="rId3"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image" Target="../media/image-96-1.png"/><Relationship Id="rId2" Type="http://schemas.openxmlformats.org/officeDocument/2006/relationships/slideLayout" Target="../slideLayouts/slideLayout2.xml"/><Relationship Id="rId3"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image" Target="../media/image-97-1.png"/><Relationship Id="rId2" Type="http://schemas.openxmlformats.org/officeDocument/2006/relationships/slideLayout" Target="../slideLayouts/slideLayout2.xml"/><Relationship Id="rId3"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image" Target="../media/image-98-1.png"/><Relationship Id="rId2" Type="http://schemas.openxmlformats.org/officeDocument/2006/relationships/slideLayout" Target="../slideLayouts/slideLayout2.xml"/><Relationship Id="rId3"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image" Target="../media/image-99-1.png"/><Relationship Id="rId2" Type="http://schemas.openxmlformats.org/officeDocument/2006/relationships/slideLayout" Target="../slideLayouts/slideLayout2.xml"/><Relationship Id="rId3"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image" Target="../media/image-100-1.png"/><Relationship Id="rId2" Type="http://schemas.openxmlformats.org/officeDocument/2006/relationships/slideLayout" Target="../slideLayouts/slideLayout2.xml"/><Relationship Id="rId3"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image" Target="../media/image-101-1.png"/><Relationship Id="rId2" Type="http://schemas.openxmlformats.org/officeDocument/2006/relationships/slideLayout" Target="../slideLayouts/slideLayout2.xml"/><Relationship Id="rId3"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image" Target="../media/image-102-1.png"/><Relationship Id="rId2" Type="http://schemas.openxmlformats.org/officeDocument/2006/relationships/slideLayout" Target="../slideLayouts/slideLayout2.xml"/><Relationship Id="rId3"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image" Target="../media/image-106-1.png"/><Relationship Id="rId2" Type="http://schemas.openxmlformats.org/officeDocument/2006/relationships/slideLayout" Target="../slideLayouts/slideLayout2.xml"/><Relationship Id="rId3"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image" Target="../media/image-107-1.png"/><Relationship Id="rId2" Type="http://schemas.openxmlformats.org/officeDocument/2006/relationships/slideLayout" Target="../slideLayouts/slideLayout2.xml"/><Relationship Id="rId3"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image" Target="../media/image-108-1.png"/><Relationship Id="rId2" Type="http://schemas.openxmlformats.org/officeDocument/2006/relationships/slideLayout" Target="../slideLayouts/slideLayout2.xml"/><Relationship Id="rId3" Type="http://schemas.openxmlformats.org/officeDocument/2006/relationships/notesSlide" Target="../notesSlides/notesSlide10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Vegetation of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Geography of Cameroon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Geography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Physical Environment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4: Vegetation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Vegetation, forest, savanna, mangrove, montane forest, forest reserve, domesticated landscape, desertification.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Forest vegetation types (mangrove, rainforest, montane and submontane) and forest reserves; grassland types (Guinea, Sudan, Sahel); domesticated landscapes; distribution, species, exploitation, threats and measures of each type.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vegetation types of Cameroon, their exploitation and the measures needed to protect them.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 Soils of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types of savanna found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Guinea savanna, the Sudan savanna and the Sahel savanna.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vegetation, forest, savanna and domesticated landscape.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forest vegetation types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grassland vegetation types of Cameroon.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threats to vegetation and the measures of protection.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Vegetation depends mainly on climate and soils.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South is wet all year; the North has a long dry season.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Many trees around Garoua are cut for firewood and charcoal.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One evening in Garoua you watch a documentary on the Dja Reserve: giant trees form a roof so dense that the ground is dark.</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Outside your window you see golden grass with scattered acacias and baobabs.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Your sister asks: "Why does Cameroon have such different vegetation, and how can we protect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sister does not know why vegetation differs across Cameroon and how to protect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vegetation of the Dja Reserve.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very dense forest of giant trees.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vegetation around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Grass with scattered trees such as acacias and baobabs (savanna).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trees around your home and avoid bush fires.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vegetation of Cameroon, its resources and the need to protect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FOREST VEGETATION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ameroon_veg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vegetation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FOREST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vegetation covers the south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FOREST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Dense rainforest.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FOREST VEGETATION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mangrove.jpg">    </p:cNvPr>
          <p:cNvPicPr>
            <a:picLocks noChangeAspect="1"/>
          </p:cNvPicPr>
          <p:nvPr/>
        </p:nvPicPr>
        <p:blipFill>
          <a:blip r:embed="rId1"/>
          <a:stretch>
            <a:fillRect/>
          </a:stretch>
        </p:blipFill>
        <p:spPr>
          <a:xfrm>
            <a:off x="2248596" y="1783080"/>
            <a:ext cx="7694503"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Trees with stilt roots.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FOREST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this forest with stilt roots grow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FOREST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estuaries of the coast, such as the Wouri and the Rio del Rey (mangroves).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GRASSLAND VEGETATION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savanna.jpg">    </p:cNvPr>
          <p:cNvPicPr>
            <a:picLocks noChangeAspect="1"/>
          </p:cNvPicPr>
          <p:nvPr/>
        </p:nvPicPr>
        <p:blipFill>
          <a:blip r:embed="rId1"/>
          <a:stretch>
            <a:fillRect/>
          </a:stretch>
        </p:blipFill>
        <p:spPr>
          <a:xfrm>
            <a:off x="281042" y="1783080"/>
            <a:ext cx="1162961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Grass with scattered trees.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GRASSLAND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type of savanna surrounds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GRASSLAND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Sudan savanna.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GRASSLAND VEGETATION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tree_planting_sahe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Tree planting in a dry area.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GRASSLAND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threat does tree planting fight in the Far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GRASSLAND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Desertification.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DOMESTICATED LANDSCAPES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oilpalm.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Oil palms in rows.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DOMESTICATED LANDSCAPES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this natural vegetation? Why?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DOMESTICATED LANDSCAPES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 the trees were planted by people (a plantation).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Geography of Cameroon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Physical Environment of Cameroon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 Vegetation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Vegetation: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plant cover of an area.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Forest: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vegetation dominated by trees whose crowns touch.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Savanna: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tropical grassland with scattered trees and shrubs.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Forest reserve: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forest protected by the state, where cutting trees is controlled or forbidden.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Domesticated landscape: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 area where natural vegetation has been replaced by vegetation planted by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Forest Vegetation Types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Mangrove Forests: Distribution, Species and Exploitation</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000" i="1" dirty="0">
                <a:solidFill>
                  <a:srgbClr val="111111"/>
                </a:solidFill>
                <a:latin typeface="Times New Roman" pitchFamily="34" charset="0"/>
                <a:ea typeface="Times New Roman" pitchFamily="34" charset="-122"/>
                <a:cs typeface="Times New Roman" pitchFamily="34" charset="-120"/>
              </a:rPr>
              <a:t>Mangrove forests are presented as follows:</a:t>
            </a:r>
            <a:endParaRPr lang="en-US" sz="3000" dirty="0"/>
          </a:p>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Distribution: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Mangroves grow in the estuaries and creeks of the coast, where fresh water meets salt water. The main areas are Rio del Rey, the Cameroon (Wouri) estuary and the mouth of the Ntem.</a:t>
            </a:r>
            <a:endParaRPr lang="en-US" sz="3000" dirty="0"/>
          </a:p>
        </p:txBody>
      </p:sp>
      <p:pic>
        <p:nvPicPr>
          <p:cNvPr id="6" name="Image 0" descr="/home/claude/f4/img/v2/lsa_mangrove.jpg">    </p:cNvPr>
          <p:cNvPicPr>
            <a:picLocks noChangeAspect="1"/>
          </p:cNvPicPr>
          <p:nvPr/>
        </p:nvPicPr>
        <p:blipFill>
          <a:blip r:embed="rId1"/>
          <a:stretch>
            <a:fillRect/>
          </a:stretch>
        </p:blipFill>
        <p:spPr>
          <a:xfrm>
            <a:off x="6537960" y="2400113"/>
            <a:ext cx="5470855" cy="3036181"/>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mangroves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Forest Vegetation Types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2400" b="1" dirty="0">
                <a:solidFill>
                  <a:srgbClr val="990011"/>
                </a:solidFill>
                <a:latin typeface="Times New Roman" pitchFamily="34" charset="0"/>
                <a:ea typeface="Times New Roman" pitchFamily="34" charset="-122"/>
                <a:cs typeface="Times New Roman" pitchFamily="34" charset="-120"/>
              </a:rPr>
              <a:t>A) Mangrove Forests: Distribution, Species and Exploitation</a:t>
            </a:r>
            <a:endParaRPr lang="en-US" sz="24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Salt-tolerant species: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Salt-tolerant trees grow in muddy, salty water that rises and falls with the tides. Rhizophora has stilt roots that hold it in the mud, and Avicennia has breathing roots that rise above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Forest Vegetation Types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2000" b="1" dirty="0">
                <a:solidFill>
                  <a:srgbClr val="990011"/>
                </a:solidFill>
                <a:latin typeface="Times New Roman" pitchFamily="34" charset="0"/>
                <a:ea typeface="Times New Roman" pitchFamily="34" charset="-122"/>
                <a:cs typeface="Times New Roman" pitchFamily="34" charset="-120"/>
              </a:rPr>
              <a:t>A) Mangrove Forests: Distribution, Species and Exploitation</a:t>
            </a:r>
            <a:endParaRPr lang="en-US" sz="20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Exploitation: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cut mangroves for fuelwood, especially to smoke fish, and for building poles. The mangroves are also breeding grounds for fish, shrimps and crabs, which support fishing.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Forest Vegetation Types</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Mangrove Forests: Threats and Measures</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3800" i="1" dirty="0">
                <a:solidFill>
                  <a:srgbClr val="111111"/>
                </a:solidFill>
                <a:latin typeface="Times New Roman" pitchFamily="34" charset="0"/>
                <a:ea typeface="Times New Roman" pitchFamily="34" charset="-122"/>
                <a:cs typeface="Times New Roman" pitchFamily="34" charset="-120"/>
              </a:rPr>
              <a:t>Mangrove forests face the following threats and measures:</a:t>
            </a:r>
            <a:endParaRPr lang="en-US" sz="3800" dirty="0"/>
          </a:p>
          <a:p>
            <a:pPr algn="l" indent="0" marL="0">
              <a:spcAft>
                <a:spcPts val="800"/>
              </a:spcAft>
              <a:buNone/>
            </a:pPr>
            <a:r>
              <a:rPr lang="en-US" sz="3800" b="1" dirty="0">
                <a:solidFill>
                  <a:srgbClr val="111111"/>
                </a:solidFill>
                <a:latin typeface="Times New Roman" pitchFamily="34" charset="0"/>
                <a:ea typeface="Times New Roman" pitchFamily="34" charset="-122"/>
                <a:cs typeface="Times New Roman" pitchFamily="34" charset="-120"/>
              </a:rPr>
              <a:t>Cutting for fuelwood: </a:t>
            </a:r>
            <a:pPr algn="l" indent="0" marL="0">
              <a:spcAft>
                <a:spcPts val="800"/>
              </a:spcAft>
              <a:buNone/>
            </a:pPr>
            <a:r>
              <a:rPr lang="en-US" sz="3800" dirty="0">
                <a:solidFill>
                  <a:srgbClr val="111111"/>
                </a:solidFill>
                <a:latin typeface="Times New Roman" pitchFamily="34" charset="0"/>
                <a:ea typeface="Times New Roman" pitchFamily="34" charset="-122"/>
                <a:cs typeface="Times New Roman" pitchFamily="34" charset="-120"/>
              </a:rPr>
              <a:t>Mangrove wood is cut in large quantities to smoke fish and to build houses. As a result, large areas around Douala and Rio del Rey have been cleared.</a:t>
            </a:r>
            <a:endParaRPr lang="en-US" sz="3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Forest Vegetation Types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2900" b="1" dirty="0">
                <a:solidFill>
                  <a:srgbClr val="990011"/>
                </a:solidFill>
                <a:latin typeface="Times New Roman" pitchFamily="34" charset="0"/>
                <a:ea typeface="Times New Roman" pitchFamily="34" charset="-122"/>
                <a:cs typeface="Times New Roman" pitchFamily="34" charset="-120"/>
              </a:rPr>
              <a:t>B) Mangrove Forests: Threats and Measures</a:t>
            </a:r>
            <a:endParaRPr lang="en-US" sz="29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Urban growth and pollution: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growth of Douala and oil activities in Rio del Rey destroy or pollute the mangroves. The trees die, and fish lose their breeding grounds.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Forest Vegetation Types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500" b="1" dirty="0">
                <a:solidFill>
                  <a:srgbClr val="990011"/>
                </a:solidFill>
                <a:latin typeface="Times New Roman" pitchFamily="34" charset="0"/>
                <a:ea typeface="Times New Roman" pitchFamily="34" charset="-122"/>
                <a:cs typeface="Times New Roman" pitchFamily="34" charset="-120"/>
              </a:rPr>
              <a:t>B) Mangrove Forests: Threats and Measures</a:t>
            </a:r>
            <a:endParaRPr lang="en-US" sz="25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Protected areas: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Part of the mangroves is protected in the Douala-Edéa National Park. Cutting is forbidden there, so the trees can grow back.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Forest Vegetation Types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2900" b="1" dirty="0">
                <a:solidFill>
                  <a:srgbClr val="990011"/>
                </a:solidFill>
                <a:latin typeface="Times New Roman" pitchFamily="34" charset="0"/>
                <a:ea typeface="Times New Roman" pitchFamily="34" charset="-122"/>
                <a:cs typeface="Times New Roman" pitchFamily="34" charset="-120"/>
              </a:rPr>
              <a:t>B) Mangrove Forests: Threats and Measures</a:t>
            </a:r>
            <a:endParaRPr lang="en-US" sz="29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Replanting and improved ovens: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Communities replant mangrove trees in cleared areas. Improved fish-smoking ovens use less wood, which reduces the cutting of the trees.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Forest Vegetation Types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C) The Equatorial Rainforest: Distribution, Species and Exploitation</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equatorial rainforest is presented as follows: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Distribution: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It covers the South, East, Centre, Littoral and South-West Regions, about 20 million hectares. It grows where rain falls almost all year.</a:t>
            </a:r>
            <a:endParaRPr lang="en-US" sz="3200" dirty="0"/>
          </a:p>
        </p:txBody>
      </p:sp>
      <p:pic>
        <p:nvPicPr>
          <p:cNvPr id="6" name="Image 0" descr="/home/claude/f4/img/v2/cameroon_veg_big.png">    </p:cNvPr>
          <p:cNvPicPr>
            <a:picLocks noChangeAspect="1"/>
          </p:cNvPicPr>
          <p:nvPr/>
        </p:nvPicPr>
        <p:blipFill>
          <a:blip r:embed="rId1"/>
          <a:stretch>
            <a:fillRect/>
          </a:stretch>
        </p:blipFill>
        <p:spPr>
          <a:xfrm>
            <a:off x="6537960" y="2550490"/>
            <a:ext cx="5470855" cy="2735428"/>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vegetation of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Forest Vegetation Types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C) The Equatorial Rainforest: Distribution, Species and Exploitation</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Structure: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It is a dense, evergreen, broad-leaved forest in several layers, with emergent trees up to 50 or 60 m. Lianas are common, but there is little undergrowth because little light reaches the ground.</a:t>
            </a:r>
            <a:endParaRPr lang="en-US" sz="3200" dirty="0"/>
          </a:p>
        </p:txBody>
      </p:sp>
      <p:pic>
        <p:nvPicPr>
          <p:cNvPr id="6" name="Image 0" descr="/home/claude/f4/img/v2/rainforest_layers_big.png">    </p:cNvPr>
          <p:cNvPicPr>
            <a:picLocks noChangeAspect="1"/>
          </p:cNvPicPr>
          <p:nvPr/>
        </p:nvPicPr>
        <p:blipFill>
          <a:blip r:embed="rId1"/>
          <a:stretch>
            <a:fillRect/>
          </a:stretch>
        </p:blipFill>
        <p:spPr>
          <a:xfrm>
            <a:off x="6537960" y="2849678"/>
            <a:ext cx="5470855" cy="2137053"/>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layers of the rainforest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Forest Vegetation Types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1500" b="1" dirty="0">
                <a:solidFill>
                  <a:srgbClr val="990011"/>
                </a:solidFill>
                <a:latin typeface="Times New Roman" pitchFamily="34" charset="0"/>
                <a:ea typeface="Times New Roman" pitchFamily="34" charset="-122"/>
                <a:cs typeface="Times New Roman" pitchFamily="34" charset="-120"/>
              </a:rPr>
              <a:t>C) The Equatorial Rainforest: Distribution, Species and Exploitation</a:t>
            </a:r>
            <a:endParaRPr lang="en-US" sz="15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Main species: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Valuable hardwoods include sapele, iroko, ayous, moabi, azobé, ebony and mahogany. These species are in high demand on the world timber market.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Forest Vegetation Types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1800" b="1" dirty="0">
                <a:solidFill>
                  <a:srgbClr val="990011"/>
                </a:solidFill>
                <a:latin typeface="Times New Roman" pitchFamily="34" charset="0"/>
                <a:ea typeface="Times New Roman" pitchFamily="34" charset="-122"/>
                <a:cs typeface="Times New Roman" pitchFamily="34" charset="-120"/>
              </a:rPr>
              <a:t>C) The Equatorial Rainforest: Distribution, Species and Exploitation</a:t>
            </a:r>
            <a:endParaRPr lang="en-US" sz="18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Exploitation: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Timber is logged, especially in the East, and exported through Douala and Kribi. People also collect fuelwood and non-timber products such as eru, bush mango and medicinal plants.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Forest Vegetation Types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2800" b="1" dirty="0">
                <a:solidFill>
                  <a:srgbClr val="990011"/>
                </a:solidFill>
                <a:latin typeface="Times New Roman" pitchFamily="34" charset="0"/>
                <a:ea typeface="Times New Roman" pitchFamily="34" charset="-122"/>
                <a:cs typeface="Times New Roman" pitchFamily="34" charset="-120"/>
              </a:rPr>
              <a:t>D) The Equatorial Rainforest: Threats and Measures</a:t>
            </a:r>
            <a:endParaRPr lang="en-US" sz="28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equatorial rainforest faces the following threats and measures: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Logging: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Timber companies cut valuable trees and open roads into the forest. These roads also allow farmers and poachers to enter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Forest Vegetation Types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2400" b="1" dirty="0">
                <a:solidFill>
                  <a:srgbClr val="990011"/>
                </a:solidFill>
                <a:latin typeface="Times New Roman" pitchFamily="34" charset="0"/>
                <a:ea typeface="Times New Roman" pitchFamily="34" charset="-122"/>
                <a:cs typeface="Times New Roman" pitchFamily="34" charset="-120"/>
              </a:rPr>
              <a:t>D) The Equatorial Rainforest: Threats and Measures</a:t>
            </a:r>
            <a:endParaRPr lang="en-US" sz="24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Farming and plantations: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Farmers clear forest for food crops by shifting cultivation, and companies clear large areas for oil palm and rubber. The forest therefore shrinks every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Forest Vegetation Types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2800" b="1" dirty="0">
                <a:solidFill>
                  <a:srgbClr val="990011"/>
                </a:solidFill>
                <a:latin typeface="Times New Roman" pitchFamily="34" charset="0"/>
                <a:ea typeface="Times New Roman" pitchFamily="34" charset="-122"/>
                <a:cs typeface="Times New Roman" pitchFamily="34" charset="-120"/>
              </a:rPr>
              <a:t>D) The Equatorial Rainforest: Threats and Measures</a:t>
            </a:r>
            <a:endParaRPr lang="en-US" sz="28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forestry law and community forests: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1994 forestry law controls logging with concessions and management plans. Community forests give villagers the right to manage their forest and to benefit from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Forest Vegetation Types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2800" b="1" dirty="0">
                <a:solidFill>
                  <a:srgbClr val="990011"/>
                </a:solidFill>
                <a:latin typeface="Times New Roman" pitchFamily="34" charset="0"/>
                <a:ea typeface="Times New Roman" pitchFamily="34" charset="-122"/>
                <a:cs typeface="Times New Roman" pitchFamily="34" charset="-120"/>
              </a:rPr>
              <a:t>D) The Equatorial Rainforest: Threats and Measures</a:t>
            </a:r>
            <a:endParaRPr lang="en-US" sz="28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Protected areas: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Dja Reserve, a UNESCO World Heritage Site, and the Lobéké, Campo-Ma'an and Korup National Parks protect large areas of forest. Logging, farming and hunting are forbidden or controlled there.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Forest Vegetation Types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E) Montane and Submontane Forests: Distribution, Species and Exploitation</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Montane and submontane forests are presented as follows: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Distribution: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They grow on the high mountains of the West: Mount Cameroon, Mount Oku (the Kilum-Ijim forest), the Bamboutos and Mount Manengouba. They are found above about 800 m.</a:t>
            </a:r>
            <a:endParaRPr lang="en-US" sz="3200" dirty="0"/>
          </a:p>
        </p:txBody>
      </p:sp>
      <p:pic>
        <p:nvPicPr>
          <p:cNvPr id="6" name="Image 0" descr="/home/claude/f4/img/v2/usa_bamenda.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Western Highlands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Forest Vegetation Types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1600" b="1" dirty="0">
                <a:solidFill>
                  <a:srgbClr val="990011"/>
                </a:solidFill>
                <a:latin typeface="Times New Roman" pitchFamily="34" charset="0"/>
                <a:ea typeface="Times New Roman" pitchFamily="34" charset="-122"/>
                <a:cs typeface="Times New Roman" pitchFamily="34" charset="-120"/>
              </a:rPr>
              <a:t>E) Montane and Submontane Forests: Distribution, Species and Exploitation</a:t>
            </a:r>
            <a:endParaRPr lang="en-US" sz="16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Vegetation belts: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Submontane forest grows on the lower slopes, then montane forest with smaller trees, tree ferns and mosses. Grassland covers the areas near the summits.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Forest Vegetation Types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1400" b="1" dirty="0">
                <a:solidFill>
                  <a:srgbClr val="990011"/>
                </a:solidFill>
                <a:latin typeface="Times New Roman" pitchFamily="34" charset="0"/>
                <a:ea typeface="Times New Roman" pitchFamily="34" charset="-122"/>
                <a:cs typeface="Times New Roman" pitchFamily="34" charset="-120"/>
              </a:rPr>
              <a:t>E) Montane and Submontane Forests: Distribution, Species and Exploitation</a:t>
            </a:r>
            <a:endParaRPr lang="en-US" sz="14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Main species: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These forests contain Prunus africana (pygeum) and Podocarpus. They also shelter many rare birds and plants found nowhere else.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Forest Vegetation Types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1400" b="1" dirty="0">
                <a:solidFill>
                  <a:srgbClr val="990011"/>
                </a:solidFill>
                <a:latin typeface="Times New Roman" pitchFamily="34" charset="0"/>
                <a:ea typeface="Times New Roman" pitchFamily="34" charset="-122"/>
                <a:cs typeface="Times New Roman" pitchFamily="34" charset="-120"/>
              </a:rPr>
              <a:t>E) Montane and Submontane Forests: Distribution, Species and Exploitation</a:t>
            </a:r>
            <a:endParaRPr lang="en-US" sz="14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Exploitation: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bark of Prunus africana is harvested to make medicine for export. The forests also supply fuelwood and land for farming and grazing.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Forest Vegetation Types</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2900" b="1" dirty="0">
                <a:solidFill>
                  <a:srgbClr val="990011"/>
                </a:solidFill>
                <a:latin typeface="Times New Roman" pitchFamily="34" charset="0"/>
                <a:ea typeface="Times New Roman" pitchFamily="34" charset="-122"/>
                <a:cs typeface="Times New Roman" pitchFamily="34" charset="-120"/>
              </a:rPr>
              <a:t>F) Montane and Submontane Forests: Threats and Measures</a:t>
            </a:r>
            <a:endParaRPr lang="en-US" sz="29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Montane and submontane forests face the following threats and measures: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Farming and grazing: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Farmers clear the slopes for crops, and herders burn the forest to create pastures. Large parts of the Kilum-Ijim forest were lost in this 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Forest Vegetation Types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1800" b="1" dirty="0">
                <a:solidFill>
                  <a:srgbClr val="990011"/>
                </a:solidFill>
                <a:latin typeface="Times New Roman" pitchFamily="34" charset="0"/>
                <a:ea typeface="Times New Roman" pitchFamily="34" charset="-122"/>
                <a:cs typeface="Times New Roman" pitchFamily="34" charset="-120"/>
              </a:rPr>
              <a:t>F) Montane and Submontane Forests: Threats and Measures</a:t>
            </a:r>
            <a:endParaRPr lang="en-US" sz="18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Bush fires: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Fires lit in the dry season spread into the edges of the forest. They kill young trees and prevent the forest from growing back.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Forest Vegetation Types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2200" b="1" dirty="0">
                <a:solidFill>
                  <a:srgbClr val="990011"/>
                </a:solidFill>
                <a:latin typeface="Times New Roman" pitchFamily="34" charset="0"/>
                <a:ea typeface="Times New Roman" pitchFamily="34" charset="-122"/>
                <a:cs typeface="Times New Roman" pitchFamily="34" charset="-120"/>
              </a:rPr>
              <a:t>F) Montane and Submontane Forests: Threats and Measures</a:t>
            </a:r>
            <a:endParaRPr lang="en-US" sz="2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Mount Cameroon National Park: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park protects the forests of Mount Cameroon from cutting and farming. Hunting and the harvesting of bark are controlled there.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Forest Vegetation Types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2200" b="1" dirty="0">
                <a:solidFill>
                  <a:srgbClr val="990011"/>
                </a:solidFill>
                <a:latin typeface="Times New Roman" pitchFamily="34" charset="0"/>
                <a:ea typeface="Times New Roman" pitchFamily="34" charset="-122"/>
                <a:cs typeface="Times New Roman" pitchFamily="34" charset="-120"/>
              </a:rPr>
              <a:t>F) Montane and Submontane Forests: Threats and Measures</a:t>
            </a:r>
            <a:endParaRPr lang="en-US" sz="2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Community forests: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Kilum-Ijim, villagers manage the forest themselves and have marked its limits. Because they benefit from it, they protect it from fire and clearing.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Forest Vegetation Types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G) Forest Reserves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Forest reserves are presented as follows: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Types: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Protected forests include national parks, wildlife reserves, forest reserves and community forests. Each type has its own rules on cutting, hunting and farming.</a:t>
            </a:r>
            <a:endParaRPr lang="en-US" sz="3200" dirty="0"/>
          </a:p>
        </p:txBody>
      </p:sp>
      <p:pic>
        <p:nvPicPr>
          <p:cNvPr id="6" name="Image 0" descr="/home/claude/f4/img/cmr_protected_areas.png">    </p:cNvPr>
          <p:cNvPicPr>
            <a:picLocks noChangeAspect="1"/>
          </p:cNvPicPr>
          <p:nvPr/>
        </p:nvPicPr>
        <p:blipFill>
          <a:blip r:embed="rId1"/>
          <a:stretch>
            <a:fillRect/>
          </a:stretch>
        </p:blipFill>
        <p:spPr>
          <a:xfrm>
            <a:off x="6537960" y="2019618"/>
            <a:ext cx="5470855" cy="3797171"/>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protected areas of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Forest Vegetation Types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G) Forest Reserves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Examples are the Dja Faunal Reserve, the Lobéké, Campo-Ma'an and Korup National Parks and the Mbalmayo Forest Reserve. Together they cover a large part of the southern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Forest Vegetation Types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G) Forest Reserves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Purpose: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protect biodiversity, water sources and soils from destruction. They also support scientific research and tourism, which brings income.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Grassland Vegetation Types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The Guinea Savanna: Distribution, Species and Exploitation</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400" i="1" dirty="0">
                <a:solidFill>
                  <a:srgbClr val="111111"/>
                </a:solidFill>
                <a:latin typeface="Times New Roman" pitchFamily="34" charset="0"/>
                <a:ea typeface="Times New Roman" pitchFamily="34" charset="-122"/>
                <a:cs typeface="Times New Roman" pitchFamily="34" charset="-120"/>
              </a:rPr>
              <a:t>The Guinea savanna is presented as follows:</a:t>
            </a:r>
            <a:endParaRPr lang="en-US" sz="3400" dirty="0"/>
          </a:p>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Distribution: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It covers the Adamawa Plateau and the north of the Centre and East Regions. It grows where the dry season lasts about 4 to 5 months.</a:t>
            </a:r>
            <a:endParaRPr lang="en-US" sz="3400" dirty="0"/>
          </a:p>
        </p:txBody>
      </p:sp>
      <p:pic>
        <p:nvPicPr>
          <p:cNvPr id="6" name="Image 0" descr="/home/claude/f4/img/v2/lsa_adamawa.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Adamawa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Grassland Vegetation Types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1600" b="1" dirty="0">
                <a:solidFill>
                  <a:srgbClr val="990011"/>
                </a:solidFill>
                <a:latin typeface="Times New Roman" pitchFamily="34" charset="0"/>
                <a:ea typeface="Times New Roman" pitchFamily="34" charset="-122"/>
                <a:cs typeface="Times New Roman" pitchFamily="34" charset="-120"/>
              </a:rPr>
              <a:t>A) The Guinea Savanna: Distribution, Species and Exploitation</a:t>
            </a:r>
            <a:endParaRPr lang="en-US" sz="16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Tall grasses and trees: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Tall grasses up to 3 m grow with many trees such as Daniellia oliveri and Lophira lanceolata. Gallery forests line the rivers.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Grassland Vegetation Types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1600" b="1" dirty="0">
                <a:solidFill>
                  <a:srgbClr val="990011"/>
                </a:solidFill>
                <a:latin typeface="Times New Roman" pitchFamily="34" charset="0"/>
                <a:ea typeface="Times New Roman" pitchFamily="34" charset="-122"/>
                <a:cs typeface="Times New Roman" pitchFamily="34" charset="-120"/>
              </a:rPr>
              <a:t>A) The Guinea Savanna: Distribution, Species and Exploitation</a:t>
            </a:r>
            <a:endParaRPr lang="en-US" sz="16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Exploitation: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main cattle-grazing area of Cameroon, around Ngaoundéré. People also grow maize, yams and cassava and collect fuelwood.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Grassland Vegetation Types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The Guinea Savanna: Threats and Measures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Guinea savanna faces the following threats and measures: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Bush fires: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Herders and hunters set fire to the grass in the dry season. Late fires are very hot, kill the trees and leave the soil bare.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Grassland Vegetation Types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300" b="1" dirty="0">
                <a:solidFill>
                  <a:srgbClr val="990011"/>
                </a:solidFill>
                <a:latin typeface="Times New Roman" pitchFamily="34" charset="0"/>
                <a:ea typeface="Times New Roman" pitchFamily="34" charset="-122"/>
                <a:cs typeface="Times New Roman" pitchFamily="34" charset="-120"/>
              </a:rPr>
              <a:t>B) The Guinea Savanna: Threats and Measures</a:t>
            </a:r>
            <a:endParaRPr lang="en-US" sz="23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Overgrazing: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Too many cattle eat the grass faster than it grows back. The bare soil is then eroded by the first rains.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Grassland Vegetation Types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2800" b="1" dirty="0">
                <a:solidFill>
                  <a:srgbClr val="990011"/>
                </a:solidFill>
                <a:latin typeface="Times New Roman" pitchFamily="34" charset="0"/>
                <a:ea typeface="Times New Roman" pitchFamily="34" charset="-122"/>
                <a:cs typeface="Times New Roman" pitchFamily="34" charset="-120"/>
              </a:rPr>
              <a:t>B) The Guinea Savanna: Threats and Measures</a:t>
            </a:r>
            <a:endParaRPr lang="en-US" sz="28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Controlled early burning and ranching: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Grass is burnt early in the dry season, when fires are weak and spare the trees. Ranches limit the number of cattle on each pasture.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Grassland Vegetation Types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300" b="1" dirty="0">
                <a:solidFill>
                  <a:srgbClr val="990011"/>
                </a:solidFill>
                <a:latin typeface="Times New Roman" pitchFamily="34" charset="0"/>
                <a:ea typeface="Times New Roman" pitchFamily="34" charset="-122"/>
                <a:cs typeface="Times New Roman" pitchFamily="34" charset="-120"/>
              </a:rPr>
              <a:t>B) The Guinea Savanna: Threats and Measures</a:t>
            </a:r>
            <a:endParaRPr lang="en-US" sz="23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National parks: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Mbam et Djerem National Park protects a large area of Guinea savanna. Fires, farming and hunting are controlled there.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Grassland Vegetation Types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C) The Sudan Savanna: Distribution, Species and Exploitation</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Sudan savanna is presented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Distribution: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covers the Benue plain and the North Region, around Garoua. It grows where the dry season lasts about 6 to 7 months.</a:t>
            </a:r>
            <a:endParaRPr lang="en-US" sz="3600" dirty="0"/>
          </a:p>
        </p:txBody>
      </p:sp>
      <p:pic>
        <p:nvPicPr>
          <p:cNvPr id="6" name="Image 0" descr="/home/claude/f4/img/v2/f2t_savanna.jpg">    </p:cNvPr>
          <p:cNvPicPr>
            <a:picLocks noChangeAspect="1"/>
          </p:cNvPicPr>
          <p:nvPr/>
        </p:nvPicPr>
        <p:blipFill>
          <a:blip r:embed="rId1"/>
          <a:stretch>
            <a:fillRect/>
          </a:stretch>
        </p:blipFill>
        <p:spPr>
          <a:xfrm>
            <a:off x="6537960" y="2913789"/>
            <a:ext cx="5470855" cy="2008830"/>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Sudan savanna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Grassland Vegetation Types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2400" b="1" dirty="0">
                <a:solidFill>
                  <a:srgbClr val="990011"/>
                </a:solidFill>
                <a:latin typeface="Times New Roman" pitchFamily="34" charset="0"/>
                <a:ea typeface="Times New Roman" pitchFamily="34" charset="-122"/>
                <a:cs typeface="Times New Roman" pitchFamily="34" charset="-120"/>
              </a:rPr>
              <a:t>C) The Sudan Savanna: Distribution, Species and Exploitation</a:t>
            </a:r>
            <a:endParaRPr lang="en-US" sz="24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Grasses and drought-resistant trees: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Shorter grasses, 1 to 2 m high, grow with scattered drought-resistant trees. The main trees are shea (karité), locust bean (néré), baobab, tamarind and acacias.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Grassland Vegetation Types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2000" b="1" dirty="0">
                <a:solidFill>
                  <a:srgbClr val="990011"/>
                </a:solidFill>
                <a:latin typeface="Times New Roman" pitchFamily="34" charset="0"/>
                <a:ea typeface="Times New Roman" pitchFamily="34" charset="-122"/>
                <a:cs typeface="Times New Roman" pitchFamily="34" charset="-120"/>
              </a:rPr>
              <a:t>C) The Sudan Savanna: Distribution, Species and Exploitation</a:t>
            </a:r>
            <a:endParaRPr lang="en-US" sz="20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Exploitation: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land is used for cotton, food crops and grazing, and women produce shea butter. It also supplies fuelwood and charcoal for towns such as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Grassland Vegetation Types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D) The Sudan Savanna: Threats and Measures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Sudan savanna faces the following threats and measures: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Tree cutting: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Trees are cut to make charcoal and fuelwood for Garoua and other towns. The savanna around the towns becomes thinner each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75</a:t>
            </a:fld>
            <a:endParaRPr 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Grassland Vegetation Types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400" b="1" dirty="0">
                <a:solidFill>
                  <a:srgbClr val="990011"/>
                </a:solidFill>
                <a:latin typeface="Times New Roman" pitchFamily="34" charset="0"/>
                <a:ea typeface="Times New Roman" pitchFamily="34" charset="-122"/>
                <a:cs typeface="Times New Roman" pitchFamily="34" charset="-120"/>
              </a:rPr>
              <a:t>D) The Sudan Savanna: Threats and Measures</a:t>
            </a:r>
            <a:endParaRPr lang="en-US" sz="24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Bush fires and overgrazing: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Repeated fires and too many animals destroy the grass and young trees. The soil is then exposed to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76</a:t>
            </a:fld>
            <a:endParaRPr lang="en-US"/>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Grassland Vegetation Types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400" b="1" dirty="0">
                <a:solidFill>
                  <a:srgbClr val="990011"/>
                </a:solidFill>
                <a:latin typeface="Times New Roman" pitchFamily="34" charset="0"/>
                <a:ea typeface="Times New Roman" pitchFamily="34" charset="-122"/>
                <a:cs typeface="Times New Roman" pitchFamily="34" charset="-120"/>
              </a:rPr>
              <a:t>D) The Sudan Savanna: Threats and Measures</a:t>
            </a:r>
            <a:endParaRPr lang="en-US" sz="24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National parks: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Bénoué, Bouba Ndjida and Faro National Parks protect large areas of Sudan savanna. Cutting, farming and hunting are controlled there.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77</a:t>
            </a:fld>
            <a:endParaRPr lang="en-US"/>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Grassland Vegetation Types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400" b="1" dirty="0">
                <a:solidFill>
                  <a:srgbClr val="990011"/>
                </a:solidFill>
                <a:latin typeface="Times New Roman" pitchFamily="34" charset="0"/>
                <a:ea typeface="Times New Roman" pitchFamily="34" charset="-122"/>
                <a:cs typeface="Times New Roman" pitchFamily="34" charset="-120"/>
              </a:rPr>
              <a:t>D) The Sudan Savanna: Threats and Measures</a:t>
            </a:r>
            <a:endParaRPr lang="en-US" sz="24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Reforestation: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Trees are planted around towns and in degraded areas. They supply fuelwood and protect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78</a:t>
            </a:fld>
            <a:endParaRPr lang="en-US"/>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Grassland Vegetation Types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2400" b="1" dirty="0">
                <a:solidFill>
                  <a:srgbClr val="990011"/>
                </a:solidFill>
                <a:latin typeface="Times New Roman" pitchFamily="34" charset="0"/>
                <a:ea typeface="Times New Roman" pitchFamily="34" charset="-122"/>
                <a:cs typeface="Times New Roman" pitchFamily="34" charset="-120"/>
              </a:rPr>
              <a:t>E) The Sahel Savanna: Distribution, Species and Exploitation</a:t>
            </a:r>
            <a:endParaRPr lang="en-US" sz="24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Sahel savanna is presented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Distribution: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covers the Far North, north of about 11° N, towards Lake Chad. It grows where the dry season lasts 8 months or more.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79</a:t>
            </a:fld>
            <a:endParaRPr lang="en-US"/>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Grassland Vegetation Types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2000" b="1" dirty="0">
                <a:solidFill>
                  <a:srgbClr val="990011"/>
                </a:solidFill>
                <a:latin typeface="Times New Roman" pitchFamily="34" charset="0"/>
                <a:ea typeface="Times New Roman" pitchFamily="34" charset="-122"/>
                <a:cs typeface="Times New Roman" pitchFamily="34" charset="-120"/>
              </a:rPr>
              <a:t>E) The Sahel Savanna: Distribution, Species and Exploitation</a:t>
            </a:r>
            <a:endParaRPr lang="en-US" sz="20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Short grasses and thorny shrubs: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Short, sparse grasses grow with thorny shrubs adapted to drought. The main species are acacias, including the gum arabic tree, doum palms and Balanites.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80</a:t>
            </a:fld>
            <a:endParaRPr lang="en-US"/>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Grassland Vegetation Types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1700" b="1" dirty="0">
                <a:solidFill>
                  <a:srgbClr val="990011"/>
                </a:solidFill>
                <a:latin typeface="Times New Roman" pitchFamily="34" charset="0"/>
                <a:ea typeface="Times New Roman" pitchFamily="34" charset="-122"/>
                <a:cs typeface="Times New Roman" pitchFamily="34" charset="-120"/>
              </a:rPr>
              <a:t>E) The Sahel Savanna: Distribution, Species and Exploitation</a:t>
            </a:r>
            <a:endParaRPr lang="en-US" sz="17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Exploitation: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used mainly for pastoralism by herders of cattle, sheep and goats. People also collect gum arabic and fuelwood.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81</a:t>
            </a:fld>
            <a:endParaRPr lang="en-US"/>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Grassland Vegetation Types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2900" b="1" dirty="0">
                <a:solidFill>
                  <a:srgbClr val="990011"/>
                </a:solidFill>
                <a:latin typeface="Times New Roman" pitchFamily="34" charset="0"/>
                <a:ea typeface="Times New Roman" pitchFamily="34" charset="-122"/>
                <a:cs typeface="Times New Roman" pitchFamily="34" charset="-120"/>
              </a:rPr>
              <a:t>F) The Sahel Savanna: Threats and Measures</a:t>
            </a:r>
            <a:endParaRPr lang="en-US" sz="29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Sahel savanna faces the following threats and measures: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Drought: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Long droughts kill grasses and trees in the Far North. The land then loses its plant cover.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82</a:t>
            </a:fld>
            <a:endParaRPr lang="en-US"/>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Grassland Vegetation Types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400" b="1" dirty="0">
                <a:solidFill>
                  <a:srgbClr val="990011"/>
                </a:solidFill>
                <a:latin typeface="Times New Roman" pitchFamily="34" charset="0"/>
                <a:ea typeface="Times New Roman" pitchFamily="34" charset="-122"/>
                <a:cs typeface="Times New Roman" pitchFamily="34" charset="-120"/>
              </a:rPr>
              <a:t>F) The Sahel Savanna: Threats and Measures</a:t>
            </a:r>
            <a:endParaRPr lang="en-US" sz="24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Overgrazing and tree cutting: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Herds eat the few plants, and people cut shrubs for fuelwood. Together with drought, this leads to desertification.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83</a:t>
            </a:fld>
            <a:endParaRPr lang="en-US"/>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Grassland Vegetation Types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F) The Sahel Savanna: Threats and Measures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Tree planting: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Operation Sahel Vert and the Great Green Wall plant trees in the Far North. The trees hold the soil and slow the advance of the desert.</a:t>
            </a:r>
            <a:endParaRPr lang="en-US" sz="3600" dirty="0"/>
          </a:p>
        </p:txBody>
      </p:sp>
      <p:pic>
        <p:nvPicPr>
          <p:cNvPr id="6" name="Image 0" descr="/home/claude/f4/img/v2/f2t_tree_planting_sahel.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tree planting in the Sahel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84</a:t>
            </a:fld>
            <a:endParaRPr lang="en-US"/>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Grassland Vegetation Types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400" b="1" dirty="0">
                <a:solidFill>
                  <a:srgbClr val="990011"/>
                </a:solidFill>
                <a:latin typeface="Times New Roman" pitchFamily="34" charset="0"/>
                <a:ea typeface="Times New Roman" pitchFamily="34" charset="-122"/>
                <a:cs typeface="Times New Roman" pitchFamily="34" charset="-120"/>
              </a:rPr>
              <a:t>F) The Sahel Savanna: Threats and Measures</a:t>
            </a:r>
            <a:endParaRPr lang="en-US" sz="24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Waza National Park: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park protects a large area of Sahel savanna and its wildlife. Grazing, cutting and hunting are controlled there.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85</a:t>
            </a:fld>
            <a:endParaRPr lang="en-US"/>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Domesticated Landscapes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Examples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main domesticated landscapes of Cameroon are the following:</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Plantations: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Natural forest has been replaced by plantations of oil palm, rubber and bananas, such as those of the CDC and SOCAPALM. They cover large areas of the coastal lowlands.</a:t>
            </a:r>
            <a:endParaRPr lang="en-US" sz="3200" dirty="0"/>
          </a:p>
        </p:txBody>
      </p:sp>
      <p:pic>
        <p:nvPicPr>
          <p:cNvPr id="6" name="Image 0" descr="/home/claude/f4/img/v2/lsa_oilpalm.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an oil palm plantation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86</a:t>
            </a:fld>
            <a:endParaRPr lang="en-US"/>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Domesticated Landscapes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Examples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Tea estates: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Tea is grown on the cool slopes of Tole near Buea and Ndu in the North-West. The rows of tea bushes have replaced the mountain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87</a:t>
            </a:fld>
            <a:endParaRPr lang="en-US"/>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Domesticated Landscapes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Examples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Cocoa agroforests: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Centre and South, cocoa is grown under the shade of tall forest trees. Part of the forest cover is therefore kept.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88</a:t>
            </a:fld>
            <a:endParaRPr lang="en-US"/>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Domesticated Landscapes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Examples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Eucalyptus plantations: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Western Highlands, eucalyptus trees are planted for poles and fuelwood. They have replaced much of the natural grassland and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89</a:t>
            </a:fld>
            <a:endParaRPr lang="en-US"/>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Domesticated Landscapes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Importance</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Domesticated landscapes are important in the following ways: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Food and raw materials: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These landscapes produce food, as well as raw materials such as palm oil and rubber for industry. They feed the population and the factories of the country.</a:t>
            </a:r>
            <a:endParaRPr lang="en-US" sz="3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90</a:t>
            </a:fld>
            <a:endParaRPr lang="en-US"/>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Domesticated Landscapes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Importance</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Export earnings: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Cocoa, bananas, tea and rubber are sold abroad. They bring foreign currency to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91</a:t>
            </a:fld>
            <a:endParaRPr lang="en-US"/>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Domesticated Landscapes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Importance</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Jobs and income: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Plantations and farms employ many workers, and smallholders earn income from their crops. This reduces poverty in rural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92</a:t>
            </a:fld>
            <a:endParaRPr lang="en-US"/>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Domesticated Landscapes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Problems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Domesticated landscapes cause the following problems: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Loss of natural forest: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Plantations replace large areas of natural forest. As a result, many plants and animals lose their habitats.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93</a:t>
            </a:fld>
            <a:endParaRPr lang="en-US"/>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Domesticated Landscapes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Problems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Drying of the soil by eucalyptus: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Eucalyptus trees use a lot of water and dry out the soil. Springs and streams near the plantations may dry up.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94</a:t>
            </a:fld>
            <a:endParaRPr lang="en-US"/>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types of savanna in Cameroon from south to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95</a:t>
            </a:fld>
            <a:endParaRPr lang="en-US"/>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Guinea, the Sudan and the Sahel savanna.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96</a:t>
            </a:fld>
            <a:endParaRPr lang="en-US"/>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threats to the rainforest.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97</a:t>
            </a:fld>
            <a:endParaRPr lang="en-US"/>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Logging and shifting cultivation (also mining and plantations).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98</a:t>
            </a:fld>
            <a:endParaRPr lang="en-US"/>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Salt-tolerant forests of estuaries are ______ forests.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Dja Reserve is a UNESCO World ______ Site.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99</a:t>
            </a:fld>
            <a:endParaRPr lang="en-US"/>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spread of desert conditions in the Far North is called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a:t>
            </a:fld>
            <a:endParaRPr lang="en-US"/>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drainage basins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101</a:t>
            </a:fld>
            <a:endParaRPr lang="en-US"/>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5: The Drainage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102</a:t>
            </a:fld>
            <a:endParaRPr lang="en-US"/>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104"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Vegetation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végétation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Forest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forêt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Savanna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savane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Mangrove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mangrove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Bush fire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feu de brousse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Reserve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réserve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Plantation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plantation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Desertification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désertification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103</a:t>
            </a:fld>
            <a:endParaRPr lang="en-US"/>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10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Geography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4: Vegetation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vegetation, forest, savanna and domesticated landscape. Describe the forest vegetation types of Cameroon. Describe the grassland vegetation types of Cameroon. Explain the threats to vegetation and the measures of protection.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vegetation types of Cameroon, their exploitation and the measures needed to protect them.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104</a:t>
            </a:fld>
            <a:endParaRPr lang="en-US"/>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10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Mangrove Forests: Distribution, Species and Exploitation; Mangrove Forests: Threats and Measures; The Equatorial Rainforest: Distribution, Species and Exploitation; The Equatorial Rainforest: Threats and Measures; Montane and Submontane Forests: Distribution, Species and Exploitation; Montane and Submontane Forests: Threats and Measures; Forest Reserves; The Guinea Savanna: Distribution, Species and Exploitation; The Guinea Savanna: Threats and Measures; The Sudan Savanna: Distribution, Species and Exploitation; The Sudan Savanna: Threats and Measures; The Sahel Savanna: Distribution, Species and Exploitation; The Sahel Savanna: Threats and Measures; Examples; Importance; Problems.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four drainage basins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105</a:t>
            </a:fld>
            <a:endParaRPr lang="en-US"/>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shade the vegetation zones on a sketch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show the coast on a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the vegetation around the school.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name tree-planting projects.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name plantations of Cameroon.</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106</a:t>
            </a:fld>
            <a:endParaRPr lang="en-US"/>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Geography of Cameroon.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Cameroon Geography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“Pitchavaram waterway - Mangrove forest” by Balaji.B Photography, CC BY 2.0, via Flickr (https://www.flickr.com/photos/81073027@N00/1745978833)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“Blue Wildebeest in the Lowveld” by Martin_Heigan, CC BY-NC-ND 2.0, via Flickr (https://www.flickr.com/photos/97303475@N00/2089079933)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“Nyando Climate Smart Villages Media Visit” by CGIAR Climate, CC BY-NC-SA 2.0, via Flickr (https://www.flickr.com/photos/55227776@N04/9720026817)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“Aerial view of oil palm plantation” by CIFOR, CC BY-NC-ND 2.0, via Flickr (https://www.flickr.com/photos/45423546@N07/38802487905)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(Distribution): “Bamenda, Cameroon” by jbdodane, CC BY-NC 2.0, via Flickr (https://www.flickr.com/photos/27998473@N02/11293877215)</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107</a:t>
            </a:fld>
            <a:endParaRPr lang="en-US"/>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(Distribution): “At Dang and its livestock market” by 10b travelling / Carsten ten Brink, CC BY-NC-ND 2.0, via Flickr (https://www.flickr.com/photos/77334245@N00/7311224966)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108</Slides>
  <Notes>108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108</vt:i4>
      </vt:variant>
    </vt:vector>
  </HeadingPairs>
  <TitlesOfParts>
    <vt:vector size="11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2026-10-06T05:41:37Z</dcterms:created>
  <dcterms:modified xsi:type="dcterms:W3CDTF">2026-10-06T05:41:37Z</dcterms:modified>
</cp:coreProperties>
</file>