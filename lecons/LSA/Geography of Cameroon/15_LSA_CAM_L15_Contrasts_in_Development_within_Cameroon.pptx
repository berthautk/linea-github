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Lst>
  <p:notesMasterIdLst>
    <p:notesMasterId r:id="rId7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notesMaster" Target="notesMasters/notesMaster1.xml"/><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Contrasts in Development within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Economic Activities and Development of Cameroon. The key notions we shall use today are: development, regional inequality, core, periphery, backwash effects, spread effects, indicators of development, decentralisation. At the end, you should be able to do this: learners are able to explain the contrasts in development between regions of Cameroon and assess the measures taken to reduce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Tourism Development in Cameroon. The question was: Name one region of Cameroon that is more developed and one that is less developed.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More developed: the Littoral (Douala) or the Centre (Yaoundé). Less developed: the Far North, the North or the Adamawa.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recall the models of Friedmann and Myrdal. Number 2: compare a prosperous region and a lagging region with indicators of development. Number 3: explain the factors of the inequality. Number 4: assess the measures attempted to reduce regional inequality.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Douala is the economic capital of Cameroon. The Adamawa is mainly a cattle-rearing region. Development means improving the living conditions of people.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Hamadou, from Garoua, wants to become a software engineer. He discovers that the best courses, the technology companies and fast internet are in Yaoundé and Douala, where his cousin has already found an internship. Hamadou asks: "Why are some regions of Cameroon so much more developed than others, and what can be done about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Development is unequal between regions, and Hamadou wants to know why and what can be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are the best opportunities?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Yaoundé and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unequal development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Regional inequality (contrasts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take part in the development of your region and support balanced national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regional inequalities in Cameroon and the policies to reduce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core and its periphery.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 skilled people and capital go in the core-periphery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Towards the core (the most developed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prosperous and lagging regions.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Is Douala a prosperous or a lagging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prosperous region (a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coastal lowlands and Adamawa compared.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region has more schools and hospitals?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coastal lowlands (Littoral).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natural advantage of the coastal lowlands.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Access to the sea (port), also oil and fertile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school.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building schools in lagging regions reduce inequality?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trains local people, who can find better jobs and develop their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Development and Regional inequality.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Core and Periphery.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Recall of the Models of Regional Inequality. Regional inequality is explained by the following models. Copy the point on Myrdal's cumulative causation (1957) on the left, then draw the diagram on the right: the core and the periphery.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Recall of the Models of Regional Inequality. Copy the point on Backwash and spread effects: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Recall of the Models of Regional Inequality. Copy the point on Friedmann's core-periphery model (1966):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Contrasting Regions: Case Study. The case study compares the following two regions. Copy the point on The prosperous region, the Coastal lowlands on the left, then draw the diagram on the right: a prosperous and a lagging region.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lagging region, the Adamawa on the left, then draw the diagram on the right: the Adamawa.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Economic Indicators. The differences between the two regions are shown by the following economic indicators. Copy the point on Income and poverty on the left, then draw the diagram on the right: indicators of development.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Economic Indicators. Copy the point on Employment: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Economic Indicators. Copy the point on Infrastructure: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Social Indicators. The differences are also shown by the following social indicators. Copy the point on Education: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Social Indicators. Copy the point on Health: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the Inequality. The inequality is explained by the following factors. Copy the point on Natural resources and position on the left, then draw the diagram on the right: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the Inequality. Copy the point on Human resources: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the Inequality. Copy the point on Historical factors: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the Inequality. Copy the point on Government policy and investment: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Political and Administrative Measures. Each measure reduces the gap between the rich coast and lagging regions such as the Adamawa and the North in the following way. Copy the point on Decentralisation: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Political and Administrative Measures. Copy the point on Regional development agencies (MEADEN in the North, MIDENO and UNVDA in the North-West):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Political and Administrative Measures. Copy the point on Special reconstruction plans (Far North, North-West, South-West):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Socio-Economic Measures. Each measure reduces the gap between the rich coast and lagging regions such as the Adamawa and the North in the following way. Copy the point on Roads and railway (National Road No. 1, Ngaoundéré–Garoua road, railway to Ngaoundéré):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Socio-Economic Measures. Copy the point on Electricity and water (Lagdo dam, rural electrification):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Socio-Economic Measures. Copy the point on Support to agriculture and livestock (SODECOTON, Adamawa livestock projects):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Socio-Economic Measures. Copy the point on Universities and hospitals (Ngaoundéré 1993, Maroua 2008, Garoua 2022; regional hospitals):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Difficulties and Challenges. These measures have only partly reduced inequality for the following reasons. Copy the point on Limited funding and poor management: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Difficulties and Challenges. Copy the point on Incomplete decentralisation: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Difficulties and Challenges. Copy the point on Insecurity: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Difficulties and Challenges. Copy the point on Strong backwash effects: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backwash and spread effects.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backwash effects draw labour and capital from poor regions to the core; spread effects are the growth that spreads from the core to poorer regions.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indicators that show that the coast is more developed than the Adamawa.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lower poverty and more schools and hospitals (also more formal jobs and better roads).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core; number 2, Myrdal; number 3, decentralisation.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indicators of development.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15: CONTRASTS IN DEVELOPMENT WITHIN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Contrasts in Development within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 and Development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Contrasts in Development within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regional inequality, core, periphery, backwash effects, spread effects, indicators of development, decentralisation.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Recall of the models of regional inequality (Friedmann and Myrdal); contrasting regions (case study: Adamawa versus the Coastal lowlands); indicators of differences in development; factors; measures attempted to reduce inequality.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contrasts in development between regions of Cameroon and assess the measures taken to reduce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Tourism Development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region of Cameroon that is more developed and one that is less developed.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developed: the Littoral (Douala) or the Centre (Yaoundé). Less developed: the Far North, the North or the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the models of Friedmann and Myrdal.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a prosperous region and a lagging region with indicators of development.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the inequality.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 measures attempted to reduce regional inequality.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is the economic capital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Adamawa is mainly a cattle-rearing region.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Development means improving the living conditions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Hamadou, from Garoua, wants to become a software engineer.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discovers that the best courses, the technology companies and fast internet are in Yaoundé and Douala, where his cousin has already found an internship.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Hamadou asks: "Why are some regions of Cameroon so much more developed than others, and what can be done about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Development is unequal between regions, and Hamadou wants to know why and what can be done.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best opportunities?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Yaoundé and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unequal development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Regional inequality (contrasts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Take part in the development of your region and support balanced national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regional inequalities in Cameroon and the policies to reduce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MODELS OF REGIONAL INEQUALITY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ore_peripher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core and its periphery.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MODELS OF REGIONAL INEQUALITY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skilled people and capital go in the core-periphery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MODELS OF REGIONAL INEQUALITY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Towards the core (the most developed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CONTRASTING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contra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Prosperous and lagging regions.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CONTRASTING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Douala a prosperous or a lagging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CONTRASTING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prosperous region (a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INDICATORS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dev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Coastal lowlands and Adamawa compared.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has more schools and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coastal lowlands (Littoral).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natural advantage of the coastal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Access to the sea (port), also oil and fertile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MEASURES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choo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school.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building schools in lagging regions reduce inequality?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trains local people, who can find better jobs and develop their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Economic Activities and Development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15: Contrasts in Development within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improvement of the living conditions of people (income, health, education,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Regional inequality: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unequal level of development between regions of a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prosperous region where population, capital and activities are concentrated.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Periphery: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less developed region that depends on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Recall of the Models of Regional Inequality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Regional inequality is explained by the following models: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Myrdal's cumulative causation (1957):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A region with an initial advantage, such as a port or a capital, attracts investment and grows. Its growth then attracts even more activities, so the advantage keeps increasing by a cumulative process.</a:t>
            </a:r>
            <a:endParaRPr lang="en-US" sz="2800" dirty="0"/>
          </a:p>
        </p:txBody>
      </p:sp>
      <p:pic>
        <p:nvPicPr>
          <p:cNvPr id="5" name="Image 0" descr="/home/claude/f4/img/v2/core_periphery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core and the periphery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Recall of the Models of Regional Inequality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Backwash and spread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growing region draws labour, capital and raw materials from poorer regions, which is the backwash effect. Later, some growth spreads to them through demand for their products, which is the spread effect, but backwash is often stronger.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Recall of the Models of Regional Inequality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Friedmann's core-periphery model (1966):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dominant core concentrates wealth, while a dependent periphery supplies it with labour and raw materials. Inequality grows in the early stages of development and may fall later, when development spreads to the periphery.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Contrasting Regions: Case Study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case study compares the following two regions: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prosperous region, the Coastal lowlands: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With Douala, Limbe and Kribi, the Coastal lowlands are the economic heart of Cameroon. They concentrate the port, industries, plantations, oil and most services.</a:t>
            </a:r>
            <a:endParaRPr lang="en-US" sz="3200" dirty="0"/>
          </a:p>
        </p:txBody>
      </p:sp>
      <p:pic>
        <p:nvPicPr>
          <p:cNvPr id="5" name="Image 0" descr="/home/claude/f4/img/v2/cmr_contrast_big.png">    </p:cNvPr>
          <p:cNvPicPr>
            <a:picLocks noChangeAspect="1"/>
          </p:cNvPicPr>
          <p:nvPr/>
        </p:nvPicPr>
        <p:blipFill>
          <a:blip r:embed="rId1"/>
          <a:stretch>
            <a:fillRect/>
          </a:stretch>
        </p:blipFill>
        <p:spPr>
          <a:xfrm>
            <a:off x="6537960" y="2550490"/>
            <a:ext cx="5470855" cy="273542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prosperous and a lagging region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Contrasting Regions: Case Study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lagging region, the Adamawa: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Adamawa is a high, landlocked plateau, sparsely populated and far from the sea. Its people live mainly from cattle rearing and farming.</a:t>
            </a:r>
            <a:endParaRPr lang="en-US" sz="3600" dirty="0"/>
          </a:p>
        </p:txBody>
      </p:sp>
      <p:pic>
        <p:nvPicPr>
          <p:cNvPr id="5" name="Image 0" descr="/home/claude/f4/img/v2/lsa_adamawa.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Adamawa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Indicators of Differences in Development</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Economic Indicators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differences between the two regions are shown by the following economic indicators: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Income and poverty: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In 2014, only about 4 % of the people of Douala were poor, against about 47 % in the Adamawa. Incomes are therefore much higher on the coast.</a:t>
            </a:r>
            <a:endParaRPr lang="en-US" sz="3000" dirty="0"/>
          </a:p>
        </p:txBody>
      </p:sp>
      <p:pic>
        <p:nvPicPr>
          <p:cNvPr id="6" name="Image 0" descr="/home/claude/f4/img/v2/cmr_dev_table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indicators of development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Indicators of Differences in Development</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Economic Indicators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 offers many formal jobs in industry, the port and services, with regular wages. In the Adamawa, most people work in farming and herding, with low and irregular incomes.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Indicators of Differences in Development</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Economic Indicators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Paved roads, electricity, piped water and internet are much better on the coast. Many villages of the Adamawa still lack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Indicators of Differences in Development</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Social Indicators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differences are also shown by the following social indicators: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 has many schools and universities, such as those of Douala and Buea. The Adamawa has fewer schools, and school enrolment is lower.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Indicators of Differences in Development</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Social Indicators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 has many hospitals and doctors. In the Adamawa, health centres are fewer and farther apart, so many people lack care.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of the Inequality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inequality is explained by the following factors: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Natural resources and position: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coast has the sea, oil, gas and fertile volcanic soils, and it is the gateway for trade. The Adamawa is landlocked, far from the ports and has poorer soils.</a:t>
            </a:r>
            <a:endParaRPr lang="en-US" sz="3200" dirty="0"/>
          </a:p>
        </p:txBody>
      </p:sp>
      <p:pic>
        <p:nvPicPr>
          <p:cNvPr id="5" name="Image 0" descr="/home/claude/f4/img/v2/lsa_douala.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Douala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of the Inequality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 attracts skilled people and has more educated workers. The Adamawa loses many of its young people to the towns of the south, which is the backwash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of the Inequality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Historical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colonial rulers invested first on the coast, where they built the port, the railway and the plantations. This early advantage has lasted until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of the Inequality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Government policy and investment: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a long time, public investment was concentrated in Douala and Yaoundé. This attracted private investment there and left other regions behind.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Political and Administrative Measures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Each measure reduces the gap between the rich coast and lagging regions such as the Adamawa and the North in the following way:</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Decentralisation: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The State transfers powers and money to elected Regional Councils (since 2020) and to councils. It reduces inequality because decisions and money are no longer concentrated in Yaoundé; each region can spend its own budget on its own roads, schools and water points.</a:t>
            </a:r>
            <a:endParaRPr lang="en-US" sz="3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Political and Administrative Measures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Regional development agencies (MEADEN in the North, MIDENO and UNVDA in the North-West):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These bodies bring projects, technicians and money to regions that private investors neglect. They reduce inequality because they replace the missing private investment and create jobs and income where there were few.</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Political and Administrative Measures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Special reconstruction plans (Far North, North-West, South-West):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The State rebuilds schools, health centres and roads destroyed by insecurity. They reduce inequality because they stop these regions from falling further behind and allow people to return and work.</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Socio-Economic Measures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Each measure reduces the gap between the rich coast and lagging regions such as the Adamawa and the North in the following way:</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Roads and railway (National Road No. 1, Ngaoundéré–Garoua road, railway to Ngaoundéré):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Remote regions are connected to markets and to the port of Douala. This reduces inequality because transport becomes cheaper and faster, so farmers and herders sell more at better prices, and firms can settle outside the coast.</a:t>
            </a:r>
            <a:endParaRPr lang="en-US" sz="2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Socio-Economic Measures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Electricity and water (Lagdo dam, rural electrification):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receives electricity and water for irrigation. This reduces inequality because factories, mills and shops can work, and irrigated rice gives farmers a second harvest and more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Socio-Economic Measures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Support to agriculture and livestock (SODECOTON, Adamawa livestock projects):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Farmers receive seeds, fertiliser and a guaranteed market. This reduces inequality because it raises incomes in rural regions whose economy depends almost only on farming and herding.</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Socio-Economic Measures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Universities and hospitals (Ngaoundéré 1993, Maroua 2008, Garoua 2022; regional hospitals):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Higher education and health care come closer to the people. This reduces inequality because young people study near home instead of leaving for Douala or Yaoundé, skilled workers stay in their region, and people live healthier and work more.</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Difficulties and Challenges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These measures have only partly reduced inequality for the following reasons: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Limited funding and poor management: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national budget is small, large projects such as roads and dams often depend on foreign loans, and part of the money is misused. As a result, many projects in lagging regions are delayed, badly built or left unfinished.</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Difficulties and Challenges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Incomplete decentralisation: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Regional and local councils still receive only a small share of the State budget and lack qualified staff. They therefore cannot really plan and finance their own development, and many decisions are still taken in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Difficulties and Challenges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Insecurity: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Boko Haram attacks in the Far North and the crisis in the North-West and South-West have destroyed schools, health centres, markets and roads. Investors and civil servants avoid these regions, and many people have fled, so the gap with the coast has widened.</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Difficulties and Challenges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Strong backwash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 keep attracting capital, industries and educated young people from the whole country. Growth spreads to the periphery much more slowly than resources leave it, as Myrdal's model predicts.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backwash and spread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Backwash effects draw labour and capital from poor regions to the core; spread effects are the growth that spreads from the core to poorer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indicators that show that the coast is more developed than the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Lower poverty and more schools and hospitals (also more formal jobs and better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prosperous region in the core-periphery model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model of cumulative causation was proposed by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Giving powers to regional and local councils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indicators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Regional inequality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L'inégalité régionale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Periphery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périphérie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Poverty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pauvreté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Indicator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L'indicateur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Decentralisation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décentralisation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Infrastructure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L'infrastructure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Contrasts in Development within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the models of Friedmann and Myrdal. Compare a prosperous region and a lagging region with indicators of development. Explain the factors of the inequality. Assess the measures attempted to reduce regional inequality.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contrasts in development between regions of Cameroon and assess the measures taken to reduce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Recall of the Models of Regional Inequality; The Contrasting Regions: Case Study; Economic Indicators; Social Indicators; Factors of the Inequality; Political and Administrative Measures; Socio-Economic Measures; Difficulties and Challenges.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indicators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core and its periphery.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mark cores and lagging regions.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Douala and Ngaoundéré.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new universities of the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INS, Fourth Cameroon Household Survey (ECAM 4), 2014.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“Students in Primary Seven at Zanaki Primary School” by World Bank Photo Collection, CC BY-NC-ND 2.0, via Flickr (https://www.flickr.com/photos/10816734@N03/33423887921)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 lagging region, the Adamawa): “At Dang and its livestock market” by 10b travelling / Carsten ten Brink, CC BY-NC-ND 2.0, via Flickr (https://www.flickr.com/photos/77334245@N00/7311224966)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74</Slides>
  <Notes>74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74</vt:i4>
      </vt:variant>
    </vt:vector>
  </HeadingPairs>
  <TitlesOfParts>
    <vt:vector size="7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2026-10-06T05:41:46Z</dcterms:created>
  <dcterms:modified xsi:type="dcterms:W3CDTF">2026-10-06T05:41:46Z</dcterms:modified>
</cp:coreProperties>
</file>