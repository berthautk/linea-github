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notesMasterIdLst>
    <p:notesMasterId r:id="rId8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notesMaster" Target="notesMasters/notesMaster1.xml"/><Relationship Id="rId88" Type="http://schemas.openxmlformats.org/officeDocument/2006/relationships/presProps" Target="presProps.xml"/><Relationship Id="rId89" Type="http://schemas.openxmlformats.org/officeDocument/2006/relationships/viewProps" Target="viewProps.xml"/><Relationship Id="rId90" Type="http://schemas.openxmlformats.org/officeDocument/2006/relationships/theme" Target="theme/theme1.xml"/><Relationship Id="rId9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Contrasts in Development within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Economic Activities and Development of Cameroon. The key notions we shall use today are: development, regional inequality, core, periphery, backwash effects, spread effects, indicators of development, decentralisation. At the end, you should be able to do this: learners are able to explain the contrasts in development between regions of Cameroon and assess the measures taken to reduce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Tourism Development in Cameroon. The question was: Name one region of Cameroon that is more developed and one that is less developed.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More developed: the Littoral (Douala) or the Centre (Yaoundé). Less developed: the Far North, the North or the Adamawa.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recall the models of Friedmann and Myrdal. Number 2: compare a prosperous region and a lagging region with indicators of development. Number 3: explain the factors of the inequality. Number 4: assess the measures attempted to reduce regional inequality.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Douala is the economic capital of Cameroon. The Adamawa is mainly a cattle-rearing region. Development means improving the living conditions of people.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Hamadou, from Garoua, wants to become a software engineer. He discovers that the best courses, the technology companies and fast internet are in Yaoundé and Douala, where his cousin has already found an internship. Hamadou asks: "Why are some regions of Cameroon so much more developed than others, and what can be done about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Development is unequal between regions, and Hamadou wants to know why and what can be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are the best opportunities?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Yaoundé and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unequal development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Regional inequality (contrasts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take part in the development of your region and support balanced national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regional inequalities in Cameroon and the policies to reduce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core and its periphery.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 skilled people and capital go in the core-periphery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Towards the core (the most developed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prosperous and lagging regions.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Is Douala a prosperous or a lagging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prosperous region (a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coastal lowlands and Adamawa compared.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region has more schools and hospitals?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coastal lowlands (Littoral).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natural advantage of the coastal lowlands.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Access to the sea (port), also oil and fertile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school.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building schools in lagging regions reduce inequality?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trains local people, who can find better jobs and develop their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Development and Regional inequality.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Core and Periphery.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Recall of the Models of Regional Inequality. The models of regional inequality are the following. Copy the point on Myrdal (cumulative causation, 1957) on the left, then draw the diagram on the right: core and periphery.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Recall of the Models of Regional Inequality. On this slide we have Backwash and spread effects.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Recall of the Models of Regional Inequality. On this slide we have Friedmann (core-periphery, 1966).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Contrasting Regions: Case Study. The case study compares the following two regions. Copy the point on Prosperous region: the Coastal lowlands on the left, then draw the diagram on the right: prosperous and lagging regions.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Lagging region: the Adamawa on the left, then draw the diagram on the right: the Adamawa Plateau.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Indicators of Differences in Development. The indicators of the differences between the two regions are the following. Copy the point on Income and poverty on the left, then draw the diagram on the right: indicators compared.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Indicators of Differences in Development. On this slide we have Employment and Education.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Indicators of Differences in Development. On this slide we have Health and Other infrastructure.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the Inequality. The inequality is explained by the following factors. Copy the point on Natural resources and position on the left, then draw the diagram on the right: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the Inequality. On this slide we have Human resources and Historical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the Inequality. On this slide we have Government policy and investment.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Political and Administrative Measures. Each measure reduces the gap between the rich coast and lagging regions such as the Adamawa and the North in the following way. Copy this carefully.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Political and Administrative Measures. On this slide we have Decentralisation.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Political and Administrative Measures. Copy this carefully.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Political and Administrative Measures. On this slide we have Regional development agencies (MEADEN in the North, MIDENO and UNVDA in the North-West).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Political and Administrative Measures. Copy this carefully.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Political and Administrative Measures. On this slide we have Special reconstruction plans (Far North, North-West, South-West).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Political and Administrative Measures.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Socio-Economic Measures. Each measure reduces the gap between the rich coast and lagging regions such as the Adamawa and the North in the following way. Copy this carefully.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Socio-Economic Measures. On this slide we have Roads and railway (National Road No. 1, Ngaoundéré–Garoua road, railway to Ngaoundéré).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Socio-Economic Measures. Copy this carefully.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Socio-Economic Measures. On this slide we have Electricity and water (Lagdo dam, rural electrification).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Socio-Economic Measures. Copy this carefully.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Socio-Economic Measures. On this slide we have Support to agriculture and livestock (SODECOTON, Adamawa livestock projects).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Socio-Economic Measures. Copy this carefully.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Socio-Economic Measures. On this slide we have Universities and hospitals (Ngaoundéré 1993, Maroua 2008, Garoua 2022; regional hospitals).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Socio-Economic Measures.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Difficulties and Challenges. These measures have only partly reduced inequality for the following reasons. Copy this carefully.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Difficulties and Challenges. On this slide we have Limited funding and poor management.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Difficulties and Challenges. Copy this carefully.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Difficulties and Challenges. On this slide we have Incomplete decentralisation.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Difficulties and Challenges. Copy this carefully.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Difficulties and Challenges. On this slide we have Insecurity.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Difficulties and Challenges. Copy this carefully.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Difficulties and Challenges. On this slide we have Strong backwash effects.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Difficulties and Challenges.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backwash and spread effects.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backwash effects draw labour and capital from poor regions to the core; spread effects are the growth that spreads from the core to poorer regions.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indicators that show that the coast is more developed than the Adamawa.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lower poverty and more schools and hospitals (also more formal jobs and better roads).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core; number 2, Myrdal; number 3, decentralisation.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indicators of development.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15: CONTRASTS IN DEVELOPMENT WITHIN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2.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slideLayout" Target="../slideLayouts/slideLayout2.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Contrasts in Development within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 and Development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Contrasts in Development within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regional inequality, core, periphery, backwash effects, spread effects, indicators of development, decentralisation.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Recall of the models of regional inequality (Friedmann and Myrdal); contrasting regions (case study: Adamawa versus the Coastal lowlands); indicators of differences in development; factors; measures attempted to reduce inequality.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contrasts in development between regions of Cameroon and assess the measures taken to reduce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Tourism Development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region of Cameroon that is more developed and one that is less developed.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developed: the Littoral (Douala) or the Centre (Yaoundé). Less developed: the Far North, the North or the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the models of Friedmann and Myrdal.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a prosperous region and a lagging region with indicators of development.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 inequality.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 measures attempted to reduce regional inequality.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is the economic capital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Adamawa is mainly a cattle-rearing region.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Development means improving the living conditions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Hamadou, from Garoua, wants to become a software engineer.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discovers that the best courses, the technology companies and fast internet are in Yaoundé and Douala, where his cousin has already found an internship.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Hamadou asks: "Why are some regions of Cameroon so much more developed than others, and what can be done about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Development is unequal between regions, and Hamadou wants to know why and what can be done.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best opportunities?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Yaoundé and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unequal development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Regional inequality (contrasts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Take part in the development of your region and support balanced national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regional inequalities in Cameroon and the policies to reduce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MODELS OF REGIONAL INEQUALITY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ore_peripher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core and its periphery.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MODELS OF REGIONAL INEQUALITY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skilled people and capital go in the core-periphery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MODELS OF REGIONAL INEQUALITY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Towards the core (the most developed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CONTRASTING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contra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Prosperous and lagging regions.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CONTRASTING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Douala a prosperous or a lagging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CONTRASTING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prosperous region (a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INDICATORS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dev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Coastal lowlands and Adamawa compared.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has more schools and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coastal lowlands (Littoral).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natural advantage of the coastal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Access to the sea (port), also oil and fertile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MEASURES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choo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school.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building schools in lagging regions reduce inequality?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trains local people, who can find better jobs and develop their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Economic Activities and Development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15: Contrasts in Development within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improvement of the living conditions of people (income, health, education,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Regional inequality: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unequal level of development between regions of a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prosperous region where population, capital and activities are concentrated.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Periphery: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less developed region that depends on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Recall of the Models of Regional Inequality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models of regional inequality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Myrdal (cumulative causation, 1957):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An initial advantage (a port, a capital) attracts investment and grows by a cumulative process.</a:t>
            </a:r>
            <a:endParaRPr lang="en-US" sz="3200" dirty="0"/>
          </a:p>
        </p:txBody>
      </p:sp>
      <p:pic>
        <p:nvPicPr>
          <p:cNvPr id="5" name="Image 0" descr="/home/claude/f4/img/v2/core_periphery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core and periphery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Recall of the Models of Regional Inequality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Backwash and spread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growing region draws labour, capital and raw materials from poorer regions (backwash), and later some growth spreads to them (spread), but backwash is often stronger.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Recall of the Models of Regional Inequality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Friedmann (core-periphery, 1966):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dominant core and a dependent periphery; inequality grows in the early stages and may fall later when development spreads.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Contrasting Regions: Case Study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case study compares the following two regions: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Prosperous region: the Coastal lowlands: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With Douala, Limbe and Kribi, they are the economic heart of Cameroon: port, industries, plantations, oil, services.</a:t>
            </a:r>
            <a:endParaRPr lang="en-US" sz="3200" dirty="0"/>
          </a:p>
        </p:txBody>
      </p:sp>
      <p:pic>
        <p:nvPicPr>
          <p:cNvPr id="5" name="Image 0" descr="/home/claude/f4/img/v2/cmr_contrast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prosperous and lagging regions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Contrasting Regions: Case Study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Lagging region: the Adamawa: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high, landlocked plateau, sparsely populated, living mainly from cattle rearing and farming.</a:t>
            </a:r>
            <a:endParaRPr lang="en-US" sz="3600" dirty="0"/>
          </a:p>
        </p:txBody>
      </p:sp>
      <p:pic>
        <p:nvPicPr>
          <p:cNvPr id="5" name="Image 0" descr="/home/claude/f4/img/v2/lsa_adamaw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Adamawa Plateau</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Indicators of Differences in Development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indicators of the differences between the two regions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Income and poverty: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Poverty is very low in Douala (about 4 % of people in 2014) but high in the Adamawa (about 47 %).</a:t>
            </a:r>
            <a:endParaRPr lang="en-US" sz="3000" dirty="0"/>
          </a:p>
        </p:txBody>
      </p:sp>
      <p:pic>
        <p:nvPicPr>
          <p:cNvPr id="5" name="Image 0" descr="/home/claude/f4/img/v2/cmr_dev_tabl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indicators compared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Indicators of Differences in Development</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formal jobs in industry, the port and services on the coast; mostly farming and herding in the Adamawa.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schools and universities (Douala, Buea) on the coast; fewer schools and lower school enrolment in the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Indicators of Differences in Development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hospitals and doctors on the coast; fewer health centres in the Adamawa.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Paved roads, electricity, water and internet are much better on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of the Inequality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inequality is explained by the following factors: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Natural resources and position: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coast has the sea, oil, gas and fertile soils; the Adamawa is landlocked and far from the ports.</a:t>
            </a:r>
            <a:endParaRPr lang="en-US" sz="3200" dirty="0"/>
          </a:p>
        </p:txBody>
      </p:sp>
      <p:pic>
        <p:nvPicPr>
          <p:cNvPr id="5" name="Image 0" descr="/home/claude/f4/img/v2/lsa_doual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Douala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of the Inequality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 attracts skilled people and has more educated workers; the Adamawa loses young people (backwash).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Historical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Colonial rulers invested first on the coast (port, railway,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of the Inequality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Government policy and investment: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Investment has long been concentrated in Douala and Yaoundé, attracting private investment.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A) Political and Administrative Measures</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Each measure reduces the gap between the rich coast and lagging regions such as the Adamawa and the North in the following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A) Political and Administrative Measures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Decentralisation: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State transfers powers and money to elected Regional Councils (since 2020) and to councils.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A) Political and Administrative Measures (continued)</a:t>
            </a:r>
            <a:endParaRPr lang="en-US" sz="23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reduces inequality because decisions and money are no longer concentrated in Yaoundé; each region can spend its own budget on its own roads, schools and water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A) Political and Administrative Measures (continued)</a:t>
            </a:r>
            <a:endParaRPr lang="en-US" sz="23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Regional development agencies (MEADEN in the North, MIDENO and UNVDA in the North-West):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These bodies bring projects, technicians and money to regions that private investors neglect.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A) Political and Administrative Measures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reduce inequality because they replace the missing private investment and create jobs and income where there were few.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A) Political and Administrative Measures (continued)</a:t>
            </a:r>
            <a:endParaRPr lang="en-US" sz="23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Special reconstruction plans (Far North, North-West, South-West):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State rebuilds schools, health centres and roads destroyed by insecurity.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A) Political and Administrative Measures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reduce inequality because they stop these regions from falling further behind and allow people to return and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Socio-Economic Measures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Each measure reduces the gap between the rich coast and lagging regions such as the Adamawa and the North in the following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Socio-Economic Measures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Roads and railway (National Road No. 1, Ngaoundéré–Garoua road, railway to Ngaoundéré):</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Remote regions are connected to markets and to the port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Socio-Economic Measures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This reduces inequality because transport becomes cheaper and faster, so farmers and herders sell more at better prices, and firms can settle outside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Socio-Economic Measures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Electricity and water (Lagdo dam, rural electrification):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 receives electricity and water for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Socio-Economic Measures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This reduces inequality because factories, mills and shops can work, and irrigated rice gives farmers a second harvest and more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Socio-Economic Measures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Support to agriculture and livestock (SODECOTON, Adamawa livestock projects):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receive seeds, fertiliser and a guaranteed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Socio-Economic Measures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This reduces inequality because it raises incomes in rural regions whose economy depends almost only on farming and herding.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Socio-Economic Measures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Universities and hospitals (Ngaoundéré 1993, Maroua 2008, Garoua 2022; regional hospitals):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Higher education and health care come closer to the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Socio-Economic Measures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This reduces inequality because young people study near home instead of leaving for Douala or Yaoundé, skilled workers stay in their region, and people live healthier and work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Difficulties and Challenges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measures have only partly reduced inequality for the following reasons: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Difficulties and Challenges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Limited funding and poor management: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national budget is small, large projects such as roads and dams often depend on foreign loans, and part of the money is misused.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C) Difficulties and Challenges (continued)</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As a result, many projects in lagging regions are delayed, badly built or left unfinished.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C) Difficulties and Challenges (continued)</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Incomplete decentralisation: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Regional and local councils still receive only a small share of the State budget and lack qualified staff.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C) Difficulties and Challenges (continued)</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therefore cannot really plan and finance their own development, and many decisions are still taken in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C) Difficulties and Challenges (continued)</a:t>
            </a:r>
            <a:endParaRPr lang="en-US" sz="29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Boko Haram attacks in the Far North and the crisis in the North-West and South-West have destroyed schools, health centres, markets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C) Difficulties and Challenges (continued)</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Investors and civil servants avoid these regions, and many people have fled, so the gap with the coast has widened.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C) Difficulties and Challenges (continued)</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Strong backwash effects: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and Yaoundé keep attracting capital, industries and educated young people from the whole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C) Difficulties and Challenges (continued)</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Growth spreads to the periphery much more slowly than resources leave it, as Myrdal's model predicts.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backwash and spread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Backwash effects draw labour and capital from poor regions to the core; spread effects are the growth that spreads from the core to poorer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indicators that show that the coast is more developed than the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Lower poverty and more schools and hospitals (also more formal jobs and better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prosperous region in the core-periphery model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model of cumulative causation was proposed by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Giving powers to regional and local councils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indicators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8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Regional inequality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L'inégalité régionale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Periphery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périphérie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Poverty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pauvreté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Indicator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L'indicateur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Decentralisation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décentralisation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Infrastructure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L'infrastructure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8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Contrasts in Development within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the models of Friedmann and Myrdal. Compare a prosperous region and a lagging region with indicators of development. Explain the factors of the inequality. Assess the measures attempted to reduce regional inequality.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contrasts in development between regions of Cameroon and assess the measures taken to reduce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8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Recall of the Models of Regional Inequality; The Contrasting Regions: Case Study; Indicators of Differences in Development; Factors of the Inequality; Political and Administrative Measures; Socio-Economic Measures; Difficulties and Challenges.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indicators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core and its periphery.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mark cores and lagging regions.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Douala and Ngaoundéré.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new universities of the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INS, Fourth Cameroon Household Survey (ECAM 4), 2014.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“Students in Primary Seven at Zanaki Primary School” by World Bank Photo Collection, CC BY-NC-ND 2.0, via Flickr (https://www.flickr.com/photos/10816734@N03/33423887921)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(Lagging region: the Adamawa): “At Dang and its livestock market” by 10b travelling / Carsten ten Brink, CC BY-NC-ND 2.0, via Flickr (https://www.flickr.com/photos/77334245@N00/7311224966)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85</Slides>
  <Notes>85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85</vt:i4>
      </vt:variant>
    </vt:vector>
  </HeadingPairs>
  <TitlesOfParts>
    <vt:vector size="8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2026-09-29T08:36:15Z</dcterms:created>
  <dcterms:modified xsi:type="dcterms:W3CDTF">2026-09-29T08:36:15Z</dcterms:modified>
</cp:coreProperties>
</file>