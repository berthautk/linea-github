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Lst>
  <p:notesMasterIdLst>
    <p:notesMasterId r:id="rId7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notesMaster" Target="notesMasters/notesMaster1.xml"/><Relationship Id="rId78" Type="http://schemas.openxmlformats.org/officeDocument/2006/relationships/presProps" Target="presProps.xml"/><Relationship Id="rId79" Type="http://schemas.openxmlformats.org/officeDocument/2006/relationships/viewProps" Target="viewProps.xml"/><Relationship Id="rId80" Type="http://schemas.openxmlformats.org/officeDocument/2006/relationships/theme" Target="theme/theme1.xml"/><Relationship Id="rId8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10: Management of Mineral and Energy Resources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Geography of Cameroon.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Geography of Cameroon, and the sub-topic is Population, Settlement and Resources of Cameroon. The key notions we shall use today are: mineral, energy resource, hydrocarbons, open-pit mining, artisanal mining, stakeholder, mining code, sustainable exploitation. At the end, you should be able to do this: learners are able to locate the mineral and energy resources of Cameroon, explain their low exploitation and propose measures for sustainable management.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9: Management of Forest Resources in Cameroon. The question was: Name two minerals exploited in Cameroon.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crude oil, natural gas, limestone, gold, bauxite (planned) and iron ore (planned).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four things. Number 1: explain the low level of exploitation of minerals in Cameroon. Number 2: describe the types and distribution of minerals and energy resources. Number 3: describe the methods of exploitation and the stakeholders. Number 4: explain the problems, state efforts, benefits and measures for sustainable exploitation.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Minerals are natural substances taken from the ground. Oil is extracted near the coast of Cameroon. Most electricity in Cameroon comes from dams.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Oumarou hears on the news that the state has signed an agreement to exploit the iron ore of Mbalam in the East, with a railway to the port of Kribi. His uncle, an artisanal gold miner near Batouri, works with shovels and pans. Oumarou asks his father: "If Cameroon is so rich in minerals, why are so few of them exploited, and how can they benefit the country?"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Oumarou does not understand why the rich minerals of Cameroon are little exploited and how they can benefit the country.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mineral is found at Mbalam?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Iron 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How does the uncle mine gold?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By hand, with shovels and pans (artisanal mining).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save energy at home and support the responsible use of mineral wealth.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mineral and energy wealth of Cameroon and the conditions for using it well.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minerals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Where are the bauxite deposits of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At Minim-Martap and Ngaoundal (Adamawa) and Fongo-Tongo (West).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an offshore oil platform.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Where is most of Cameroon's oil extracted?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Offshore, in the Rio del Rey basin (and the Douala/Kribi-Campo basin).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artisanal miners.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are the characteristics of artisanal mining?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uses simple tools and much labour, and it is often informal.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dam on the Sanaga.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does mining need dams and railways?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Mines need a lot of electricity and transport for heavy 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an open-pit mine.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must a mining company do when the mine closes?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Restore the land (fill, replant trees).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Mineral.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Energy resource and Artisanal mining.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Sustainable exploitation.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Introduction: A Low Level of Exploitation. The mineral wealth of Cameroon and its level of exploitation are the following. Copy the point on Rich subsoil on the left, then draw the diagram on the right: minerals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Introduction: A Low Level of Exploitation. On this slide we have Little exploitation and Little local use.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Energy Minerals and Energy Resources. The energy resources of Cameroon are the following. Copy the point on Crude oil on the left, then draw the diagram on the right: an offshore platform.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Energy Minerals and Energy Resources. On this slide we have Natural gas.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Energy Minerals and Energy Resources. On this slide we have Hydroelectricity and Other sources.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Metallic and Industrial Minerals. The main metallic and industrial minerals are the following. On this slide we have Iron ore.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Bauxite on the left, then draw the diagram on the right: bauxite.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Metallic and Industrial Minerals. On this slide we have Cobalt, nickel and manganese and Gold and diamonds.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Metallic and Industrial Minerals. On this slide we have Industrial minerals.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Methods of Exploitation and Stakeholders. The methods of exploitation and the stakeholders are the following. Copy the point on Industrial mining on the left, then draw the diagram on the right: an open-pit mine.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Artisanal mining on the left, then draw the diagram on the right: artisanal miners.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Methods of Exploitation and Stakeholders. On this slide we have The state.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Methods of Exploitation and Stakeholders. On this slide we have Companies and communities.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Uses of the Minerals. Minerals are used in the following ways. On this slide we have Oil and Gas.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Uses of the Minerals. On this slide we have Limestone, Bauxite and iron ore and Gold and diamonds.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Problems Hindering Exploitation. The exploitation of minerals faces the following problems. On this slide we have Lack of infrastructure.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Hindering Exploitation. On this slide we have High investment costs and Poor geological knowledge.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Hindering Exploitation. On this slide we have Governance problems and Falling oil output.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Recent State Efforts. The state has taken the following measures. On this slide we have Mining Code.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Infrastructure on the left, then draw the diagram on the right: the Nachtigal dam site.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Recent State Efforts. On this slide we have Institutions and Partnerships.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Benefits and Sustainable Exploitation. The benefits of mineral exploitation and the measures for sustainable exploitation are the following. On this slide we have Benefits.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Benefits and Sustainable Exploitation. On this slide we have Environmental impact assessments, Land restoration and Community development.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Benefits and Sustainable Exploitation. On this slide we have Transparency.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two minerals of the East Region and their location.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iron ore at Mbalam and gold at Bétaré-Oya (also cobalt-nickel at Lomié).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problems that hinder mineral exploitation in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lack of infrastructure and high investment costs.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SONARA; number 2, Figuil; number 3, artisanal.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the dam built on the Benue.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11: Management of Water Resources in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10: MANAGEMENT OF MINERAL AND ENERGY RESOURCES IN CAMEROON</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jp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jp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jp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2.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2.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2.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2.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2.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2.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2.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slideLayout" Target="../slideLayouts/slideLayout2.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slideLayout" Target="../slideLayouts/slideLayout2.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2.xml"/><Relationship Id="rId3" Type="http://schemas.openxmlformats.org/officeDocument/2006/relationships/notesSlide" Target="../notesSlides/notesSlide7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10</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Management of Mineral and Energy Resources in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Geography of Cameroon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Geography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Settlement and Resources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10: Management of Mineral and Energy Resources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Mineral, energy resource, hydrocarbons, open-pit mining, artisanal mining, stakeholder, mining code, sustainable exploitation.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Low level of exploitation; types, distribution, quality and quantity of minerals; methods and stakeholders; uses (including energy minerals); problems and recent state efforts; benefits; measures for sustainable exploitation.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locate the mineral and energy resources of Cameroon, explain their low exploitation and propose measures for sustainable management.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9: Management of Forest Resources in Cameroon):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minerals exploited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crude oil, natural gas, limestone, gold, bauxite (planned) and iron ore (planned).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low level of exploitation of minerals in Cameroon.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types and distribution of minerals and energy resources.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methods of exploitation and the stakeholders.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problems, state efforts, benefits and measures for sustainable exploitation.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Minerals are natural substances taken from the ground.</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Oil is extracted near the coast of Cameroon.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Most electricity in Cameroon comes from dams.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Oumarou hears on the news that the state has signed an agreement to exploit the iron ore of Mbalam in the East, with a railway to the port of Kribi.</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His uncle, an artisanal gold miner near Batouri, works with shovels and pans.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Oumarou does not understand why the rich minerals of Cameroon are little exploited and how they can benefit the country.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mineral is found at Mbalam?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Iron ore.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the uncle mine gold?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hand, with shovels and pans (artisanal mining).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Save energy at home and support the responsible use of mineral wealth.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mineral and energy wealth of Cameroon and the conditions for using it well.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AND DISTRIBUTION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mr_minerals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Minerals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AND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are the bauxite deposits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AND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Minim-Martap and Ngaoundal (Adamawa) and Fongo-Tongo (West).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AND DISTRIBUTION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offshor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offshore oil platform.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AND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most of Cameroon's oil extracted?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TYPES AND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Offshore, in the Rio del Rey basin (and the Douala/Kribi-Campo basin).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METHODS AND STAKEHOLDERS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goldminer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Artisanal miners.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METHODS AND STAKEHOLDERS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are the characteristics of artisanal mining?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METHODS AND STAKEHOLDERS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uses simple tools and much labour, and it is often informal.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PROBLEMS AND STATE EFFORTS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nachtiga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dam on the Sanaga.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PROBLEMS AND STATE EFFORTS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mining need dams and railways?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PROBLEMS AND STATE EFFORTS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Mines need a lot of electricity and transport for heavy ores.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BENEFITS AND SUSTAINABILITY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openpi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open-pit mine.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BENEFITS AND SUSTAINABILITY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must a mining company do when the mine closes?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BENEFITS AND SUSTAINABILITY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Restore the land (fill, replant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Geography of Cameroon</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Population, Settlement and Resources of Cameroon</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10: Management of Mineral and Energy Resources in Cameroon</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Mineral: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natural substance obtained from the Earth's crust, such as iron ore, bauxite or gold.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Energy resource: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source of power, such as oil, gas, water (hydroelectricity) or the sun.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Artisanal mining: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small-scale mining with simple tools and much labour.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Sustainable exploitation: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use of resources that meets present needs without destroying them for future generations.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Introduction: A Low Level of Exploitation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200" i="1" dirty="0">
                <a:solidFill>
                  <a:srgbClr val="111111"/>
                </a:solidFill>
                <a:latin typeface="Times New Roman" pitchFamily="34" charset="0"/>
                <a:ea typeface="Times New Roman" pitchFamily="34" charset="-122"/>
                <a:cs typeface="Times New Roman" pitchFamily="34" charset="-120"/>
              </a:rPr>
              <a:t>The mineral wealth of Cameroon and its level of exploitation are the following:</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Rich subsoil: </a:t>
            </a:r>
            <a:pPr algn="l" indent="0" marL="0">
              <a:spcAft>
                <a:spcPts val="800"/>
              </a:spcAft>
              <a:buNone/>
            </a:pPr>
            <a:r>
              <a:rPr lang="en-US" sz="3200" dirty="0">
                <a:solidFill>
                  <a:srgbClr val="111111"/>
                </a:solidFill>
                <a:latin typeface="Times New Roman" pitchFamily="34" charset="0"/>
                <a:ea typeface="Times New Roman" pitchFamily="34" charset="-122"/>
                <a:cs typeface="Times New Roman" pitchFamily="34" charset="-120"/>
              </a:rPr>
              <a:t>Cameroon has oil, gas, iron ore, bauxite, cobalt, nickel, gold, diamonds, limestone and other minerals.</a:t>
            </a:r>
            <a:endParaRPr lang="en-US" sz="3200" dirty="0"/>
          </a:p>
        </p:txBody>
      </p:sp>
      <p:pic>
        <p:nvPicPr>
          <p:cNvPr id="5" name="Image 0" descr="/home/claude/f4/img/v2/cmr_minerals_big.png">    </p:cNvPr>
          <p:cNvPicPr>
            <a:picLocks noChangeAspect="1"/>
          </p:cNvPicPr>
          <p:nvPr/>
        </p:nvPicPr>
        <p:blipFill>
          <a:blip r:embed="rId1"/>
          <a:stretch>
            <a:fillRect/>
          </a:stretch>
        </p:blipFill>
        <p:spPr>
          <a:xfrm>
            <a:off x="5349240" y="2253310"/>
            <a:ext cx="6659575" cy="3329788"/>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minerals of Cameroon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Introduction: A Low Level of Exploitation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Little exploitation: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Apart from oil, gas and limestone, most deposits are not yet mined on a large scale.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Little local use: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Most minerals, like crude oil, are exported without much processing.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Distribution, Quality and Quantity</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Energy Minerals and Energy Resources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2800" i="1" dirty="0">
                <a:solidFill>
                  <a:srgbClr val="111111"/>
                </a:solidFill>
                <a:latin typeface="Times New Roman" pitchFamily="34" charset="0"/>
                <a:ea typeface="Times New Roman" pitchFamily="34" charset="-122"/>
                <a:cs typeface="Times New Roman" pitchFamily="34" charset="-120"/>
              </a:rPr>
              <a:t>The energy resources of Cameroon are the following:</a:t>
            </a:r>
            <a:endParaRPr lang="en-US" sz="2800" dirty="0"/>
          </a:p>
          <a:p>
            <a:pPr algn="l" indent="0" marL="0">
              <a:spcAft>
                <a:spcPts val="800"/>
              </a:spcAft>
              <a:buNone/>
            </a:pPr>
            <a:r>
              <a:rPr lang="en-US" sz="2800" b="1" dirty="0">
                <a:solidFill>
                  <a:srgbClr val="111111"/>
                </a:solidFill>
                <a:latin typeface="Times New Roman" pitchFamily="34" charset="0"/>
                <a:ea typeface="Times New Roman" pitchFamily="34" charset="-122"/>
                <a:cs typeface="Times New Roman" pitchFamily="34" charset="-120"/>
              </a:rPr>
              <a:t>Crude oil: </a:t>
            </a:r>
            <a:pPr algn="l" indent="0" marL="0">
              <a:spcAft>
                <a:spcPts val="800"/>
              </a:spcAft>
              <a:buNone/>
            </a:pPr>
            <a:r>
              <a:rPr lang="en-US" sz="2800" dirty="0">
                <a:solidFill>
                  <a:srgbClr val="111111"/>
                </a:solidFill>
                <a:latin typeface="Times New Roman" pitchFamily="34" charset="0"/>
                <a:ea typeface="Times New Roman" pitchFamily="34" charset="-122"/>
                <a:cs typeface="Times New Roman" pitchFamily="34" charset="-120"/>
              </a:rPr>
              <a:t>It is extracted mainly offshore in the Rio del Rey basin and in the Douala/Kribi-Campo basin; production has fallen from about 180,000 barrels a day (1985) to about 60,000.</a:t>
            </a:r>
            <a:endParaRPr lang="en-US" sz="2800" dirty="0"/>
          </a:p>
        </p:txBody>
      </p:sp>
      <p:pic>
        <p:nvPicPr>
          <p:cNvPr id="6" name="Image 0" descr="/home/claude/f4/img/v2/usa_offshore.jpg">    </p:cNvPr>
          <p:cNvPicPr>
            <a:picLocks noChangeAspect="1"/>
          </p:cNvPicPr>
          <p:nvPr/>
        </p:nvPicPr>
        <p:blipFill>
          <a:blip r:embed="rId1"/>
          <a:stretch>
            <a:fillRect/>
          </a:stretch>
        </p:blipFill>
        <p:spPr>
          <a:xfrm>
            <a:off x="5349240" y="2071212"/>
            <a:ext cx="6659575" cy="3693983"/>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an offshore platform</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Distribution, Quality and Quantity</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600" b="1" dirty="0">
                <a:solidFill>
                  <a:srgbClr val="990011"/>
                </a:solidFill>
                <a:latin typeface="Times New Roman" pitchFamily="34" charset="0"/>
                <a:ea typeface="Times New Roman" pitchFamily="34" charset="-122"/>
                <a:cs typeface="Times New Roman" pitchFamily="34" charset="-120"/>
              </a:rPr>
              <a:t>A) Energy Minerals and Energy Resources</a:t>
            </a:r>
            <a:endParaRPr lang="en-US" sz="26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Natural gas: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Gas from Logbaba (Douala) and offshore Kribi supplies factories and the Kribi power plant, and is exported as liquefied gas since 2018.</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Distribution, Quality and Quantity</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2800" b="1" dirty="0">
                <a:solidFill>
                  <a:srgbClr val="990011"/>
                </a:solidFill>
                <a:latin typeface="Times New Roman" pitchFamily="34" charset="0"/>
                <a:ea typeface="Times New Roman" pitchFamily="34" charset="-122"/>
                <a:cs typeface="Times New Roman" pitchFamily="34" charset="-120"/>
              </a:rPr>
              <a:t>A) Energy Minerals and Energy Resources (continued)</a:t>
            </a:r>
            <a:endParaRPr lang="en-US" sz="28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Hydroelectricity: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rivers provide most of the electricity (Song Loulou, Edéa, Lagdo, Memve'ele, Nachtigal).</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Other sources: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Fuelwood (the main household energy), thermal plants and growing solar energy in the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Distribution, Quality and Quantity</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Metallic and Industrial Minerals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metallic and industrial minerals are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Iron ore: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Large deposits at Mbalam (East), Nkout (South) and near Kribi, some of good quality.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Distribution, Quality and Quantity</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Metallic and Industrial Minerals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Bauxite: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Large reserves at Minim-Martap and Ngaoundal (Adamawa) and Fongo-Tongo (West), still not mined.</a:t>
            </a:r>
            <a:endParaRPr lang="en-US" sz="3600" dirty="0"/>
          </a:p>
        </p:txBody>
      </p:sp>
      <p:pic>
        <p:nvPicPr>
          <p:cNvPr id="6" name="Image 0" descr="/home/claude/f4/img/v2/lsa_bauxite.jpg">    </p:cNvPr>
          <p:cNvPicPr>
            <a:picLocks noChangeAspect="1"/>
          </p:cNvPicPr>
          <p:nvPr/>
        </p:nvPicPr>
        <p:blipFill>
          <a:blip r:embed="rId1"/>
          <a:stretch>
            <a:fillRect/>
          </a:stretch>
        </p:blipFill>
        <p:spPr>
          <a:xfrm>
            <a:off x="5349240" y="2071212"/>
            <a:ext cx="6659575" cy="3693983"/>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bauxite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Distribution, Quality and Quantity</a:t>
            </a:r>
            <a:endParaRPr lang="en-US" sz="3600" dirty="0"/>
          </a:p>
        </p:txBody>
      </p:sp>
      <p:sp>
        <p:nvSpPr>
          <p:cNvPr id="5" name="Text 2"/>
          <p:cNvSpPr/>
          <p:nvPr/>
        </p:nvSpPr>
        <p:spPr>
          <a:xfrm>
            <a:off x="2697480" y="1737360"/>
            <a:ext cx="91741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Metallic and Industrial Minerals</a:t>
            </a:r>
            <a:endParaRPr lang="en-US" sz="3200" dirty="0"/>
          </a:p>
        </p:txBody>
      </p:sp>
      <p:sp>
        <p:nvSpPr>
          <p:cNvPr id="6" name="Text 3"/>
          <p:cNvSpPr/>
          <p:nvPr/>
        </p:nvSpPr>
        <p:spPr>
          <a:xfrm>
            <a:off x="2697480" y="2240280"/>
            <a:ext cx="91741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Cobalt, nickel and manganese: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Deposits at Nkamouna near Lomié (East).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Gold and diamonds: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Mainly in the East (Bétaré-Oya, Batouri, Mobilong), mostly mined by artisans.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 Distribution, Quality and Quantity</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2100" b="1" dirty="0">
                <a:solidFill>
                  <a:srgbClr val="990011"/>
                </a:solidFill>
                <a:latin typeface="Times New Roman" pitchFamily="34" charset="0"/>
                <a:ea typeface="Times New Roman" pitchFamily="34" charset="-122"/>
                <a:cs typeface="Times New Roman" pitchFamily="34" charset="-120"/>
              </a:rPr>
              <a:t>B) Metallic and Industrial Minerals (continued)</a:t>
            </a:r>
            <a:endParaRPr lang="en-US" sz="21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Industrial minerals: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Limestone at Figuil (North) for cement, marble at Bidzar (Far North), rutile at Akonolinga, uranium at Poli and Lolodorf (not mined).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Methods of Exploitation and Stakeholders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000" i="1" dirty="0">
                <a:solidFill>
                  <a:srgbClr val="111111"/>
                </a:solidFill>
                <a:latin typeface="Times New Roman" pitchFamily="34" charset="0"/>
                <a:ea typeface="Times New Roman" pitchFamily="34" charset="-122"/>
                <a:cs typeface="Times New Roman" pitchFamily="34" charset="-120"/>
              </a:rPr>
              <a:t>The methods of exploitation and the stakeholders are the following:</a:t>
            </a:r>
            <a:endParaRPr lang="en-US" sz="3000" dirty="0"/>
          </a:p>
          <a:p>
            <a:pPr algn="l" indent="0" marL="0">
              <a:spcAft>
                <a:spcPts val="800"/>
              </a:spcAft>
              <a:buNone/>
            </a:pPr>
            <a:r>
              <a:rPr lang="en-US" sz="3000" b="1" dirty="0">
                <a:solidFill>
                  <a:srgbClr val="111111"/>
                </a:solidFill>
                <a:latin typeface="Times New Roman" pitchFamily="34" charset="0"/>
                <a:ea typeface="Times New Roman" pitchFamily="34" charset="-122"/>
                <a:cs typeface="Times New Roman" pitchFamily="34" charset="-120"/>
              </a:rPr>
              <a:t>Industrial mining: </a:t>
            </a:r>
            <a:pPr algn="l" indent="0" marL="0">
              <a:spcAft>
                <a:spcPts val="800"/>
              </a:spcAft>
              <a:buNone/>
            </a:pPr>
            <a:r>
              <a:rPr lang="en-US" sz="3000" dirty="0">
                <a:solidFill>
                  <a:srgbClr val="111111"/>
                </a:solidFill>
                <a:latin typeface="Times New Roman" pitchFamily="34" charset="0"/>
                <a:ea typeface="Times New Roman" pitchFamily="34" charset="-122"/>
                <a:cs typeface="Times New Roman" pitchFamily="34" charset="-120"/>
              </a:rPr>
              <a:t>Offshore drilling for oil and gas; open-pit mining planned for iron ore and bauxite; quarries for limestone and marble.</a:t>
            </a:r>
            <a:endParaRPr lang="en-US" sz="3000" dirty="0"/>
          </a:p>
        </p:txBody>
      </p:sp>
      <p:pic>
        <p:nvPicPr>
          <p:cNvPr id="5" name="Image 0" descr="/home/claude/f4/img/v2/usa_openpit.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an open-pit mine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Methods of Exploitation and Stakeholders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Artisanal mining: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Gold and diamonds are dug and washed by hand, often informally.</a:t>
            </a:r>
            <a:endParaRPr lang="en-US" sz="3600" dirty="0"/>
          </a:p>
        </p:txBody>
      </p:sp>
      <p:pic>
        <p:nvPicPr>
          <p:cNvPr id="5" name="Image 0" descr="/home/claude/f4/img/v2/usa_goldminers.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artisanal miners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Methods of Exploitation and Stakeholders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state: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Ministry of Mines (MINMIDT), the SNH (hydrocarbons) and SONAMINES (national mining company) grant permits and collect revenue.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Methods of Exploitation and Stakeholders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Companies and communities: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Multinational and national companies invest, while local communities provide land and labour and receive compensation.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Uses of the Minerals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Minerals are used in the following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Oil: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Refined into fuels at SONARA (Limbe) and exported as crude.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Gas: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Electricity production, industrial fuel and export.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Uses of the Minerals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Limestone: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Cement (CIMENCAM at Figuil and other plants).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Bauxite and iron ore: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Aluminium and steel (planned); ALUCAM at Edéa uses imported alumina.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Gold and diamonds: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Jewellery and savings.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Problems and Recent State Efforts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Problems Hindering Exploitation</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exploitation of minerals faces the following problems: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Lack of infrastructure: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Railways, ports, roads and electricity are lacking near deposits.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Problems and Recent State Efforts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2600" b="1" dirty="0">
                <a:solidFill>
                  <a:srgbClr val="990011"/>
                </a:solidFill>
                <a:latin typeface="Times New Roman" pitchFamily="34" charset="0"/>
                <a:ea typeface="Times New Roman" pitchFamily="34" charset="-122"/>
                <a:cs typeface="Times New Roman" pitchFamily="34" charset="-120"/>
              </a:rPr>
              <a:t>A) Problems Hindering Exploitation (continued)</a:t>
            </a:r>
            <a:endParaRPr lang="en-US" sz="26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High investment costs: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Large mines need billions of francs, often from foreign investors.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Poor geological knowledge: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areas are not yet fully surveyed.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Problems and Recent State Efforts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2600" b="1" dirty="0">
                <a:solidFill>
                  <a:srgbClr val="990011"/>
                </a:solidFill>
                <a:latin typeface="Times New Roman" pitchFamily="34" charset="0"/>
                <a:ea typeface="Times New Roman" pitchFamily="34" charset="-122"/>
                <a:cs typeface="Times New Roman" pitchFamily="34" charset="-120"/>
              </a:rPr>
              <a:t>A) Problems Hindering Exploitation (continued)</a:t>
            </a:r>
            <a:endParaRPr lang="en-US" sz="26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Governance problems: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Slow procedures, corruption and conflicts with local communities discourage investors.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Falling oil output: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Old oil fields are declining.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Problems and Recent State Efforts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Recent State Efforts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state has taken the following measures: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Mining Code: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Mining Code (2016, revised in 2023) aims to attract investors and increase benefits for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Problems and Recent State Efforts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Recent State Efforts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Infrastructure: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Kribi deep-sea port, the Lom Pangar and Nachtigal dams and planned mining railways.</a:t>
            </a:r>
            <a:endParaRPr lang="en-US" sz="3600" dirty="0"/>
          </a:p>
        </p:txBody>
      </p:sp>
      <p:pic>
        <p:nvPicPr>
          <p:cNvPr id="6" name="Image 0" descr="/home/claude/f4/img/v2/lsa_nachtigal.jpg">    </p:cNvPr>
          <p:cNvPicPr>
            <a:picLocks noChangeAspect="1"/>
          </p:cNvPicPr>
          <p:nvPr/>
        </p:nvPicPr>
        <p:blipFill>
          <a:blip r:embed="rId1"/>
          <a:stretch>
            <a:fillRect/>
          </a:stretch>
        </p:blipFill>
        <p:spPr>
          <a:xfrm>
            <a:off x="5349240" y="2071212"/>
            <a:ext cx="6659575" cy="3693983"/>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Nachtigal dam site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5. Problems and Recent State Efforts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Recent State Efforts</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Institutions: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SONAMINES (2020) and the formalisation of artisanal mining.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Partnerships: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Agreements with foreign companies to develop iron ore and bauxite.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6. Benefits and Sustainable Exploitation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benefits of mineral exploitation and the measures for sustainable exploitation are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Benefits: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Revenue for the state, jobs, raw materials for industries (cement, aluminium, steel) and new roads, railways and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6. Benefits and Sustainable Exploitation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Environmental impact assessments: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Projects must study and reduce their effects on the environment before they start.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Land restoration: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Companies must restore mined land and replant it.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Community development: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Part of the revenue must go to affected communities.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6. Benefits and Sustainable Exploitation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Transparency: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belongs to the Extractive Industries Transparency Initiative (EITI), which publishes mining payments.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minerals of the East Region and their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Iron ore at Mbalam and gold at Bétaré-Oya (also cobalt-nickel at Lomié).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problems that hinder mineral exploitation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Lack of infrastructure and high investment costs.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company that refines oil at Limbe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Limestone for cement is quarried at ______ in the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Small-scale mining with simple tools is ______ mining.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dam built on the Benue.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11: Management of Water Resources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7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Mineral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minerai / le minéral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pétrole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Gas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gaz</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Iron ore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minerai de fer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Bauxite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bauxite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Gold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Quarry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carrière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7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Geography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10: Management of Mineral and Energy Resources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low level of exploitation of minerals in Cameroon. Describe the types and distribution of minerals and energy resources. Describe the methods of exploitation and the stakeholders. Explain the problems, state efforts, benefits and measures for sustainable exploitation.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locate the mineral and energy resources of Cameroon, explain their low exploitation and propose measures for sustainable management.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7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Introduction: A Low Level of Exploitation; Energy Minerals and Energy Resources; Metallic and Industrial Minerals; Methods of Exploitation and Stakeholders; Uses of the Minerals; Problems Hindering Exploitation; Recent State Efforts; Benefits and Sustainable Exploitation.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the dam built on the Benue.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mark minerals on a sketch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show the coast on a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gold mining in the East.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name dams and ports.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old quarries.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Geography of Cameroon.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Cameroon Geography (LSA and USA),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BUCREP, 3rd General Census of Population and Housing (2005); United Nations, World Population Prospects (2024 revision).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“Rig I” by Tuftronic10000, CC BY 2.0, via Flickr (https://www.flickr.com/photos/36574363@N00/367931994)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“Mining in Kailo” by Julien Harneis, CC BY-SA 2.0, via Flickr (https://www.flickr.com/photos/16935515@N00/1873057946)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“Chutes de Natchigal” by friel, CC BY-NC-SA 2.0, via Flickr (https://www.flickr.com/photos/91702411@N00/2692932)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“2017-91-06” by Community Archives of Belleville &amp; Hastings County, CC0 1.0, via Flickr (https://www.flickr.com/photos/134017397@N03/37070933734)</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(Bauxite): “Bauxite mine near Itea, Greece” by Jason-Morrison, CC BY-NC 2.0, via Flickr (https://www.flickr.com/photos/8998833@N07/929316608)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75</Slides>
  <Notes>75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75</vt:i4>
      </vt:variant>
    </vt:vector>
  </HeadingPairs>
  <TitlesOfParts>
    <vt:vector size="7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2026-09-28T21:21:48Z</dcterms:created>
  <dcterms:modified xsi:type="dcterms:W3CDTF">2026-09-28T21:21:48Z</dcterms:modified>
</cp:coreProperties>
</file>