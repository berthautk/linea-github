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notesMasterIdLst>
    <p:notesMasterId r:id="rId8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notesMaster" Target="notesMasters/notesMaster1.xml"/><Relationship Id="rId86" Type="http://schemas.openxmlformats.org/officeDocument/2006/relationships/presProps" Target="presProps.xml"/><Relationship Id="rId87" Type="http://schemas.openxmlformats.org/officeDocument/2006/relationships/viewProps" Target="viewProps.xml"/><Relationship Id="rId88" Type="http://schemas.openxmlformats.org/officeDocument/2006/relationships/theme" Target="theme/theme1.xml"/><Relationship Id="rId8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Management of Mineral and Energy Resources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Population, Settlement and Resources of Cameroon. The key notions we shall use today are: mineral, energy resource, hydrocarbons, open-pit mining, artisanal mining, stakeholder, mining code, sustainable exploitation. At the end, you should be able to do this: learners are able to locate the mineral and energy resources of Cameroon, explain their low exploitation and propose measures for sustainable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Management of Forest Resources in Cameroon. The question was: Name two minerals exploited in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crude oil, natural gas, limestone, gold, bauxite (planned) and iron ore (planned).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explain the low level of exploitation of minerals in Cameroon. Number 2: describe the types and distribution of minerals and energy resources. Number 3: describe the methods of exploitation and the stakeholders. Number 4: explain the problems, state efforts, benefits and measures for sustainable exploitation.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Minerals are natural substances taken from the ground. Oil is extracted near the coast of Cameroon. Most electricity in Cameroon comes from dams.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Oumarou hears on the news that the state has signed an agreement to exploit the iron ore of Mbalam in the East, with a railway to the port of Kribi. His uncle, an artisanal gold miner near Batouri, works with shovels and pans. Oumarou asks his father: "If Cameroon is so rich in minerals, why are so few of them exploited, and how can they benefit the country?"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Oumarou does not understand why the rich minerals of Cameroon are little exploited and how they can benefit the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mineral is found at Mbalam?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Iron 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does the uncle mine gold?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hand, with shovels and pans (artisanal mining).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save energy at home and support the responsible use of mineral wealth.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mineral and energy wealth of Cameroon and the conditions for using it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minerals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the bauxite deposits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Minim-Martap and Ngaoundal (Adamawa) and Fongo-Tongo (West).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an offshore oil platform.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is most of Cameroon's oil extracted?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Offshore, in the Rio del Rey basin (and the Douala/Kribi-Campo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artisanal miners.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are the characteristics of artisanal mining?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uses simple tools and much labour, and it is often informal.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dam on the Sanaga.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mining need dams and railways?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Mines need a lot of electricity and transport for heavy 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an open-pit mine.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must a mining company do when the mine closes?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Restore the land (fill, replant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Mineral.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Energy resource and Artisanal mining.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Sustainable exploitation.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Introduction: A Low Level of Exploitation. The mineral wealth of Cameroon is characterised as follows. Copy the point on A rich subsoil on the left, then draw the diagram on the right: the minerals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Introduction: A Low Level of Exploitation. Copy the point on Little exploitation and local use: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Energy Resources. The energy resources of Cameroon are the following. Copy the point on Crude oil on the left, then draw the diagram on the right: an offshore platform.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Energy Resources. Copy the point on Natural gas: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Energy Resources. Copy the point on Hydroelectricity: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Energy Resources. Copy the point on Other sources: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Metallic and Industrial Minerals. The main metallic and industrial minerals are the following. Copy the point on Iron ore: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Bauxite on the left, then draw the diagram on the right: bauxite.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Metallic and Industrial Minerals. Copy the point on Cobalt, nickel, gold and diamonds: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Metallic and Industrial Minerals. Copy the point on Industrial minerals: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Exploitation and Stakeholders. Minerals are exploited by the following methods and stakeholders. Copy the point on Industrial mining on the left, then draw the diagram on the right: an open-pit mine.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Artisanal mining on the left, then draw the diagram on the right: artisanal gold miners.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Exploitation and Stakeholders. Copy the point on The state: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Exploitation and Stakeholders. Copy the point on Companies and communities: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Uses of the Minerals. Minerals are used in the following ways. Copy the point on Oil and gas: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Uses of the Minerals. Copy the point on Limestone: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Uses of the Minerals. Copy the point on Bauxite and iron ore: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Uses of the Minerals. Copy the point on Gold and diamonds: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Hindering Exploitation. The exploitation of minerals faces the following problems. Copy the point on Lack of infrastructure: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Hindering Exploitation. Copy the point on High investment costs: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Hindering Exploitation. Copy the point on Poor knowledge and governance: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Hindering Exploitation. Copy the point on Falling oil output: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Recent State Efforts. The state has taken the following measures. Copy the point on A new Mining Code: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Infrastructure on the left, then draw the diagram on the right: the Nachtigal dam.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Recent State Efforts. Copy the point on New institutions: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Recent State Efforts. Copy the point on Partnerships: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Benefits. The exploitation of minerals brings the following benefits. Copy the point on Revenue and jobs: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Benefits. Copy the point on Raw materials and infrastructure: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for Sustainable Exploitation. Minerals are exploited sustainably by the following measures. Copy the point on Environmental impact assessments: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for Sustainable Exploitation. Copy the point on Land restoration: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for Sustainable Exploitation. Copy the point on Community development and transparency: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minerals of the East Region and their location.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iron ore at Mbalam and gold at Bétaré-Oya (also cobalt-nickel at Lomié).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that hinder mineral exploitation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infrastructure and high investment costs.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SONARA; number 2, Figuil; number 3, artisanal.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dam built on the Benue.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Management of Water Resources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10: MANAGEMENT OF MINERAL AND ENERGY RESOURCES IN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2.xml"/><Relationship Id="rId3" Type="http://schemas.openxmlformats.org/officeDocument/2006/relationships/notesSlide" Target="../notesSlides/notesSlide8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Management of Mineral and Energy Resources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Settlement and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Management of Mineral and Energy Resources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Mineral, energy resource, hydrocarbons, open-pit mining, artisanal mining, stakeholder, mining code, sustainable exploitation.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Low level of exploitation; types, distribution, quality and quantity of minerals; methods and stakeholders; uses (including energy minerals); problems and recent state efforts; benefits; measures for sustainable exploitation.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the mineral and energy resources of Cameroon, explain their low exploitation and propose measures for sustainable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Management of Forest Resources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minerals exploited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crude oil, natural gas, limestone, gold, bauxite (planned) and iron ore (planned).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low level of exploitation of minerals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and distribution of minerals and energy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of exploitation and the stakeholders.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state efforts, benefits and measures for sustainable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Minerals are natural substances taken from the ground.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Oil is extracted near the coast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electricity in Cameroon comes from dams.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Oumarou hears on the news that the state has signed an agreement to exploit the iron ore of Mbalam in the East, with a railway to the port of Kribi.</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uncle, an artisanal gold miner near Batouri, works with shovels and pans.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Oumarou asks his father: "If Cameroon is so rich in minerals, why are so few of them exploited, and how can they benefit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Oumarou does not understand why the rich minerals of Cameroon are little exploited and how they can benefit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mineral is found at Mbalam?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uncle mine gold?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hand, with shovels and pans (artisanal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Save energy at home and support the responsible use of mineral wealth.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mineral and energy wealth of Cameroon and the conditions for using it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minera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Minerals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bauxite deposits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Minim-Martap and Ngaoundal (Adamawa) and Fongo-Tongo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offsho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offshore oil platform.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most of Cameroon's oil extracted?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Offshore, in the Rio del Rey basin (and the Douala/Kribi-Campo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AND STAKEHOLDERS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goldminer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Artisanal miners.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AND STAKEHOLDERS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characteristics of artisanal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AND STAKEHOLDERS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uses simple tools and much labour, and it is often informal.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STATE EFFORTS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nachtig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 on the Sanaga.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STATE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mining need dams and railways?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STATE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Mines need a lot of electricity and transport for heavy ores.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BENEFITS AND SUSTAINABILITY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open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open-pit mine.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BENEFITS AND SUSTAINABILITY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a mining company do when the mine closes?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BENEFITS AND SUSTAINABILITY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Restore the land (fill, replant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Settlement and Resources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10: Management of Mineral and Energy Resources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natural substance obtained from the Earth's crust, such as iron ore, bauxite or gold.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resource: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source of power, such as oil, gas, water (hydroelectricity) or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Artisanal mining: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small-scale mining with simple tools and much labour.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Sustainable 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use of resources that meets present needs without destroying them for future generations.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Introduction: A Low Level of Exploitation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mineral wealth of Cameroon is characterised as follows: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A rich subsoil: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Cameroon has oil, gas, iron ore, bauxite, cobalt, nickel, gold, diamonds, limestone and other minerals. Some deposits are among the largest in Africa.</a:t>
            </a:r>
            <a:endParaRPr lang="en-US" sz="3400" dirty="0"/>
          </a:p>
        </p:txBody>
      </p:sp>
      <p:pic>
        <p:nvPicPr>
          <p:cNvPr id="5" name="Image 0" descr="/home/claude/f4/img/v2/cmr_minerals_big.png">    </p:cNvPr>
          <p:cNvPicPr>
            <a:picLocks noChangeAspect="1"/>
          </p:cNvPicPr>
          <p:nvPr/>
        </p:nvPicPr>
        <p:blipFill>
          <a:blip r:embed="rId1"/>
          <a:stretch>
            <a:fillRect/>
          </a:stretch>
        </p:blipFill>
        <p:spPr>
          <a:xfrm>
            <a:off x="6537960" y="2550490"/>
            <a:ext cx="5470855" cy="2735428"/>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minerals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Introduction: A Low Level of Exploitation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Little exploitation and local 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Apart from oil, gas and limestone, most deposits are not yet mined on a large scale. Most minerals, like crude oil, are exported without much processing.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Distribution, Quality and Quantity</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Energy Resources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energy resources of Cameroon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Crude oil: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Oil is extracted mainly offshore in the Rio del Rey basin and in the Douala and Kribi-Campo basins. Production has fallen from about 180,000 barrels a day in 1985 to about 60,000 today.</a:t>
            </a:r>
            <a:endParaRPr lang="en-US" sz="3000" dirty="0"/>
          </a:p>
        </p:txBody>
      </p:sp>
      <p:pic>
        <p:nvPicPr>
          <p:cNvPr id="6" name="Image 0" descr="/home/claude/f4/img/v2/usa_offshor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offshore platform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Distribution, Quality and Quantity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Energy Resources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gas: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Gas from Logbaba near Douala and from offshore Kribi supplies factories and the Kribi power plant. Since 2018, it has also been exported as liquefied gas.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Distribution, Quality and Quantity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Energy Resources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Hydroelectricity: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rivers provide most of the electricity of Cameroon, from dams such as Song Loulou, Edéa, Lagdo, Memve'ele and Nachtigal. The potential is very large but only partly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Distribution, Quality and Quantity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Energy Resources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Fuelwood remains the main energy of households. Thermal power plants and solar energy, which is growing in the north, complete the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Distribution, Quality and Quantity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Metallic and Industrial Minerals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metallic and industrial minerals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Iron 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deposits are found at Mbalam in the East, at Nkout in the South and near Kribi. Some of them are of good 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Distribution, Quality and Quantity</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Metallic and Industrial Minerals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Bauxite: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Large reserves are found at Minim-Martap and Ngaoundal in the Adamawa and at Fongo-Tongo in the West. They are still not mined.</a:t>
            </a:r>
            <a:endParaRPr lang="en-US" sz="3600" dirty="0"/>
          </a:p>
        </p:txBody>
      </p:sp>
      <p:pic>
        <p:nvPicPr>
          <p:cNvPr id="6" name="Image 0" descr="/home/claude/f4/img/v2/lsa_bauxit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bauxite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Distribution, Quality and Quantity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Metallic and Industrial Minerals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Cobalt, nickel, gold and diamonds: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Cobalt, nickel and manganese are found at Nkamouna near Lomié in the East. Gold and diamonds are found mainly in the East, at Bétaré-Oya, Batouri and Mobilong.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Distribution, Quality and Quantity</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Metallic and Industrial Minerals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Limestone at Figuil in the North is used for cement, and marble is found at Bidzar in the Far North. Rutile is found at Akonolinga and uranium at Poli and Lolodorf, but they are not mined.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Methods of Exploitation and Stakeholders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Minerals are exploited by the following methods and stakeholders: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Industrial mining: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Oil and gas are extracted by offshore drilling, and limestone and marble are quarried. Open-pit mining is planned for iron ore and bauxite.</a:t>
            </a:r>
            <a:endParaRPr lang="en-US" sz="3200" dirty="0"/>
          </a:p>
        </p:txBody>
      </p:sp>
      <p:pic>
        <p:nvPicPr>
          <p:cNvPr id="5" name="Image 0" descr="/home/claude/f4/img/v2/usa_openpit.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open-pit mine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Methods of Exploitation and Stakeholders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Artisanal mining: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Gold and diamonds are dug and washed by hand, often informally, by thousands of miners. This work is dangerous and pollutes rivers.</a:t>
            </a:r>
            <a:endParaRPr lang="en-US" sz="3600" dirty="0"/>
          </a:p>
        </p:txBody>
      </p:sp>
      <p:pic>
        <p:nvPicPr>
          <p:cNvPr id="5" name="Image 0" descr="/home/claude/f4/img/v2/usa_goldminers.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artisanal gold miners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Methods of Exploitation and Stakeholders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state: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Ministry of Mines (MINMIDT), the SNH for hydrocarbons and SONAMINES, the national mining company, grant permits and collect revenue. The state is also a partner in some projects.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Methods of Exploitation and Stakeholders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Companies and communities: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Multinational and national companies bring capital and technology. Local communities provide land and labour and should receive compensation.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Uses of the Minerals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Minerals are used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Oil and gas: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Crude oil was refined into fuels at SONARA in Limbe and is mostly exported. Gas is used to produce electricity, as a fuel for industries and for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Uses of the Minerals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Limestone: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Limestone is used to make cement at Figuil and in other plants. Cement is essential for building houses, roads and dams.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Uses of the Minerals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Bauxite and iron 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Bauxite is the raw material of aluminium, and iron ore of steel. ALUCAM at Edéa makes aluminium, but it uses imported alumina.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Uses of the Minerals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Gold and diamonds: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Gold and diamonds are used for jewellery and as a form of savings. They bring income to miners and traders in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Recent State Efforts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Problems Hindering Exploitation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exploitation of minerals faces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Railways, ports, roads and electricity are lacking near most deposits. Minerals such as iron ore cannot be exported without a railway to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Recent State Efforts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Problems Hindering Exploitation</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investment costs: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mines need billions of francs, which must often come from foreign investors. When world prices fall, investors abandon projects.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Recent State Efforts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Problems Hindering Exploitation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knowledge and governance: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areas are not yet fully surveyed. Slow procedures, corruption and conflicts with local communities also discourage investors.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Recent State Efforts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Problems Hindering Exploitation</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Falling oil output: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old oil fields are declining, and few new ones have been found. Oil revenue has therefore fallen.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Recent State Efforts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Recent State Efforts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state has taken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new Mining Code: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Mining Code of 2016, revised in 2023, aims to attract investors and increase the benefits for Cameroon. It also protects local communities and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Recent State Efforts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Recent State Efforts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Infrastructure: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state has built the Kribi deep-sea port and the Lom Pangar and Nachtigal dams, and plans mining railways. These will supply the energy and transport needed by mines.</a:t>
            </a:r>
            <a:endParaRPr lang="en-US" sz="3600" dirty="0"/>
          </a:p>
        </p:txBody>
      </p:sp>
      <p:pic>
        <p:nvPicPr>
          <p:cNvPr id="6" name="Image 0" descr="/home/claude/f4/img/v2/lsa_nachtigal.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Nachtigal dam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Recent State Efforts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Recent State Efforts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 institutions: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SONAMINES was created in 2020 to manage the interests of the state in mining. The state also organises artisanal miners so that their activity becomes legal and safer.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Recent State Efforts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Recent State Efforts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Partnerships: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Agreements are signed with foreign companies to develop the iron ore and bauxite deposits. The state takes shares in these projects.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Benefits and Sustainable Exploitation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Benefits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exploitation of minerals brings the following benefits: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Revenue and jobs: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and gas provide a large part of the revenue of the state. Mines and quarries create jobs for local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Benefits and Sustainable Exploitation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Benefits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Raw materials and 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Minerals supply raw materials to industries such as cement, aluminium and steel. Mining projects also bring new roads, railways and services to remote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Benefits and Sustainable Exploitation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Measures for Sustainable Exploitation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800" i="1" dirty="0">
                <a:solidFill>
                  <a:srgbClr val="111111"/>
                </a:solidFill>
                <a:latin typeface="Times New Roman" pitchFamily="34" charset="0"/>
                <a:ea typeface="Times New Roman" pitchFamily="34" charset="-122"/>
                <a:cs typeface="Times New Roman" pitchFamily="34" charset="-120"/>
              </a:rPr>
              <a:t>Minerals are exploited sustainably by the following measures:</a:t>
            </a:r>
            <a:endParaRPr lang="en-US" sz="3800" dirty="0"/>
          </a:p>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Environmental impact assessments: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Before starting, every project must study its effects on the environment and propose ways to reduce them. The government must approve this study.</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Benefits and Sustainable Exploitation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B) Measures for Sustainable Exploitation</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restoration: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Companies must fill the pits and replant the land after mining. This allows the land to be used again for farming or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Benefits and Sustainable Exploitation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Measures for Sustainable Exploitation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Community development and transparency: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Part of the mining revenue must go to the affected communities for schools, water and health. Cameroon belongs to the Extractive Industries Transparency Initiative (EITI), which publishes mining payments.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minerals of the East Region and their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ore at Mbalam and gold at Bétaré-Oya (also cobalt-nickel at Lomié).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that hinder mineral exploitation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infrastructure and high investment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company that refines oil at Limbe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Limestone for cement is quarried at ______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Small-scale mining with simple tools is ______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dam built on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Management of Water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Mineral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minerai / le minéral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pétrole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Iron 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minerai de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Bauxite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bauxite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Quarry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carrière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8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Management of Mineral and Energy Resources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low level of exploitation of minerals in Cameroon. Describe the types and distribution of minerals and energy resources. Describe the methods of exploitation and the stakeholders. Explain the problems, state efforts, benefits and measures for sustainable exploitation.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the mineral and energy resources of Cameroon, explain their low exploitation and propose measures for sustainable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8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Introduction: A Low Level of Exploitation; Energy Resources; Metallic and Industrial Minerals; Methods of Exploitation and Stakeholders; Uses of the Minerals; Problems Hindering Exploitation; Recent State Efforts; Benefits; Measures for Sustainable Exploitation.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dam built on the Benue.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mark minerals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the coast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gold mining in the East.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dams and ports.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old quarries.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BUCREP, 3rd General Census of Population and Housing (2005); United Nations, World Population Prospects (2024 revision).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“Rig I” by Tuftronic10000, CC BY 2.0, via Flickr (https://www.flickr.com/photos/36574363@N00/367931994)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“Mining in Kailo” by Julien Harneis, CC BY-SA 2.0, via Flickr (https://www.flickr.com/photos/16935515@N00/1873057946)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“Chutes de Natchigal” by friel, CC BY-NC-SA 2.0, via Flickr (https://www.flickr.com/photos/91702411@N00/2692932)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“2017-91-06” by Community Archives of Belleville &amp; Hastings County, CC0 1.0, via Flickr (https://www.flickr.com/photos/134017397@N03/37070933734)</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(Bauxite): “Bauxite mine near Itea, Greece” by Jason-Morrison, CC BY-NC 2.0, via Flickr (https://www.flickr.com/photos/8998833@N07/929316608)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83</Slides>
  <Notes>83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83</vt:i4>
      </vt:variant>
    </vt:vector>
  </HeadingPairs>
  <TitlesOfParts>
    <vt:vector size="8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2026-09-29T11:32:33Z</dcterms:created>
  <dcterms:modified xsi:type="dcterms:W3CDTF">2026-09-29T11:32:33Z</dcterms:modified>
</cp:coreProperties>
</file>