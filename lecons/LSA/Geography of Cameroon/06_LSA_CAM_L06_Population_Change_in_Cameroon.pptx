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Lst>
  <p:notesMasterIdLst>
    <p:notesMasterId r:id="rId8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notesMaster" Target="notesMasters/notesMaster1.xml"/><Relationship Id="rId87" Type="http://schemas.openxmlformats.org/officeDocument/2006/relationships/presProps" Target="presProps.xml"/><Relationship Id="rId88" Type="http://schemas.openxmlformats.org/officeDocument/2006/relationships/viewProps" Target="viewProps.xml"/><Relationship Id="rId89" Type="http://schemas.openxmlformats.org/officeDocument/2006/relationships/theme" Target="theme/theme1.xml"/><Relationship Id="rId9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6: Population Change in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Geography of Cameroon.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Geography of Cameroon, and the sub-topic is Population, Settlement and Resources of Cameroon. The key notions we shall use today are: demographic characteristics, census, growth rate, age-sex structure, population pyramid, density, migration, push and pull factors. At the end, you should be able to do this: learners are able to describe the population of Cameroon, explain its uneven distribution and analyse its main migrations.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5: The Drainage of Cameroon. The question was: Give the total population of Cameroon at the 2005 census.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About 17.5 million inhabitants (17,463,836).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four things. Number 1: describe the evolution of the population of Cameroon and its growth rate. Number 2: describe the age-sex structure and the type of pyramid of Cameroon. Number 3: explain the spatial variation of population densities. Number 4: analyse the major migration trends, their causes and effects.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Population density = population ÷ area. The natural increase is the difference between births and deaths. Migration is a movement of people to live in another place.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Aïssatou lives in a quarter of Garoua where her neighbours come from everywhere: a family from Maroua, civil servants from Yaoundé and farmers from the Mandara Mountains. She also notices that some quarters are crowded while others are almost empty. She asks: "Why is the population of Cameroon growing so fast, why is it so unevenly spread, and why do people move so much?"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Aïssatou wants to understand the growth, the distribution and the migrations of the population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do Aïssatou's neighbours come from?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From Maroua, Yaoundé and the Mandara Mountains.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the movement of people to live elsewhere?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Migration.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population data to explain the needs of your region in schools, jobs and health.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population of Cameroon, which is the basis of planning schools, health, jobs and housing.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growth of the population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has the population of Cameroon changed since 1960?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grown very fast, from about 5 million to about 29 million.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population pyramid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What does the wide base of this pyramid show?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high birth rate and a very young population.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population and area of the regions.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region has the lowest density: the Littoral or the East?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East (about 11 people per km², against about 190 in the Littoral).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main migrations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Towards which towns do most migrants of Cameroon go?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Douala and Yaoundé.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displaced people in a camp.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have many people left parts of the Far North since 2014?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Because of the insecurity caused by Boko Haram attacks.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Census and Growth rate.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Population pyramid, Population density and Migration.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Evolution in Numbers and Growth Rate. The population of Cameroon has evolved as follows. Copy the point on Censuses on the left, then draw the diagram on the right: the growth of the population.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Evolution in Numbers and Growth Rate. Copy the point on Present population and growth rate: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Evolution in Numbers and Growth Rate. Copy the point on High birth rate: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Evolution in Numbers and Growth Rate. Copy the point on Falling death rate: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Age-Sex Distribution and Pyramid Type. The age-sex structure of the population has the following characteristics. Copy the point on A young population on the left, then draw the diagram on the right: the pyramid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Age-Sex Distribution and Pyramid Type. Copy the point on An expansive pyramid: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Age-Sex Distribution and Pyramid Type. Copy the point on High dependency: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Age-Sex Distribution and Pyramid Type. Copy the point on Sex ratio: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Densities and their Spatial Variation. The population of Cameroon is distributed as follows. Copy the point on Average density on the left, then draw the diagram on the right: population data by region.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Densities and their Spatial Variation. Copy the point on High densities: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Densities and their Spatial Variation. Copy the point on Low densities: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Densities and their Spatial Variation. Copy the point on Concentration in towns: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Physical Factors of Distribution. The distribution of the population is explained by the following physical factors. Copy the point on Fertile volcanic soils: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Factors of Distribution. Copy the point on A cool, healthy climate: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Factors of Distribution. Copy the point on Dense forest and poor soils: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Physical Factors of Distribution. Copy the point on Tsetse flies: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Human Factors of Distribution. The distribution of the population is also explained by the following human factors. Copy the point on Towns and industries: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Factors of Distribution. Copy the point on Plantations: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Factors of Distribution. Copy the point on Historical refuges: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Human Factors of Distribution. Copy the point on Security and amenities: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Inter-Regional and Rural-Urban Movements. The main migration trends in Cameroon are the following. Copy the point on From the highlands to the lowlands on the left, then draw the diagram on the right: migrations in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Inter-Regional and Rural-Urban Movements. Copy the point on Movements in the north: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Inter-Regional and Rural-Urban Movements. Copy the point on Rural-urban migration: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Inter-Regional and Rural-Urban Movements. Copy the point on Forced migrations: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Pre- and Post-Independence Migrations. Migrations before and after independence were the following. Copy the point on Before independence: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Pre- and Post-Independence Migrations. Copy the point on After independence: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Causes of Migration. Migrations in Cameroon have the following causes. Copy the point on Land shortage and poverty: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Migration. Copy the point on Lack of jobs and amenities: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Migration. Copy the point on Insecurity and drought: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Causes of Migration. Copy the point on The pull of towns: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Effects of Migration. Migrations in Cameroon have the following effects. Copy the point on Loss of young workers: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Migration. Copy the point on Remittances: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Migration. Copy the point on Labour and cultural mixing: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Effects of Migration. Copy the point on Overcrowding in towns: write the key term first, then its explanation.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Give the population of Cameroon at the 2005 census and today.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about 17.5 million in 2005 and about 29 million in 2024.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one physical factor of the high density of the Western Highlands.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fertile volcanic soils (or a cool, healthy climate).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expansive; number 2, East; number 3, rural-urban.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largest towns of Cameroon.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7: Urbanisation in Cameroon.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6: POPULATION CHANGE IN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2.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slideLayout" Target="../slideLayouts/slideLayout2.xml"/><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2.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2.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2.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2.xml"/><Relationship Id="rId3"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slideLayout" Target="../slideLayouts/slideLayout2.xml"/><Relationship Id="rId3"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slideLayout" Target="../slideLayouts/slideLayout2.xml"/><Relationship Id="rId3"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2.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2.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2.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slideLayout" Target="../slideLayouts/slideLayout2.xm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slideLayout" Target="../slideLayouts/slideLayout2.xml"/><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slideLayout" Target="../slideLayouts/slideLayout2.xml"/><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2.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png"/><Relationship Id="rId2" Type="http://schemas.openxmlformats.org/officeDocument/2006/relationships/slideLayout" Target="../slideLayouts/slideLayout2.xml"/><Relationship Id="rId3"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slideLayout" Target="../slideLayouts/slideLayout2.xml"/><Relationship Id="rId3"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slideLayout" Target="../slideLayouts/slideLayout2.xml"/><Relationship Id="rId3"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slideLayout" Target="../slideLayouts/slideLayout2.xml"/><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slideLayout" Target="../slideLayouts/slideLayout2.xm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image" Target="../media/image-77-1.png"/><Relationship Id="rId2" Type="http://schemas.openxmlformats.org/officeDocument/2006/relationships/slideLayout" Target="../slideLayouts/slideLayout2.xml"/><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png"/><Relationship Id="rId2" Type="http://schemas.openxmlformats.org/officeDocument/2006/relationships/slideLayout" Target="../slideLayouts/slideLayout2.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slideLayout" Target="../slideLayouts/slideLayout2.xml"/><Relationship Id="rId3"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image" Target="../media/image-83-1.png"/><Relationship Id="rId2" Type="http://schemas.openxmlformats.org/officeDocument/2006/relationships/slideLayout" Target="../slideLayouts/slideLayout2.xml"/><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slideLayout" Target="../slideLayouts/slideLayout2.xml"/><Relationship Id="rId3" Type="http://schemas.openxmlformats.org/officeDocument/2006/relationships/notesSlide" Target="../notesSlides/notesSlide8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Population Change in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Geography of Cameroon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Population, Settlement and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6: Population Change in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characteristics, census, growth rate, age-sex structure, population pyramid, density, migration, push and pull factors.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Demographic characteristics (evolution in numbers and growth rate, age-sex distribution and pyramid type); population distribution (densities and their spatial variation, factors); major migration trends (inter-regional and rural-urban; pre- and post-independence; causes and effects).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population of Cameroon, explain its uneven distribution and analyse its main migrations.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5: The Drainage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total population of Cameroon at the 2005 census.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17.5 million inhabitants (17,463,836).</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evolution of the population of Cameroon and its growth rate.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age-sex structure and the type of pyramid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spatial variation of population densities.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Analyse the major migration trends, their causes and effects.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Population density = population ÷ area.</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natural increase is the difference between births and deaths.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Migration is a movement of people to live in another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lives in a quarter of Garoua where her neighbours come from everywhere: a family from Maroua, civil servants from Yaoundé and farmers from the Mandara Mountains.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also notices that some quarters are crowded while others are almost empty.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asks: "Why is the population of Cameroon growing so fast, why is it so unevenly spread, and why do people move so much?"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Aïssatou wants to understand the growth, the distribution and the migrations of the population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 Aïssatou's neighbours come from?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From Maroua, Yaoundé and the Mandara Mountains.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the movement of people to live elsewhere?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population data to explain the needs of your region in schools, jobs and health.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population of Cameroon, which is the basis of planning schools, health, jobs and housing.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cmr_growth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growth of the population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has the population of Cameroon changed since 1960?</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grown very fast, from about 5 million to about 29 million.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CHARACTERISTICS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yramid_cameroon_big.png">    </p:cNvPr>
          <p:cNvPicPr>
            <a:picLocks noChangeAspect="1"/>
          </p:cNvPicPr>
          <p:nvPr/>
        </p:nvPicPr>
        <p:blipFill>
          <a:blip r:embed="rId1"/>
          <a:stretch>
            <a:fillRect/>
          </a:stretch>
        </p:blipFill>
        <p:spPr>
          <a:xfrm>
            <a:off x="1383850" y="1783080"/>
            <a:ext cx="94239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population pyramid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wide base of this pyramid show?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DEMOGRAPHIC CHARACTERISTICS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high birth rate and a very young population.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POPULATION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cmr_popdata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Population and area of the regions.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POPULATION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region has the lowest density: the Littoral or the East?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POPULATION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East (about 11 people per km², against about 190 in the Littoral).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migration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Main migrations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Towards which towns do most migrants of Cameroon go?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 TRENDS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refuge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Displaced people in a camp.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have many people left parts of the Far North since 2014?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MIGRATION TRENDS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the insecurity caused by Boko Haram attacks.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Geography of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Population, Settlement and Resources of Cameroon</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6: Population Change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Census: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official counting of the whole population of a country at a given date.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yearly increase of a population, in per cent.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graph showing the population by age groups and sex.</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Population density: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average number of people per km².</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movement of people from one place to another to live there.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Demographic Characteristics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Evolution in Numbers and Growth Rate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population of Cameroon has evolved as follows: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Censuses: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The censuses counted about 7.7 million people in 1976, about 10.5 million in 1987 and about 17.5 million (17,463,836) in 2005. The population more than doubled in 30 years.</a:t>
            </a:r>
            <a:endParaRPr lang="en-US" sz="3200" dirty="0"/>
          </a:p>
        </p:txBody>
      </p:sp>
      <p:pic>
        <p:nvPicPr>
          <p:cNvPr id="6" name="Image 0" descr="/home/claude/f4/img/v2/cmr_growth_big.png">    </p:cNvPr>
          <p:cNvPicPr>
            <a:picLocks noChangeAspect="1"/>
          </p:cNvPicPr>
          <p:nvPr/>
        </p:nvPicPr>
        <p:blipFill>
          <a:blip r:embed="rId1"/>
          <a:stretch>
            <a:fillRect/>
          </a:stretch>
        </p:blipFill>
        <p:spPr>
          <a:xfrm>
            <a:off x="6537960" y="2721454"/>
            <a:ext cx="5470855" cy="2393499"/>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growth of the population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Demographic Characteristics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A) Evolution in Numbers and Growth Rate</a:t>
            </a:r>
            <a:endParaRPr lang="en-US" sz="31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Present population and growth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population is estimated at about 29 million in 2024 by the United Nations. It grows by about 2.6 % per year, so it doubles in about 27 years.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Demographic Characteristics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Evolution in Numbers and Growth Rate</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birth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birth rate is about 34 per thousand, because of early marriage, the value placed on large families and the low use of family planning. Each woman has on average more than four children.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Demographic Characteristics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100" b="1" dirty="0">
                <a:solidFill>
                  <a:srgbClr val="990011"/>
                </a:solidFill>
                <a:latin typeface="Times New Roman" pitchFamily="34" charset="0"/>
                <a:ea typeface="Times New Roman" pitchFamily="34" charset="-122"/>
                <a:cs typeface="Times New Roman" pitchFamily="34" charset="-120"/>
              </a:rPr>
              <a:t>A) Evolution in Numbers and Growth Rate</a:t>
            </a:r>
            <a:endParaRPr lang="en-US" sz="31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Falling death rate: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death rate has fallen to about 8 per thousand thanks to vaccination, health care and better nutrition. The gap between births and deaths explains the rapid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Demographic Characteristics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Age-Sex Distribution and Pyramid Type</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3200" i="1" dirty="0">
                <a:solidFill>
                  <a:srgbClr val="111111"/>
                </a:solidFill>
                <a:latin typeface="Times New Roman" pitchFamily="34" charset="0"/>
                <a:ea typeface="Times New Roman" pitchFamily="34" charset="-122"/>
                <a:cs typeface="Times New Roman" pitchFamily="34" charset="-120"/>
              </a:rPr>
              <a:t>The age-sex structure of the population has the following characteristics: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A young population: </a:t>
            </a:r>
            <a:pPr algn="l" indent="0" marL="0">
              <a:spcAft>
                <a:spcPts val="800"/>
              </a:spcAft>
              <a:buNone/>
            </a:pPr>
            <a:r>
              <a:rPr lang="en-US" sz="3200" dirty="0">
                <a:solidFill>
                  <a:srgbClr val="111111"/>
                </a:solidFill>
                <a:latin typeface="Times New Roman" pitchFamily="34" charset="0"/>
                <a:ea typeface="Times New Roman" pitchFamily="34" charset="-122"/>
                <a:cs typeface="Times New Roman" pitchFamily="34" charset="-120"/>
              </a:rPr>
              <a:t>About 42 % of the people are under 15 years, and only about 3 % are 65 or older. This is the result of the high birth rate.</a:t>
            </a:r>
            <a:endParaRPr lang="en-US" sz="3200" dirty="0"/>
          </a:p>
        </p:txBody>
      </p:sp>
      <p:pic>
        <p:nvPicPr>
          <p:cNvPr id="6" name="Image 0" descr="/home/claude/f4/img/v2/pyramid_cameroon_big.png">    </p:cNvPr>
          <p:cNvPicPr>
            <a:picLocks noChangeAspect="1"/>
          </p:cNvPicPr>
          <p:nvPr/>
        </p:nvPicPr>
        <p:blipFill>
          <a:blip r:embed="rId1"/>
          <a:stretch>
            <a:fillRect/>
          </a:stretch>
        </p:blipFill>
        <p:spPr>
          <a:xfrm>
            <a:off x="6537960" y="2678713"/>
            <a:ext cx="5470855" cy="2478981"/>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pyramid of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Demographic Characteristics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Age-Sex Distribution and Pyramid Type</a:t>
            </a:r>
            <a:endParaRPr lang="en-US" sz="3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An expansive pyramid: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pyramid has a wide base and a narrow top, and its sides slope steeply. This shape is typical of a developing country with high fertility and a short life expectancy.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Demographic Characteristics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500" b="1" dirty="0">
                <a:solidFill>
                  <a:srgbClr val="990011"/>
                </a:solidFill>
                <a:latin typeface="Times New Roman" pitchFamily="34" charset="0"/>
                <a:ea typeface="Times New Roman" pitchFamily="34" charset="-122"/>
                <a:cs typeface="Times New Roman" pitchFamily="34" charset="-120"/>
              </a:rPr>
              <a:t>B) Age-Sex Distribution and Pyramid Type</a:t>
            </a:r>
            <a:endParaRPr lang="en-US" sz="25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dependency: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Many young dependants rely on a smaller working population. The state and families must spend a lot on schools, health and food.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Demographic Characteristics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Age-Sex Distribution and Pyramid Type</a:t>
            </a:r>
            <a:endParaRPr lang="en-US" sz="3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Sex ratio: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Men and women are nearly equal in number in the whole country. However, towns and plantation areas have more men, while rural areas that lose migrants have more women.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Densities and their Spatial Variation</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population of Cameroon is distributed as follows: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Average density: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The average density is about 60 people per km², but the population is very unevenly spread. The Centre, the South-West and the North have moderate densities, between 40 and 70 per km².</a:t>
            </a:r>
            <a:endParaRPr lang="en-US" sz="2800" dirty="0"/>
          </a:p>
        </p:txBody>
      </p:sp>
      <p:pic>
        <p:nvPicPr>
          <p:cNvPr id="6" name="Image 0" descr="/home/claude/f4/img/v2/cmr_popdata_big.png">    </p:cNvPr>
          <p:cNvPicPr>
            <a:picLocks noChangeAspect="1"/>
          </p:cNvPicPr>
          <p:nvPr/>
        </p:nvPicPr>
        <p:blipFill>
          <a:blip r:embed="rId1"/>
          <a:stretch>
            <a:fillRect/>
          </a:stretch>
        </p:blipFill>
        <p:spPr>
          <a:xfrm>
            <a:off x="6537960" y="2849678"/>
            <a:ext cx="5470855" cy="2137053"/>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population data by region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Densities and their Spatial Variation</a:t>
            </a:r>
            <a:endParaRPr lang="en-US" sz="3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High densities: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Littoral with Douala, the West, the North-West and the plains of the Far North have more than 100 people per km². These regions have fertile soils, towns or old farming traditions.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Densities and their Spatial Variation</a:t>
            </a:r>
            <a:endParaRPr lang="en-US" sz="3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Low densities: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Adamawa, the South and especially the East, with about 11 people per km², are thinly populated. Dense forest, poor soils and isolation explain these low densities.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Densities and their Spatial Variation</a:t>
            </a:r>
            <a:endParaRPr lang="en-US" sz="3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Concentration in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Douala and Yaoundé alone contain about a quarter of the population of Cameroon. Most other people live in regional towns and along the main roads.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Physical Factors of Distribution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distribution of the population is explained by the following physical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Fertile volcanic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rich volcanic soils of the Western Highlands allow intensive farming all year. They therefore support very dense populations.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Physical Factors of Distribution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 cool, healthy climate: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altitude of the Western Highlands and the Adamawa gives a cool climate with fewer diseases. People are attracted to these healthy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B) Physical Factors of Distribution</a:t>
            </a:r>
            <a:endParaRPr lang="en-US" sz="2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Dense forest and poor soils: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East and the South, dense forest is hard to clear and leached soils are poor. These areas therefore remain thinly populated.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900" b="1" dirty="0">
                <a:solidFill>
                  <a:srgbClr val="990011"/>
                </a:solidFill>
                <a:latin typeface="Times New Roman" pitchFamily="34" charset="0"/>
                <a:ea typeface="Times New Roman" pitchFamily="34" charset="-122"/>
                <a:cs typeface="Times New Roman" pitchFamily="34" charset="-120"/>
              </a:rPr>
              <a:t>B) Physical Factors of Distribution</a:t>
            </a:r>
            <a:endParaRPr lang="en-US" sz="29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Tsetse flies: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Tsetse flies spread sleeping sickness among people and cattle in parts of the East and the North. People avoid settling in these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Human Factors of Distribution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distribution of the population is also explained by the following human factors: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Towns and industries: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Ports, industries and administration attract people to Douala and Yaoundé. These two cities have the highest densities of the country.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Human Factors of Distribution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Plantations: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Plantations of bananas, rubber and oil palm attract workers to the South-West and the Mungo. These areas became densely populated during the colonial period.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Human Factors of Distribution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Historical refuges: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Slave raids pushed some peoples into refuge areas such as the Mandara Mountains. These mountains are still densely populated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Population Distribution</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Human Factors of Distribution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Security and amenities: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Security, roads, schools and hospitals attract people. Insecurity in the Far North and in the North-West and South-West has displaced many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4" name="Text 2"/>
          <p:cNvSpPr/>
          <p:nvPr/>
        </p:nvSpPr>
        <p:spPr>
          <a:xfrm>
            <a:off x="365760" y="1737360"/>
            <a:ext cx="6035040" cy="457200"/>
          </a:xfrm>
          <a:prstGeom prst="rect">
            <a:avLst/>
          </a:prstGeom>
          <a:noFill/>
          <a:ln/>
        </p:spPr>
        <p:txBody>
          <a:bodyPr wrap="square" lIns="0" tIns="0" rIns="0" bIns="0" rtlCol="0" anchor="ctr">
            <a:normAutofit/>
          </a:bodyP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A) Inter-Regional and Rural-Urban Movements</a:t>
            </a:r>
            <a:endParaRPr lang="en-US" sz="3000" dirty="0"/>
          </a:p>
        </p:txBody>
      </p:sp>
      <p:sp>
        <p:nvSpPr>
          <p:cNvPr id="5" name="Text 3"/>
          <p:cNvSpPr/>
          <p:nvPr/>
        </p:nvSpPr>
        <p:spPr>
          <a:xfrm>
            <a:off x="365760" y="2240280"/>
            <a:ext cx="6035040" cy="41605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The main migration trends in Cameroon are the following:</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From the highlands to the lowlands: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People of the West and North-West have long moved to the coastal lowlands of the Mungo, the South-West and Douala. They go to work on plantations, in trade and in towns.</a:t>
            </a:r>
            <a:endParaRPr lang="en-US" sz="2800" dirty="0"/>
          </a:p>
        </p:txBody>
      </p:sp>
      <p:pic>
        <p:nvPicPr>
          <p:cNvPr id="6" name="Image 0" descr="/home/claude/f4/img/v2/cmr_migration_big.png">    </p:cNvPr>
          <p:cNvPicPr>
            <a:picLocks noChangeAspect="1"/>
          </p:cNvPicPr>
          <p:nvPr/>
        </p:nvPicPr>
        <p:blipFill>
          <a:blip r:embed="rId1"/>
          <a:stretch>
            <a:fillRect/>
          </a:stretch>
        </p:blipFill>
        <p:spPr>
          <a:xfrm>
            <a:off x="6537960" y="2550490"/>
            <a:ext cx="5470855" cy="2735428"/>
          </a:xfrm>
          <a:prstGeom prst="rect">
            <a:avLst/>
          </a:prstGeom>
        </p:spPr>
      </p:pic>
      <p:sp>
        <p:nvSpPr>
          <p:cNvPr id="7" name="Text 4"/>
          <p:cNvSpPr/>
          <p:nvPr/>
        </p:nvSpPr>
        <p:spPr>
          <a:xfrm>
            <a:off x="6537960" y="6089904"/>
            <a:ext cx="547085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migrations in Cameroon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Inter-Regional and Rural-Urban Movements</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Movements in the north: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Mountain peoples of the Mandara have moved down to the plains, and settlers from the Far North were moved to the Benue valley by the Nord-Est Bénoué project. Young northerners also move south to Yaoundé and Douala for jobs and studies.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2300" b="1" dirty="0">
                <a:solidFill>
                  <a:srgbClr val="990011"/>
                </a:solidFill>
                <a:latin typeface="Times New Roman" pitchFamily="34" charset="0"/>
                <a:ea typeface="Times New Roman" pitchFamily="34" charset="-122"/>
                <a:cs typeface="Times New Roman" pitchFamily="34" charset="-120"/>
              </a:rPr>
              <a:t>A) Inter-Regional and Rural-Urban Movements</a:t>
            </a:r>
            <a:endParaRPr lang="en-US" sz="23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Rural-urban migration: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Everywhere, people leave villages for towns in search of jobs and services. This rural exodus explains the fast growth of the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A) Inter-Regional and Rural-Urban Movements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Forced migrations: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Since 2014, Boko Haram attacks in the Far North, and since 2016, the crisis in the North-West and South-West, have forced many people to flee. They have moved to safer towns and regions, and some to Nigeria.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B) Pre- and Post-Independence Migrations</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Migrations before and after independence were the following:</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Before independence: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Germans, and then the British and French, recruited workers, often by force, for coastal plantations, ports and railways. This started the movement from the highlands to the coast.</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62</a:t>
            </a:fld>
            <a:endParaRPr 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000" b="1" dirty="0">
                <a:solidFill>
                  <a:srgbClr val="990011"/>
                </a:solidFill>
                <a:latin typeface="Times New Roman" pitchFamily="34" charset="0"/>
                <a:ea typeface="Times New Roman" pitchFamily="34" charset="-122"/>
                <a:cs typeface="Times New Roman" pitchFamily="34" charset="-120"/>
              </a:rPr>
              <a:t>B) Pre- and Post-Independence Migrations</a:t>
            </a:r>
            <a:endParaRPr lang="en-US" sz="30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After independence: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rural exodus to towns became the main movement. People also moved to new agricultural schemes, such as SEMRY and the Benue valley, and to mining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63</a:t>
            </a:fld>
            <a:endParaRPr 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Causes of Migration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Migrations in Cameroon have the following causes: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Land shortage and poverty: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In overcrowded areas such as the West and the Mandara Mountains, there is not enough land for all families. Poor young people therefore leave to find a living elsewhere.</a:t>
            </a:r>
            <a:endParaRPr lang="en-US" sz="3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64</a:t>
            </a:fld>
            <a:endParaRPr 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Causes of Migration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Lack of jobs and amenities: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Villages offer few paid jobs, and they often lack electricity, water, schools and hospitals. People leave for places where these exist.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65</a:t>
            </a:fld>
            <a:endParaRPr 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Causes of Migration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Insecurity and drought: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Boko Haram attacks, the crisis in the North-West and South-West and droughts in the Far North force people to leave. They move to safer or wetter areas.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66</a:t>
            </a:fld>
            <a:endParaRPr 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4069080" y="1737360"/>
            <a:ext cx="78025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C) Causes of Migration</a:t>
            </a:r>
            <a:endParaRPr lang="en-US" sz="3200" dirty="0"/>
          </a:p>
        </p:txBody>
      </p:sp>
      <p:sp>
        <p:nvSpPr>
          <p:cNvPr id="6" name="Text 3"/>
          <p:cNvSpPr/>
          <p:nvPr/>
        </p:nvSpPr>
        <p:spPr>
          <a:xfrm>
            <a:off x="4069080" y="2240280"/>
            <a:ext cx="78025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pull of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Jobs, schools, hospitals, electricity and the attraction of town life draw people to towns. Douala and Yaoundé have the strongest pull.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67</a:t>
            </a:fld>
            <a:endParaRPr 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1691640" y="1737360"/>
            <a:ext cx="101800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Effects of Migration</a:t>
            </a:r>
            <a:endParaRPr lang="en-US" sz="3200" dirty="0"/>
          </a:p>
        </p:txBody>
      </p:sp>
      <p:sp>
        <p:nvSpPr>
          <p:cNvPr id="6" name="Text 3"/>
          <p:cNvSpPr/>
          <p:nvPr/>
        </p:nvSpPr>
        <p:spPr>
          <a:xfrm>
            <a:off x="1691640" y="2240280"/>
            <a:ext cx="10180015" cy="42062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Migrations in Cameroon have the following effects: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Loss of young workers: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areas of departure lose their young people, so there are fewer farm workers. Villages are left with mostly women, children and old people.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68</a:t>
            </a:fld>
            <a:endParaRPr 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Effects of Migration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Remittances: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Migrants send money home to their families. This money pays for school fees, houses and small businesses in the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69</a:t>
            </a:fld>
            <a:endParaRPr 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2697480" y="1737360"/>
            <a:ext cx="917417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Effects of Migration</a:t>
            </a:r>
            <a:endParaRPr lang="en-US" sz="3200" dirty="0"/>
          </a:p>
        </p:txBody>
      </p:sp>
      <p:sp>
        <p:nvSpPr>
          <p:cNvPr id="6" name="Text 3"/>
          <p:cNvSpPr/>
          <p:nvPr/>
        </p:nvSpPr>
        <p:spPr>
          <a:xfrm>
            <a:off x="2697480" y="2240280"/>
            <a:ext cx="917417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Labour and cultural mixing: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Migrants supply labour to industries and plantations in the receiving areas. People of different ethnic groups live together and exchange their cultures.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70</a:t>
            </a:fld>
            <a:endParaRPr 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Major Migration Trends</a:t>
            </a:r>
            <a:endParaRPr lang="en-US" sz="3600" dirty="0"/>
          </a:p>
        </p:txBody>
      </p:sp>
      <p:sp>
        <p:nvSpPr>
          <p:cNvPr id="5" name="Text 2"/>
          <p:cNvSpPr/>
          <p:nvPr/>
        </p:nvSpPr>
        <p:spPr>
          <a:xfrm>
            <a:off x="5349240" y="1737360"/>
            <a:ext cx="6522415" cy="457200"/>
          </a:xfrm>
          <a:prstGeom prst="rect">
            <a:avLst/>
          </a:prstGeom>
          <a:noFill/>
          <a:ln/>
        </p:spPr>
        <p:txBody>
          <a:bodyPr wrap="square" lIns="0" tIns="0" rIns="0" bIns="0" rtlCol="0" anchor="ctr"/>
          <a:lstStyle/>
          <a:p>
            <a:pPr algn="l" indent="0" marL="0">
              <a:buNone/>
            </a:pPr>
            <a:r>
              <a:rPr lang="en-US" sz="3200" b="1" dirty="0">
                <a:solidFill>
                  <a:srgbClr val="990011"/>
                </a:solidFill>
                <a:latin typeface="Times New Roman" pitchFamily="34" charset="0"/>
                <a:ea typeface="Times New Roman" pitchFamily="34" charset="-122"/>
                <a:cs typeface="Times New Roman" pitchFamily="34" charset="-120"/>
              </a:rPr>
              <a:t>D) Effects of Migration</a:t>
            </a:r>
            <a:endParaRPr lang="en-US" sz="3200" dirty="0"/>
          </a:p>
        </p:txBody>
      </p:sp>
      <p:sp>
        <p:nvSpPr>
          <p:cNvPr id="6" name="Text 3"/>
          <p:cNvSpPr/>
          <p:nvPr/>
        </p:nvSpPr>
        <p:spPr>
          <a:xfrm>
            <a:off x="5349240" y="2240280"/>
            <a:ext cx="6522415" cy="42062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Overcrowding in towns: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Towns receive more people than they can house and employ. Slums, unemployment and pressure on services increase.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71</a:t>
            </a:fld>
            <a:endParaRPr 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the population of Cameroon at the 2005 census and today.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72</a:t>
            </a:fld>
            <a:endParaRPr 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About 17.5 million in 2005 and about 29 million in 2024.</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73</a:t>
            </a:fld>
            <a:endParaRPr 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physical factor of the high density of the Western Highlands.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74</a:t>
            </a:fld>
            <a:endParaRPr 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Fertile volcanic soils (or a cool, healthy climate).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75</a:t>
            </a:fld>
            <a:endParaRPr 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Cameroon has an ______ (wide-based) population pyramid.</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least densely populated region of Cameroon is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76</a:t>
            </a:fld>
            <a:endParaRPr 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Movement from villages to towns is called ______ migration.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77</a:t>
            </a:fld>
            <a:endParaRPr 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largest towns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78</a:t>
            </a:fld>
            <a:endParaRPr 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Urbanisation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79</a:t>
            </a:fld>
            <a:endParaRPr 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81"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Census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recensement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Growth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croissance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 pyramid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pyramide des âges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Density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densité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migration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Rural exodus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L'exode rural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Displaced person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déplacé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Birth rate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taux de natalité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80</a:t>
            </a:fld>
            <a:endParaRPr 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82"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Geography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6: Population Change in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the evolution of the population of Cameroon and its growth rate. Describe the age-sex structure and the type of pyramid of Cameroon. Explain the spatial variation of population densities. Analyse the major migration trends, their causes and effects.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population of Cameroon, explain its uneven distribution and analyse its main migrations.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81</a:t>
            </a:fld>
            <a:endParaRPr 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8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Evolution in Numbers and Growth Rate; Age-Sex Distribution and Pyramid Type; Densities and their Spatial Variation; Physical Factors of Distribution; Human Factors of Distribution; Inter-Regional and Rural-Urban Movements; Pre- and Post-Independence Migrations; Causes of Migration; Effects of Migration.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largest towns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82</a:t>
            </a:fld>
            <a:endParaRPr 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the census figures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triangle-shaped pyramid.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calculate one density.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arrows on a sketch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 forced migration.</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83</a:t>
            </a:fld>
            <a:endParaRPr 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 Sixth Forms (Lower and Upper Sixth), MINESEC, 2019 — Geography of Cameroon.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course notes: Mr KAMDEM E., Cameroon Geography (LSA and USA), GBHS Garoua, 2026.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BUCREP, 3rd General Census of Population and Housing (2005); United Nations, World Population Prospects (2024 revision).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“Secretary-General Visits Refugee Camps in Chad” by United Nations Photo, CC BY-NC-ND 2.0, via Flickr (https://www.flickr.com/photos/35483578@N03/6140060599)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84</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84</Slides>
  <Notes>84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84</vt:i4>
      </vt:variant>
    </vt:vector>
  </HeadingPairs>
  <TitlesOfParts>
    <vt:vector size="8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2026-10-06T05:41:38Z</dcterms:created>
  <dcterms:modified xsi:type="dcterms:W3CDTF">2026-10-06T05:41:38Z</dcterms:modified>
</cp:coreProperties>
</file>