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Lst>
  <p:notesMasterIdLst>
    <p:notesMasterId r:id="rId6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notesMaster" Target="notesMasters/notesMaster1.xml"/><Relationship Id="rId70" Type="http://schemas.openxmlformats.org/officeDocument/2006/relationships/presProps" Target="presProps.xml"/><Relationship Id="rId71" Type="http://schemas.openxmlformats.org/officeDocument/2006/relationships/viewProps" Target="viewProps.xml"/><Relationship Id="rId72" Type="http://schemas.openxmlformats.org/officeDocument/2006/relationships/theme" Target="theme/theme1.xml"/><Relationship Id="rId7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13: Transport Development in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Geography of Cameroon.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Geography of Cameroon, and the sub-topic is Economic Activities and Development of Cameroon. The key notions we shall use today are: transport network, road, railway, port, airport, corridor, spatial pattern, transit. At the end, you should be able to do this: learners are able to describe the transport networks of Cameroon, explain their pattern and propose ways to improve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12: Industrial Development and Change in Cameroon. The question was: Name the two end towns of the Transcam railway.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Douala and Ngaoundéré (through Yaoundé).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four things. Number 1: describe the road, rail, air and water networks of Cameroon. Number 2: explain the spatial pattern of the transport network. Number 3: explain the problems of transport development. Number 4: describe the efforts to improve transport.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railway ends at Ngaoundéré. Douala is the main port. Garoua has an international airport.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Moussa drives a lorry of cotton from Garoua to the south. Near Ngaoundéré a tyre bursts in a huge pothole, and while he waits he sees the Camrail freight train pass smoothly towards Douala. He says: "If only the roads were better, or the train came to Garoua!" His son asks: "Why is transport so difficult in Cameroon, and what is being done to improve it?"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Transport is slow and costly because of bad roads and the limited railway.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Where does the railway end in the north?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At Ngaoundéré.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is a bad road costly for Moussa?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damages the lorry and wastes time and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respect traffic rules and protect roads and public transport equipment.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role of transport in trade, national unity and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transport network of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Which towns are linked by the Transcam railway?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Douala, Yaoundé and Ngaoundéré.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train.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Which goods does the railway carry from the north to Douala?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Cotton, cattle and goods for Chad and the Central African Republic.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container port.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was the deep-sea port of Kribi built?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To receive very large ships that cannot enter Douala.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damaged road.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one problem of roads in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Many roads are unpaved or full of potholes.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motorway.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Which motorway is being built between the two largest towns?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Yaoundé–Douala motorway.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Transport network and Spatial pattern.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Corridor.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Road Network. The road network has the following characteristics. Copy the point on Importance on the left, then draw the diagram on the right: the transport network of Cameroon.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Road Network. On this slide we have Radial pattern and Dense south, sparse north and east.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Road Network. On this slide we have Paved and unpaved roads and Corridors.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Rail Network. The rail network has the following characteristics. Copy the point on Linear pattern on the left, then draw the diagram on the right: a train.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Rail Network. On this slide we have Operator and Role.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Rail Network. On this slide we have Limits.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Air Network. The air network has the following characteristics. Copy the point on International airports on the left, then draw the diagram on the right: an airport.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Air Network. On this slide we have Domestic airports and Role.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Water Network. The water network has the following characteristics. Copy the point on Sea ports on the left, then draw the diagram on the right: a container port.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Water Network. On this slide we have River transport and Role.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Problems of Transport Development. Transport development faces the following problems. Copy the point on Poor infrastructure on the left, then draw the diagram on the right: a damaged road.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Problems of Transport Development. On this slide we have Lack of funds and Physical problems.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Problems of Transport Development. On this slide we have Incomplete networks and Old equipment and congestion.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Problems of Transport Development. On this slide we have Insecurity.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Efforts to Improve Transport Development. The following efforts are made to improve transport. Copy the point on Roads on the left, then draw the diagram on the right: a motorway.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Efforts to Improve Transport Development. On this slide we have Ports and Railway.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Efforts to Improve Transport Development. On this slide we have Airports and bridges and Partnerships.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Describe the spatial pattern of the road network of Cameroon.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radial from Douala and Yaoundé, dense in the south and west, sparse in the north and east.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problems of transport and one effort to solve them.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bad roads and lack of funds; building motorways (or the Kribi port).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Camrail; number 2, Kribi; number 3, Ngaoundéré.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Name two national parks of the North Region.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14: Tourism Development in Cameroon.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13: TRANSPORT DEVELOPMENT IN CAMEROON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jp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jp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jp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jp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2.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2.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2.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2.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2.xml"/><Relationship Id="rId3" Type="http://schemas.openxmlformats.org/officeDocument/2006/relationships/notesSlide" Target="../notesSlides/notesSlide6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13</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Transport Development in Cameroon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Geography of Cameroon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Geography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Economic Activities and Development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13: Transport Development in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Transport network, road, railway, port, airport, corridor, spatial pattern, transit.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different route networks: description and explanation of their spatial pattern; problems of transport development; efforts to improve transport.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the transport networks of Cameroon, explain their pattern and propose ways to improve them.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12: Industrial Development and Change in Cameroon):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two end towns of the Transcam railway.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Douala and Ngaoundéré (through Yaoundé).</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road, rail, air and water networks of Cameroon.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spatial pattern of the transport network.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problems of transport development.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efforts to improve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railway ends at Ngaoundéré.</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Douala is the main port.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Garoua has an international airport.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Moussa drives a lorry of cotton from Garoua to the south.</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Near Ngaoundéré a tyre bursts in a huge pothole, and while he waits he sees the Camrail freight train pass smoothly towards Douala.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 says: "If only the roads were better, or the train came to Garoua!"</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His son asks: "Why is transport so difficult in Cameroon, and what is being done to improve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Transport is slow and costly because of bad roads and the limited railway.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does the railway end in the north?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Ngaoundéré.</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a bad road costly for Moussa?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damages the lorry and wastes time and money.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Respect traffic rules and protect roads and public transport equipment.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role of transport in trade, national unity and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ROUTE NETWORKS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cmr_transport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transport network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ROUTE NETWORKS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towns are linked by the Transcam railway?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ROUTE NETWORKS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Douala, Yaoundé and Ngaoundéré.</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ROUTE NETWORKS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trai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train.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ROUTE NETWORKS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goods does the railway carry from the north to Douala?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ROUTE NETWORKS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Cotton, cattle and goods for Chad and the Central African Republic.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ROUTE NETWORKS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containe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container port.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ROUTE NETWORKS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was the deep-sea port of Kribi built?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ROUTE NETWORKS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receive very large ships that cannot enter Douala.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PROBLEMS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muddy_roa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damaged road.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PROBLEMS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problem of roads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PROBLEMS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Many roads are unpaved or full of potholes.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EFFORTS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5_motorway.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motorway.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EFFORTS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motorway is being built between the two largest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EFFORTS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Yaoundé–Douala motorway.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Geography of Cameroon</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Economic Activities and Development of Cameroon</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13: Transport Development in Cameroon</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Transport network: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set of routes (roads, railways, air routes, waterways) that link places.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Spatial pattern: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arrangement of the network on the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Corridor: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main transport route used to carry goods between a port and inland areas or countries.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Route Networks and Their Spatial Pattern</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The Road Network</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road network has the following characteristics: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Importance: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Roads carry most passengers and goods in Cameroon.</a:t>
            </a:r>
            <a:endParaRPr lang="en-US" sz="3600" dirty="0"/>
          </a:p>
        </p:txBody>
      </p:sp>
      <p:pic>
        <p:nvPicPr>
          <p:cNvPr id="6" name="Image 0" descr="/home/claude/f4/img/v2/cmr_transport_big.png">    </p:cNvPr>
          <p:cNvPicPr>
            <a:picLocks noChangeAspect="1"/>
          </p:cNvPicPr>
          <p:nvPr/>
        </p:nvPicPr>
        <p:blipFill>
          <a:blip r:embed="rId1"/>
          <a:stretch>
            <a:fillRect/>
          </a:stretch>
        </p:blipFill>
        <p:spPr>
          <a:xfrm>
            <a:off x="5349240" y="2253310"/>
            <a:ext cx="6659575" cy="3329788"/>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transport network of Cameroon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Route Networks and Their Spatial Pattern</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The Road Network</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Radial pattern: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Main roads radiate from Douala and Yaoundé to the regional capitals.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Dense south, sparse north and east: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network is densest in the south and west; the north depends mainly on the N1 (Ngaoundéré–Garoua–Maroua–Kousseri).</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Route Networks and Their Spatial Pattern</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The Road Network (continued)</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Paved and unpaved roads: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Only a small part of the network is paved; most rural roads are earth roads.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Corridors: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Douala–N'Djamena and Douala–Bangui carry transit goods for Chad and the Central African Republic.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Route Networks and Their Spatial Pattern</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B) The Rail Network</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000" i="1" dirty="0">
                <a:solidFill>
                  <a:srgbClr val="111111"/>
                </a:solidFill>
                <a:latin typeface="Times New Roman" pitchFamily="34" charset="0"/>
                <a:ea typeface="Times New Roman" pitchFamily="34" charset="-122"/>
                <a:cs typeface="Times New Roman" pitchFamily="34" charset="-120"/>
              </a:rPr>
              <a:t>The rail network has the following characteristics:</a:t>
            </a:r>
            <a:endParaRPr lang="en-US" sz="3000" dirty="0"/>
          </a:p>
          <a:p>
            <a:pPr algn="l" indent="0" marL="0">
              <a:spcAft>
                <a:spcPts val="800"/>
              </a:spcAft>
              <a:buNone/>
            </a:pPr>
            <a:r>
              <a:rPr lang="en-US" sz="3000" b="1" dirty="0">
                <a:solidFill>
                  <a:srgbClr val="111111"/>
                </a:solidFill>
                <a:latin typeface="Times New Roman" pitchFamily="34" charset="0"/>
                <a:ea typeface="Times New Roman" pitchFamily="34" charset="-122"/>
                <a:cs typeface="Times New Roman" pitchFamily="34" charset="-120"/>
              </a:rPr>
              <a:t>Linear pattern: </a:t>
            </a:r>
            <a:pPr algn="l" indent="0" marL="0">
              <a:spcAft>
                <a:spcPts val="800"/>
              </a:spcAft>
              <a:buNone/>
            </a:pPr>
            <a:r>
              <a:rPr lang="en-US" sz="3000" dirty="0">
                <a:solidFill>
                  <a:srgbClr val="111111"/>
                </a:solidFill>
                <a:latin typeface="Times New Roman" pitchFamily="34" charset="0"/>
                <a:ea typeface="Times New Roman" pitchFamily="34" charset="-122"/>
                <a:cs typeface="Times New Roman" pitchFamily="34" charset="-120"/>
              </a:rPr>
              <a:t>The Transcam railway runs from Douala to Yaoundé (Transcam I) and from Yaoundé to Ngaoundéré (Transcam II), with a branch to Kumba.</a:t>
            </a:r>
            <a:endParaRPr lang="en-US" sz="3000" dirty="0"/>
          </a:p>
        </p:txBody>
      </p:sp>
      <p:pic>
        <p:nvPicPr>
          <p:cNvPr id="6" name="Image 0" descr="/home/claude/f4/img/v2/f2t_train.jpg">    </p:cNvPr>
          <p:cNvPicPr>
            <a:picLocks noChangeAspect="1"/>
          </p:cNvPicPr>
          <p:nvPr/>
        </p:nvPicPr>
        <p:blipFill>
          <a:blip r:embed="rId1"/>
          <a:stretch>
            <a:fillRect/>
          </a:stretch>
        </p:blipFill>
        <p:spPr>
          <a:xfrm>
            <a:off x="5349240" y="2071212"/>
            <a:ext cx="6659575" cy="3693983"/>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train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Route Networks and Their Spatial Pattern</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The Rail Network</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Operator: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operated by Camrail.</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Role: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carries heavy goods (timber, cotton, cattle, fuel, cement) and transit goods for Chad and the Central African Republic from the Ngaoundéré railhead.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Route Networks and Their Spatial Pattern</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The Rail Network (continued)</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Limits: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north (Garoua, Maroua), the west and the east are not served.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Route Networks and Their Spatial Pattern</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C) The Air Network</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air network has the following characteristics: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International airports: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Douala (the busiest), Yaoundé-Nsimalen and Garoua.</a:t>
            </a:r>
            <a:endParaRPr lang="en-US" sz="3600" dirty="0"/>
          </a:p>
        </p:txBody>
      </p:sp>
      <p:pic>
        <p:nvPicPr>
          <p:cNvPr id="6" name="Image 0" descr="/home/claude/f4/img/v2/usa_airport.jpg">    </p:cNvPr>
          <p:cNvPicPr>
            <a:picLocks noChangeAspect="1"/>
          </p:cNvPicPr>
          <p:nvPr/>
        </p:nvPicPr>
        <p:blipFill>
          <a:blip r:embed="rId1"/>
          <a:stretch>
            <a:fillRect/>
          </a:stretch>
        </p:blipFill>
        <p:spPr>
          <a:xfrm>
            <a:off x="5349240" y="2071212"/>
            <a:ext cx="6659575" cy="3693983"/>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an airport</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Route Networks and Their Spatial Pattern</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C) The Air Network</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Domestic airports: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Maroua-Salak, Ngaoundéré, Bertoua, Bamenda and others.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Role: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Fast travel for business, administration and tourism, especially between the south and the north.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Route Networks and Their Spatial Pattern</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D) The Water Network</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400" i="1" dirty="0">
                <a:solidFill>
                  <a:srgbClr val="111111"/>
                </a:solidFill>
                <a:latin typeface="Times New Roman" pitchFamily="34" charset="0"/>
                <a:ea typeface="Times New Roman" pitchFamily="34" charset="-122"/>
                <a:cs typeface="Times New Roman" pitchFamily="34" charset="-120"/>
              </a:rPr>
              <a:t>The water network has the following characteristics:</a:t>
            </a:r>
            <a:endParaRPr lang="en-US" sz="3400" dirty="0"/>
          </a:p>
          <a:p>
            <a:pPr algn="l" indent="0" marL="0">
              <a:spcAft>
                <a:spcPts val="800"/>
              </a:spcAft>
              <a:buNone/>
            </a:pPr>
            <a:r>
              <a:rPr lang="en-US" sz="3400" b="1" dirty="0">
                <a:solidFill>
                  <a:srgbClr val="111111"/>
                </a:solidFill>
                <a:latin typeface="Times New Roman" pitchFamily="34" charset="0"/>
                <a:ea typeface="Times New Roman" pitchFamily="34" charset="-122"/>
                <a:cs typeface="Times New Roman" pitchFamily="34" charset="-120"/>
              </a:rPr>
              <a:t>Sea ports: </a:t>
            </a:r>
            <a:pPr algn="l" indent="0" marL="0">
              <a:spcAft>
                <a:spcPts val="800"/>
              </a:spcAft>
              <a:buNone/>
            </a:pPr>
            <a:r>
              <a:rPr lang="en-US" sz="3400" dirty="0">
                <a:solidFill>
                  <a:srgbClr val="111111"/>
                </a:solidFill>
                <a:latin typeface="Times New Roman" pitchFamily="34" charset="0"/>
                <a:ea typeface="Times New Roman" pitchFamily="34" charset="-122"/>
                <a:cs typeface="Times New Roman" pitchFamily="34" charset="-120"/>
              </a:rPr>
              <a:t>Douala (the main port), Kribi (deep-sea port opened in 2018), Limbe and Tiko.</a:t>
            </a:r>
            <a:endParaRPr lang="en-US" sz="3400" dirty="0"/>
          </a:p>
        </p:txBody>
      </p:sp>
      <p:pic>
        <p:nvPicPr>
          <p:cNvPr id="6" name="Image 0" descr="/home/claude/f4/img/v2/usa_container.jpg">    </p:cNvPr>
          <p:cNvPicPr>
            <a:picLocks noChangeAspect="1"/>
          </p:cNvPicPr>
          <p:nvPr/>
        </p:nvPicPr>
        <p:blipFill>
          <a:blip r:embed="rId1"/>
          <a:stretch>
            <a:fillRect/>
          </a:stretch>
        </p:blipFill>
        <p:spPr>
          <a:xfrm>
            <a:off x="5349240" y="2071212"/>
            <a:ext cx="6659575" cy="3693983"/>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container port</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Route Networks and Their Spatial Pattern</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D) The Water Network</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River transport: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Benue (to Garoua in the rainy season), the Sangha and the lower Sanaga and Nyong are used locally.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Role: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ports handle almost all the foreign trade of Cameroon and part of that of Chad and the Central African Republic.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Problems of Transport Development</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Transport development faces the following problems: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Poor infrastructure: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Unpaved roads, potholes and old bridges cause accidents and delays.</a:t>
            </a:r>
            <a:endParaRPr lang="en-US" sz="3600" dirty="0"/>
          </a:p>
        </p:txBody>
      </p:sp>
      <p:pic>
        <p:nvPicPr>
          <p:cNvPr id="5" name="Image 0" descr="/home/claude/f4/img/v2/f2t_muddy_road.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damaged road</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Problems of Transport Development</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Lack of funds: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Building and maintaining roads and railways is very costly.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Physical problems: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Heavy rain, steep slopes and dense forest in the south; floods and sand in the north.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Problems of Transport Development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Incomplete networks: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railway does not reach the north, and many regions remain isolated.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Old equipment and congestion: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Old trains, congestion at the port of Douala and road checkpoints slow traffic.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Problems of Transport Development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Insecurity: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Road bandits (coupeurs de route) and conflicts make some roads unsafe.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Efforts to Improve Transport Development</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The following efforts are made to improve transport:</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Roads: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Paving of major roads, the Yaoundé–Douala motorway, the Kribi–Lolabé motorway and the Bamenda–Enugu road to Nigeria.</a:t>
            </a:r>
            <a:endParaRPr lang="en-US" sz="3200" dirty="0"/>
          </a:p>
        </p:txBody>
      </p:sp>
      <p:pic>
        <p:nvPicPr>
          <p:cNvPr id="5" name="Image 0" descr="/home/claude/f4/img/v2/f5_motorway.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motorway</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Efforts to Improve Transport Development</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Ports: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Kribi deep-sea port and the modernisation of the port of Douala.</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Railway: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Rehabilitation of the Transcam line and new trains, with plans to extend the railway.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Efforts to Improve Transport Development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Airports and bridges: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Modernised airports and the second bridge over the Wouri in Douala.</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Partnerships: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Public-private partnerships to finance and manage infrastructure.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spatial pattern of the road network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Radial from Douala and Yaoundé, dense in the south and west, sparse in the north and east.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problems of transport and one effort to solve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Bad roads and lack of funds; building motorways (or the Kribi 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company that operates the railway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deep-sea port opened in 2018 is at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railway ends in the north at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national parks of the North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14: Tourism Development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63"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Road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route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Railway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chemin de fer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Airport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L'aéroport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Motorway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L'autoroute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Pothole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nid-de-poule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Corridor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corridor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Transit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transit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6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Geography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13: Transport Development in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road, rail, air and water networks of Cameroon. Explain the spatial pattern of the transport network. Explain the problems of transport development. Describe the efforts to improve transport.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the transport networks of Cameroon, explain their pattern and propose ways to improve them.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6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The Road Network; The Rail Network; The Air Network; The Water Network; Problems of Transport Development; Efforts to Improve Transport Development.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Name two national parks of the North Region.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railway on a sketch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list goods at the railway station.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compare Douala and Kribi.</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describe roads around Garoua.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name new roads of the region.</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 Sixth Forms (Lower and Upper Sixth), MINESEC, 2019 — Geography of Cameroon.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course notes: Mr KAMDEM E., Cameroon Geography (LSA and USA), GBHS Garoua, 2026.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INS, Fourth Cameroon Household Survey (ECAM 4), 2014.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“Train de nuit” by Huard, CC BY-NC-ND 2.0, via Flickr (https://www.flickr.com/photos/41569561@N07/5499545979)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“Container Ships @ Port of Oakland” by jdnx, CC BY 2.0, via Flickr (https://www.flickr.com/photos/21442511@N08/3464243881)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“Cameroon - UN Women's Gender Road Project” by UN Women Gallery, CC BY-NC-ND 2.0, via Flickr (https://www.flickr.com/photos/51431730@N04/40672356003)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“'Mini Stack' Interchange of Interstate 10, Loop 202, and State Route 5” by squeaks2569, CC BY-SA 2.0, via Flickr (https://www.flickr.com/photos/38478466@N06/5180259860)</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(International airports): “Airplane” by jeffk, CC BY 2.0, via Flickr (https://www.flickr.com/photos/44124372247@N01/59597563)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67</Slides>
  <Notes>67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67</vt:i4>
      </vt:variant>
    </vt:vector>
  </HeadingPairs>
  <TitlesOfParts>
    <vt:vector size="7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2026-09-29T03:12:13Z</dcterms:created>
  <dcterms:modified xsi:type="dcterms:W3CDTF">2026-09-29T03:12:13Z</dcterms:modified>
</cp:coreProperties>
</file>