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notesMasterIdLst>
    <p:notesMasterId r:id="rId8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notesMaster" Target="notesMasters/notesMaster1.xml"/><Relationship Id="rId86" Type="http://schemas.openxmlformats.org/officeDocument/2006/relationships/presProps" Target="presProps.xml"/><Relationship Id="rId87" Type="http://schemas.openxmlformats.org/officeDocument/2006/relationships/viewProps" Target="viewProps.xml"/><Relationship Id="rId88" Type="http://schemas.openxmlformats.org/officeDocument/2006/relationships/theme" Target="theme/theme1.xml"/><Relationship Id="rId8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Urbanisation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Population, Settlement and Resources of Cameroon. The key notions we shall use today are: urbanisation, urban growth, urban hierarchy, primate city, site, situation, function, hinterland, urban problems. At the end, you should be able to do this: learners are able to explain the growth of towns in Cameroon, describe the site, situation and functions of towns and propose solutions to urban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Population Change in Cameroon. The question was: Name the two largest towns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the economic capital, and Yaoundé, the political capital.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explain the increase of urbanisation since colonial times and its factors. Number 2: describe the distribution and ranking of urban centres. Number 3: describe the site, situation and functions of Douala and Garoua. Number 4: explain the links between towns and their hinterlands. Number 5: analyse urban problems, solutions and difficulties.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Many young people move from villages to towns. Douala and Yaoundé are the largest towns of Cameroon. Towns offer jobs and services.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Saratou comes from a village near Lagdo to study in Garoua. She is amazed by the crowds, the cars and the moto-taxis, but she also sees waste in the gutters and crowded quarters. She says: "In my village, most young people have left." She asks: "Why is everybody moving to town, and how can a town like Garoua cope with so many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Saratou does not know why towns grow so fast and how they cope with their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Saratou see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Crowds, cars, moto-taxis, waste and crowded quarters.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happening in her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Most young people have left (rural exodus).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town-planning rules, keep your quarter clean and use public spaces responsibly.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growth of our towns and to take part in solving urban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two towns are much larger than all the others?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and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many young people leave villages for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find jobs, schools, hospitals and modern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site of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On what kind of land is Douala built?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a low, swampy plain at the estuary of the Wouri.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cattle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Garoua receive from its hinterland?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Food, cattle, cotton and labour.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traffic in an African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cause of traffic jams in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Narrow roads for a fast-growing number of vehicles.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Urbanisation and Urban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Site and Situation.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Hinterland.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Distribution and Ranking of Urban Centres. The towns of Cameroon are distributed and ranked as follows. Copy the point on Distribution on the left, then draw the diagram on the right: the towns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Distribution and Ranking of Urban Centres. Copy the point on First order (dual primacy):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Distribution and Ranking of Urban Centres. Copy the point on Second order: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Distribution and Ranking of Urban Centres. Copy the point on Third order: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Increasing Urbanisation. Urbanisation in Cameroon has increased as follows. Copy the point on Colonial origins: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 rapid increase on the left, then draw the diagram on the right: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Urbanisation has increased because of the following factors. Copy the point on Rural exodus: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Copy the point on The pull of towns: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Copy the point on Administration: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Copy the point on Natural increase: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Douala. Douala has the following site and situation. Copy the point on Site on the left, then draw the diagram on the right: the site of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Douala. Copy the point on Situation: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Garoua. Garoua has the following site and situation. Copy the point on Site on the left, then draw the diagram on the right: the Benue at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Garoua. Copy the point on Situation: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Functions and Linkages with the Hinterland. Towns and their hinterlands are linked in the following ways. Copy the point on Functions of Douala: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Functions and Linkages with the Hinterland. Copy the point on Functions of Garoua: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What the hinterland gives on the left, then draw the diagram on the right: a cattle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Functions and Linkages with the Hinterland. Copy the point on What the town gives: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Housing and Transport. Towns such as Douala, Yaoundé and Garoua face the following housing and transport problems. Copy the point on Housing and slums: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Traffic congestion on the left, then draw the diagram on the right: traffic congestion.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Social and Environmental Problems. Towns also face the following social and environmental problems. Copy the point on Unemployment: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Social and Environmental Problems. Copy the point on Insecurity: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Social and Environmental Problems. Copy the point on Waste and floods: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Social and Environmental Problems. Copy the point on Shortage of services: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The following solutions have been proposed. Copy the point on Housing: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Copy the point on Roads and transport: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Copy the point on Waste management: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Copy the point on Decentralisation: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Difficulties. These solutions face the following difficulties. Copy the point on Lack of funds: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Difficulties. Copy the point on Uncontrolled building: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Difficulties. Copy the point on Corruption: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Difficulties. Copy the point on Land disputes: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the site and the situation of a town.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site is the land on which the town is built; the situation is its position in relation to its surroundings.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urban problems of Douala and one solution.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floods and traffic congestion; drainage works (or new roads).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urbanisation; number 2, primacy; number 3, hinterland.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agro-industrial companies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Agricultural Development and Change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URBANISATION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2.xml"/><Relationship Id="rId3" Type="http://schemas.openxmlformats.org/officeDocument/2006/relationships/notesSlide" Target="../notesSlides/notesSlide8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Urbanisation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Settlement and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Urbanisation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Urbanisation, urban growth, urban hierarchy, primate city, site, situation, function, hinterland, urban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Spatial distribution and ranking of urban centres; increasing urbanisation since colonial times and its factors; site and situation of two major towns (Douala and Garoua); functions and linkages with their hinterlands; urban problems, their causes, solutions and difficulties.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growth of towns in Cameroon, describe the site, situation and functions of towns and propose solutions to urban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Population Change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largest towns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the economic capital, and Yaoundé, the political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increase of urbanisation since colonial times and its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and ranking of urban centres.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site, situation and functions of Douala and Garoua.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links between towns and their hinterlands.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Analyse urban problems, solutions and difficulties.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young people move from villages to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and Yaoundé are the largest towns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offer jobs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Saratou comes from a village near Lagdo to study in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is amazed by the crowds, the cars and the moto-taxis, but she also sees waste in the gutters and crowded quarters.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says: "In my village, most young people have left."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asks: "Why is everybody moving to town, and how can a town like Garoua cope with so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Saratou does not know why towns grow so fast and how they cope with their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Saratou see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Crowds, cars, moto-taxis, waste and crowded quarters.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happening in her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young people have left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town-planning rules, keep your quarter clean and use public spaces responsibly.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growth of our towns and to take part in solving urban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SPATIAL DISTRIBUTION AND RANKING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SPATIAL DISTRIBUTION AND RANKING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two towns are much larger than all the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SPATIAL DISTRIBUTION AND RANKING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INCREASING URBANISATION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INCREASING 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young people leave villages for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INCREASING 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jobs, schools, hospitals and modern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SITE AND SITUATION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ouala_si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site of 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SITE AND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what kind of land is Douala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SITE AND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low, swampy plain at the estuary of the Wouri.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FUNCTIONS AND HINTERLAND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ttle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cattle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FUNCTIONS AND HINTERLAND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Garoua receive from its hinterland?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FUNCTIONS AND HINTERLAND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cattle, cotton and labour.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URBAN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Traffic in an African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URBAN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cause of traffic jams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URBAN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Narrow roads for a fast-growing number of vehicles.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Settlement and Resources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Urbanisation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increase in the proportion of a country's population living in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increase in the size and number of people of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land on which a town is built.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position of a town in relation to its surroundings (rivers, routes, resources, other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Hinterland: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area around a town that it serves and from which it draws food, labour and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Spatial Distribution and Ranking of Urban Centres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towns of Cameroon are distributed and ranked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Towns are most numerous in the coastal lowlands and the Western Highlands, fewer in the forest south and east. In the north, they are grouped along the main roads.</a:t>
            </a:r>
            <a:endParaRPr lang="en-US" sz="3200" dirty="0"/>
          </a:p>
        </p:txBody>
      </p:sp>
      <p:pic>
        <p:nvPicPr>
          <p:cNvPr id="5" name="Image 0" descr="/home/claude/f4/img/v2/cmr_towns_big.png">    </p:cNvPr>
          <p:cNvPicPr>
            <a:picLocks noChangeAspect="1"/>
          </p:cNvPicPr>
          <p:nvPr/>
        </p:nvPicPr>
        <p:blipFill>
          <a:blip r:embed="rId1"/>
          <a:stretch>
            <a:fillRect/>
          </a:stretch>
        </p:blipFill>
        <p:spPr>
          <a:xfrm>
            <a:off x="6537960" y="2550490"/>
            <a:ext cx="5470855" cy="273542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towns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Spatial Distribution and Ranking of Urban Centres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First order (dual primacy):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the economic capital, and Yaoundé, the political capital, each have about 4 million people. Cameroon therefore has two dominant cities instead of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Spatial Distribution and Ranking of Urban Centres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 order: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regional capitals, such as Garoua, Maroua, Bamenda, Bafoussam and Ngaoundéré, form the second level. They have several hundred thousand people and serve whole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Spatial Distribution and Ranking of Urban Centres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Third order: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Divisional and industrial towns, such as Kumba, Nkongsamba, Edéa, Kribi and Guider, form the third level. They serve smaller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Increasing Urbanisation and its Factors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Increasing Urbanisation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Urbanisation in Cameroon has increased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Colonial origins: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towns grew as ports, administrative posts or railway stations during the colonial period. Douala, Yaoundé and Ngaoundéré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Increasing Urbanisation and its Factors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Increasing Urbanisation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 rapid increase: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share of the population living in towns rose from about 14 % in 1960 to about 49 % in 2005 and about 59 % today. More than half of Cameroonians now live in towns.</a:t>
            </a:r>
            <a:endParaRPr lang="en-US" sz="3600" dirty="0"/>
          </a:p>
        </p:txBody>
      </p:sp>
      <p:pic>
        <p:nvPicPr>
          <p:cNvPr id="6" name="Image 0" descr="/home/claude/f4/img/v2/lsa_douala.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Increasing Urbanisation and its Factors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Factors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Urbanisation has increased because of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exodus: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land shortage and lack of amenities push people out of villages. Many of them settle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Increasing Urbanisation and its Factors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Factors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pull of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schools, universities, hospitals and electricity attract people to towns. Young people also seek the modern way of life of the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Increasing Urbanisation and its Factors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Factors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Administration: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creation of new regions and divisions has brought offices, schools and civil servants to small towns. These towns have therefore grown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Increasing Urbanisation and its Factors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Factors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increase: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children are born in towns, where health care reduces deaths. This natural increase adds to the growth from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Site and Situation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Douala</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Douala has the following site and situation:</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Site: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Douala is built on a low, flat, swampy plain on both banks of the Wouri estuary. This site is easily flooded and difficult to build on.</a:t>
            </a:r>
            <a:endParaRPr lang="en-US" sz="3400" dirty="0"/>
          </a:p>
        </p:txBody>
      </p:sp>
      <p:pic>
        <p:nvPicPr>
          <p:cNvPr id="6" name="Image 0" descr="/home/claude/f4/img/v2/douala_site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site of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Site and Situation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Douala</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on the Atlantic coast, at the end of the railway and the main roads. It is therefore the gateway of Cameroon and of Chad and the Central African Republic.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Site and Situation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Garoua</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Garoua has the following site and situation: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Site: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Garoua is built on a flat plain on the right bank of the Benue, dominated by small hills. The river supplies water and the plain offers space for the town to grow.</a:t>
            </a:r>
            <a:endParaRPr lang="en-US" sz="3200" dirty="0"/>
          </a:p>
        </p:txBody>
      </p:sp>
      <p:pic>
        <p:nvPicPr>
          <p:cNvPr id="6" name="Image 0" descr="/home/claude/f4/img/v2/f2t_benu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Benue at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Site and Situation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Garoua</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on the main road (N1) between Ngaoundéré and Maroua, near the borders of Nigeria and Chad. It is also a river port on the Benue, navigable for a short period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Functions and Linkages with the Hinterland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Towns and their hinterlands are linked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Functions of Douala: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is the main port, industrial and commercial centre of Cameroon. It also has the headquarters of banks, the terminus of the railway and the main airport.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Functions and Linkages with the Hinterland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Functions of Garoua: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the capital of the North Region, with cotton and textile industries such as SODECOTON and CICAM. It is also a centre of trade, with a river port, an international airport and a university.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Functions and Linkages with the Hinterland</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What the hinterland gives: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hinterland supplies the town with food, cattle, cotton, fuelwood and labour. For example, the cattle markets of Garoua receive animals from the whole North.</a:t>
            </a:r>
            <a:endParaRPr lang="en-US" sz="3600" dirty="0"/>
          </a:p>
        </p:txBody>
      </p:sp>
      <p:pic>
        <p:nvPicPr>
          <p:cNvPr id="5" name="Image 0" descr="/home/claude/f4/img/v2/f2t_cattle_market.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cattle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Functions and Linkages with the Hinterland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What the town gives: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town offers markets, manufactured goods and jobs to the people of the hinterland. It also provides hospitals, schools, banks and administration.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Urban Problems and their Causes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Housing and Transport</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Towns such as Douala, Yaoundé and Garoua face the following housing and transport problems: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Housing and slums: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towns grow faster than houses can be built, so crowded, unplanned quarters appear, such as New Bell in Douala and Briqueterie in Yaoundé. Many are built in flood-prone areas without water or drains.</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Urban Problems and their Causes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Housing and Transport</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Traffic congestion: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number of cars and moto-taxis grows quickly, while the roads remain narrow and poorly maintained. This causes traffic jams, pollution and accidents.</a:t>
            </a:r>
            <a:endParaRPr lang="en-US" sz="3600" dirty="0"/>
          </a:p>
        </p:txBody>
      </p:sp>
      <p:pic>
        <p:nvPicPr>
          <p:cNvPr id="6" name="Image 0" descr="/home/claude/f4/img/v2/usa_traffic.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traffic congestion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Urban Problems and their Causes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Social and Environmental Problems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Towns also face the following social and environmental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cannot employ all the migrants who arrive. Many find only informal jobs such as street selling and moto-taxi driving.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Urban Problems and their Causes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800" b="1" dirty="0">
                <a:solidFill>
                  <a:srgbClr val="990011"/>
                </a:solidFill>
                <a:latin typeface="Times New Roman" pitchFamily="34" charset="0"/>
                <a:ea typeface="Times New Roman" pitchFamily="34" charset="-122"/>
                <a:cs typeface="Times New Roman" pitchFamily="34" charset="-120"/>
              </a:rPr>
              <a:t>B) Social and Environmental Problems</a:t>
            </a:r>
            <a:endParaRPr lang="en-US" sz="28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and unemployment push some young people into crime. Theft and attacks are common in poorly lit and unplanned quarters.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Urban Problems and their Causes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800" b="1" dirty="0">
                <a:solidFill>
                  <a:srgbClr val="990011"/>
                </a:solidFill>
                <a:latin typeface="Times New Roman" pitchFamily="34" charset="0"/>
                <a:ea typeface="Times New Roman" pitchFamily="34" charset="-122"/>
                <a:cs typeface="Times New Roman" pitchFamily="34" charset="-120"/>
              </a:rPr>
              <a:t>B) Social and Environmental Problems</a:t>
            </a:r>
            <a:endParaRPr lang="en-US" sz="28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and floods: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Uncollected waste blocks the drains, so heavy rains cause floods. Stagnant water then spreads diseases such as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Urban Problems and their Causes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Social and Environmental Problems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Shortage of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electricity, schools and health services cannot follow the growth of the population. Many quarters have frequent power and water cuts.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Solutions and Difficulties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Solutions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solutions have been proposed: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Housing: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SIC builds social housing, and MAETUR prepares plots with roads, water and electricity. These reduce the growth of slums.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Solutions and Difficulties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Solutions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Roads and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roads, flyovers and bus services are built, especially in Douala and Yaoundé. They reduce traffic jams and the time spent travelling.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Solutions and Difficulties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Solutions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HYSACAM collects waste in the main towns, and councils clean the drains. This reduces floods and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Solutions and Difficulties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Solutions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Decentralisation: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City and local councils receive more powers and money to manage their towns. The state also develops secondary towns to reduce the pressure on 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Solutions and Difficulties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Difficulties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solutions face the following difficulties: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funds: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Councils and the state do not have enough money for roads, drains and housing. As a result, projects are slow and cover only small parts of the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Solutions and Difficulties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Difficulties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Uncontrolled building: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quarters grow without plans, and people build on land reserved for roads or in dangerous zones. It then becomes very costly to provide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Solutions and Difficulties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Difficulties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Corruption: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Part of the money for urban projects is misused. Social housing is sometimes given to people who are not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Solutions and Difficulties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Difficulties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disputes: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Several people often claim the same piece of land. These conflicts delay the building of roads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the site and the situation of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site is the land on which the town is built; the situation is its position in relation to its surroundings.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urban problems of Douala and one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and traffic congestion; drainage works (or new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increase in the share of people living in towns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Douala and Yaoundé form a case of dual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area served by a town is its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agro-industrial companies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Agricultural Development and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Situation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situation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Hinterland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L'arrière-pays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bidonville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Traffic jam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L'embouteillage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déchets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Urbanisation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increase of urbanisation since colonial times and its factors. Describe the distribution and ranking of urban centres. Describe the site, situation and functions of Douala and Garoua. Explain the links between towns and their hinterlands. Analyse urban problems, solutions and difficulties.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growth of towns in Cameroon, describe the site, situation and functions of towns and propose solutions to urban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Spatial Distribution and Ranking of Urban Centres; Increasing Urbanisation; Factors; Douala; Garoua; Functions and Linkages with the Hinterland; Housing and Transport; Social and Environmental Problems; Solutions; Difficulties.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agro-industrial companies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towns by size.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rural exodus.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Wouri estuary.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products in the Garoua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traffic in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BUCREP, 3rd General Census of Population and Housing (2005); United Nations, World Population Prospects (2024 revision).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“Discussing the price” by 10b travelling / Carsten ten Brink, CC BY-NC-ND 2.0, via Flickr (https://www.flickr.com/photos/77334245@N00/7313656038)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(A rapid increase): “Douala” by christing-O-, CC BY 2.0, via Flickr (https://www.flickr.com/photos/76187282@N00/7227535754)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(Site):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83</Slides>
  <Notes>83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83</vt:i4>
      </vt:variant>
    </vt:vector>
  </HeadingPairs>
  <TitlesOfParts>
    <vt:vector size="8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2026-10-06T05:41:50Z</dcterms:created>
  <dcterms:modified xsi:type="dcterms:W3CDTF">2026-10-06T05:41:50Z</dcterms:modified>
</cp:coreProperties>
</file>