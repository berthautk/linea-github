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slideMasters/slideMaster55.xml" ContentType="application/vnd.openxmlformats-officedocument.presentationml.slideMaster+xml"/>
  <Override PartName="/ppt/slides/slide55.xml" ContentType="application/vnd.openxmlformats-officedocument.presentationml.slide+xml"/>
  <Override PartName="/ppt/slideMasters/slideMaster56.xml" ContentType="application/vnd.openxmlformats-officedocument.presentationml.slideMaster+xml"/>
  <Override PartName="/ppt/slides/slide56.xml" ContentType="application/vnd.openxmlformats-officedocument.presentationml.slide+xml"/>
  <Override PartName="/ppt/slideMasters/slideMaster57.xml" ContentType="application/vnd.openxmlformats-officedocument.presentationml.slideMaster+xml"/>
  <Override PartName="/ppt/slides/slide57.xml" ContentType="application/vnd.openxmlformats-officedocument.presentationml.slide+xml"/>
  <Override PartName="/ppt/slideMasters/slideMaster58.xml" ContentType="application/vnd.openxmlformats-officedocument.presentationml.slideMaster+xml"/>
  <Override PartName="/ppt/slides/slide5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Lst>
  <p:notesMasterIdLst>
    <p:notesMasterId r:id="rId6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notesMaster" Target="notesMasters/notesMaster1.xml"/><Relationship Id="rId61" Type="http://schemas.openxmlformats.org/officeDocument/2006/relationships/presProps" Target="presProps.xml"/><Relationship Id="rId62" Type="http://schemas.openxmlformats.org/officeDocument/2006/relationships/viewProps" Target="viewProps.xml"/><Relationship Id="rId63" Type="http://schemas.openxmlformats.org/officeDocument/2006/relationships/theme" Target="theme/theme1.xml"/><Relationship Id="rId6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_rels/notesSlide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6.xml"/>
		</Relationships>
</file>

<file path=ppt/notesSlides/_rels/notesSlide5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7.xml"/>
		</Relationships>
</file>

<file path=ppt/notesSlides/_rels/notesSlide5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class, and welcome to our geography lesson. I am your geography teacher, Mr Kamdem. Today we are starting Lesson 33: Storm Hydrographs.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lesson is for Lower Sixth Arts. It belongs to Module 1: Understanding and managing atmospheric and hydrological phenomena and hazards across the world in general and Cameroon in particular. We shall need 2 periods to cover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topic is The Drainage Basin Hydrological Cycle, and the sub-topic is Components of the Drainage Basin Hydrological Cycle. The key notions we shall use today are: storm hydrograph, peak discharge, lag time, rising limb, falling limb, flashy and subdued hydrographs. At the end, you should be able to do this: learners are able to read a storm hydrograph and explain what controls its shape.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we start the new lesson, let us correct the homework I gave you at the end of Lesson 32: Runoff. The question was: Measure the width, depth and float speed of a stream near you and calculate its discharge. Take out your exercise books.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a good answer. Example: width 4 m, mean depth 0.5 m, so area = 2 m²; a float travels 10 m in 20 s, so velocity = 0.5 m/s. Discharge = 2 × 0.5 = 1 m³/s. Compare it with your own answer and correct your work in 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plan of our lesson today. First, we shall correct the homework. Then we shall look at the objectives and recall what you already know. After that, we shall study a situation from real life and the action to take, and do the learning activities. Finally, we shall copy the board summary, do the evaluation and the remediation, and I will give you the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 your time to copy this part; we will continue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By the end of this lesson, you should be able to do three things. Number 1: define and label a storm hydrograph. Number 2: distinguish flashy, subdued and double-peak hydrographs. Number 3: explain the factors of hydrograph shape and lag time, and their use for flood prediction.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first remember what you already know. Discharge = area × velocity. Towns and bare land increase runoff. Keep this in mind, because we shall build on it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Listen carefully to this situation from real life. After a storm in the hills above Limbe, the river floods the town only two hours later. After a similar storm near Kribi, a forest river rises slowly over two days and does not flood. Think about it, because I am going to ask you some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1: What is the problem in the situation?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Rivers respond to storms at different speeds.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2: What graph shows a river's response to a storm?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A storm hydrograph.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3: Why did the forest river rise slowly?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The forest slowed the water and let it infiltrate.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this situation, the action we are working towards in this lesson is the following: use hydrographs to predict floods and warn people in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is this lesson important for you? This lesson helps us to understand and predict floods after storms.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1. Look carefully at this diagram: a storm hydrograph.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1: What is lag time?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The time between the peak of the rain and the peak discharge.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2. Look carefully at this diagram: flashy, subdued and double-peak hydrographs.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2: Which hydrograph is the most dangerous for floods? Why?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The flashy one: a high peak comes very quickly.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3. Look carefully at this diagram: basin shape and the speed of the flood.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3: Why does a round basin give a higher, faster peak?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Water from all parts reaches the main river at about the same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4. Look carefully at this diagram: the effect of a town on the hydrograph.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4: How does urbanisation change lag time and peak?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Lag time becomes shorter and the peak higher.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5. Look carefully at this picture: a flooded village.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5: How can hydrographs help to protect people?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They show when and how high a flood will come, so people can be warned.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are going to copy the board summary. Write the title and the headings neatly in your notebooks. I will give you enough time for each slide, so do not rush.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the definitions. The key terms of this lesson are defined as follows. On this slide we have Channel flow and Discharge.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the definitions. On this slide we have Storm hydrograph.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Characteristics of a Storm Hydrograph. A storm hydrograph has the following parts. On this slide we have Rising limb and peak discharge and Lag time.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Characteristics of a Storm Hydrograph. On this slide we have Falling limb and base flow.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draw this illustration in your notebook: a storm hydrograph.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Types of Hydrographs. There are three main types of hydrographs. On this slide we have Flashy hydrograph and Subdued hydrograph.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Types of Hydrographs. On this slide we have Double-peak hydrograph.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draw this illustration in your notebook: flashy and subdued hydrographs.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Factors Affecting the Shape and Lag Time. The shape of a hydrograph depends on two groups of factors. On this slide we have Dynamic factors.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Factors Affecting the Shape and Lag Time. On this slide we have Static factors.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Factors Affecting the Shape and Lag Time. On this slide we have Flood prediction.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draw this illustration in your notebook: basin shape and hydrograph shape.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1: Label the parts of a storm hydrograph.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rainfall, rising limb, peak, falling limb, lag time, base flow, quick flow.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2: Give two factors that give a flashy hydrograph.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intense rain and urbanisation (also steep slopes, impermeable rock, round basin).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those who need more practice, fill in the blanks in your exercise book. The answers are: number 1, lag time; number 2, flashy; number 3, longer.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your homework: Draw a flashy and a subdued hydrograph and give two causes of each. We shall correct it at the beginning of our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next lesson will be on Lesson 34: River Regimes. Thank you for your attention, and see you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play the bilingual game. I say a word in English, and you give me the French word. Then we do the reverse.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record this information in the official logbook of the class after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complete the second page of the logbook: the matter taught, the evaluation, the homework and the attendance.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for me, the teacher: it gives the timing of the lesson and what to do if the projector is not available.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references and picture credits used to prepare this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ESSON">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640080" cy="658368"/>
          </a:xfrm>
          <a:prstGeom prst="rect">
            <a:avLst/>
          </a:prstGeom>
          <a:solidFill>
            <a:srgbClr val="990011"/>
          </a:solidFill>
          <a:ln w="12700">
            <a:solidFill>
              <a:srgbClr val="990011"/>
            </a:solidFill>
            <a:prstDash val="solid"/>
          </a:ln>
        </p:spPr>
      </p:sp>
      <p:sp>
        <p:nvSpPr>
          <p:cNvPr id="3" name="Text 1"/>
          <p:cNvSpPr/>
          <p:nvPr/>
        </p:nvSpPr>
        <p:spPr>
          <a:xfrm>
            <a:off x="640080" y="0"/>
            <a:ext cx="4754880" cy="658368"/>
          </a:xfrm>
          <a:prstGeom prst="homePlate">
            <a:avLst/>
          </a:prstGeom>
          <a:solidFill>
            <a:srgbClr val="990011"/>
          </a:solidFill>
          <a:ln>
            <a:solidFill>
              <a:srgbClr val="990011"/>
            </a:solid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GEOGRAPHY / LOWER SIXTH ARTS</a:t>
            </a:r>
            <a:endParaRPr lang="en-US" sz="1800" dirty="0"/>
          </a:p>
        </p:txBody>
      </p:sp>
      <p:sp>
        <p:nvSpPr>
          <p:cNvPr id="4" name="Text 2"/>
          <p:cNvSpPr/>
          <p:nvPr/>
        </p:nvSpPr>
        <p:spPr>
          <a:xfrm>
            <a:off x="5212080" y="0"/>
            <a:ext cx="6979615" cy="658368"/>
          </a:xfrm>
          <a:prstGeom prst="chevron">
            <a:avLst/>
          </a:prstGeom>
          <a:solidFill>
            <a:srgbClr val="1C3F6E"/>
          </a:solidFill>
          <a:ln>
            <a:solidFill>
              <a:srgbClr val="1C3F6E"/>
            </a:solid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LESSON 33: STORM HYDROGRAPHS</a:t>
            </a:r>
            <a:endParaRPr lang="en-US" sz="1600" dirty="0"/>
          </a:p>
        </p:txBody>
      </p:sp>
      <p:sp>
        <p:nvSpPr>
          <p:cNvPr id="5" name="Shape 3"/>
          <p:cNvSpPr/>
          <p:nvPr/>
        </p:nvSpPr>
        <p:spPr>
          <a:xfrm>
            <a:off x="0" y="6492240"/>
            <a:ext cx="2743200" cy="365760"/>
          </a:xfrm>
          <a:prstGeom prst="rect">
            <a:avLst/>
          </a:prstGeom>
          <a:solidFill>
            <a:srgbClr val="1C3F6E"/>
          </a:solidFill>
          <a:ln w="12700">
            <a:solidFill>
              <a:srgbClr val="1C3F6E"/>
            </a:solidFill>
            <a:prstDash val="solid"/>
          </a:ln>
        </p:spPr>
      </p:sp>
      <p:sp>
        <p:nvSpPr>
          <p:cNvPr id="6"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7"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8"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GBHS GAROUA</a:t>
            </a:r>
            <a:endParaRPr lang="en-US" sz="1300" dirty="0"/>
          </a:p>
        </p:txBody>
      </p:sp>
      <p:sp>
        <p:nvSpPr>
          <p:cNvPr id="9"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0"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VER">
    <p:bg>
      <p:bgPr>
        <a:solidFill>
          <a:srgbClr val="FFFFFF"/>
        </a:solidFill>
      </p:bgPr>
    </p:bg>
    <p:spTree>
      <p:nvGrpSpPr>
        <p:cNvPr id="1" name=""/>
        <p:cNvGrpSpPr/>
        <p:nvPr/>
      </p:nvGrpSpPr>
      <p:grpSpPr>
        <a:xfrm>
          <a:off x="0" y="0"/>
          <a:ext cx="0" cy="0"/>
          <a:chOff x="0" y="0"/>
          <a:chExt cx="0" cy="0"/>
        </a:xfrm>
      </p:grpSpPr>
      <p:pic>
        <p:nvPicPr>
          <p:cNvPr id="2" name="Image 0" descr="/home/claude/f4/img/minesec_sheet.png">    </p:cNvPr>
          <p:cNvPicPr>
            <a:picLocks noChangeAspect="1"/>
          </p:cNvPicPr>
          <p:nvPr/>
        </p:nvPicPr>
        <p:blipFill>
          <a:blip r:embed="rId1"/>
          <a:stretch>
            <a:fillRect/>
          </a:stretch>
        </p:blipFill>
        <p:spPr>
          <a:xfrm>
            <a:off x="0" y="0"/>
            <a:ext cx="5888736" cy="6492240"/>
          </a:xfrm>
          <a:prstGeom prst="rect">
            <a:avLst/>
          </a:prstGeom>
        </p:spPr>
      </p:pic>
      <p:sp>
        <p:nvSpPr>
          <p:cNvPr id="3" name="Text 0"/>
          <p:cNvSpPr/>
          <p:nvPr/>
        </p:nvSpPr>
        <p:spPr>
          <a:xfrm>
            <a:off x="6126480" y="502920"/>
            <a:ext cx="5760720" cy="822960"/>
          </a:xfrm>
          <a:prstGeom prst="rect">
            <a:avLst/>
          </a:prstGeom>
          <a:noFill/>
          <a:ln/>
        </p:spPr>
        <p:txBody>
          <a:bodyPr wrap="square" lIns="0" tIns="0" rIns="0" bIns="0" rtlCol="0" anchor="ctr"/>
          <a:lstStyle/>
          <a:p>
            <a:pPr algn="ctr" indent="0" marL="0">
              <a:buNone/>
            </a:pPr>
            <a:r>
              <a:rPr lang="en-US" sz="4400" b="1" dirty="0">
                <a:solidFill>
                  <a:srgbClr val="1565C0"/>
                </a:solidFill>
                <a:latin typeface="Times New Roman" pitchFamily="34" charset="0"/>
                <a:ea typeface="Times New Roman" pitchFamily="34" charset="-122"/>
                <a:cs typeface="Times New Roman" pitchFamily="34" charset="-120"/>
              </a:rPr>
              <a:t>MINESEC</a:t>
            </a:r>
            <a:endParaRPr lang="en-US" sz="4400" dirty="0"/>
          </a:p>
        </p:txBody>
      </p:sp>
      <p:sp>
        <p:nvSpPr>
          <p:cNvPr id="4" name="Text 1"/>
          <p:cNvSpPr/>
          <p:nvPr/>
        </p:nvSpPr>
        <p:spPr>
          <a:xfrm>
            <a:off x="6126480" y="1325880"/>
            <a:ext cx="5760720" cy="457200"/>
          </a:xfrm>
          <a:prstGeom prst="rect">
            <a:avLst/>
          </a:prstGeom>
          <a:noFill/>
          <a:ln/>
        </p:spPr>
        <p:txBody>
          <a:bodyPr wrap="square" lIns="0" tIns="0" rIns="0" bIns="0" rtlCol="0" anchor="ctr"/>
          <a:lstStyle/>
          <a:p>
            <a:pPr algn="ctr" indent="0" marL="0">
              <a:buNone/>
            </a:pPr>
            <a:r>
              <a:rPr lang="en-US" sz="1800" b="1" dirty="0">
                <a:solidFill>
                  <a:srgbClr val="1C3F6E"/>
                </a:solidFill>
                <a:latin typeface="Calibri" pitchFamily="34" charset="0"/>
                <a:ea typeface="Calibri" pitchFamily="34" charset="-122"/>
                <a:cs typeface="Calibri" pitchFamily="34" charset="-120"/>
              </a:rPr>
              <a:t>GBHS GAROUA  —  GEOGRAPHY DEPARTMENT</a:t>
            </a:r>
            <a:endParaRPr lang="en-US" sz="1800" dirty="0"/>
          </a:p>
        </p:txBody>
      </p:sp>
      <p:sp>
        <p:nvSpPr>
          <p:cNvPr id="5" name="Text 2"/>
          <p:cNvSpPr/>
          <p:nvPr/>
        </p:nvSpPr>
        <p:spPr>
          <a:xfrm>
            <a:off x="6126480" y="5257800"/>
            <a:ext cx="5760720" cy="914400"/>
          </a:xfrm>
          <a:prstGeom prst="rect">
            <a:avLst/>
          </a:prstGeom>
          <a:noFill/>
          <a:ln/>
        </p:spPr>
        <p:txBody>
          <a:bodyPr wrap="square" lIns="0" tIns="0" rIns="0" bIns="0" rtlCol="0" anchor="ctr"/>
          <a:lstStyle/>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KAMDEM Emmanuel Berthaut</a:t>
            </a:r>
            <a:endParaRPr lang="en-US" sz="2000" dirty="0"/>
          </a:p>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Geography Teacher</a:t>
            </a:r>
            <a:endParaRPr lang="en-US" sz="2000" dirty="0"/>
          </a:p>
        </p:txBody>
      </p:sp>
      <p:sp>
        <p:nvSpPr>
          <p:cNvPr id="6" name="Shape 3"/>
          <p:cNvSpPr/>
          <p:nvPr/>
        </p:nvSpPr>
        <p:spPr>
          <a:xfrm>
            <a:off x="0" y="6492240"/>
            <a:ext cx="2743200" cy="365760"/>
          </a:xfrm>
          <a:prstGeom prst="rect">
            <a:avLst/>
          </a:prstGeom>
          <a:solidFill>
            <a:srgbClr val="1C3F6E"/>
          </a:solidFill>
          <a:ln w="12700">
            <a:solidFill>
              <a:srgbClr val="1C3F6E"/>
            </a:solidFill>
            <a:prstDash val="solid"/>
          </a:ln>
        </p:spPr>
      </p:sp>
      <p:sp>
        <p:nvSpPr>
          <p:cNvPr id="7"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8"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9"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GBHS GAROUA</a:t>
            </a:r>
            <a:endParaRPr lang="en-US" sz="1300" dirty="0"/>
          </a:p>
        </p:txBody>
      </p:sp>
      <p:sp>
        <p:nvSpPr>
          <p:cNvPr id="10"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1"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2.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2.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2.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2.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2.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2.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2.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2.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2.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2.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2.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2.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2.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jpg"/><Relationship Id="rId2" Type="http://schemas.openxmlformats.org/officeDocument/2006/relationships/slideLayout" Target="../slideLayouts/slideLayout2.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2.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2.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2.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2.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2.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slideLayout" Target="../slideLayouts/slideLayout2.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slideLayout" Target="../slideLayouts/slideLayout2.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slideLayout" Target="../slideLayouts/slideLayout2.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slideLayout" Target="../slideLayouts/slideLayout2.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slideLayout" Target="../slideLayouts/slideLayout2.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slideLayout" Target="../slideLayouts/slideLayout2.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slideLayout" Target="../slideLayouts/slideLayout2.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slideLayout" Target="../slideLayouts/slideLayout2.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slideLayout" Target="../slideLayouts/slideLayout2.xml"/><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png"/><Relationship Id="rId2" Type="http://schemas.openxmlformats.org/officeDocument/2006/relationships/slideLayout" Target="../slideLayouts/slideLayout2.xml"/><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image" Target="../media/image-47-1.png"/><Relationship Id="rId2" Type="http://schemas.openxmlformats.org/officeDocument/2006/relationships/slideLayout" Target="../slideLayouts/slideLayout2.xml"/><Relationship Id="rId3"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image" Target="../media/image-48-1.png"/><Relationship Id="rId2" Type="http://schemas.openxmlformats.org/officeDocument/2006/relationships/slideLayout" Target="../slideLayouts/slideLayout2.xml"/><Relationship Id="rId3"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image" Target="../media/image-49-1.png"/><Relationship Id="rId2" Type="http://schemas.openxmlformats.org/officeDocument/2006/relationships/slideLayout" Target="../slideLayouts/slideLayout2.xml"/><Relationship Id="rId3"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image" Target="../media/image-50-1.png"/><Relationship Id="rId2" Type="http://schemas.openxmlformats.org/officeDocument/2006/relationships/slideLayout" Target="../slideLayouts/slideLayout2.xml"/><Relationship Id="rId3"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image" Target="../media/image-51-1.png"/><Relationship Id="rId2" Type="http://schemas.openxmlformats.org/officeDocument/2006/relationships/slideLayout" Target="../slideLayouts/slideLayout2.xml"/><Relationship Id="rId3"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image" Target="../media/image-52-1.png"/><Relationship Id="rId2" Type="http://schemas.openxmlformats.org/officeDocument/2006/relationships/slideLayout" Target="../slideLayouts/slideLayout2.xml"/><Relationship Id="rId3"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image" Target="../media/image-53-1.png"/><Relationship Id="rId2" Type="http://schemas.openxmlformats.org/officeDocument/2006/relationships/slideLayout" Target="../slideLayouts/slideLayout2.xml"/><Relationship Id="rId3"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image" Target="../media/image-57-1.png"/><Relationship Id="rId2" Type="http://schemas.openxmlformats.org/officeDocument/2006/relationships/slideLayout" Target="../slideLayouts/slideLayout2.xml"/><Relationship Id="rId3"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image" Target="../media/image-58-1.png"/><Relationship Id="rId2" Type="http://schemas.openxmlformats.org/officeDocument/2006/relationships/slideLayout" Target="../slideLayouts/slideLayout2.xml"/><Relationship Id="rId3" Type="http://schemas.openxmlformats.org/officeDocument/2006/relationships/notesSlide" Target="../notesSlides/notesSlide58.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6126480" y="1965960"/>
            <a:ext cx="5760720" cy="1005840"/>
          </a:xfrm>
          <a:prstGeom prst="rect">
            <a:avLst/>
          </a:prstGeom>
          <a:noFill/>
          <a:ln/>
        </p:spPr>
        <p:txBody>
          <a:bodyPr wrap="square" lIns="0" tIns="0" rIns="0" bIns="0" rtlCol="0" anchor="ct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LOWER SIXTH ARTS</a:t>
            </a:r>
            <a:endParaRPr lang="en-US" sz="2600" dirty="0"/>
          </a:p>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GEOGRAPHY</a:t>
            </a:r>
            <a:endParaRPr lang="en-US" sz="2600" dirty="0"/>
          </a:p>
        </p:txBody>
      </p:sp>
      <p:sp>
        <p:nvSpPr>
          <p:cNvPr id="3" name="Text 1"/>
          <p:cNvSpPr/>
          <p:nvPr/>
        </p:nvSpPr>
        <p:spPr>
          <a:xfrm>
            <a:off x="6126480" y="3063240"/>
            <a:ext cx="5760720" cy="2103120"/>
          </a:xfrm>
          <a:prstGeom prst="rect">
            <a:avLst/>
          </a:prstGeom>
          <a:noFill/>
          <a:ln/>
        </p:spPr>
        <p:txBody>
          <a:bodyPr wrap="square" lIns="0" tIns="0" rIns="0" bIns="0" rtlCol="0" anchor="ctr">
            <a:normAutofit/>
          </a:bodyP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Lesson 33</a:t>
            </a:r>
            <a:endParaRPr lang="en-US" sz="2600" dirty="0"/>
          </a:p>
          <a:p>
            <a:pPr algn="ctr" indent="0" marL="0">
              <a:buNone/>
            </a:pPr>
            <a:r>
              <a:rPr lang="en-US" sz="3200" b="1" dirty="0">
                <a:solidFill>
                  <a:srgbClr val="990011"/>
                </a:solidFill>
                <a:latin typeface="Times New Roman" pitchFamily="34" charset="0"/>
                <a:ea typeface="Times New Roman" pitchFamily="34" charset="-122"/>
                <a:cs typeface="Times New Roman" pitchFamily="34" charset="-120"/>
              </a:rPr>
              <a:t>Storm Hydrographs</a:t>
            </a:r>
            <a:endParaRPr lang="en-US" sz="2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CLASS INFO</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Class, Chapter and Duration</a:t>
            </a:r>
            <a:endParaRPr lang="en-US" sz="36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Class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Lower Sixth Arts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Chapter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Module 1: Understanding and managing atmospheric and hydrological phenomena and hazards across the world in general and Cameroon in particular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Duration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2 periods (2 × 50 minutes)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IDENTIFICATION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Identification</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The Drainage Basin Hydrological Cycle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Sub-topic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Components of the Drainage Basin Hydrological Cycle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Lesson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Lesson 33: Storm Hydrographs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Notions / Concepts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Storm hydrograph, peak discharge, lag time, rising limb, falling limb, flashy and subdued hydrographs.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Syllabus focus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Channel flow and discharge; storm hydrographs, their characteristics and types; factors (dynamic and static); flood prediction.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Competence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Learners are able to read a storm hydrograph and explain what controls its shape.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of the 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C3F6E"/>
                </a:solidFill>
                <a:latin typeface="Times New Roman" pitchFamily="34" charset="0"/>
                <a:ea typeface="Times New Roman" pitchFamily="34" charset="-122"/>
                <a:cs typeface="Times New Roman" pitchFamily="34" charset="-120"/>
              </a:rPr>
              <a:t>Question (Lesson 32: Runoff):</a:t>
            </a:r>
            <a:endParaRPr lang="en-US" sz="4000" dirty="0"/>
          </a:p>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Measure the width, depth and float speed of a stream near you and calculate its discharge.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Example: width 4 m, mean depth 0.5 m, so area = 2 m²; a float travels 10 m in 20 s, so velocity = 0.5 m/s. Discharge = 2 × 0.5 = 1 m³/s.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LESSON PLAN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Plan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Correction of the homework</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Objectives and recall</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Real-life situation and action to take</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Learning activities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Board summary</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Evaluation, remediation and homework</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By the end of this lesson, you should be able to:</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Define and label a storm hydrograph.</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Distinguish flashy, subdued and double-peak hydrographs.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Explain the factors of hydrograph shape and lag time, and their use for flood prediction.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PREVIOUS KNOWLEDGE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Previous Knowledge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Discharge = area × velocity.</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Towns and bare land increase runoff.</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in Real Life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After a storm in the hills above Limbe, the river floods the town only two hours later. After a similar storm near Kribi, a forest river rises slowly over two days and does not flood.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problem in the situation?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Rivers respond to storms at different speeds.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graph shows a river's response to a storm?</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 storm hydrograph.</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3</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did the forest river rise slowly?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forest slowed the water and let it infiltrate.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ACTION TO TAKE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Action to Take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Use hydrographs to predict floods and warn people in time.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JUSTIFICATION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Justification of the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This lesson helps us to understand and predict floods after storms.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MEANING AND CHARACTERISTICS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a:t>
            </a:r>
            <a:endParaRPr lang="en-US" sz="3600" dirty="0"/>
          </a:p>
        </p:txBody>
      </p:sp>
      <p:pic>
        <p:nvPicPr>
          <p:cNvPr id="4" name="Image 0" descr="/home/claude/f4/img/v2/storm_hydrograph_big.png">    </p:cNvPr>
          <p:cNvPicPr>
            <a:picLocks noChangeAspect="1"/>
          </p:cNvPicPr>
          <p:nvPr/>
        </p:nvPicPr>
        <p:blipFill>
          <a:blip r:embed="rId1"/>
          <a:stretch>
            <a:fillRect/>
          </a:stretch>
        </p:blipFill>
        <p:spPr>
          <a:xfrm>
            <a:off x="1215564" y="1783080"/>
            <a:ext cx="9760567"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storm hydrograph.</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MEANING AND CHARACTERISTICS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lag time?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MEANING AND CHARACTERISTICS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time between the peak of the rain and the peak discharge.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TYPES OF HYDROGRAPHS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a:t>
            </a:r>
            <a:endParaRPr lang="en-US" sz="3600" dirty="0"/>
          </a:p>
        </p:txBody>
      </p:sp>
      <p:pic>
        <p:nvPicPr>
          <p:cNvPr id="4" name="Image 0" descr="/home/claude/f4/img/v2/hydrograph_types_big.png">    </p:cNvPr>
          <p:cNvPicPr>
            <a:picLocks noChangeAspect="1"/>
          </p:cNvPicPr>
          <p:nvPr/>
        </p:nvPicPr>
        <p:blipFill>
          <a:blip r:embed="rId1"/>
          <a:stretch>
            <a:fillRect/>
          </a:stretch>
        </p:blipFill>
        <p:spPr>
          <a:xfrm>
            <a:off x="1215564" y="1783080"/>
            <a:ext cx="9760567"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Flashy, subdued and double-peak hydrographs.</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TYPES OF HYDROGRAPHS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Which hydrograph is the most dangerous for floods? Why?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TYPES OF HYDROGRAPHS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flashy one: a high peak comes very quickly.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4. STATIC FACTORS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a:t>
            </a:r>
            <a:endParaRPr lang="en-US" sz="3600" dirty="0"/>
          </a:p>
        </p:txBody>
      </p:sp>
      <p:pic>
        <p:nvPicPr>
          <p:cNvPr id="4" name="Image 0" descr="/home/claude/f4/img/v2/basin_shapes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Basin shape and the speed of the flood.</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4. STATIC FACTORS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does a round basin give a higher, faster peak?</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4. STATIC FACTORS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Water from all parts reaches the main river at about the same time.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4. DYNAMIC FACTORS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a:t>
            </a:r>
            <a:endParaRPr lang="en-US" sz="3600" dirty="0"/>
          </a:p>
        </p:txBody>
      </p:sp>
      <p:pic>
        <p:nvPicPr>
          <p:cNvPr id="4" name="Image 0" descr="/home/claude/f4/img/v2/urban_hydro_big.png">    </p:cNvPr>
          <p:cNvPicPr>
            <a:picLocks noChangeAspect="1"/>
          </p:cNvPicPr>
          <p:nvPr/>
        </p:nvPicPr>
        <p:blipFill>
          <a:blip r:embed="rId1"/>
          <a:stretch>
            <a:fillRect/>
          </a:stretch>
        </p:blipFill>
        <p:spPr>
          <a:xfrm>
            <a:off x="1215564" y="1783080"/>
            <a:ext cx="9760567"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The effect of a town on the hydrograph.</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4. DYNAMIC FACTORS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How does urbanisation change lag time and peak?</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4. DYNAMIC FACTORS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Lag time becomes shorter and the peak higher.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FLOOD PREDICTION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a:t>
            </a:r>
            <a:endParaRPr lang="en-US" sz="3600" dirty="0"/>
          </a:p>
        </p:txBody>
      </p:sp>
      <p:pic>
        <p:nvPicPr>
          <p:cNvPr id="4" name="Image 0" descr="/home/claude/f4/img/v2/f4_floodvillage.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flooded village.</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FLOOD PREDICTION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How can hydrographs help to protect people?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FLOOD PREDICTION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They show when and how high a flood will come, so people can be warned.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Board Summary</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Topic: The Drainage Basin Hydrological Cycle</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Sub-topic: Components of the Drainage Basin Hydrological Cycle</a:t>
            </a:r>
            <a:endParaRPr lang="en-US" sz="4000" dirty="0"/>
          </a:p>
          <a:p>
            <a:pPr algn="l"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33: Storm Hydrographs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DEFINITIONS</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The key terms of this lesson are defined as follows: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Channel flow: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the water flowing in a river channel.</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Discharge: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the volume of water passing a point per second, in m³/s.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DEFINITIONS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Storm hydrograph: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a graph showing how the discharge of a river changes after a storm.</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1463040" cy="5833872"/>
          </a:xfrm>
          <a:prstGeom prst="rect">
            <a:avLst/>
          </a:prstGeom>
        </p:spPr>
      </p:pic>
      <p:sp>
        <p:nvSpPr>
          <p:cNvPr id="4" name="Text 1"/>
          <p:cNvSpPr/>
          <p:nvPr/>
        </p:nvSpPr>
        <p:spPr>
          <a:xfrm>
            <a:off x="1691640" y="1005840"/>
            <a:ext cx="101800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Characteristics of a Storm Hydrograph</a:t>
            </a:r>
            <a:endParaRPr lang="en-US" sz="3600" dirty="0"/>
          </a:p>
        </p:txBody>
      </p:sp>
      <p:sp>
        <p:nvSpPr>
          <p:cNvPr id="5" name="Text 2"/>
          <p:cNvSpPr/>
          <p:nvPr/>
        </p:nvSpPr>
        <p:spPr>
          <a:xfrm>
            <a:off x="1691640" y="1783080"/>
            <a:ext cx="1018001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A storm hydrograph has the following parts: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Rising limb and peak discharge: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rising limb shows discharge increasing after the rain. The peak is the highest discharge.</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Lag time: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the time between peak rainfall and peak discharge. A short lag time means a high flood risk.</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Characteristics of a Storm Hydrograph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Falling limb and base flow: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falling limb shows discharge decreasing after the peak. Base flow is the groundwater part that continues between storms.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Characteristics of a Storm Hydrograph</a:t>
            </a:r>
            <a:endParaRPr lang="en-US" sz="3600" dirty="0"/>
          </a:p>
        </p:txBody>
      </p:sp>
      <p:pic>
        <p:nvPicPr>
          <p:cNvPr id="4" name="Image 0" descr="/home/claude/f4/img/v2/storm_hydrograph_big.png">    </p:cNvPr>
          <p:cNvPicPr>
            <a:picLocks noChangeAspect="1"/>
          </p:cNvPicPr>
          <p:nvPr/>
        </p:nvPicPr>
        <p:blipFill>
          <a:blip r:embed="rId1"/>
          <a:stretch>
            <a:fillRect/>
          </a:stretch>
        </p:blipFill>
        <p:spPr>
          <a:xfrm>
            <a:off x="1215564" y="1783080"/>
            <a:ext cx="9760567"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Illustration: a storm hydrograph</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1463040" cy="5833872"/>
          </a:xfrm>
          <a:prstGeom prst="rect">
            <a:avLst/>
          </a:prstGeom>
        </p:spPr>
      </p:pic>
      <p:sp>
        <p:nvSpPr>
          <p:cNvPr id="4" name="Text 1"/>
          <p:cNvSpPr/>
          <p:nvPr/>
        </p:nvSpPr>
        <p:spPr>
          <a:xfrm>
            <a:off x="1691640" y="1005840"/>
            <a:ext cx="101800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Types of Hydrographs</a:t>
            </a:r>
            <a:endParaRPr lang="en-US" sz="3600" dirty="0"/>
          </a:p>
        </p:txBody>
      </p:sp>
      <p:sp>
        <p:nvSpPr>
          <p:cNvPr id="5" name="Text 2"/>
          <p:cNvSpPr/>
          <p:nvPr/>
        </p:nvSpPr>
        <p:spPr>
          <a:xfrm>
            <a:off x="1691640" y="1783080"/>
            <a:ext cx="1018001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There are three main types of hydrographs: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Flashy hydrograph: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has a steep rising limb, a high peak and a short lag time. It shows a high risk of flash floods.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Subdued hydrograph: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has a gentle rising limb, a low peak and a long lag time. The flood risk is low.</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Types of Hydrographs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Double-peak hydrograph: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has two peaks, from two storms or from quick flow followed by slower throughflow. It can also come from two tributaries.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Types of Hydrographs</a:t>
            </a:r>
            <a:endParaRPr lang="en-US" sz="3600" dirty="0"/>
          </a:p>
        </p:txBody>
      </p:sp>
      <p:pic>
        <p:nvPicPr>
          <p:cNvPr id="4" name="Image 0" descr="/home/claude/f4/img/v2/hydrograph_types_big.png">    </p:cNvPr>
          <p:cNvPicPr>
            <a:picLocks noChangeAspect="1"/>
          </p:cNvPicPr>
          <p:nvPr/>
        </p:nvPicPr>
        <p:blipFill>
          <a:blip r:embed="rId1"/>
          <a:stretch>
            <a:fillRect/>
          </a:stretch>
        </p:blipFill>
        <p:spPr>
          <a:xfrm>
            <a:off x="1215564" y="1783080"/>
            <a:ext cx="9760567"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Illustration: flashy and subdued hydrographs</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Factors Affecting the Shape and Lag Time</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The shape of a hydrograph depends on two groups of factors: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Dynamic factors: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Precipitation type, intensity, duration and frequency, and land use, change with time. Intense storms and urbanisation shorten lag time and raise the peak.</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Factors Affecting the Shape and Lag Time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Static factors: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Basin size, shape, relief, soil and rock stay the same. Small, round, steep basins on impermeable rock give flashy hydrographs.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Factors Affecting the Shape and Lag Time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Flood prediction: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By studying past hydrographs, engineers predict flood peaks and lag times. Warnings allow people to move away and protect property.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Factors Affecting the Shape and Lag Time</a:t>
            </a:r>
            <a:endParaRPr lang="en-US" sz="3600" dirty="0"/>
          </a:p>
        </p:txBody>
      </p:sp>
      <p:pic>
        <p:nvPicPr>
          <p:cNvPr id="4" name="Image 0" descr="/home/claude/f4/img/v2/basin_shapes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Illustration: basin shape and hydrograph shape</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Label the parts of a storm hydrograph.</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Rainfall, rising limb, peak, falling limb, lag time, base flow, quick flow.</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48</a:t>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two factors that give a flashy hydrograph.</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49</a:t>
            </a:fld>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Intense rain and urbanisation (also steep slopes, impermeable rock, round basin).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50</a:t>
            </a:fld>
            <a:endParaRPr 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REMEDIATION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Remediation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Fill in the blanks: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The time between peak rain and peak discharge is the 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A hydrograph with a high, quick peak is 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Forests make the lag time ______.</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51</a:t>
            </a:fld>
            <a:endParaRPr lang="en-US"/>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Draw a flashy and a subdued hydrograph and give two causes of each.</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52</a:t>
            </a:fld>
            <a:endParaRPr lang="en-US"/>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NEXT LESSON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Next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ctr"/>
          <a:lstStyle/>
          <a:p>
            <a:pPr algn="ctr"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Our next lesson will be on:</a:t>
            </a:r>
            <a:endParaRPr lang="en-US" sz="4000" dirty="0"/>
          </a:p>
          <a:p>
            <a:pPr algn="ctr"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34: River Regimes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53</a:t>
            </a:fld>
            <a:endParaRPr lang="en-US"/>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BILINGUAL GAME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Bilingual Game (Jeu Bilingue)</a:t>
            </a:r>
            <a:endParaRPr lang="en-US" sz="3600" dirty="0"/>
          </a:p>
        </p:txBody>
      </p:sp>
      <p:graphicFrame>
        <p:nvGraphicFramePr>
          <p:cNvPr id="55" name="Table 0"/>
          <p:cNvGraphicFramePr>
            <a:graphicFrameLocks noGrp="1"/>
          </p:cNvGraphicFramePr>
          <p:nvPr>
            <p:extLst>
              <p:ext uri="{D42A27DB-BD31-4B8C-83A1-F6EECF244321}">
                <p14:modId xmlns:p14="http://schemas.microsoft.com/office/powerpoint/2010/main" val="1579011935"/>
              </p:ext>
            </p:extLst>
          </p:nvPr>
        </p:nvGraphicFramePr>
        <p:xfrm>
          <a:off x="1706728" y="1783080"/>
          <a:ext cx="8778240" cy="914400"/>
        </p:xfrm>
        <a:graphic>
          <a:graphicData uri="http://schemas.openxmlformats.org/drawingml/2006/table">
            <a:tbl>
              <a:tblPr/>
              <a:tblGrid>
                <a:gridCol w="4389120"/>
                <a:gridCol w="4389120"/>
              </a:tblGrid>
              <a:tr h="0">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English</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Français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Hydrograph</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L'hydrogramme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Peak</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pointe de crue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Lag time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temps de réponse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Flood</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crue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Rising limb</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courbe de montée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Warning</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L'alerte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54</a:t>
            </a:fld>
            <a:endParaRPr lang="en-US"/>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(1/2)</a:t>
            </a:r>
            <a:endParaRPr lang="en-US" sz="3600" dirty="0"/>
          </a:p>
        </p:txBody>
      </p:sp>
      <p:graphicFrame>
        <p:nvGraphicFramePr>
          <p:cNvPr id="56"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Module / Topic</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The Drainage Basin Hydrological Cycle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Lesson Title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Lesson 33: Storm Hydrographs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Expected Learning Outcomes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Define and label a storm hydrograph. Distinguish flashy, subdued and double-peak hydrographs. Explain the factors of hydrograph shape and lag time, and their use for flood prediction.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Competence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Learners are able to read a storm hydrograph and explain what controls its shape.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55</a:t>
            </a:fld>
            <a:endParaRPr lang="en-US"/>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(2/2)</a:t>
            </a:r>
            <a:endParaRPr lang="en-US" sz="3600" dirty="0"/>
          </a:p>
        </p:txBody>
      </p:sp>
      <p:graphicFrame>
        <p:nvGraphicFramePr>
          <p:cNvPr id="57"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Matter Taught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DEFINITIONS; Characteristics of a Storm Hydrograph; Types of Hydrographs; Factors Affecting the Shape and Lag Time.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Evaluation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Formative evaluation and remediation exercise.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Homework</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Draw a flashy and a subdued hydrograph and give two causes of each.</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Enrolment / Present / Absent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____ / ____ / ____</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Achievement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To be completed after the lesson.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56</a:t>
            </a:fld>
            <a:endParaRPr lang="en-US"/>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TEACHER'S NOTE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Teacher's Note</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Timing: Homework correction, plan, objectives 8 min | Recall, situation, action 10 min | 5 activities 30 min | Board summary (copying) 30 min | Evaluation, remediation 10 min | Homework, next lesson 5 min | Logbook 7 min</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1): draw and label the graph.</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2): draw the two main types.</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3): compare a round plate and a long ruler.</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4): compare a roof and a forest.</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5): discuss flood warnings on the radio.</a:t>
            </a:r>
            <a:endParaRPr lang="en-US" sz="2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57</a:t>
            </a:fld>
            <a:endParaRPr lang="en-US"/>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5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REFERENCES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References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National Geography Syllabus, MINESEC/IGE/IP-SS, 2019 — Module 1 (Meteorology, Climatology &amp; Hydrology).</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5: “Flood in Accra” by Stig Nygaard, CC BY 2.0, via Flickr (https://www.flickr.com/photos/10259776@N00/181742000)</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Diagrams and animations: drawn for this lesson (Geography Department).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58</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58</Slides>
  <Notes>58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58</vt:i4>
      </vt:variant>
    </vt:vector>
  </HeadingPairs>
  <TitlesOfParts>
    <vt:vector size="6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lpstr>Slide 58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2026-09-27T10:31:27Z</dcterms:created>
  <dcterms:modified xsi:type="dcterms:W3CDTF">2026-09-27T10:31:27Z</dcterms:modified>
</cp:coreProperties>
</file>