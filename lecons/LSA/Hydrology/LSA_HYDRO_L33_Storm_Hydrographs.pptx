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Lst>
  <p:notesMasterIdLst>
    <p:notesMasterId r:id="rId6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notesMaster" Target="notesMasters/notesMaster1.xml"/><Relationship Id="rId61" Type="http://schemas.openxmlformats.org/officeDocument/2006/relationships/presProps" Target="presProps.xml"/><Relationship Id="rId62" Type="http://schemas.openxmlformats.org/officeDocument/2006/relationships/viewProps" Target="viewProps.xml"/><Relationship Id="rId63" Type="http://schemas.openxmlformats.org/officeDocument/2006/relationships/theme" Target="theme/theme1.xml"/><Relationship Id="rId6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Lesson 33: Storm Hydrographs.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Lower Sixth Arts. It belongs to Module 1: Understanding and managing atmospheric and hydrological phenomena and hazards across the world in general and Cameroon in particular. We shall need 2 periods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The Drainage Basin Hydrological Cycle, and the sub-topic is Components of the Drainage Basin Hydrological Cycle. The key notions we shall use today are: storm hydrograph, peak discharge, lag time, rising limb, falling limb, flashy and subdued hydrographs. At the end, you should be able to do this: learners are able to read a storm hydrograph and explain what controls its shape.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Lesson 32: Runoff. The question was: Measure the width, depth and float speed of a stream near you and calculate its discharge.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Example: width 4 m, mean depth 0.5 m, so area = 2 m²; a float travels 10 m in 20 s, so velocity = 0.5 m/s. Discharge = 2 × 0.5 = 1 m³/s.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define and label a storm hydrograph. Number 2: distinguish flashy, subdued and double-peak hydrographs. Number 3: explain the factors of hydrograph shape and lag time, and their use for flood prediction.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Discharge = area × velocity. Towns and bare land increase runoff.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After a storm in the hills above Limbe, the river floods the town only two hours later. After a similar storm near Kribi, a forest river rises slowly over two days and does not flood.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Rivers respond to storms at different speeds.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What graph shows a river's response to a storm?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A storm hydrograph.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Why did the forest river rise slowly?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The forest slowed the water and let it infiltrate.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use hydrographs to predict floods and warn people in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lesson helps us to understand and predict floods after storms.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diagram: a storm hydrograph.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What is lag time?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 time between the peak of the rain and the peak discharge.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diagram: flashy, subdued and double-peak hydrographs.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Which hydrograph is the most dangerous for floods? Why?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 flashy one: a high peak comes very quickly.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diagram: basin shape and the speed of the flood.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Why does a round basin give a higher, faster peak?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Water from all parts reaches the main river at about the same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4. Look carefully at this diagram: the effect of a town on the hydrograph.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4: How does urbanisation change lag time and peak?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Lag time becomes shorter and the peak higher.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5. Look carefully at this picture: a flooded village.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5: How can hydrographs help to protect people?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They show when and how high a flood will come, so people can be warned.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the definitions. The key terms of this lesson are defined as follows. On this slide we have Channel flow and Discharge.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the definitions. On this slide we have Storm hydrograph.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Characteristics of a Storm Hydrograph. A storm hydrograph has the following parts. On this slide we have Rising limb and peak discharge and Lag time.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Characteristics of a Storm Hydrograph. On this slide we have Falling limb and base flow.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a storm hydrograph.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Types of Hydrographs. There are three main types of hydrographs. On this slide we have Flashy hydrograph and Subdued hydrograph.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Types of Hydrographs. On this slide we have Double-peak hydrograph.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flashy and subdued hydrographs.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Factors Affecting the Shape and Lag Time. The shape of a hydrograph depends on two groups of factors. On this slide we have Dynamic factors.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Factors Affecting the Shape and Lag Time. On this slide we have Static factors.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Factors Affecting the Shape and Lag Time. On this slide we have Flood prediction.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basin shape and hydrograph shape.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Label the parts of a storm hydrograph.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rainfall, rising limb, peak, falling limb, lag time, base flow, quick flow.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Give two factors that give a flashy hydrograph.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intense rain and urbanisation (also steep slopes, impermeable rock, round basin).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lag time; number 2, flashy; number 3, longer.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Draw a flashy and a subdued hydrograph and give two causes of each.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Lesson 34: River Regimes.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LOWER SIXTH ARTS</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LESSON 33: STORM HYDROGRAPHS</a:t>
            </a:r>
            <a:endParaRPr lang="en-US" sz="16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GBHS 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jp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2.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slideLayout" Target="../slideLayouts/slideLayout2.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slideLayout" Target="../slideLayouts/slideLayout2.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png"/><Relationship Id="rId2" Type="http://schemas.openxmlformats.org/officeDocument/2006/relationships/slideLayout" Target="../slideLayouts/slideLayout2.xml"/><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51-1.png"/><Relationship Id="rId2" Type="http://schemas.openxmlformats.org/officeDocument/2006/relationships/slideLayout" Target="../slideLayouts/slideLayout2.xml"/><Relationship Id="rId3"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image" Target="../media/image-52-1.png"/><Relationship Id="rId2" Type="http://schemas.openxmlformats.org/officeDocument/2006/relationships/slideLayout" Target="../slideLayouts/slideLayout2.xml"/><Relationship Id="rId3"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image" Target="../media/image-53-1.png"/><Relationship Id="rId2" Type="http://schemas.openxmlformats.org/officeDocument/2006/relationships/slideLayout" Target="../slideLayouts/slideLayout2.xml"/><Relationship Id="rId3"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image" Target="../media/image-57-1.png"/><Relationship Id="rId2" Type="http://schemas.openxmlformats.org/officeDocument/2006/relationships/slideLayout" Target="../slideLayouts/slideLayout2.xml"/><Relationship Id="rId3"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image" Target="../media/image-58-1.png"/><Relationship Id="rId2" Type="http://schemas.openxmlformats.org/officeDocument/2006/relationships/slideLayout" Target="../slideLayouts/slideLayout2.xml"/><Relationship Id="rId3" Type="http://schemas.openxmlformats.org/officeDocument/2006/relationships/notesSlide" Target="../notesSlides/notesSlide5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LOWER SIXTH ARTS</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Lesson 33: Storm Hydrographs</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Storm Hydrographs</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Lower Sixth Arts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Module 1: Understanding and managing atmospheric and hydrological phenomena and hazards across the world in general and Cameroon in particular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2 periods (2 × 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The Drainage Basin Hydrological Cycle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Components of the Drainage Basin Hydrological Cycle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Lesson 33: Storm Hydrographs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Storm hydrograph, peak discharge, lag time, rising limb, falling limb, flashy and subdued hydrographs.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Channel flow and discharge; storm hydrographs, their characteristics and types; factors (dynamic and static); flood prediction.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read a storm hydrograph and explain what controls its shape.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(Lesson 32: Runoff):</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Measure the width, depth and float speed of a stream near you and calculate its discharge.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Example: width 4 m, mean depth 0.5 m, so area = 2 m²; a float travels 10 m in 20 s, so velocity = 0.5 m/s. Discharge = 2 × 0.5 = 1 m³/s.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Define and label a storm hydrograph.</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Distinguish flashy, subdued and double-peak hydrographs.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the factors of hydrograph shape and lag time, and their use for flood prediction.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Discharge = area × velocity.</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Towns and bare land increase runoff.</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After a storm in the hills above Limbe, the river floods the town only two hours later. After a similar storm near Kribi, a forest river rises slowly over two days and does not flood.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Rivers respond to storms at different speeds.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graph shows a river's response to a storm?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storm hydrograph.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did the forest river rise slowly?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forest slowed the water and let it infiltrate.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Use hydrographs to predict floods and warn people in time.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helps us to understand and predict floods after storms.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 AND CHARACTERISTICS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storm_hydrograph_big.png">    </p:cNvPr>
          <p:cNvPicPr>
            <a:picLocks noChangeAspect="1"/>
          </p:cNvPicPr>
          <p:nvPr/>
        </p:nvPicPr>
        <p:blipFill>
          <a:blip r:embed="rId1"/>
          <a:stretch>
            <a:fillRect/>
          </a:stretch>
        </p:blipFill>
        <p:spPr>
          <a:xfrm>
            <a:off x="1215564" y="1783080"/>
            <a:ext cx="9760567"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storm hydrograph.</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 AND CHARACTERISTICS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lag time?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 AND CHARACTERISTICS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time between the peak of the rain and the peak discharge.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TYPES OF HYDROGRAPHS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hydrograph_types_big.png">    </p:cNvPr>
          <p:cNvPicPr>
            <a:picLocks noChangeAspect="1"/>
          </p:cNvPicPr>
          <p:nvPr/>
        </p:nvPicPr>
        <p:blipFill>
          <a:blip r:embed="rId1"/>
          <a:stretch>
            <a:fillRect/>
          </a:stretch>
        </p:blipFill>
        <p:spPr>
          <a:xfrm>
            <a:off x="1215564" y="1783080"/>
            <a:ext cx="9760567"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Flashy, subdued and double-peak hydrographs.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TYPES OF HYDROGRAPHS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Which hydrograph is the most dangerous for floods? Why?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TYPES OF HYDROGRAPHS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flashy one: a high peak comes very quickly.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4. STATIC FACTORS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basin_shapes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Basin shape and the speed of the flood.</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4. STATIC FACTORS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does a round basin give a higher, faster peak?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4. STATIC FACTORS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Water from all parts reaches the main river at about the same time.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4. DYNAMIC FACTORS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a:t>
            </a:r>
            <a:endParaRPr lang="en-US" sz="3600" dirty="0"/>
          </a:p>
        </p:txBody>
      </p:sp>
      <p:pic>
        <p:nvPicPr>
          <p:cNvPr id="4" name="Image 0" descr="/home/claude/f4/img/v2/urban_hydro_big.png">    </p:cNvPr>
          <p:cNvPicPr>
            <a:picLocks noChangeAspect="1"/>
          </p:cNvPicPr>
          <p:nvPr/>
        </p:nvPicPr>
        <p:blipFill>
          <a:blip r:embed="rId1"/>
          <a:stretch>
            <a:fillRect/>
          </a:stretch>
        </p:blipFill>
        <p:spPr>
          <a:xfrm>
            <a:off x="1215564" y="1783080"/>
            <a:ext cx="9760567"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The effect of a town on the hydrograph.</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4. DYNAMIC FACTORS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How does urbanisation change lag time and peak?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4. DYNAMIC FACTORS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Lag time becomes shorter and the peak higher.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FLOOD PREDICTION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a:t>
            </a:r>
            <a:endParaRPr lang="en-US" sz="3600" dirty="0"/>
          </a:p>
        </p:txBody>
      </p:sp>
      <p:pic>
        <p:nvPicPr>
          <p:cNvPr id="4" name="Image 0" descr="/home/claude/f4/img/v2/f4_floodvillage.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flooded village.</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FLOOD PREDICTION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How can hydrographs help to protect people?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FLOOD PREDICTION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show when and how high a flood will come, so people can be warned.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Topic: The Drainage Basin Hydrological Cycle</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Sub-topic: Components of the Drainage Basin Hydrological Cycle</a:t>
            </a:r>
            <a:endParaRPr lang="en-US" sz="4000" dirty="0"/>
          </a:p>
          <a:p>
            <a:pPr algn="l"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33: Storm Hydrographs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DEFINITIONS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key terms of this lesson are defined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Channel flow: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water flowing in a river channel.</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Discharge: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volume of water passing a point per second, in m³/s.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DEFINITIONS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Storm hydrograph: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a graph showing how the discharge of a river changes after a storm.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Characteristics of a Storm Hydrograph</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A storm hydrograph has the following parts: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Rising limb and peak discharge: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rising limb shows discharge increasing after the rain. The peak is the highest discharge.</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Lag time: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time between peak rainfall and peak discharge. A short lag time means a high flood risk.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Characteristics of a Storm Hydrograph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Falling limb and base flow: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falling limb shows discharge decreasing after the peak. Base flow is the groundwater part that continues between storms.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Characteristics of a Storm Hydrograph</a:t>
            </a:r>
            <a:endParaRPr lang="en-US" sz="3600" dirty="0"/>
          </a:p>
        </p:txBody>
      </p:sp>
      <p:pic>
        <p:nvPicPr>
          <p:cNvPr id="4" name="Image 0" descr="/home/claude/f4/img/v2/storm_hydrograph_big.png">    </p:cNvPr>
          <p:cNvPicPr>
            <a:picLocks noChangeAspect="1"/>
          </p:cNvPicPr>
          <p:nvPr/>
        </p:nvPicPr>
        <p:blipFill>
          <a:blip r:embed="rId1"/>
          <a:stretch>
            <a:fillRect/>
          </a:stretch>
        </p:blipFill>
        <p:spPr>
          <a:xfrm>
            <a:off x="1215564" y="1783080"/>
            <a:ext cx="9760567"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a storm hydrograph</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Types of Hydrographs</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There are three main types of hydrographs: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Flashy hydrograph: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has a steep rising limb, a high peak and a short lag time. It shows a high risk of flash floods.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Subdued hydrograph: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has a gentle rising limb, a low peak and a long lag time. The flood risk is low.</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Types of Hydrographs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Double-peak hydrograph: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has two peaks, from two storms or from quick flow followed by slower throughflow. It can also come from two tributaries.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Types of Hydrographs</a:t>
            </a:r>
            <a:endParaRPr lang="en-US" sz="3600" dirty="0"/>
          </a:p>
        </p:txBody>
      </p:sp>
      <p:pic>
        <p:nvPicPr>
          <p:cNvPr id="4" name="Image 0" descr="/home/claude/f4/img/v2/hydrograph_types_big.png">    </p:cNvPr>
          <p:cNvPicPr>
            <a:picLocks noChangeAspect="1"/>
          </p:cNvPicPr>
          <p:nvPr/>
        </p:nvPicPr>
        <p:blipFill>
          <a:blip r:embed="rId1"/>
          <a:stretch>
            <a:fillRect/>
          </a:stretch>
        </p:blipFill>
        <p:spPr>
          <a:xfrm>
            <a:off x="1215564" y="1783080"/>
            <a:ext cx="9760567"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flashy and subdued hydrographs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Factors Affecting the Shape and Lag Time</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shape of a hydrograph depends on two groups of factors: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Dynamic factors: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Precipitation type, intensity, duration and frequency, and land use, change with time. Intense storms and urbanisation shorten lag time and raise the peak.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Factors Affecting the Shape and Lag Time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Static factors: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Basin size, shape, relief, soil and rock stay the same. Small, round, steep basins on impermeable rock give flashy hydrographs.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Factors Affecting the Shape and Lag Time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Flood prediction: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By studying past hydrographs, engineers predict flood peaks and lag times. Warnings allow people to move away and protect property.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Factors Affecting the Shape and Lag Time</a:t>
            </a:r>
            <a:endParaRPr lang="en-US" sz="3600" dirty="0"/>
          </a:p>
        </p:txBody>
      </p:sp>
      <p:pic>
        <p:nvPicPr>
          <p:cNvPr id="4" name="Image 0" descr="/home/claude/f4/img/v2/basin_shapes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basin shape and hydrograph shape</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Label the parts of a storm hydrograph.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Rainfall, rising limb, peak, falling limb, lag time, base flow, quick flow.</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two factors that give a flashy hydrograph.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Intense rain and urbanisation (also steep slopes, impermeable rock, round basin).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The time between peak rain and peak discharge is the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A hydrograph with a high, quick peak is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Forests make the lag time ______.</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Draw a flashy and a subdued hydrograph and give two causes of each.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34: River Regimes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53</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55"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Hydrograph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L'hydrogramme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Peak</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pointe de crue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Lag time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temps de réponse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Flood</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crue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Rising limb</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courbe de montée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Warning</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L'alerte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54</a:t>
            </a:fld>
            <a:endParaRPr lang="en-US"/>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56"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The Drainage Basin Hydrological Cycle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Lesson 33: Storm Hydrographs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Define and label a storm hydrograph. Distinguish flashy, subdued and double-peak hydrographs. Explain the factors of hydrograph shape and lag time, and their use for flood prediction.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read a storm hydrograph and explain what controls its shape.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55</a:t>
            </a:fld>
            <a:endParaRPr lang="en-US"/>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57"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DEFINITIONS; Characteristics of a Storm Hydrograph; Types of Hydrographs; Factors Affecting the Shape and Lag Time.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Draw a flashy and a subdued hydrograph and give two causes of each.</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56</a:t>
            </a:fld>
            <a:endParaRPr lang="en-US"/>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8 min | Recall, situation, action 10 min | 5 activities 30 min | Board summary (copying) 30 min | Evaluation, remediation 10 min | Homework, next lesson 5 min | Logbook 7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draw and label the graph.</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draw the two main types.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compare a round plate and a long ruler.</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4): compare a roof and a forest.</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5): discuss flood warnings on the radio.</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57</a:t>
            </a:fld>
            <a:endParaRPr lang="en-US"/>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National Geography Syllabus, MINESEC/IGE/IP-SS, 2019 — Module 1 (Meteorology, Climatology &amp; Hydrology).</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5: “Flood in Accra” by Stig Nygaard, CC BY 2.0, via Flickr (https://www.flickr.com/photos/10259776@N00/181742000)</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58</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58</Slides>
  <Notes>58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58</vt:i4>
      </vt:variant>
    </vt:vector>
  </HeadingPairs>
  <TitlesOfParts>
    <vt:vector size="6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2026-09-27T09:30:22Z</dcterms:created>
  <dcterms:modified xsi:type="dcterms:W3CDTF">2026-09-27T09:30:22Z</dcterms:modified>
</cp:coreProperties>
</file>