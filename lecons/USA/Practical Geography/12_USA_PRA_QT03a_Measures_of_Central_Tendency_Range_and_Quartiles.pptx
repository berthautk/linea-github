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1): Measures of Central Tendency, Range and Quartiles.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central tendency, mean, median, mode, unimodal, bimodal, outlier, range, quartiles, interquartile range. At the end, you should be able to do this: learners are able to calculate and interpret the mean, median, mode, range and interquartile range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2: Data Collection: Sources and Techniques. The question was: Define the arithmetic mean.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arithmetic mean is the sum of all the values divided by the number of values.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calculate the mean and state its advantages and disadvantages. Number 2: find the median of odd and even sets of data. Number 3: find the mode and recognise bimodal data. Number 4: calculate the range. Number 5: calculate the quartiles and the interquartile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sample represents a population. Data can be collected by measurement. Garoua is very hot in March–April.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has visited 9 small farms on the road to Pitoa and recorded their maize production in bags: 15, 20, 18, 20, 22, 17, 45, 16 and 19. One farm produced 45 bags, much more than the others. Looking at his list, he cannot say what the "typical" production is or how different the farms are. He asks: "Which single value best represents these farms, and how can I describe how spread out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know how to summarise 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value is usually used as the "average"?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may the median be better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outlier (45 bags) pulls the mean up, but does not affect the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choose the average that suits the data and show all the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tools to summarise geographical data in fieldwork, projects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worked examples of the mean.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mean of Oumarou's 9 farms (total = 192 bags).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192 ÷ 9 ≈ 21.3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finding the median.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median of Oumarou's farms (15, 16, 17, 18, 19, 20, 20, 22, 45)?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 bags (the 5th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frequency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mode of Oumarou's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bags (it appears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maximum and minimum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Garoua's maxima for a week: 38, 40, 42, 37, 44, 41, 39 °C. What is the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44 − 37 = 7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quartiles and IQR.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IQR better than the range when there is an outlier?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the lowest and highest 25 % of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Measures of central tendency.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Outlier and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Interquartile range (IQR).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Mean. The mean is calculated and assessed as follows. Copy the point on Formula and example on the left, then draw the diagram on the right: the mean.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Copy the point on Example of station 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Copy the point on Advantages: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Copy the point on Disadvantages: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Median. The median is found and assessed as follows. Copy the point on Method on the left, then draw the diagram on the right: the median.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Copy the point on Odd and even numbers of values: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Copy the point on Example of Ndu (1963 to 1972):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Copy the point on Advantages and disadvantages: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Mode. The mode is found and assessed as follows. Copy the point on Method and example on the left, then draw the diagram on the right: the mode.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Copy the point on Special cases: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Advantages and disadvantages on the left, then draw the diagram on the right: comparing the three measures.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Range. The range is calculated and assessed as follows. Copy the point on Formula and example on the left, then draw the diagram on the right: a maximum and minimum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Range. Copy the point on Interpretation and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Quartiles and the Interquartile Range. The quartiles and the interquartile range are calculated as follows. Copy the point on Steps on the left, then draw the diagram on the right: quartiles.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Copy the point on Example 1 (n = 11):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Copy the point on Example 2 (n = 13):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Advantage on the left, then draw the diagram on the right: a box and whisker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Find the mean, median and mode of 4, 7, 7, 9, 13.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5 = 8; median = 7; mode = 7.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median better than the mean for Oumarou's farms?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outlier (45 bags) raises the mean to about 21.3, while the median (19) represents most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 number 2, mode; number 3,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mean of 3, 5, 7 and 9.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2): Measures of Dispersion: Variance, Standard Deviation and Coefficient of Variation.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1): MEASURES OF CENTRAL TENDENCY, RANGE AND QUARTILES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Central Tendency, Range and Quartiles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Central tendency, mean, median, mode, unimodal, bimodal, outlier, range, quartiles,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central tendency (mean, median, mode) with calculations, advantages and disadvantages; range; quartiles and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2: Data Collection: Sources and Techniques):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arithmetic mean is the sum of all the values divided by the number of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mean and state its advantages and disadvantages.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median of odd and even sets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mode and recognise bimodal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quartiles and the interquartile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represents a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collected by measurement.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March–April.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has visited 9 small farms on the road to Pitoa and recorded their maize production in bags: 15, 20, 18, 20, 22, 17, 45, 16 and 19.</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farm produced 45 bags, much more than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Looking at his list, he cannot say what the "typical" production is or how different the farms are.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single value best represents these farms, and how can I describe how spread out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know how to summarise his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usually used as the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the median be better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pulls the mean up, but does not affect the median.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choose the average that suits the data and show all the working.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tools to summarise geographical data in fieldwork, projects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me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examples of the mean.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Oumarou's 9 farms (total = 192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192 ÷ 9 ≈ 21.3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medi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Finding the median.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median of Oumarou's farms (15, 16, 17, 18, 19, 20, 20, 22, 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 bags (the 5th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mod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frequency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mode of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bags (it appears twice).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maximum and minimum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Garoua's maxima for a week: 38, 40, 42, 37, 44, 41, 39 °C. What is the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44 − 37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iq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Quartiles and IQR.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IQR better than the range when there is an outlier?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the lowest and highest 25 % of the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of central tendency: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values that describe the centre or typical value of a set of data: the mean, the median and the mode.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Outlier: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value much higher or lower than the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highest and the lowest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Interquartile range (IQR):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upper and lower quartiles; it covers the middle 50 % of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Mean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mean is calculated and assessed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Formula and example: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Mean (x̄) = Σx ÷ n, where Σx is the sum of the values and n the number of values. For the services of 10 villages (3, 10, 6, 8, 4, 5, 7, 18, 2, 1), the mean is 64 ÷ 10 = 6.4 services.</a:t>
            </a:r>
            <a:endParaRPr lang="en-US" sz="3000" dirty="0"/>
          </a:p>
        </p:txBody>
      </p:sp>
      <p:pic>
        <p:nvPicPr>
          <p:cNvPr id="6" name="Image 0" descr="/home/claude/f4/img/v2/stat2_mea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mean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station 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twelve monthly temperatures of station A add up to Σx = 322. The mean temperature is therefore 322 ÷ 12 ≈ 26.8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is familiar, easy to understand and uses every value of the set. It is also needed to calculate 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distorted by outliers: for 3, 4, 5, 6 and 45 bags, the mean of 12.6 bags does not represent most farms. It may also not be an actual value and cannot be used for categories.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Median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median is found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values in order, then take the value in position (n + 1) ÷ 2. The median is the middle value of the set.</a:t>
            </a:r>
            <a:endParaRPr lang="en-US" sz="3600" dirty="0"/>
          </a:p>
        </p:txBody>
      </p:sp>
      <p:pic>
        <p:nvPicPr>
          <p:cNvPr id="6" name="Image 0" descr="/home/claude/f4/img/v2/stat2_media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median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Odd and even numbers of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3, 4, 5, 6, 8, 8, 10, the position is (7 + 1) ÷ 2 = 4th, so the median is 6. For 2, 3, 4, 5, 6, 7, 9, 12, the median is the mean of the 4th and 5th values, (5 + 6) ÷ 2 = 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Ndu (1963 to 1972):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annual rainfalls of the ten years are put in order. The 5th and 6th values are 1,942 and 1,904 mm, so the median is 1,923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median is easy to find and is not affected by outliers. However, it ignores most values and is slow to find for large sets.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Mode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mode is found and assessed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Method and example: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mode is the most frequent value, found by counting with a frequency table. At station A, 28 °C occurs in 6 months, so the mode is 28 °C.</a:t>
            </a:r>
            <a:endParaRPr lang="en-US" sz="3200" dirty="0"/>
          </a:p>
        </p:txBody>
      </p:sp>
      <p:pic>
        <p:nvPicPr>
          <p:cNvPr id="6" name="Image 0" descr="/home/claude/f4/img/v2/stat2_mod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Special cases: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 2, 5, 8, 3, 7, 4, 11 has no mode, because no value is repeated. The set 1, 8, 7, 8, 5, 9, 11, 5 has two modes, 5 and 8, and is called bimodal.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Mode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Advantages and disadvantages: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mode can be used for categories, such as soil types or means of transport, and is not affected by outliers. However, there may be no mode or several, and it ignores the other values.</a:t>
            </a:r>
            <a:endParaRPr lang="en-US" sz="3200" dirty="0"/>
          </a:p>
        </p:txBody>
      </p:sp>
      <p:pic>
        <p:nvPicPr>
          <p:cNvPr id="6" name="Image 0" descr="/home/claude/f4/img/v2/stat2_central_compar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comparing the three measures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range is calculated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and 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Range = highest value − lowest value. For the maximum temperatures of Garoua in a week (38, 40, 42, 37, 44, 41, 39 °C), the range is 44 − 37 = 7 °C.</a:t>
            </a:r>
            <a:endParaRPr lang="en-US" sz="3600" dirty="0"/>
          </a:p>
        </p:txBody>
      </p:sp>
      <p:pic>
        <p:nvPicPr>
          <p:cNvPr id="5" name="Image 0" descr="/home/claude/f4/img/v2/f4_maxmi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maximum and minimum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and 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range shows widely spread data, while a small range, such as 28 − 23 = 5 °C at station A, shows clustered data. The range is simple and quick, but it uses only the two extreme values and is misled by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quartiles and the interquartile range are calculated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Steps: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Put the data in order and find the median (Q2). The lower quartile (Q1) is the median of the lower half, the upper quartile (Q3) is the median of the upper half, and IQR = Q3 − Q1.</a:t>
            </a:r>
            <a:endParaRPr lang="en-US" sz="3000" dirty="0"/>
          </a:p>
        </p:txBody>
      </p:sp>
      <p:pic>
        <p:nvPicPr>
          <p:cNvPr id="5" name="Image 0" descr="/home/claude/f4/img/v2/stat2_iqr.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quartiles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(n = 11):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eleven values from 102 to 118, the median is 109, Q1 is 105 and Q3 is 115. The interquartile range is 115 − 105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(n = 13):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10, 25, 30, 30, 40, 41, 42, 50, 55, 70, 101, 110, 111, the median is 42 and Q1 = (30 + 30) ÷ 2 = 30. Q3 = (70 + 101) ÷ 2 = 85.5, so the IQR is 85.5 − 30 = 55.5.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Advantage: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IQR covers the middle 50 % of the data and ignores the lowest and highest quarters. It is therefore not affected by outliers, unlike the range.</a:t>
            </a:r>
            <a:endParaRPr lang="en-US" sz="3600" dirty="0"/>
          </a:p>
        </p:txBody>
      </p:sp>
      <p:pic>
        <p:nvPicPr>
          <p:cNvPr id="5" name="Image 0" descr="/home/claude/f4/img/v2/box_whisker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box and whisker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mean, median and mode of 4, 7, 7, 9,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5 = 8; median = 7; mode = 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median better than the mean for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raises the mean to about 21.3, while the median (19) represents most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Σx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frequent value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IQR = Q3 −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médiane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L'étendue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aberrante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and state its advantages and disadvantages. Find the median of odd and even sets of data. Find the mode and recognise bimodal data. Calculate the range. Calculate the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Mean; The Median; The Mode; The Range;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of 3, 5, 7 and 9.</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add the values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order the values.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tally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highest and lowest.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split the ordered data in halves.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2026-09-29T12:19:06Z</dcterms:created>
  <dcterms:modified xsi:type="dcterms:W3CDTF">2026-09-29T12:19:06Z</dcterms:modified>
</cp:coreProperties>
</file>