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1): Measures of Central Tendency, Range and Quartiles.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central tendency, mean, median, mode, unimodal, bimodal, outlier, range, quartiles, interquartile range. At the end, you should be able to do this: learners are able to calculate and interpret the mean, median, mode, range and interquartile range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2: Data Collection: Sources and Techniques. The question was: Define the arithmetic mean.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arithmetic mean is the sum of all the values divided by the number of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calculate the mean and state its advantages and disadvantages. Number 2: find the median of odd and even sets of data. Number 3: find the mode and recognise bimodal data. Number 4: calculate the range. Number 5: calculate the quartiles and the interquartile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sample represents a population. Data can be collected by measurement. Garoua is very hot in March–April.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has visited 9 small farms on the road to Pitoa and recorded their maize production in bags: 15, 20, 18, 20, 22, 17, 45, 16 and 19. One farm produced 45 bags, much more than the others. Looking at his list, he cannot say what the "typical" production is or how different the farms are. He asks: "Which single value best represents these farms, and how can I describe how spread out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know how to summarise 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value is usually used as the "average"?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may the median be better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outlier (45 bags) pulls the mean up, but does not affect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choose the average that suits the data and show all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tools to summarise geographical data in fieldwork, projects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worked examples of the mean.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mean of Oumarou's 9 farms (total = 192 bags).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192 ÷ 9 ≈ 21.3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finding the median.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median of Oumarou's farms (15, 16, 17, 18, 19, 20, 20, 22, 45)?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 bags (the 5th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frequency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mode of Oumarou's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bags (it appears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maximum and minimum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Garoua's maxima for a week: 38, 40, 42, 37, 44, 41, 39 °C. What is the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44 − 37 = 7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quartiles and IQR.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IQR better than the range when there is an outlier?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the lowest and highest 25 % of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Measures of central tendency.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Outlier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Interquartile range (IQR).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Mean. The mean is calculated and assessed as follows. Copy the point on Formula on the left, then draw the diagram on the right: examples of the mean.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On this slide we have Example 1 and Example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Median. The median is found and assessed as follows. Copy the point on Method on the left, then draw the diagram on the right: finding the median.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On this slide we have Odd number of values and Even number of values.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On this slide we have Example of Ndu (1963–1972) and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Mode. The mode is found and assessed as follows. Copy the point on Method on the left, then draw the diagram on the right: a frequency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On this slide we have Example and Special cases.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On this slide we have 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Disadvantages on the left, then draw the diagram on the right: mean, median and mode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Range. The range is calculated and assessed as follows.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a maximum and minimum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Range. On this slide we have Interpretation and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Range.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Quartiles and the Interquartile Range. The quartiles and the IQR are calculated as follows. On this slide we have Steps.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1 (n = 11) on the left, then draw the diagram on the right: quartiles and IQR.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On this slide we have Example 2 (n = 13).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Advantage on the left, then draw the diagram on the right: a box-and-whisker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Find the mean, median and mode of 4, 7, 7, 9, 13.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5 = 8; median = 7; mode = 7.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median better than the mean for Oumarou's farms?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outlier (45 bags) raises the mean to about 21.3, while the median (19) represents most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mode; number 3,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mean of 3, 5, 7 and 9.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2): Measures of Dispersion: Variance, Standard Deviation and Coefficient of Variation.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1): MEASURES OF CENTRAL TENDENCY, RANGE AND QUARTILES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Central Tendency, Range and Quartiles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Central tendency, mean, median, mode, unimodal, bimodal, outlier, range, quartiles,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central tendency (mean, median, mode) with calculations, advantages and disadvantages; range; quartiles and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2: Data Collection: Sources and Techniques):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arithmetic mean is the sum of all the values divided by the number of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mean and state its advantages and disadvantages.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median of odd and even sets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mode and recognise bimodal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quartiles and the interquartile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represents a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collected by measurement.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March–April.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has visited 9 small farms on the road to Pitoa and recorded their maize production in bags: 15, 20, 18, 20, 22, 17, 45, 16 and 19.</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farm produced 45 bags, much more than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Looking at his list, he cannot say what the "typical" production is or how different the farms are.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single value best represents these farms, and how can I describe how spread out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know how to summarise his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usually used as the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the median be better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pulls the mean up, but does not affect the median.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choose the average that suits the data and show all the working.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tools to summarise geographical data in fieldwork, projects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me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examples of the mean.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Oumarou's 9 farms (total = 192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192 ÷ 9 ≈ 21.3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medi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Finding the median.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median of Oumarou's farms (15, 16, 17, 18, 19, 20, 20, 22, 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 bags (the 5th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mod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frequency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 of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bags (it appears twice).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maximum and minimum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Garoua's maxima for a week: 38, 40, 42, 37, 44, 41, 39 °C. What is the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44 − 37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iq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Quartiles and IQR.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IQR better than the range when there is an outlier?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lowest and highest 25 % of the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of central tendency: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values that describe the centre or typical value of a set of data: the mean, the median and the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Outlier: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value much higher or lower than the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highest and the lowest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Interquartile range (IQR):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upper and lower quartiles; it covers the middle 50 %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Mean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mean is calculated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Mean (x̄) = Σx ÷ n, where Σx is the sum of the values and n the number of values.</a:t>
            </a:r>
            <a:endParaRPr lang="en-US" sz="3600" dirty="0"/>
          </a:p>
        </p:txBody>
      </p:sp>
      <p:pic>
        <p:nvPicPr>
          <p:cNvPr id="6" name="Image 0" descr="/home/claude/f4/img/v2/stat2_mean.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examples of the mean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in 10 villages (3, 10, 6, 8, 4, 5, 7, 18, 2, 1): 64 ÷ 10 = 6.4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Monthly temperatures of station A: Σx = 322 for 12 months, so the mean is about 26.8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familiar and easy to understand.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uses every value.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is only one mean.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needed for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distorted by outliers, as the 45-bag farm.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may not be an actual value.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cannot be used for categories.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Median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median is found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Order the values, then take the value in position (n + 1) ÷ 2.</a:t>
            </a:r>
            <a:endParaRPr lang="en-US" sz="3600" dirty="0"/>
          </a:p>
        </p:txBody>
      </p:sp>
      <p:pic>
        <p:nvPicPr>
          <p:cNvPr id="6" name="Image 0" descr="/home/claude/f4/img/v2/stat2_median.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finding the median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Odd number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4, 5, 6, 8, 8, 10: position (7 + 1) ÷ 2 = 4th, so the median is 6.</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Even number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3, 4, 5, 6, 7, 9, 12: the median is the mean of the 4th and 5th values, (5 + 6) ÷ 2 = 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Ndu (1963–1972):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5th and 6th of the ordered annual rainfalls are 1,942 and 1,904 mm, so the median is 1,923 mm.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is easy and not affected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ignores most values and is slow to find for large sets.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 is found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mode is the most frequent value, found by counting with a frequency table.</a:t>
            </a:r>
            <a:endParaRPr lang="en-US" sz="3600" dirty="0"/>
          </a:p>
        </p:txBody>
      </p:sp>
      <p:pic>
        <p:nvPicPr>
          <p:cNvPr id="6" name="Image 0" descr="/home/claude/f4/img/v2/stat2_mode.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frequency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station A, 28 °C occurs in 6 months, so the mode is 28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Special cases: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2, 5, 8, 3, 7, 4, 11: no mode.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8, 7, 8, 5, 9, 11, 5: two modes, 5 and 8 (bimodal).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Mode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works for categories (soil types, means of transport), is easy to find and is not affected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may be no mode or several modes, and it ignores the other values.</a:t>
            </a:r>
            <a:endParaRPr lang="en-US" sz="3600" dirty="0"/>
          </a:p>
        </p:txBody>
      </p:sp>
      <p:pic>
        <p:nvPicPr>
          <p:cNvPr id="6" name="Image 0" descr="/home/claude/f4/img/v2/stat2_central_compare.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mean, median and mode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range is calculated and assessed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Range = highest value − lowest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maxima for a week (38, 40, 42, 37, 44, 41, 39 °C): 44 − 37 = 7 °C.</a:t>
            </a:r>
            <a:endParaRPr lang="en-US" sz="3600" dirty="0"/>
          </a:p>
        </p:txBody>
      </p:sp>
      <p:pic>
        <p:nvPicPr>
          <p:cNvPr id="5" name="Image 0" descr="/home/claude/f4/img/v2/f4_maxm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maximum and minimum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range shows widely spread data; a small range shows clustered data, as 28 − 23 = 5 °C at station 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simple and quick.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uses only the two extreme values and is misled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quartiles and the IQR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Order the data.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Find the median (Q2).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Q1 is the median of the lower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Q3 is the median of the upper half.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IQR = Q3 − Q1.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1 (n = 11):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102 … 118: median = 109, Q1 = 105, Q3 = 115, so IQR = 10.</a:t>
            </a:r>
            <a:endParaRPr lang="en-US" sz="3600" dirty="0"/>
          </a:p>
        </p:txBody>
      </p:sp>
      <p:pic>
        <p:nvPicPr>
          <p:cNvPr id="5" name="Image 0" descr="/home/claude/f4/img/v2/stat2_iq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quartiles and IQR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(n = 13):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 25, 30, 30, 40, 41, 42, 50, 55, 70, 101, 110, 111: median = 42, Q1 = 30, Q3 = 85.5, so IQR = 55.5.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Advantage: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IQR is not affected by outliers because it ignores the lowest and highest quarters.</a:t>
            </a:r>
            <a:endParaRPr lang="en-US" sz="3600" dirty="0"/>
          </a:p>
        </p:txBody>
      </p:sp>
      <p:pic>
        <p:nvPicPr>
          <p:cNvPr id="5" name="Image 0" descr="/home/claude/f4/img/v2/box_whisker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box-and-whisker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mean, median and mode of 4, 7, 7, 9,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5 = 8; median = 7; mode = 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median better than the mean for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raises the mean to about 21.3, while the median (19) represents most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Σx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frequent value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IQR = Q3 −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médiane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L'étendue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aberrante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and state its advantages and disadvantages. Find the median of odd and even sets of data. Find the mode and recognise bimodal data. Calculate the range. Calculate the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Mean; The Median; The Mode; The Range;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of 3, 5, 7 and 9.</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add the values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order the values.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tally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highest and lowest.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split the ordered data in halves.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2026-09-28T22:24:58Z</dcterms:created>
  <dcterms:modified xsi:type="dcterms:W3CDTF">2026-09-28T22:24:58Z</dcterms:modified>
</cp:coreProperties>
</file>