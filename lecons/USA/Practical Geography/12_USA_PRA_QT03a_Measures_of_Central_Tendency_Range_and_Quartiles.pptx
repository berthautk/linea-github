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Quantitative Techniques 3 (Part 1): Measures of Central Tendency, Range and Quartiles.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Quantitative Techniques in Geography, and the sub-topic is Statistical Techniques. The key notions we shall use today are: central tendency, mean, median, mode, unimodal, bimodal, outlier, range, quartiles, interquartile range. At the end, you should be able to do this: learners are able to calculate and interpret the mean, median, mode, range and interquartile range of geographical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Quantitative Techniques 2: Data Collection: Sources and Techniques. The question was: Define the arithmetic mean.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arithmetic mean is the sum of all the values divided by the number of values.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calculate the mean and state its advantages and disadvantages. Number 2: find the median of odd and even sets of data. Number 3: find the mode and recognise bimodal data. Number 4: calculate the range. Number 5: calculate the quartiles and the interquartile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sample represents a population. Data can be collected by measurement. Garoua is very hot in March–April.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Oumarou has visited 9 small farms on the road to Pitoa and recorded their maize production in bags: 15, 20, 18, 20, 22, 17, 45, 16 and 19. One farm produced 45 bags, much more than the others. Looking at his list, he cannot say what the "typical" production is or how different the farms are. He asks: "Which single value best represents these farms, and how can I describe how spread out they are?"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Oumarou does not know how to summarise his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value is usually used as the "average"?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may the median be better here?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outlier (45 bags) pulls the mean up, but does not affect the median.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always choose the average that suits the data and show all the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gives the basic tools to summarise geographical data in fieldwork, projects and examinations.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worked examples of the mean.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Calculate the mean of Oumarou's 9 farms (total = 192 bags).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192 ÷ 9 ≈ 21.3 bags.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finding the median.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the median of Oumarou's farms (15, 16, 17, 18, 19, 20, 20, 22, 45)?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19 bags (the 5th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frequency table.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the mode of Oumarou's farms?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20 bags (it appears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maximum and minimum thermometer.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Garoua's maxima for a week: 38, 40, 42, 37, 44, 41, 39 °C. What is the range?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44 − 37 = 7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quartiles and IQR.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the IQR better than the range when there is an outlier?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ignores the lowest and highest 25 % of the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Measures of central tendency.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Outlier and Range.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Interquartile range (IQR).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Mean. The mean is calculated and assessed as follows. Copy the point on Formula and example on the left, then draw the diagram on the right: the mean.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Mean. Copy the point on Example of station A: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Mean. Copy the point on Advantages: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Mean. Copy the point on Disadvantages: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Median. The median is found and assessed as follows. Copy the point on Method on the left, then draw the diagram on the right: the median.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Median. Copy the point on Odd and even numbers of values: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Median. Copy the point on Example of Ndu (1963 to 1972):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Median. Copy the point on Advantages and disadvantages: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Mode. The mode is found and assessed as follows. Copy the point on Method and example on the left, then draw the diagram on the right: the mode.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Mode. Copy the point on Special cases: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Advantages and disadvantages on the left, then draw the diagram on the right: comparing the three measures.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Range. The range is calculated and assessed as follows. Copy the point on Formula and example on the left, then draw the diagram on the right: a maximum and minimum thermometer.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Range. Copy the point on Interpretation and assessment: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Quartiles and the Interquartile Range. The quartiles and the interquartile range are calculated as follows. Copy the point on Steps on the left, then draw the diagram on the right: quartiles.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Quartiles and the Interquartile Range. Copy the point on Example 1 (n = 11):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Quartiles and the Interquartile Range. Copy the point on Example 2 (n = 13):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Advantage on the left, then draw the diagram on the right: a box and whisker plot.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Find the mean, median and mode of 4, 7, 7, 9, 13.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mean = 40 ÷ 5 = 8; median = 7; mode = 7.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median better than the mean for Oumarou's farms?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outlier (45 bags) raises the mean to about 21.3, while the median (19) represents most farms.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 number 2, mode; number 3, Q1.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Calculate the mean of 3, 5, 7 and 9.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Quantitative Techniques 3 (Part 2): Measures of Dispersion: Variance, Standard Deviation and Coefficient of Variation.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QUANTITATIVE TECHNIQUES 3 (PART 1): MEASURES OF CENTRAL TENDENCY, RANGE AND QUARTILES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Quantitative Techniques 3 (Part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Measures of Central Tendency, Range and Quartiles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Statistical Techniques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3 (Part 1): Measures of Central Tendency, Range and Quartiles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Central tendency, mean, median, mode, unimodal, bimodal, outlier, range, quartiles, interquartile range.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Measures of central tendency (mean, median, mode) with calculations, advantages and disadvantages; range; quartiles and interquartile range.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and interpret the mean, median, mode, range and interquartile range of geographical data.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(Quantitative Techniques 2: Data Collection: Sources and Techniques):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the arithmetic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arithmetic mean is the sum of all the values divided by the number of values.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mean and state its advantages and disadvantages.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Find the median of odd and even sets of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Find the mode and recognise bimodal data.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range.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quartiles and the interquartile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sample represents a population.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Data can be collected by measurement.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Garoua is very hot in March–April.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Oumarou has visited 9 small farms on the road to Pitoa and recorded their maize production in bags: 15, 20, 18, 20, 22, 17, 45, 16 and 19.</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farm produced 45 bags, much more than the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Looking at his list, he cannot say what the "typical" production is or how different the farms are.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asks: "Which single value best represents these farms, and how can I describe how spread out they 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Oumarou does not know how to summarise his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value is usually used as the "average"?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may the median be better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outlier (45 bags) pulls the mean up, but does not affect the median.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Always choose the average that suits the data and show all the working.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gives the basic tools to summarise geographical data in fieldwork, projects and examinations.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tat2_mean.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Worked examples of the mean.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mean of Oumarou's 9 farms (total = 192 bags).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192 ÷ 9 ≈ 21.3 bags.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MEDIAN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tat2_median.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Finding the median.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MEDIAN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median of Oumarou's farms (15, 16, 17, 18, 19, 20, 20, 22, 45)?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MEDIAN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19 bags (the 5th value).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tat2_mode.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frequency table.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mode of Oumarou's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20 bags (it appears twice).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RANGE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maxm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maximum and minimum thermometer.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RANGE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Garoua's maxima for a week: 38, 40, 42, 37, 44, 41, 39 °C. What is the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RANGE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44 − 37 = 7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QUARTILES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tat2_iqr.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Quartiles and IQR.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QUARTILES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IQR better than the range when there is an outlier?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QUARTILES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ignores the lowest and highest 25 % of the values.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Quantitative Techniques in Geography</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Statistical Techniques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Quantitative Techniques 3 (Part 1): Measures of Central Tendency, Range and Quartiles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Measures of central tendency: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values that describe the centre or typical value of a set of data: the mean, the median and the mode.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Outlier: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value much higher or lower than the others.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difference between the highest and the lowest values.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Interquartile range (IQR):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difference between the upper and lower quartiles; it covers the middle 50 % of the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Central Tendency</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Mean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The mean is calculated and assessed as follows: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Formula and example: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Mean (x̄) = Σx ÷ n, where Σx is the sum of the values and n the number of values. For the services of 10 villages (3, 10, 6, 8, 4, 5, 7, 18, 2, 1), the mean is 64 ÷ 10 = 6.4 services.</a:t>
            </a:r>
            <a:endParaRPr lang="en-US" sz="3000" dirty="0"/>
          </a:p>
        </p:txBody>
      </p:sp>
      <p:pic>
        <p:nvPicPr>
          <p:cNvPr id="6" name="Image 0" descr="/home/claude/f4/img/v2/stat2_mean.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mean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Central Tendency</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Mean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of station 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twelve monthly temperatures of station A add up to Σx = 322. The mean temperature is therefore 322 ÷ 12 ≈ 26.8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Central Tendency</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Mean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mean is familiar, easy to understand and uses every value of the set. It is also needed to calculate the standard deviation.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Central Tendency</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Mean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distorted by outliers: for 3, 4, 5, 6 and 45 bags, the mean of 12.6 bags does not represent most farms. It may also not be an actual value and cannot be used for categories.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Central Tendency</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The Median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median is found and assessed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Method: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Put the values in order, then take the value in position (n + 1) ÷ 2. The median is the middle value of the set.</a:t>
            </a:r>
            <a:endParaRPr lang="en-US" sz="3600" dirty="0"/>
          </a:p>
        </p:txBody>
      </p:sp>
      <p:pic>
        <p:nvPicPr>
          <p:cNvPr id="6" name="Image 0" descr="/home/claude/f4/img/v2/stat2_median.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median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Central Tendency</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Median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Odd and even numbers of values: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3, 4, 5, 6, 8, 8, 10, the position is (7 + 1) ÷ 2 = 4th, so the median is 6. For 2, 3, 4, 5, 6, 7, 9, 12, the median is the mean of the 4th and 5th values, (5 + 6) ÷ 2 = 5.5.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Central Tendency</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Median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of Ndu (1963 to 1972):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annual rainfalls of the ten years are put in order. The 5th and 6th values are 1,942 and 1,904 mm, so the median is 1,923 mm.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Central Tendency</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Median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and disadvantages: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median is easy to find and is not affected by outliers. However, it ignores most values and is slow to find for large sets.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Central Tendency</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The Mode</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mode is found and assessed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Method and example: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mode is the most frequent value, found by counting with a frequency table. At station A, 28 °C occurs in 6 months, so the mode is 28 °C.</a:t>
            </a:r>
            <a:endParaRPr lang="en-US" sz="3200" dirty="0"/>
          </a:p>
        </p:txBody>
      </p:sp>
      <p:pic>
        <p:nvPicPr>
          <p:cNvPr id="6" name="Image 0" descr="/home/claude/f4/img/v2/stat2_mode.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mode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Central Tendency</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Mode</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Special cases: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set 2, 5, 8, 3, 7, 4, 11 has no mode, because no value is repeated. The set 1, 8, 7, 8, 5, 9, 11, 5 has two modes, 5 and 8, and is called bimodal.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Central Tendency</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The Mode</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Advantages and disadvantages: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mode can be used for categories, such as soil types or means of transport, and is not affected by outliers. However, there may be no mode or several, and it ignores the other values.</a:t>
            </a:r>
            <a:endParaRPr lang="en-US" sz="3200" dirty="0"/>
          </a:p>
        </p:txBody>
      </p:sp>
      <p:pic>
        <p:nvPicPr>
          <p:cNvPr id="6" name="Image 0" descr="/home/claude/f4/img/v2/stat2_central_compare.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comparing the three measures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Range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range is calculated and assessed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Formula and example: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Range = highest value − lowest value. For the maximum temperatures of Garoua in a week (38, 40, 42, 37, 44, 41, 39 °C), the range is 44 − 37 = 7 °C.</a:t>
            </a:r>
            <a:endParaRPr lang="en-US" sz="3600" dirty="0"/>
          </a:p>
        </p:txBody>
      </p:sp>
      <p:pic>
        <p:nvPicPr>
          <p:cNvPr id="5" name="Image 0" descr="/home/claude/f4/img/v2/f4_maxmin.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maximum and minimum thermometer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Range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and assessment: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large range shows widely spread data, while a small range, such as 28 − 23 = 5 °C at station A, shows clustered data. The range is simple and quick, but it uses only the two extreme values and is misled by outliers.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Quartiles and the Interquartile Range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The quartiles and the interquartile range are calculated as follows: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Steps: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Put the data in order and find the median (Q2). The lower quartile (Q1) is the median of the lower half, the upper quartile (Q3) is the median of the upper half, and IQR = Q3 − Q1.</a:t>
            </a:r>
            <a:endParaRPr lang="en-US" sz="3000" dirty="0"/>
          </a:p>
        </p:txBody>
      </p:sp>
      <p:pic>
        <p:nvPicPr>
          <p:cNvPr id="5" name="Image 0" descr="/home/claude/f4/img/v2/stat2_iqr.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quartiles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Quartiles and the Interquartile Range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1 (n = 11):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eleven values from 102 to 118, the median is 109, Q1 is 105 and Q3 is 115. The interquartile range is 115 − 105 = 10.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Quartiles and the Interquartile Range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2 (n = 13):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10, 25, 30, 30, 40, 41, 42, 50, 55, 70, 101, 110, 111, the median is 42 and Q1 = (30 + 30) ÷ 2 = 30. Q3 = (70 + 101) ÷ 2 = 85.5, so the IQR is 85.5 − 30 = 55.5.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Quartiles and the Interquartile Range</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Advantage: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IQR covers the middle 50 % of the data and ignores the lowest and highest quarters. It is therefore not affected by outliers, unlike the range.</a:t>
            </a:r>
            <a:endParaRPr lang="en-US" sz="3600" dirty="0"/>
          </a:p>
        </p:txBody>
      </p:sp>
      <p:pic>
        <p:nvPicPr>
          <p:cNvPr id="5" name="Image 0" descr="/home/claude/f4/img/v2/box_whisker_big.png">    </p:cNvPr>
          <p:cNvPicPr>
            <a:picLocks noChangeAspect="1"/>
          </p:cNvPicPr>
          <p:nvPr/>
        </p:nvPicPr>
        <p:blipFill>
          <a:blip r:embed="rId1"/>
          <a:stretch>
            <a:fillRect/>
          </a:stretch>
        </p:blipFill>
        <p:spPr>
          <a:xfrm>
            <a:off x="6537960" y="2721454"/>
            <a:ext cx="5470855" cy="2393499"/>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box and whisker plot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mean, median and mode of 4, 7, 7, 9, 13.</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Mean = 40 ÷ 5 = 8; median = 7; mode = 7.</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median better than the mean for Oumarou's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outlier (45 bags) raises the mean to about 21.3, while the median (19) represents most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Mean = Σx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most frequent value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IQR = Q3 −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mean of 3, 5, 7 and 9.</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Quantitative Techniques 3 (Part 2): Measures of Dispersion: Variance, Standard Deviation and Coefficient of Variation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moyenne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Median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médiane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L'étendue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Quartile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quartile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Outlier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valeur aberrante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3 (Part 1): Measures of Central Tendency, Range and Quartiles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mean and state its advantages and disadvantages. Find the median of odd and even sets of data. Find the mode and recognise bimodal data. Calculate the range. Calculate the quartiles and the interquartile range.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and interpret the mean, median, mode, range and interquartile range of geographical data.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Mean; The Median; The Mode; The Range; Quartiles and the Interquartile Range.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mean of 3, 5, 7 and 9.</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add the values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order the values.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make a tally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the highest and lowest.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split the ordered data in halves.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Statistical Techniques in Geographical Analysis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“maximum minimum thermometer” by Leo Reynolds, CC BY-NC-SA 2.0, via Flickr (https://www.flickr.com/photos/49968232@N00/7928521796)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2026-09-29T11:40:36Z</dcterms:created>
  <dcterms:modified xsi:type="dcterms:W3CDTF">2026-09-29T11:40:36Z</dcterms:modified>
</cp:coreProperties>
</file>