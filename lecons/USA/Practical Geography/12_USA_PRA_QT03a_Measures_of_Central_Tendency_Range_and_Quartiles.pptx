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1): Measures of Central Tendency, Range and Quartiles.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central tendency, mean, median, mode, unimodal, bimodal, outlier, range, quartiles, interquartile range. At the end, you should be able to do this: learners are able to calculate and interpret the mean, median, mode, range and interquartile range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2: Data Collection: Sources and Techniques. The question was: Define the arithmetic mean.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arithmetic mean is the sum of all the values divided by the number of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calculate the mean and state its advantages and disadvantages. Number 2: find the median of odd and even sets of data. Number 3: find the mode and recognise bimodal data. Number 4: calculate the range. Number 5: calculate the quartiles and the interquartile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sample represents a population. Data can be collected by measurement. Garoua is very hot in March–April.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has visited 9 small farms on the road to Pitoa and recorded their maize production in bags: 15, 20, 18, 20, 22, 17, 45, 16 and 19. One farm produced 45 bags, much more than the others. Looking at his list, he cannot say what the "typical" production is or how different the farms are. He asks: "Which single value best represents these farms, and how can I describe how spread out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know how to summarise 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value is usually used as the "average"?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may the median be better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outlier (45 bags) pulls the mean up, but does not affect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choose the average that suits the data and show all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tools to summarise geographical data in fieldwork, projects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worked examples of the mean.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mean of Oumarou's 9 farms (total = 192 bags).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192 ÷ 9 ≈ 21.3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finding the median.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median of Oumarou's farms (15, 16, 17, 18, 19, 20, 20, 22, 45)?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 bags (the 5th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frequency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mode of Oumarou's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bags (it appears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maximum and minimum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Garoua's maxima for a week: 38, 40, 42, 37, 44, 41, 39 °C. What is the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44 − 37 = 7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quartiles and IQR.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IQR better than the range when there is an outlier?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the lowest and highest 25 % of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Measures of central tendency.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Outlier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Interquartile range (IQR).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Mean: Calculation. The mean is calculated as follows. Copy the point on Formula on the left, then draw the diagram on the right: the mean.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Calculation. Copy the point on Example of the villages: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Calculation. Copy the point on Example of station 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Mean: Advantages and Disadvantages. The mean has the following advantages and disadvantages. Copy the point on It uses every value: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Advantages and Disadvantages. Copy the point on It is needed for other measures: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Advantages and Disadvantages. Copy the point on It is distorted by outliers: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Advantages and Disadvantages. Copy the point on It may not be a real value: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Median: Calculation. The median is found as follows. Copy the point on Method on the left, then draw the diagram on the right: the median.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Calculation. Copy the point on An odd number of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Calculation. Copy the point on An even number of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Calculation. Copy the point on Example of Ndu (1963 to 1972):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Median: Advantages and Disadvantages. The median has the following advantages and disadvantages. Copy the point on It is not affected by outliers: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Advantages and Disadvantages. Copy the point on It is easy to find: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Advantages and Disadvantages. Copy the point on It ignores most values: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Mode: Calculation. The mode is found as follows. Copy the point on Method on the left, then draw the diagram on the right: the mode.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Calculation. Copy the point on A set with no mode: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Calculation. Copy the point on A bimodal set: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Mode: Advantages and Disadvantages. The mode has the following advantages and disadvantages. Copy the point on It can be used for categories on the left, then draw the diagram on the right: comparing the three measures.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Advantages and Disadvantages. Copy the point on It is not affected by outliers: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Advantages and Disadvantages. Copy the point on There may be no mode or several: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and Interpretation. The range is calculated and interpreted as follows. Copy the point on Formula on the left, then draw the diagram on the right: a maximum and minimum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and Interpretation. Copy the point on Interpretation: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The range has the following advantages and disadvantages. Copy the point on It is simple and quick: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Copy the point on It is misled by outliers: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Quartiles and the Interquartile Range. The quartiles and the interquartile range are calculated as follows. Copy the point on Steps on the left, then draw the diagram on the right: quartiles.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the point on Example 1 (n = 11):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the point on Example 2 (n = 13):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Advantage on the left, then draw the diagram on the right: a box and whisker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Find the mean, median and mode of 4, 7, 7, 9, 13.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5 = 8; median = 7; mode = 7.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median better than the mean for Oumarou's farms?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outlier (45 bags) raises the mean to about 21.3, while the median (19) represents most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mode; number 3,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mean of 3, 5, 7 and 9.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2): Measures of Dispersion: Variance, Standard Deviation and Coefficient of Variation.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1): MEASURES OF CENTRAL TENDENCY, RANGE AND QUARTILES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Central Tendency, Range and Quartiles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Central tendency, mean, median, mode, unimodal, bimodal, outlier, range, quartiles,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central tendency (mean, median, mode) with calculations, advantages and disadvantages; range; quartiles and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2: Data Collection: Sources and Techniques):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arithmetic mean is the sum of all the values divided by the number of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mean and state its advantages and disadvantages.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median of odd and even sets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mode and recognise bimodal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quartiles and the interquartile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represents a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collected by measurement.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has visited 9 small farms on the road to Pitoa and recorded their maize production in bags: 15, 20, 18, 20, 22, 17, 45, 16 and 19.</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farm produced 45 bags, much more than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Looking at his list, he cannot say what the "typical" production is or how different the farms are.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single value best represents these farms, and how can I describe how spread out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know how to summarise his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usually used as the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the median be better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pulls the mean up, but does not affect the median.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choose the average that suits the data and show all the working.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tools to summarise geographical data in fieldwork, projects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me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examples of the mean.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Oumarou's 9 farms (total = 192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192 ÷ 9 ≈ 21.3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medi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Finding the median.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median of Oumarou's farms (15, 16, 17, 18, 19, 20, 20, 22, 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 bags (the 5th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mod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frequency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 of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bags (it appears twice).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maximum and minimum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Garoua's maxima for a week: 38, 40, 42, 37, 44, 41, 39 °C. What is the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44 − 37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iq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Quartiles and IQR.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IQR better than the range when there is an outlier?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lowest and highest 25 % of the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of central tendency: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values that describe the centre or typical value of a set of data: the mean, the median and the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Outlier: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value much higher or lower than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highest and the lowest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Interquartile range (IQR):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upper and lower quartiles; it covers the middle 50 %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Mean: Calculation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mean is calculated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Mean (x̄) = Σx ÷ n, where Σx is the sum of the values and n the number of values. The mean is the average of all the values.</a:t>
            </a:r>
            <a:endParaRPr lang="en-US" sz="3600" dirty="0"/>
          </a:p>
        </p:txBody>
      </p:sp>
      <p:pic>
        <p:nvPicPr>
          <p:cNvPr id="6" name="Image 0" descr="/home/claude/f4/img/v2/stat2_me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the villages: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services of 10 villages are 3, 10, 6, 8, 4, 5, 7, 18, 2 and 1, which add up to 64. The mean is therefore 64 ÷ 10 = 6.4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station 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monthly temperatures of station A add up to Σx = 322. The mean temperature is therefore 322 ÷ 12 ≈ 26.8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Mean: Advantages and Disadvantages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mean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uses every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is familiar and easy to understand, and every value of the set is included in it. It is therefore a complete summary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The Mean: Advantages and Disadvantages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needed for other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is used to calculate the variance and the standard deviation. Without it, dispersion cannot be measured precisely.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The Mean: Advantages and Disadvantages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distorted by outliers: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extreme value can pull the mean far from most values. For 3, 4, 5, 6 and 45 bags, the mean of 12.6 bags does not represent most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The Mean: Advantages and Disadvantages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may not be a real value: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is often a value that does not exist in the set, such as 6.4 services. It also cannot be used for categories such as soil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Median: Calculation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median is found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values in order, then take the value in position (n + 1) ÷ 2. The median is the middle value of the set.</a:t>
            </a:r>
            <a:endParaRPr lang="en-US" sz="3600" dirty="0"/>
          </a:p>
        </p:txBody>
      </p:sp>
      <p:pic>
        <p:nvPicPr>
          <p:cNvPr id="6" name="Image 0" descr="/home/claude/f4/img/v2/stat2_medi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median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Median: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odd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3, 4, 5, 6, 8, 8 and 10, the position is (7 + 1) ÷ 2 = 4th. The median is therefore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Median: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even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2, 3, 4, 5, 6, 7, 9 and 12, the middle falls between the 4th and 5th values. The median is their mean, (5 + 6) ÷ 2 = 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Median: Calculation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Ndu (1963 to 1972):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annual rainfalls of the ten years are put in order. The 5th and 6th values are 1,942 and 1,904 mm, so the median is 1,923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Median: Advantages and Disadvantages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median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not affected by outliers: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extreme value at either end does not change the middle value. The median therefore represents skewed data better than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D) The Median: Advantages and Disadvantages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easy to find: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small set, the values only need to be put in order. No long calculation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D) The Median: Advantages and Disadvantages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ignores most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middle value or the two middle values are used. For large sets, putting all the values in order is also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The Mode: Calculation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 is found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mode is the most frequent value, found by counting with a frequency table. At station A, 28 °C occurs in 6 months, so the mode is 28 °C.</a:t>
            </a:r>
            <a:endParaRPr lang="en-US" sz="3600" dirty="0"/>
          </a:p>
        </p:txBody>
      </p:sp>
      <p:pic>
        <p:nvPicPr>
          <p:cNvPr id="6" name="Image 0" descr="/home/claude/f4/img/v2/stat2_mod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Mode: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set with no mode: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set 2, 5, 8, 3, 7, 4 and 11, no value is repeated. This set therefore has no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E) The Mode: Calculation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bimodal set: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set 1, 8, 7, 8, 5, 9, 11 and 5, the values 5 and 8 both occur twice. The set has two modes and is called bimodal.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F) The Mode: Advantages and Disadvantages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mode has the following advantages and disadvantages: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It can be used for categories: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mode is the only measure that works for categories, such as soil types or means of transport. It shows the most common category.</a:t>
            </a:r>
            <a:endParaRPr lang="en-US" sz="3200" dirty="0"/>
          </a:p>
        </p:txBody>
      </p:sp>
      <p:pic>
        <p:nvPicPr>
          <p:cNvPr id="6" name="Image 0" descr="/home/claude/f4/img/v2/stat2_central_compar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comparing the three measures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F) The Mode: Advantages and Disadvantages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not affected by outliers: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Extreme values are rare, so they do not change the most frequent value. The mode remains a typical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F) The Mode: Advantages and Disadvantages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There may be no mode or several: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sets have no repeated value, and others have two or more modes. The mode also ignores all the other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Calculation and Interpretation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range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Range = highest value − lowest value. It measures the spread between the two extreme values.</a:t>
            </a:r>
            <a:endParaRPr lang="en-US" sz="3600" dirty="0"/>
          </a:p>
        </p:txBody>
      </p:sp>
      <p:pic>
        <p:nvPicPr>
          <p:cNvPr id="6" name="Image 0" descr="/home/claude/f4/img/v2/f4_maxm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maximum and minimum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Calculation and Interpretation</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temperatures of Garoua in a week are 38, 40, 42, 37, 44, 41 and 39 °C. The range is 44 − 37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Calculation and Interpretation</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range shows widely spread data. A small range, such as 28 − 23 = 5 °C at station A, shows clustered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range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simple and quick: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highest and the lowest values are needed. It gives a first idea of the spread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Disadvantages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misled by outliers: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only the two extreme values and ignores all the others. One unusual value can therefore give a very large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quartiles and the interquartile range are calculated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Steps: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Put the data in order and find the median (Q2). The lower quartile (Q1) is the median of the lower half, the upper quartile (Q3) is the median of the upper half, and IQR = Q3 − Q1.</a:t>
            </a:r>
            <a:endParaRPr lang="en-US" sz="3000" dirty="0"/>
          </a:p>
        </p:txBody>
      </p:sp>
      <p:pic>
        <p:nvPicPr>
          <p:cNvPr id="5" name="Image 0" descr="/home/claude/f4/img/v2/stat2_iq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quartiles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(n = 11):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eleven values from 102 to 118, the median is 109, Q1 is 105 and Q3 is 115. The interquartile range is 115 − 105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(n = 13):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10, 25, 30, 30, 40, 41, 42, 50, 55, 70, 101, 110, 111, the median is 42 and Q1 = (30 + 30) ÷ 2 = 30. Q3 = (70 + 101) ÷ 2 = 85.5, so the IQR is 85.5 − 30 = 55.5.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Advantage: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IQR covers the middle 50 % of the data and ignores the lowest and highest quarters. It is therefore not affected by outliers, unlike the range.</a:t>
            </a:r>
            <a:endParaRPr lang="en-US" sz="3600" dirty="0"/>
          </a:p>
        </p:txBody>
      </p:sp>
      <p:pic>
        <p:nvPicPr>
          <p:cNvPr id="5" name="Image 0" descr="/home/claude/f4/img/v2/box_whisker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box and whisker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mean, median and mode of 4, 7, 7, 9,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5 = 8; median = 7; mode = 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median better than the mean for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raises the mean to about 21.3, while the median (19) represents most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Σx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frequent value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IQR = Q3 −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médiane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L'étendue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aberrante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and state its advantages and disadvantages. Find the median of odd and even sets of data. Find the mode and recognise bimodal data. Calculate the range. Calculate the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Mean: Calculation; The Mean: Advantages and Disadvantages; The Median: Calculation; The Median: Advantages and Disadvantages; The Mode: Calculation; The Mode: Advantages and Disadvantages; Calculation and Interpretation; Advantages and Disadvantages;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of 3, 5, 7 and 9.</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add the values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order the values.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tally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highest and lowest.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split the ordered data in halves.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2026-10-06T05:35:43Z</dcterms:created>
  <dcterms:modified xsi:type="dcterms:W3CDTF">2026-10-06T05:35:43Z</dcterms:modified>
</cp:coreProperties>
</file>