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Quantitative Techniques 3: Basic Tools of Data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Quantitative Techniques in Geography, and the sub-topic is Statistical Techniques. The key notions we shall use today are: mean, median, mode, range, quartile, interquartile range, variance, standard deviation, coefficient of variation, Spearman's rank correlation. At the end, you should be able to do this: learners are able to calculate and interpret basic statistics for geographical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Quantitative Techniques 2: Data Collection: Sources and Techniques. The question was: Prepare a questionnaire of five questions about how students travel to school.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1. Which class are you in? 2. How do you come to school (foot, bike, moto-taxi, car)? 3. How far do you live (km)? 4. How long does the trip take? 5. What problem do you meet on the way?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calculate the mean, median, mode, range and interquartile range. Number 2: calculate the standard deviation and coefficient of variation. Number 3: calculate and interpret Spearman's rank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An average summarises many values. Data can be ranked from highest to lowest.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class has the monthly rainfall of a station and the population and number of services of six towns. They must summarise the rainfall and test whether bigger towns have more services.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summarise and compare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measure gives the average?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mean (or median).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test compares two rankings?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Spearman's rank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every geographical conclusion with correct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gives us the statistical tools to analyse geographical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mean, median, mode and range.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is the median sometimes better than the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not affected by extreme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box-and-whisker plot.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the interquartile range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spread of the middle half of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standard deviation worked example.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does a small standard deviation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values are close to the mean (little variation).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spearman's rank correlation.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Interpret Rs = +0.89.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strong positive correlation: bigger towns have more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negative correlation.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would Rs close to −1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strong negative correlation: as one value rises, the other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Measures of Central Tendency. The centre of a data set is measured as follows. On this slide we have Mean, median and mode.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of Central Tendency. On this slide we have Range, quartiles and IQR.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box-and-whisker plot.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Measures of Dispersion. The spread of data is measured as follows. On this slide we have Variance and standard deviation.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of Dispersion. On this slide we have Coefficient of variation.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standard deviation worked example.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Spearman's Rank Correlation. The relationship between two variables is measured as follows. On this slide we have Formula.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Spearman's Rank Correlation. On this slide we have Interpretation.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spearman's rank worked example.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Find the mean and median of 4, 8, 10, 12, 26.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mean = 60 ÷ 5 = 12; median = 10.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 = 6, Σd² = 10. Find 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1 − 60 ÷ 210 = 0.71: fairly strong positive.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median; number 2, interquartile; number 3,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Collect the daily maximum temperature for 7 days and calculate the mean and standard deviation.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Quantitative Techniques 4: Plotting and Interpreting Graphical Tools.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QUANTITATIVE TECHNIQUES 3: BASIC TOOLS OF DATA ANALYSIS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Quantitative Techniques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Basic Tools of Data Analysis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Statistical Techniques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3: Basic Tools of Data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 median, mode, range, quartile, interquartile range, variance, standard deviation, coefficient of variation, Spearman's rank correlation.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Measures of central tendency (mean, median, mode, range, quartiles, IQR); dispersion (variance, standard deviation, coefficient of variation); association (Spearman's rank correlation).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and interpret basic statistics for geographical data.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(Quantitative Techniques 2: Data Collection: Sources and Techniques):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Prepare a questionnaire of five questions about how students travel to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1. Which class are you in? 2. How do you come to school (foot, bike, moto-taxi, car)? 3. How far do you live (km)? 4. How long does the trip take? 5. What problem do you meet on the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mean, median, mode, range and interquartile range.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standard deviation and coefficient of variation.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and interpret Spearman's rank correlation.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 average summarises many values.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Data can be ranked from highest to lowest.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has the monthly rainfall of a station and the population and number of services of six towns. They must summarise the rainfall and test whether bigger towns have more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summarise and compare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measure gives the average?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mean (or median).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test compares two rankings?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Spearman's rank correlation.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every geographical conclusion with correct statistics.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gives us the statistical tools to analyse geographical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CENTRAL TENDENCY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tats_centra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Mean, median, mode and range.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CENTRAL TENDENCY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median sometimes better than the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CENTRAL TENDENCY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not affected by extreme values.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QUARTILES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ox_whiske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Box-and-whisker plot.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QUARTILES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interquartile range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QUARTILES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spread of the middle half of the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DISPERSION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Standard deviation 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DISPERSION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small standard deviation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DISPERSION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values are close to the mean (little variation).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SPEARMAN'S RANK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pearm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Spearman's rank correlation.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SPEARMAN'S RANK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Interpret Rs = +0.89.</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SPEARMAN'S RANK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strong positive correlation: bigger towns have more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SIGNIFICANCE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catte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negative correlation.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would Rs close to −1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strong negative correlation: as one value rises, the other falls.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Quantitative Techniques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Statistical Techniques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Quantitative Techniques 3: Basic Tools of Data Analysis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Central Tendency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centre of a data set is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 median and mode: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mean is the sum of values divided by their number, and the median is the middle value. The mode is the most frequent value.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Central Tendency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Range, quartiles and IQR: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range is the highest minus the lowest value. The interquartile range (Q3 − Q1) shows the spread of the middle half and is not affected by extremes.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Central Tendency</a:t>
            </a:r>
            <a:endParaRPr lang="en-US" sz="3600" dirty="0"/>
          </a:p>
        </p:txBody>
      </p:sp>
      <p:pic>
        <p:nvPicPr>
          <p:cNvPr id="4" name="Image 0" descr="/home/claude/f4/img/v2/box_whiske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box-and-whisker plot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Measures of Dispersion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spread of data is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Variance and standard deviation: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standard deviation is the square root of the mean of squared deviations from the mean. A small value shows that the data are close to the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Measures of Dispersion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Coefficient of variation: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standard deviation divided by the mean, times 100. It compares the variability of data sets with different means.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Measures of Dispersion</a:t>
            </a:r>
            <a:endParaRPr lang="en-US" sz="3600" dirty="0"/>
          </a:p>
        </p:txBody>
      </p:sp>
      <p:pic>
        <p:nvPicPr>
          <p:cNvPr id="4" name="Image 0" descr="/home/claude/f4/img/v2/s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standard deviation 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Spearman's Rank Correlation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relationship between two variables is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Rs = 1 − (6Σd²) ÷ (n³ − n), where d is the difference in ranks. The result lies between −1 and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Spearman's Rank Correlation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Values near +1 show a strong positive correlation and values near −1 a strong negative one. Significance tables tell whether the result could be due to chance.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Spearman's Rank Correlation</a:t>
            </a:r>
            <a:endParaRPr lang="en-US" sz="3600" dirty="0"/>
          </a:p>
        </p:txBody>
      </p:sp>
      <p:pic>
        <p:nvPicPr>
          <p:cNvPr id="4" name="Image 0" descr="/home/claude/f4/img/v2/spearm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Spearman's rank 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mean and median of 4, 8, 10, 12, 26.</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Mean = 60 ÷ 5 = 12; median = 10.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 = 6, Σd² = 10. Find 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1 − 60 ÷ 210 = 0.71: fairly strong positive.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middle value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UQ − LQ is the ______ range.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Rs lies between −1 and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the daily maximum temperature for 7 days and calculate the mean and standard deviation.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Quantitative Techniques 4: Plotting and Interpreting Graphical Tools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moyenne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Median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médiane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L'étendue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Standard deviation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L'écart type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Correlation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corrélation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3: Basic Tools of Data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mean, median, mode, range and interquartile range. Calculate the standard deviation and coefficient of variation. Calculate and interpret Spearman's rank correlation.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and interpret basic statistics for geographical data.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Measures of Central Tendency; Measures of Dispersion; Spearman's Rank Correlation.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Collect the daily maximum temperature for 7 days and calculate the mean and standard deviation.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calculate each measure.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find LQ and UQ.</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complete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rank the data.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graph.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2026-09-27T10:08:21Z</dcterms:created>
  <dcterms:modified xsi:type="dcterms:W3CDTF">2026-09-27T10:08:21Z</dcterms:modified>
</cp:coreProperties>
</file>