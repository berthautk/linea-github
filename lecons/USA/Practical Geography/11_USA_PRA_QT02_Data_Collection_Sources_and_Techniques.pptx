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2: Data Collection: Sources and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geographical data, primary data, secondary data, population, sample, random, systematic and stratified sampling, observation, measurement, questionnaire, interview, focus group. At the end, you should be able to do this: learners are able to choose sources, sampling methods and techniques to collect data for a geographical investigation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1: Analysis of Cartographic Tools. The question was: Name two sources of secondary data.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Census reports (BUCREP), statistical yearbooks (INS), books, maps, newspapers or websites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distinguish primary and secondary data with examples. Number 2: explain why sampling is used. Number 3: describe random, systematic and stratified sampling. Number 4: describe the main primary data collection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counts the whole population. A sample is a part of the population. A rain gauge measures rainfall.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Aïcha's mother sells fabrics at the Grand Marché of Garoua and has had fewer customers recently. Aïcha wants to use her geography to find out why. She cannot question the thousands of people who visit the market, and she does not know which information to collect or how. She asks: "Where can I find reliable information, how can I choose the people to question, and which methods should I use?"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know how to collect geographical data for her investigation.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Aïcha need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Data: facts about customers and the market, not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she study the market without questioning everyone?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sampling: choosing a small, representative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every investigation by stating the data needed, the sample and the collection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methods used in fieldwork, projects and examinations to collect reliable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primary and secondary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a BUCREP census report primary or secondary data for a student?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Secondary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three sampling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method does every member have an equal chance of being chosen?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Random sampling.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systematic sampling.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sampling interval for 20 students chosen from 200?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k = 200 ÷ 20 =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primary data collection techniques.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you study traffic on the Pont Neuf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counting vehicles for a fixed time (observation and 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good and bad questions.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"Isn't the market dirty?" a bad question?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leading question that suggests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Geographical data.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Primary data and Secondary data.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(in statistics) and Sample.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Geographical Data. Geographical data come from the following sources. Copy the point on Primary data on the left, then draw the diagram on the right: primary and secondary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Geographical Data. On this slide we have Example of primary data and Secondary data.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Geographical Data. On this slide we have Sources of secondary data.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Basic Sampling Procedures. The basic sampling procedures are the following. Copy the point on Why sample on the left, then draw the diagram on the right: three sampling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Basic Sampling Procedures. On this slide we have Random sampling.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Systematic sampling on the left, then draw the diagram on the right: systematic sampling.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Basic Sampling Procedures. On this slide we have Stratified sampling.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Primary Data Collection Techniques. The main techniques of primary data collection are the following. Copy the point on Observation, counting and recording on the left, then draw the diagram on the right: collection techniques.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Primary Data Collection Techniques. On this slide we have Measurement.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Questionnaires on the left, then draw the diagram on the right: good and bad questions.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Primary Data Collection Techniques. On this slide we have Interviews and Focus group discussions.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primary data from secondary data, with one example from Garoua for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collected by the researcher (counting motos at a crossroads); secondary: already published (BUCREP census figures).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how to select 30 people from a list of 600 by systematic sampling.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k = 600 ÷ 30 = 20; choose a random start between 1 and 20, then every 20th person.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systematic; number 3, stratified.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arithmetic mean.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(Part 1): Measures of Central Tendency, Range and Quartiles.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2: DATA COLLECTION: SOURCES AND TECHNIQUES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Data Collection: Sources and Techniques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Geographical data, primary data, secondary data, population, sample, random, systematic and stratified sampling, observation, measurement, questionnaire, interview, focus group.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of geographical data (primary and secondary); basic sampling procedures (random, systematic, stratified); primary data collection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sources, sampling methods and techniques to collect data for a geographical investigation in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1: Analysis of Cartographic Tools):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secondary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Census reports (BUCREP), statistical yearbooks (INS), books, maps, newspapers or websites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primary and secondary data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sampling is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random, systematic and stratified sampling.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primary data collection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counts the whole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sample is a part of the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rain gauge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Aïcha's mother sells fabrics at the Grand Marché of Garoua and has had fewer customers recently.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wants to use her geography to find out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cannot question the thousands of people who visit the market, and she does not know which information to collect or how.</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"Where can I find reliable information, how can I choose the people to question, and which methods should I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know how to collect geographical data for her investigation.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Aïcha need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Data: facts about customers and the market, not guesses.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she study the market without questioning everyone?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sampling: choosing a small, representative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every investigation by stating the data needed, the sample and the collection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methods used in fieldwork, projects and examinations to collect reliable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Primary and secondary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BUCREP census report primary or secondary data for a student?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Secondary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ampl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sampling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method does every member have an equal chance of being chosen?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Random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systemati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Systematic sampling.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sampling interval for 20 students chosen from 200?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 = 200 ÷ 20 = 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techniqu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Primary data collection techniques.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study traffic on the Pont Neuf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counting vehicles for a fixed time (observation and counting).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questionnai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Good and bad questions.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"Isn't the market dirty?" a bad question?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leading question that suggests the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2: Data Collection: Sources and Techniques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facts and figures collected to study places, people and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first-hand data collected by the researcher for a specific purpose.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data already collected by someone else for another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(in statistics):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whole group to be studied.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smaller, representative part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Geographical data come from the following 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Primary data: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original, up to date and specific, collected by fieldwork, observation, measurement, interviews and questionnaires.</a:t>
            </a:r>
            <a:endParaRPr lang="en-US" sz="3200" dirty="0"/>
          </a:p>
        </p:txBody>
      </p:sp>
      <p:pic>
        <p:nvPicPr>
          <p:cNvPr id="5" name="Image 0" descr="/home/claude/f4/img/v2/data_sourc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primary and secondary data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primary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Measuring the temperature of the Benue with a thermometer.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already exist and are cheap and quick to obtain, but may be outdated or not fit the study.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of secondary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Books, BUCREP census reports, INS statistics, Cameroon Tribune, maps, websites and reports of the Ministry of Agriculture on cotton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basic sampling procedures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Why sample: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often impossible, too slow or too costly to study the whole population.</a:t>
            </a:r>
            <a:endParaRPr lang="en-US" sz="3600" dirty="0"/>
          </a:p>
        </p:txBody>
      </p:sp>
      <p:pic>
        <p:nvPicPr>
          <p:cNvPr id="5" name="Image 0" descr="/home/claude/f4/img/v2/sampling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sampling methods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Random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member has an equal chance of being chosen, by drawing names from a box or using random numbers; it is unbiased.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Systematic sampling: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Members are chosen at a regular interval k = population ÷ sample size, from a random start: for 20 out of 200, k = 10, so the 7th, 17th, 27th and so on.</a:t>
            </a:r>
            <a:endParaRPr lang="en-US" sz="3400" dirty="0"/>
          </a:p>
        </p:txBody>
      </p:sp>
      <p:pic>
        <p:nvPicPr>
          <p:cNvPr id="5" name="Image 0" descr="/home/claude/f4/img/v2/stat2_systematic.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systematic sampling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Stratified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divided into groups (strata), such as forms in a school, and each group is sampled in proportion to its size; it is very representative.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techniques of primary data collection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Observation, counting and recording: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Counting cars, motos and lorries on the Pont Neuf in one hour, or photographing house types in Yelwa.</a:t>
            </a:r>
            <a:endParaRPr lang="en-US" sz="3200" dirty="0"/>
          </a:p>
        </p:txBody>
      </p:sp>
      <p:pic>
        <p:nvPicPr>
          <p:cNvPr id="5" name="Image 0" descr="/home/claude/f4/img/v2/stat2_techniqu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collection techniques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Instruments give precise figures: thermometer, rain gauge, measuring tape (river width), clinometer (slope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Questionnaires: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Written questions answered by respondents, with closed (yes/no, choices) or open questions.</a:t>
            </a:r>
            <a:endParaRPr lang="en-US" sz="3600" dirty="0"/>
          </a:p>
        </p:txBody>
      </p:sp>
      <p:pic>
        <p:nvPicPr>
          <p:cNvPr id="5" name="Image 0" descr="/home/claude/f4/img/v2/questionnai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good and bad questions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Interviews: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Face-to-face or telephone conversations, structured (fixed questions) or unstructured.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group discussions: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guided discussion with 6–10 people sharing a characteristic, such as cotton farmers near Garoua discussing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primary data from secondary data, with one example from Garoua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collected by the researcher (counting motos at a crossroads); secondary: already published (BUCREP census figures).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to select 30 people from a list of 600 by systematic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 = 600 ÷ 30 = 20; choose a random start between 1 and 20, then every 20th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Data collected by the researcher are ______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Choosing every 10th house is ______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Dividing the population into groups first is ______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arithmetic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(Part 1): Measures of Central Tendency, Range and Quartiles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Interview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L'entretien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primary and secondary data with examples. Explain why sampling is used. Describe random, systematic and stratified sampling. Describe the main primary data collection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sources, sampling methods and techniques to collect data for a geographical investigation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Sources of Geographical Data; Basic Sampling Procedures; Primary Data Collection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arithmetic mean.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sources in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pick names from a box.</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select every 10th name on the class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prepare a tally sheet.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two closed questions.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2026-09-29T03:08:14Z</dcterms:created>
  <dcterms:modified xsi:type="dcterms:W3CDTF">2026-09-29T03:08:14Z</dcterms:modified>
</cp:coreProperties>
</file>