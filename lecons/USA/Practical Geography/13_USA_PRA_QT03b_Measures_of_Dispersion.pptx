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2): Measures of Dispersion: Variance, Standard Deviation and Coefficient of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dispersion, deviation, variance, standard deviation, coefficient of variation, population (σ), sample (s). At the end, you should be able to do this: learners are able to calculate and interpret the variance, standard deviation and coefficient of variation of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3 (Part 1): Measures of Central Tendency, Range and Quartiles. The question was: Calculate the mean of 3, 5, 7 and 9.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 + 5 + 7 + 9) ÷ 4 = 24 ÷ 4 = 6.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dispersion and variance. Number 2: calculate the variance. Number 3: calculate the standard deviation step by step. Number 4: calculate and interpret the coefficient of variation.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Mean = Σx ÷ n. The range uses only two values. The IQR ignores outliers.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farmers near Garoua both harvest an average of 20 bags of maize a year. Over five years, the first harvested 19, 20, 21, 20 and 20 bags, while the second harvested 5, 35, 12, 30 and 18 bags. The bank must lend money to the more reliable farmer. The bank officer asks: "The averages are the same, so how can we measure which harvest varies more?"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officer does not know how to measure the spread of data around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Whose harvests are more regular?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first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measure uses every value to show spread?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standard deviation.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standard deviation and coefficient of variation to compare the reliability of rainfall or harvests.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most important measures of spread used in geography, for rainfall, yields, temperatures and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variance worked examples.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first step in calculating the variance?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Calculate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standard deviation of household 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If the variance is 7, what is the standard deviation?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 ≈ 2.65.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standard deviation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deviations squared?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remove the negative 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coefficient of variation.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CV if SD = 10.05 and mean = 13.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10.05 ÷ 13 × 100 ≈ 77.3 %.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Would monthly rainfall in Garoua have a high or low CV?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some months have almost no rain and others over 200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Dispersion and Variance (σ² or s²).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Standard deviation (σ or s) and Coefficient of variation (CV).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Variance. The variance is calculated as follows. Copy the point on Formula on the left, then draw the diagram on the right: worked examples.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Variance. On this slide we have Steps.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Variance. On this slide we have Example and Sample or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Standard Deviation. The standard deviation is calculated and interpreted as follows. Copy the point on Formula on the left, then draw the diagram on the right: a standard deviation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1 on the left, then draw the diagram on the right: household ages.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Standard Deviation. On this slide we have Example 2 and Interpretation.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Standard Deviation. On this slide we have Advantage.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Coefficient of Variation. The coefficient of variation is calculated and interpreted as follows. Copy the point on Formula on the left, then draw the diagram on the right: the coefficient of variation.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Coefficient of Variation.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Coefficient of Variation. On this slide we have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SD of 2, 4, 4, 4, 5, 5, 7, 9.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 = 40 ÷ 8 = 5; Σ(x − x̄)² = 32; variance = 4; SD = 2.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CV useful when comparing two stations?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expresses the spread relative to the mean, so stations with different means can be compared.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root; number 2, squared; number 3,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these values from highest to lowest: 12, 30, 25, 18.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3): Measures of Association: Spearman's Rank Correlation.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Dispersion: Variance, Standard Deviation and Coefficient of Variation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Dispersion, deviation, variance, standard deviation, coefficient of variation, population (σ), sample (s).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Variance: meaning, formula and calculation; standard deviation: steps and worked examples; coefficient of variation.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variance, standard deviation and coefficient of variation of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3 (Part 1): Measures of Central Tendency, Range and Quartiles):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3, 5, 7 and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 + 5 + 7 + 9) ÷ 4 = 24 ÷ 4 = 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dispersion and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standard deviation step by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the coefficient of variation.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Mean = Σx ÷ 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range uses only two values.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IQR ignores outliers.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farmers near Garoua both harvest an average of 20 bags of maize a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five years, the first harvested 19, 20, 21, 20 and 20 bags, while the second harvested 5, 35, 12, 30 and 18 bags.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must lend money to the more reliable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officer asks: "The averages are the same, so how can we measure which harvest varies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officer does not know how to measure the spread of data around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Whose harvests are more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first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measure uses every value to show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standard deviation and coefficient of variation to compare the reliability of rainfall or harvests.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most important measures of spread used in geography, for rainfall, yields, temperatures and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varia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Variance worked examples.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first step in calculating the variance?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s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Standard deviation of household 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variance is 7, what is the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 ≈ 2.65.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standard deviation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deviations squared?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DEVIATION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remove the negative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cv.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coefficient of variation.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CV if SD = 10.05 and mean = 13.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10.05 ÷ 13 × 100 ≈ 77.3 %.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Would monthly rainfall in Garoua have a high or low CV?</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COEFFICIENT OF VARIATION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some months have almost no rain and others over 200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2): Measures of Dispersion: Variance, Standard Deviation and Coefficient of Variation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spread of the values of a set of data around the mean.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Variance (σ² or s²):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mean of the squared deviations from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Standard deviation (σ or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square root of the variance; it shows how closely values cluster around the mean.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Coefficient of variation (CV):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standard deviation expressed as a percentage of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variance is calculated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Variance = Σ(x − x̄)² ÷ n.</a:t>
            </a:r>
            <a:endParaRPr lang="en-US" sz="3600" dirty="0"/>
          </a:p>
        </p:txBody>
      </p:sp>
      <p:pic>
        <p:nvPicPr>
          <p:cNvPr id="5" name="Image 0" descr="/home/claude/f4/img/v2/stat2_varianc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worked examples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Calculate the mean.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Subtract the mean from each value.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Square each deviation.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Add the squares and divide by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Variance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Heights 610, 450, 160, 420, 310 mm: mean = 390, Σ(x − x̄)² = 112,200, variance = 112,200 ÷ 5 = 22,440 mm².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or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sample, statisticians divide by n − 1; for most GCE data treated as a whole set, we divide by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standard deviation is calculated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SD = √[Σ(x − x̄)² ÷ n]; it is the most used measure of dispersion in GCE geography.</a:t>
            </a:r>
            <a:endParaRPr lang="en-US" sz="3600" dirty="0"/>
          </a:p>
        </p:txBody>
      </p:sp>
      <p:pic>
        <p:nvPicPr>
          <p:cNvPr id="5" name="Image 0" descr="/home/claude/f4/img/v2/sd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standard deviation table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Minimum ages in 10 households (5, 8, 3, 2, 7, 9, 8, 2, 2, 4): mean = 5, Σ(x − x̄)² = 70, variance = 7, SD = √7 ≈ 2.65 years.</a:t>
            </a:r>
            <a:endParaRPr lang="en-US" sz="3600" dirty="0"/>
          </a:p>
        </p:txBody>
      </p:sp>
      <p:pic>
        <p:nvPicPr>
          <p:cNvPr id="5" name="Image 0" descr="/home/claude/f4/img/v2/stat2_s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household ages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6, 7, 3, 15, 10, 18, 5: mean = 9.5, Σ(x − x̄)² = 190, variance = 23.75, SD ≈ 4.87.</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SD means values cluster close to the mean; a large SD means they are widely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Standard Deviation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Unlike the range and the IQR, it uses every value in the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coefficient of variation is calculated and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CV = SD ÷ mean × 100 (%).</a:t>
            </a:r>
            <a:endParaRPr lang="en-US" sz="3600" dirty="0"/>
          </a:p>
        </p:txBody>
      </p:sp>
      <p:pic>
        <p:nvPicPr>
          <p:cNvPr id="5" name="Image 0" descr="/home/claude/f4/img/v2/stat2_cv.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coefficient of variation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station with SD = 10.05 and mean = 13 has CV = 10.05 ÷ 13 × 100 ≈ 77.3 %.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high CV shows very variable data, like the monthly rainfall of Garoua; a low CV shows regular data.</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Coefficient of Variation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compares the variability of data with different means or units, such as rainfall of Garoua and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SD of 2, 4, 4, 4, 5, 5, 7,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 = 40 ÷ 8 = 5; Σ(x − x̄)² = 32; variance = 4; SD =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CV useful when comparing two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expresses the spread relative to the mean, so stations with different means can be compared.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SD is the square ______ of the variance.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Deviations are ______ to remove negative signs.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CV = SD ÷ ______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these values from highest to lowest: 12, 30, 25,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3): Measures of Association: Spearman's Rank Correlation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dispersion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Variance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variance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 type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Coefficient of variation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coefficient de variation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 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 carrée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2): Measures of Dispersion: Variance, Standard Deviation and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dispersion and variance. Calculate the variance. Calculate the standard deviation step by step. Calculate and interpret the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variance, standard deviation and coefficient of variation of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Variance; The Standard Deviation; The Coefficient of Variation.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these values from highest to lowest: 12, 30, 25, 18.</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calculator for the square root.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add the deviations without squaring.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rainfall bars.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2026-09-28T22:24:58Z</dcterms:created>
  <dcterms:modified xsi:type="dcterms:W3CDTF">2026-09-28T22:24:58Z</dcterms:modified>
</cp:coreProperties>
</file>