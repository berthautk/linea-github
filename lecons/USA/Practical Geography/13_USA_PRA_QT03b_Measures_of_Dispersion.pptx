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2): Measures of Dispersion: Variance, Standard Deviation and Coefficient of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dispersion, deviation, variance, standard deviation, coefficient of variation, population (σ), sample (s). At the end, you should be able to do this: learners are able to calculate and interpret the variance, standard deviation and coefficient of variation of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1): Measures of Central Tendency, Range and Quartiles. The question was: Calculate the mean of 3, 5, 7 and 9.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 + 5 + 7 + 9) ÷ 4 = 24 ÷ 4 = 6.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dispersion and variance. Number 2: calculate the variance. Number 3: calculate the standard deviation step by step. Number 4: calculate and interpret the coefficient of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Mean = Σx ÷ n. The range uses only two values. The IQR ignores outliers.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farmers near Garoua both harvest an average of 20 bags of maize a year. Over five years, the first harvested 19, 20, 21, 20 and 20 bags, while the second harvested 5, 35, 12, 30 and 18 bags. The bank must lend money to the more reliable farmer. The bank officer asks: "The averages are the same, so how can we measure which harvest varies more?"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officer does not know how to measure the spread of data around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Whose harvests are more regular?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first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measure uses every value to show spread?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standard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standard deviation and coefficient of variation to compare the reliability of rainfall or harvests.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most important measures of spread used in geography, for rainfall, yields, temperatures and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variance worked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first step in calculating the variance?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Calculate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standard deviation of household 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If the variance is 7, what is the standard deviation?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 ≈ 2.65.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standard deviation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deviations squared?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remove the negative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coefficient of variation.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CV if SD = 10.05 and mean = 13.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10.05 ÷ 13 × 100 ≈ 77.3 %.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Would monthly rainfall in Garoua have a high or low CV?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some months have almost no rain and others over 200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Dispersion and Variance (σ² or s²).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Standard deviation (σ or s) and Coefficient of variation (CV).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Variance. The variance is calculated as follows. Copy the point on Formula on the left, then draw the diagram on the right: the variance.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Copy the point on Steps: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Copy the point on Sample or population: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Standard Deviation. The standard deviation is calculated and interpreted as follows. Copy the point on Formula on the left, then draw the diagram on the right: the standard deviation.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1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Standard Deviation. Copy the point on Example 2: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Standard Deviation. Copy the point on Interpretation: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Coefficient of Variation. The coefficient of variation is calculated and interpreted as follows. Copy the point on Formula on the left, then draw the diagram on the right: the coefficient of variation.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Coefficient of Variation.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Coefficient of Variation. Copy the point on 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SD of 2, 4, 4, 4, 5, 5, 7,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 = 40 ÷ 8 = 5; Σ(x − x̄)² = 32; variance = 4; SD = 2.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CV useful when comparing two stations?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expresses the spread relative to the mean, so stations with different means can be compared.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root; number 2, squared; number 3,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these values from highest to lowest: 12, 30, 25, 18.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3): Measures of Association: Spearman's Rank Correlation.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Dispersion: Variance, Standard Deviation and Coefficient of Variation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Dispersion, deviation, variance, standard deviation, coefficient of variation, population (σ), sample (s).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Variance: meaning, formula and calculation; standard deviation: steps and worked examples; coefficient of variation.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variance, standard deviation and coefficient of variation of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1): Measures of Central Tendency, Range and Quartiles):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3, 5, 7 and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+ 5 + 7 + 9) ÷ 4 = 24 ÷ 4 =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dispersion and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standard deviation step by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the coefficient of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Mean = Σx ÷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range uses only two values.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IQR ignores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farmers near Garoua both harvest an average of 20 bags of maize a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five years, the first harvested 19, 20, 21, 20 and 20 bags, while the second harvested 5, 35, 12, 30 and 18 bags.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must lend money to the more reliable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officer asks: "The averages are the same, so how can we measure which harvest varies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officer does not know how to measure the spread of data around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Whose harvests are more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measure uses every value to show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standard deviation and coefficient of variation to compare the reliability of rainfall or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most important measures of spread used in geography, for rainfall, yields, temperatures and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varia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Variance worked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first step in calculating the variance?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s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Standard deviation of household 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variance is 7, what is 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2.65.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standard deviation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deviations squared?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remove the negative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cv.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coefficient of variation.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CV if SD = 10.05 and mean = 13.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10.05 ÷ 13 × 100 ≈ 77.3 %.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Would monthly rainfall in Garoua have a high or low CV?</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some months have almost no rain and others over 200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2): Measures of Dispersion: Variance, Standard Deviation and Coefficient of Variation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the values of a set of data around the mean.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Variance (σ² or s²):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mean of the squared deviations from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deviation (σ or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square root of the variance; it shows how closely values cluster around the mean.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Coefficient of variation (CV):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standard deviation expressed as a percentage of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variance is calculated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Variance = Σ(x − x̄)² ÷ n. It measures the average squared distance of the values from the mean.</a:t>
            </a:r>
            <a:endParaRPr lang="en-US" sz="3600" dirty="0"/>
          </a:p>
        </p:txBody>
      </p:sp>
      <p:pic>
        <p:nvPicPr>
          <p:cNvPr id="5" name="Image 0" descr="/home/claude/f4/img/v2/stat2_varia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variance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then subtract it from each value to find the deviations. Square each deviation, add the squares and divide by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heights of 610, 450, 160, 420 and 310 mm, the mean is 390 and Σ(x − x̄)² = 112,200. The variance is 112,200 ÷ 5 = 22,440 mm².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or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sample, statisticians divide by n − 1 instead of n. For most GCE data, treated as a whole set, we divide by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standard deviation is calculated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SD = √[Σ(x − x̄)² ÷ n], the square root of the variance. It is the most used measure of dispersion in GCE geography.</a:t>
            </a:r>
            <a:endParaRPr lang="en-US" sz="3600" dirty="0"/>
          </a:p>
        </p:txBody>
      </p:sp>
      <p:pic>
        <p:nvPicPr>
          <p:cNvPr id="5" name="Image 0" descr="/home/claude/f4/img/v2/sd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standard deviation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minimum ages in 10 households are 5, 8, 3, 2, 7, 9, 8, 2, 2 and 4, so the mean is 5 and Σ(x − x̄)² = 70. The variance is 70 ÷ 10 = 7 and the SD is √7 ≈ 2.65 years.</a:t>
            </a:r>
            <a:endParaRPr lang="en-US" sz="3600" dirty="0"/>
          </a:p>
        </p:txBody>
      </p:sp>
      <p:pic>
        <p:nvPicPr>
          <p:cNvPr id="5" name="Image 0" descr="/home/claude/f4/img/v2/stat2_s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12, 6, 7, 3, 15, 10, 18 and 5, the mean is 9.5 and Σ(x − x̄)² = 190. The variance is 190 ÷ 8 = 23.75 and the SD is about 4.87.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SD means the values cluster close to the mean, while a large SD means they are widely spread. Unlike the range and the IQR, it uses every value in the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coefficient of variation is calculated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CV = SD ÷ mean × 100, in %. It expresses the standard deviation as a percentage of the mean.</a:t>
            </a:r>
            <a:endParaRPr lang="en-US" sz="3600" dirty="0"/>
          </a:p>
        </p:txBody>
      </p:sp>
      <p:pic>
        <p:nvPicPr>
          <p:cNvPr id="5" name="Image 0" descr="/home/claude/f4/img/v2/stat2_cv.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coefficient of variation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station has a standard deviation of 10.05 and a mean of 13. Its CV is 10.05 ÷ 13 × 100 ≈ 77.3 %.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high CV shows very variable data, like the monthly rainfall of Garoua, which is very high in August and nil in January. A low CV shows regular data.</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CV compares the variability of data sets with different means or units. For example, it shows whether the rainfall of Garoua is more variable than that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SD of 2, 4, 4, 4, 5, 5, 7,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 40 ÷ 8 = 5; Σ(x − x̄)² = 32; variance = 4; SD =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CV useful when comparing two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expresses the spread relative to the mean, so stations with different means can be compared.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 is the square ______ of the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Deviations are ______ to remove negative signs.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CV = SD ÷ ______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these values from highest to lowest: 12, 30, 25,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3): Measures of Association: Spearman's Rank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Variance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variance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Coefficient of variation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coefficient de variation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 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 carrée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dispersion and variance. Calculate the variance. Calculate the standard deviation step by step. Calculate and interpret the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variance, standard deviation and coefficient of variation of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Variance; The Standard Deviation; The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these values from highest to lowest: 12, 30, 25, 18.</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calculator for the square root.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add the deviations without squaring.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rainfall bars.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2026-10-06T05:35:44Z</dcterms:created>
  <dcterms:modified xsi:type="dcterms:W3CDTF">2026-10-06T05:35:44Z</dcterms:modified>
</cp:coreProperties>
</file>