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Lst>
  <p:notesMasterIdLst>
    <p:notesMasterId r:id="rId7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notesMaster" Target="notesMasters/notesMaster1.xml"/><Relationship Id="rId76" Type="http://schemas.openxmlformats.org/officeDocument/2006/relationships/presProps" Target="presProps.xml"/><Relationship Id="rId77" Type="http://schemas.openxmlformats.org/officeDocument/2006/relationships/viewProps" Target="viewProps.xml"/><Relationship Id="rId78" Type="http://schemas.openxmlformats.org/officeDocument/2006/relationships/theme" Target="theme/theme1.xml"/><Relationship Id="rId7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Quantitative Techniques 4: Plotting and Interpreting Graphical Tools.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8: Understanding and carrying out statistical techniques, topographic map analysis, fieldwork and project based learning.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Quantitative Techniques in Geography, and the sub-topic is Graphical Techniques. The key notions we shall use today are: bar graph, line graph (simple, compound), ogive, cumulative frequency, climograph, pie chart, triangular graph, scatter graph, line of best fit. At the end, you should be able to do this: learners are able to choose, draw and interpret the main graphs used in geography.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Quantitative Techniques 3 (Part 3): Measures of Association: Spearman's Rank Correlation. The question was: Name three types of graphs.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Bar graphs, line graphs, pie charts, climographs, triangular graphs, scatter graphs or ogives (any three).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five things. Number 1: draw and interpret vertical and horizontal bar graphs. Number 2: draw and interpret simple and compound line graphs. Number 3: draw an ogive and read the median. Number 4: draw a climograph and a pie chart. Number 5: plot triangular and scatter graphs and interpret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Rs measures the relationship between two variables. The median divides data into two halves. Climate data include temperature and rainfall.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For his project on Garoua, a student has tables of rainfall and temperature, maize production by region, the shares of products at an agricultural show, soil samples and altitudes of weather stations. His teacher tells him that each set of data needs the right graph. He asks: "Which graph should I use for each set of data, how do I draw it correctly, and how do I interpret it?"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student does not know how to choose, draw and interpret graphs.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graph shows rainfall and temperature together?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climograph.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graph shows parts of a whole?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pie chart.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always give a graph a title, labelled axes with units, a suitable scale and a key.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gives the graphical skills needed in projects, fieldwork reports and practical examinations.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vertical bar graph.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region produces the most maize?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South (200 tons).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simple line graph.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By how much does temperature fall for every 500 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5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an ogive.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value is used on the x-axis of an ogive?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upper limit of each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pie chart.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many degrees represent 25 %?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25 × 3.6 = 90°.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altitude and temperature.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type of correlation does this scatter graph show?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strong negative correlation.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Bar graph and Line graph.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Ogive, Climograph and Scatter graph.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Bar Graphs. Bar graphs are constructed and interpreted as follows. Copy the point on Types on the left, then draw the diagram on the right: a vertical bar graph.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Bar Graphs. Copy the point on Construction: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Interpretation on the left, then draw the diagram on the right: a horizontal bar graph.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Bar Graphs. Copy the point on Assessment: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Linear Graphs. Line graphs are constructed and interpreted as follows. Copy the point on Types: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Construction on the left, then draw the diagram on the right: a line graph.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Linear Graphs. Copy the point on Example: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Linear Graphs. Copy the point on Assessment: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Cumulative Frequency Curves (Ogives). Ogives are constructed and interpreted as follows. Copy the point on Construction on the left, then draw the diagram on the right: an ogive.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Cumulative Frequency Curves (Ogives). Copy the point on Example: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Cumulative Frequency Curves (Ogives). Copy the point on Assessment: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Climographs. Climographs are constructed and interpreted as follows. Copy the point on Construction on the left, then draw the diagram on the right: the climograph of Garoua.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Climographs. Copy the point on Example of Garoua: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Climographs. Copy the point on Assessment: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Pie Charts. Pie charts are constructed and interpreted as follows. Copy the point on Construction on the left, then draw the diagram on the right: a pie chart.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Pie Charts. Copy the point on Example: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Pie Charts. Copy the point on Assessment: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Triangular Graphs. Triangular graphs are constructed and interpreted as follows. Copy the point on Construction on the left, then draw the diagram on the right: a triangular graph.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Triangular Graphs. Copy the point on Example: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Triangular Graphs. Copy the point on Assessment: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Scatter Graphs. Scatter graphs are constructed and interpreted as follows. Copy the point on Construction on the left, then draw the diagram on the right: a scatter graph.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Scatter Graphs. Copy the point on Example 1: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Example 2 on the left, then draw the diagram on the right: altitude and temperature.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Scatter Graphs. Copy the point on Assessment: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Which graph would you choose for the percentages of workers in three sectors, and why?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pie chart (or a triangular graph for several countries), because the parts make a whole of 100 %.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advantage and one disadvantage of a climograph.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advantage: shows rainfall and temperature together; disadvantage: two vertical axes may confuse readers.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 number 3, 6; number 2, upper; number 3, bars.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instrument that gives geographical coordinates by satellite.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Field Work 1: Getting Geographical Coordinates.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QUANTITATIVE TECHNIQUES 4: PLOTTING AND INTERPRETING GRAPHICAL TOOLS</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2.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2.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slideLayout" Target="../slideLayouts/slideLayout2.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slideLayout" Target="../slideLayouts/slideLayout2.xm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png"/><Relationship Id="rId2" Type="http://schemas.openxmlformats.org/officeDocument/2006/relationships/slideLayout" Target="../slideLayouts/slideLayout2.xml"/><Relationship Id="rId3" Type="http://schemas.openxmlformats.org/officeDocument/2006/relationships/notesSlide" Target="../notesSlides/notesSlide7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Quantitative Techniques 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Plotting and Interpreting Graphical Tools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8: Understanding and carrying out statistical techniques, topographic map analysis, fieldwork and project based learning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Quantitative Techniques in Geography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Graphical Techniques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Quantitative Techniques 4: Plotting and Interpreting Graphical Tools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Bar graph, line graph (simple, compound), ogive, cumulative frequency, climograph, pie chart, triangular graph, scatter graph, line of best fit.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Construction, interpretation, advantages and disadvantages of bar graphs, line graphs, ogives, climographs, pie charts, triangular graphs and scatter graphs.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choose, draw and interpret the main graphs used in geography.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(Quantitative Techniques 3 (Part 3): Measures of Association: Spearman's Rank Correlation):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types of graphs.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Bar graphs, line graphs, pie charts, climographs, triangular graphs, scatter graphs or ogives (any three).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Draw and interpret vertical and horizontal bar graphs.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Draw and interpret simple and compound line graphs.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Draw an ogive and read the median.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Draw a climograph and a pie chart.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Plot triangular and scatter graphs and interpret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Rs measures the relationship between two variables.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median divides data into two halves.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Climate data include temperature and rainfall.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 his project on Garoua, a student has tables of rainfall and temperature, maize production by region, the shares of products at an agricultural show, soil samples and altitudes of weather stations.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His teacher tells him that each set of data needs the right graph.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 asks: "Which graph should I use for each set of data, how do I draw it correctly, and how do I interpret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student does not know how to choose, draw and interpret graphs.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graph shows rainfall and temperature together?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climograph.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graph shows parts of a whole?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pie chart.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Always give a graph a title, labelled axes with units, a suitable scale and a key.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gives the graphical skills needed in projects, fieldwork reports and practical examinations.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BAR AND LINE GRAPHS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stat2_bar.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vertical bar graph.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BAR AND LINE GRAPHS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region produces the most maize?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BAR AND LINE GRAPHS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South (200 tons).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BAR AND LINE GRAPHS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stat2_line.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simple line graph.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BAR AND LINE GRAPHS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how much does temperature fall for every 500 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BAR AND LINE GRAPHS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5 °C.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OGIVE AND CLIMOGRAPH</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stat2_ogive.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ogive.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OGIVE AND CLIMOGRAPH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value is used on the x-axis of an ogive?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OGIVE AND CLIMOGRAPH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upper limit of each class.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PIE CHART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stat2_pie.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pie chart.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PIE CHART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many degrees represent 25 %?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PIE CHART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25 × 3.6 = 90°.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SCATTER GRAPH</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stat2_scatter_alt.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Altitude and temperature.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SCATTER GRAPH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type of correlation does this scatter graph show?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SCATTER GRAPH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strong negative correlation.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Quantitative Techniques in Geography</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Graphical Techniques</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Quantitative Techniques 4: Plotting and Interpreting Graphical Tools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Bar graph: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graph using bars whose length shows the value of each category.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Line graph: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graph joining points to show change over time or the relationship between two variables.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Ogive: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cumulative frequency curve.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Climograph: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graph combining rainfall (bars) and temperature (line) of a station.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Scatter graph: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graph of points showing the relationship between two numerical variables.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Bar Graphs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Bar graphs are constructed and interpreted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Types: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Vertical bar graphs suit short category names, while horizontal bar graphs suit long names. Both compare separate categories.</a:t>
            </a:r>
            <a:endParaRPr lang="en-US" sz="3600" dirty="0"/>
          </a:p>
        </p:txBody>
      </p:sp>
      <p:pic>
        <p:nvPicPr>
          <p:cNvPr id="5" name="Image 0" descr="/home/claude/f4/img/v2/stat2_bar.png">    </p:cNvPr>
          <p:cNvPicPr>
            <a:picLocks noChangeAspect="1"/>
          </p:cNvPicPr>
          <p:nvPr/>
        </p:nvPicPr>
        <p:blipFill>
          <a:blip r:embed="rId1"/>
          <a:stretch>
            <a:fillRect/>
          </a:stretch>
        </p:blipFill>
        <p:spPr>
          <a:xfrm>
            <a:off x="6537960" y="2721454"/>
            <a:ext cx="5470855" cy="2393499"/>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vertical bar graph</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Bar Graphs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Construction: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axes, one for the categories and one for the values, and choose an even scale. Draw bars of equal width and spacing with a ruler, then add a title, axis labels with units and a key.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Bar Graphs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Interpretation: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For maize production, the South leads with 200 t and the Centre is lowest with 100 t. For rainfall, City B is the wettest with 700 mm and City A the driest with 450 mm.</a:t>
            </a:r>
            <a:endParaRPr lang="en-US" sz="3600" dirty="0"/>
          </a:p>
        </p:txBody>
      </p:sp>
      <p:pic>
        <p:nvPicPr>
          <p:cNvPr id="5" name="Image 0" descr="/home/claude/f4/img/v2/stat2_hbar.png">    </p:cNvPr>
          <p:cNvPicPr>
            <a:picLocks noChangeAspect="1"/>
          </p:cNvPicPr>
          <p:nvPr/>
        </p:nvPicPr>
        <p:blipFill>
          <a:blip r:embed="rId1"/>
          <a:stretch>
            <a:fillRect/>
          </a:stretch>
        </p:blipFill>
        <p:spPr>
          <a:xfrm>
            <a:off x="6537960" y="2721454"/>
            <a:ext cx="5470855" cy="2393499"/>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horizontal bar graph</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Bar Graphs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Assessment: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Bar graphs are easy to draw and read and good for comparing categories. However, they are unsuitable for continuous data and become cluttered with too many bars.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Linear Graphs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Line graphs are constructed and interpreted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Types: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simple line graph shows one set of data, such as the population of a town over time. A compound line graph shows several sets on the same axes, with a key.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Linear Graphs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Construction: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Put the independent variable, such as time or altitude, on the x-axis and the dependent variable on the y-axis. Plot the points and join them with a ruler.</a:t>
            </a:r>
            <a:endParaRPr lang="en-US" sz="3600" dirty="0"/>
          </a:p>
        </p:txBody>
      </p:sp>
      <p:pic>
        <p:nvPicPr>
          <p:cNvPr id="5" name="Image 0" descr="/home/claude/f4/img/v2/stat2_line.png">    </p:cNvPr>
          <p:cNvPicPr>
            <a:picLocks noChangeAspect="1"/>
          </p:cNvPicPr>
          <p:nvPr/>
        </p:nvPicPr>
        <p:blipFill>
          <a:blip r:embed="rId1"/>
          <a:stretch>
            <a:fillRect/>
          </a:stretch>
        </p:blipFill>
        <p:spPr>
          <a:xfrm>
            <a:off x="6537960" y="2721454"/>
            <a:ext cx="5470855" cy="2393499"/>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line graph</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Linear Graphs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Temperature falls from 30 °C at sea level to 15 °C at 1,500 m. The graph shows a regular fall of 5 °C every 500 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Linear Graphs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Assessment: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Line graphs show trends clearly and allow prediction. However, several lines can confuse the reader, and a trend does not show its causes.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Cumulative Frequency Curves (Ogives)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Ogives are constructed and interpreted as follows: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Construction: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Make a frequency table and add the frequencies progressively to obtain the cumulative frequencies. Plot each cumulative frequency against the upper limit of its class and join the points with a smooth curve.</a:t>
            </a:r>
            <a:endParaRPr lang="en-US" sz="3200" dirty="0"/>
          </a:p>
        </p:txBody>
      </p:sp>
      <p:pic>
        <p:nvPicPr>
          <p:cNvPr id="5" name="Image 0" descr="/home/claude/f4/img/v2/stat2_ogive.png">    </p:cNvPr>
          <p:cNvPicPr>
            <a:picLocks noChangeAspect="1"/>
          </p:cNvPicPr>
          <p:nvPr/>
        </p:nvPicPr>
        <p:blipFill>
          <a:blip r:embed="rId1"/>
          <a:stretch>
            <a:fillRect/>
          </a:stretch>
        </p:blipFill>
        <p:spPr>
          <a:xfrm>
            <a:off x="6537960" y="2721454"/>
            <a:ext cx="5470855" cy="2393499"/>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an ogive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Cumulative Frequency Curves (Ogives)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scores of 25 students give the points (10, 2), (20, 7), (30, 15), (40, 21) and (50, 25). The median, read at the 12.5th student, is about 27 marks.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Cumulative Frequency Curves (Ogives)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Assessment: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Ogives allow the median and quartiles to be read quickly from the graph. However, they hide the frequency of each class.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Climographs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Climographs are constructed and interpreted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Construction: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Put the months on the x-axis, rainfall as bars on the left y-axis and temperature as a line on the right y-axis. Each axis must have its own scale and units.</a:t>
            </a:r>
            <a:endParaRPr lang="en-US" sz="3600" dirty="0"/>
          </a:p>
        </p:txBody>
      </p:sp>
      <p:pic>
        <p:nvPicPr>
          <p:cNvPr id="5" name="Image 0" descr="/home/claude/f4/img/v2/garoua_climate_big.png">    </p:cNvPr>
          <p:cNvPicPr>
            <a:picLocks noChangeAspect="1"/>
          </p:cNvPicPr>
          <p:nvPr/>
        </p:nvPicPr>
        <p:blipFill>
          <a:blip r:embed="rId1"/>
          <a:stretch>
            <a:fillRect/>
          </a:stretch>
        </p:blipFill>
        <p:spPr>
          <a:xfrm>
            <a:off x="6537960" y="2721454"/>
            <a:ext cx="5470855" cy="2393499"/>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climograph of Garoua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Climographs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 of Garoua: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climograph of Garoua shows a rainy season from May to October with a peak in August. It also shows a hot dry season with the highest temperatures in March and April.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Climographs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Assessment: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Climographs compare rainfall and temperature month by month on one graph. However, the two axes may confuse beginners.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Pie Charts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Pie charts are constructed and interpreted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Construction: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Convert the values to percentages, then to degrees by multiplying by 3.6. Draw the sectors with a protractor, starting from the top, and add a key.</a:t>
            </a:r>
            <a:endParaRPr lang="en-US" sz="3600" dirty="0"/>
          </a:p>
        </p:txBody>
      </p:sp>
      <p:pic>
        <p:nvPicPr>
          <p:cNvPr id="5" name="Image 0" descr="/home/claude/f4/img/v2/stat2_pie.png">    </p:cNvPr>
          <p:cNvPicPr>
            <a:picLocks noChangeAspect="1"/>
          </p:cNvPicPr>
          <p:nvPr/>
        </p:nvPicPr>
        <p:blipFill>
          <a:blip r:embed="rId1"/>
          <a:stretch>
            <a:fillRect/>
          </a:stretch>
        </p:blipFill>
        <p:spPr>
          <a:xfrm>
            <a:off x="6537960" y="2721454"/>
            <a:ext cx="5470855" cy="2393499"/>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pie chart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Pie Charts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the Ebolowa agricultural show, cereals were 30 % (108°), processed food 25 % (90°) and livestock 20 % (72°). Tubers were 15 % (54°) and others 10 % (36°).</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Pie Charts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Assessment: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Pie charts show clearly the share of each part in a whole. However, they are poor for many categories or small differences.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6. Triangular Graphs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Triangular graphs are constructed and interpreted as follows: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Construction: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Each side of an equilateral triangle is a scale from 0 to 100 % for one of three components that add up to 100 %. Each sample is plotted as one point where the three values meet.</a:t>
            </a:r>
            <a:endParaRPr lang="en-US" sz="3200" dirty="0"/>
          </a:p>
        </p:txBody>
      </p:sp>
      <p:pic>
        <p:nvPicPr>
          <p:cNvPr id="5" name="Image 0" descr="/home/claude/f4/img/v2/stat2_triangle.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triangular graph</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6. Triangular Graphs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rock made of 50 % quartz, 30 % feldspar and 20 % mica is shown by one point. Soil texture, with its shares of sand, silt and clay, is also shown in this 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6. Triangular Graphs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Assessment: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Triangular graphs compare many samples of three parts on one graph and show groups of similar samples. However, they are hard to read for beginners.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7. Scatter Graphs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Scatter graphs are constructed and interpreted as follows: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Construction: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Put the independent variable on the x-axis and the dependent variable on the y-axis, and plot each pair of values as a dot. Draw a line of best fit by eye, with about the same number of points on each side.</a:t>
            </a:r>
            <a:endParaRPr lang="en-US" sz="3200" dirty="0"/>
          </a:p>
        </p:txBody>
      </p:sp>
      <p:pic>
        <p:nvPicPr>
          <p:cNvPr id="5" name="Image 0" descr="/home/claude/f4/img/v2/stat2_scatter.png">    </p:cNvPr>
          <p:cNvPicPr>
            <a:picLocks noChangeAspect="1"/>
          </p:cNvPicPr>
          <p:nvPr/>
        </p:nvPicPr>
        <p:blipFill>
          <a:blip r:embed="rId1"/>
          <a:stretch>
            <a:fillRect/>
          </a:stretch>
        </p:blipFill>
        <p:spPr>
          <a:xfrm>
            <a:off x="6537960" y="2721454"/>
            <a:ext cx="5470855" cy="2393499"/>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scatter graph</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7. Scatter Graphs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 1: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moisture and organic content of soils rise together, which shows a positive correlation. One point lies far from the line and is an anomaly.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7. Scatter Graphs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Example 2: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Nairobi (1,770 m) and Lubango have about 17 °C, while Lagos and Cape Coast at sea level have about 27 °C. The graph shows a strong negative correlation between altitude and temperature.</a:t>
            </a:r>
            <a:endParaRPr lang="en-US" sz="3600" dirty="0"/>
          </a:p>
        </p:txBody>
      </p:sp>
      <p:pic>
        <p:nvPicPr>
          <p:cNvPr id="5" name="Image 0" descr="/home/claude/f4/img/v2/stat2_scatter_alt.png">    </p:cNvPr>
          <p:cNvPicPr>
            <a:picLocks noChangeAspect="1"/>
          </p:cNvPicPr>
          <p:nvPr/>
        </p:nvPicPr>
        <p:blipFill>
          <a:blip r:embed="rId1"/>
          <a:stretch>
            <a:fillRect/>
          </a:stretch>
        </p:blipFill>
        <p:spPr>
          <a:xfrm>
            <a:off x="6537960" y="2721454"/>
            <a:ext cx="5470855" cy="2393499"/>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altitude and temperature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7. Scatter Graphs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Assessment: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Scatter graphs show the direction and strength of a relationship and reveal outliers. However, they show only two variables, and a trend does not prove a cause.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graph would you choose for the percentages of workers in three sectors, and 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pie chart (or a triangular graph for several countries), because the parts make a whole of 100 %.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advantage and one disadvantage of a climograph.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Advantage: shows rainfall and temperature together; disadvantage: two vertical axes may confuse readers.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 a pie chart, 1 % =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An ogive uses the ______ class limits.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On a climograph, rainfall is shown by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instrument that gives geographical coordinates by satellite.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Field Work 1: Getting Geographical Coordinates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7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Bar graph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diagramme en barres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Line graph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courbe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Pie chart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diagramme circulaire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Scatter graph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nuage de points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Cumulative frequency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fréquence cumulée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Line of best fit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droite d'ajustement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7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Quantitative Techniques in Geography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Quantitative Techniques 4: Plotting and Interpreting Graphical Tools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and interpret vertical and horizontal bar graphs. Draw and interpret simple and compound line graphs. Draw an ogive and read the median. Draw a climograph and a pie chart. Plot triangular and scatter graphs and interpret them.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choose, draw and interpret the main graphs used in geography.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7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Bar Graphs; Linear Graphs; Cumulative Frequency Curves (Ogives); Climographs; Pie Charts; Triangular Graphs; Scatter Graphs.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instrument that gives geographical coordinates by satellite.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bars on squared paper.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plot the four points.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calculate the cumulative frequencies.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the pie with a protractor.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draw the line of best fit by eye.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8 (Practical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Statistical Techniques in Geographical Analysis (USA),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73</Slides>
  <Notes>73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73</vt:i4>
      </vt:variant>
    </vt:vector>
  </HeadingPairs>
  <TitlesOfParts>
    <vt:vector size="7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2026-09-29T11:40:37Z</dcterms:created>
  <dcterms:modified xsi:type="dcterms:W3CDTF">2026-09-29T11:40:37Z</dcterms:modified>
</cp:coreProperties>
</file>