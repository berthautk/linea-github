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4: Plotting and Interpreting Graphical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Graphical Techniques. The key notions we shall use today are: bar graph, line graph (simple, compound), ogive, cumulative frequency, climograph, pie chart, triangular graph, scatter graph, line of best fit. At the end, you should be able to do this: learners are able to choose, draw and interpret the main graphs used in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3 (Part 3): Measures of Association: Spearman's Rank Correlation. The question was: Name three types of graphs.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Bar graphs, line graphs, pie charts, climographs, triangular graphs, scatter graphs or ogives (any three).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draw and interpret vertical and horizontal bar graphs. Number 2: draw and interpret simple and compound line graphs. Number 3: draw an ogive and read the median. Number 4: draw a climograph and a pie chart. Number 5: plot triangular and scatter graphs and interpret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Rs measures the relationship between two variables. The median divides data into two halves. Climate data include temperature and rainfall.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his project on Garoua, a student has tables of rainfall and temperature, maize production by region, the shares of products at an agricultural show, soil samples and altitudes of weather stations. His teacher tells him that each set of data needs the right graph. He asks: "Which graph should I use for each set of data, how do I draw it correctly, and how do I interpret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know how to choose, draw and interpret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graph shows rainfall and temperature together?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graph shows parts of a whole?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pie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give a graph a title, labelled axes with units, a suitable scale and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graphical skills needed in projects, fieldwork reports and practical examinations.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vertical bar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region produces the most maize?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South (200 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simple line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By how much does temperature fall for every 500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ogive.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value is used on the x-axis of an ogive?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upper limit of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pie chart.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degrees represent 25 %?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25 × 3.6 =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altitude and temperature.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type of correlation does this scatter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strong negative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Bar graph and Line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Ogive, Climograph and Scatter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Bar Graphs. Bar graphs are drawn and used as follows. Copy the point on Types on the left, then draw the diagram on the right: a vertical bar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Bar Graphs. On this slide we have Steps.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Bar Graphs.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Interpretation on the left, then draw the diagram on the right: a horizontal bar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Bar Graphs. On this slide we have Assessment.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Line Graphs. Line graphs are drawn and used as follows.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Steps on the left, then draw the diagram on the right: a simple line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Line Graphs. On this slide we have Example and Assessment.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Line Graphs.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Ogives and Climographs. Ogives and climographs are drawn and used as follows. Copy the point on Ogive steps on the left, then draw the diagram on the right: an ogive.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Ogives and Climographs. On this slide we have Ogive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Climograph steps on the left, then draw the diagram on the right: the climograph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Ogives and Climographs. On this slide we have Climograph of Garoua.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Ogives and Climographs. On this slide we have Assessment.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Pie Charts and Triangular Graphs. Pie charts and triangular graphs are drawn and used as follows. Copy the point on Pie chart steps on the left, then draw the diagram on the right: a pie chart.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Pie Charts and Triangular Graphs. On this slide we have Pie chart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Triangular graph on the left, then draw the diagram on the right: a triangular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Pie Charts and Triangular Graphs. On this slide we have Assessment.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Scatter Graphs. Scatter graphs are drawn and used as follows. Copy the point on Steps on the left, then draw the diagram on the right: a positive correlation.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Scatter Graphs. On this slide we have Example 1.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2 on the left, then draw the diagram on the right: altitude and temperature.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Scatter Graphs. On this slide we have Assessment.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graph would you choose for the percentages of workers in three sectors, and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pie chart (or a triangular graph for several countries), because the parts make a whole of 100 %.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a climograph.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shows rainfall and temperature together; disadvantage: two vertical axes may confuse readers.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3, 6; number 2, upper; number 3,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instrument that gives geographical coordinates by satellite.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1: Getting Geographical Coordinates.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4: PLOTTING AND INTERPRETING GRAPHICAL TOOLS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Plotting and Interpreting Graphical Tools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Graphical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 graph, line graph (simple, compound), ogive, cumulative frequency, climograph, pie chart, triangular graph, scatter graph, line of best fit.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Construction, interpretation, advantages and disadvantages of bar graphs, line graphs, ogives, climographs, pie charts, triangular graphs and scatter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choose, draw and interpret the main graphs used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3 (Part 3): Measures of Association: Spearman's Rank Correlation):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 graphs, line graphs, pie charts, climographs, triangular graphs, scatter graphs or ogives (any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vertical and horizontal bar graphs.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simple and compound line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 ogive and read the median.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climograph and a pie chart.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Plot triangular and scatter graphs and interpret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Rs measures the relationship between two variables.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median divides data into two halves.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data include temperature and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his project on Garoua, a student has tables of rainfall and temperature, maize production by region, the shares of products at an agricultural show, soil samples and altitudes of weather stations.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teacher tells him that each set of data needs the right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"Which graph should I use for each set of data, how do I draw it correctly, and how do I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know how to choose, draw and interpret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rainfall and temperature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parts of a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pie chart.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give a graph a title, labelled axes with units, a suitable scale and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graphical skills needed in projects, fieldwork reports and practical examinations.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at2_bar.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vertical bar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produces the most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 (200 tons).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tat2_line.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line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how much does temperature fall for every 500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BAR AND LINE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OGIVE AND CLIMOGRAPH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tat2_ogive.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ogive.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OGIVE AND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value is used on the x-axis of an ogive?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OGIVE AND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upper limit of each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PIE CHART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at2_pie.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pie chart.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PIE CHART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degrees represent 25 %?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PIE CHART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25 × 3.6 = 90°.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SCATTER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tat2_scatter_alt.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Altitude and temperature.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SCATTER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correlation does this scatter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SCATTER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 negative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Graphical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using bars whose length shows the value of each category.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joining points to show change over time or the relationship between two variables.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Ogive: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cumulative frequency curve.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combining rainfall (bars) and temperature (line) of a station.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of points showing the relationship between two numerical variables.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Bar graphs are drawn and used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Vertical bars suit short category names; horizontal bars suit long names.</a:t>
            </a:r>
            <a:endParaRPr lang="en-US" sz="3600" dirty="0"/>
          </a:p>
        </p:txBody>
      </p:sp>
      <p:pic>
        <p:nvPicPr>
          <p:cNvPr id="5" name="Image 0" descr="/home/claude/f4/img/v2/stat2_bar.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vertical bar 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Bar Graphs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Choose the data and the type.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Draw the axes: categories and values.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Choose an even scale.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Draw bars of equal width and spacing with a ruler.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Bar 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Add a title, axis labels with units and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Maize: the South leads (200 t) and the Centre is lowest (100 t); rainfall: City B is wettest (700 mm) and City A driest (450 mm).</a:t>
            </a:r>
            <a:endParaRPr lang="en-US" sz="3600" dirty="0"/>
          </a:p>
        </p:txBody>
      </p:sp>
      <p:pic>
        <p:nvPicPr>
          <p:cNvPr id="5" name="Image 0" descr="/home/claude/f4/img/v2/stat2_hbar.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horizontal bar 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Bar Graphs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Assessment: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Advantages: easy to draw and read; good for comparing categories.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Disadvantages: unsuitable for continuous data; cluttered with too many 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 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Line graphs are drawn and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simple line graph shows one set of data; a compound line graph shows several sets with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Steps: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Put the independent variable (time, altitude) on the x-axis and the dependent variable on the y-axis, plot the points and join them with a ruler.</a:t>
            </a:r>
            <a:endParaRPr lang="en-US" sz="3600" dirty="0"/>
          </a:p>
        </p:txBody>
      </p:sp>
      <p:pic>
        <p:nvPicPr>
          <p:cNvPr id="5" name="Image 0" descr="/home/claude/f4/img/v2/stat2_line.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simple line 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 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from 30 °C at sea level to 15 °C at 1,500 m: 5 °C every 500 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Assessment: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Advantages: shows trends and allows prediction.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 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Disadvantages: several lines confuse; it shows trends but not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Ogives and Climographs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Ogives and climographs are drawn and used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Ogive steps: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Make a frequency table, add frequencies progressively and plot cumulative frequency against the upper class limits.</a:t>
            </a:r>
            <a:endParaRPr lang="en-US" sz="3200" dirty="0"/>
          </a:p>
        </p:txBody>
      </p:sp>
      <p:pic>
        <p:nvPicPr>
          <p:cNvPr id="5" name="Image 0" descr="/home/claude/f4/img/v2/stat2_ogive.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ogive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Ogives and Climographs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Ogive 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Scores of 25 students give points (10, 2), (20, 7), (30, 15), (40, 21) and (50, 25); the median (12.5th student) is about 27 marks.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Ogives and Climographs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Climograph steps: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Months on the x-axis, rainfall as bars on one y-axis and temperature as a line on the other.</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climograph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Ogives and Climographs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Climograph of 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a rainy season from May to September–October with a peak in August, and a hot dry season with a maximum in March–April.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Ogives and Climographs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Assessment: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Advantages: ogives give medians and quartiles; climographs compare rainfall and temperature month by month.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Disadvantages: ogives hide class frequencies; two axes may confuse readers.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Pie Charts and Triangular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Pie charts and triangular graphs are drawn and used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Pie chart steps: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Convert values to percentages, then to degrees (% × 3.6), and draw the sectors with a protractor.</a:t>
            </a:r>
            <a:endParaRPr lang="en-US" sz="3200" dirty="0"/>
          </a:p>
        </p:txBody>
      </p:sp>
      <p:pic>
        <p:nvPicPr>
          <p:cNvPr id="5" name="Image 0" descr="/home/claude/f4/img/v2/stat2_pie.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pie chart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Pie Charts and Triangular 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Pie chart 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Ebolowa agricultural show, cereals 30 % (108°), processed food 25 % (90°), livestock 20 % (72°), tubers 15 % (54°) and others 10 % (36°).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Pie Charts and Triangular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Triangular graph: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shows three components that total 100 %, such as a rock of 50 % quartz, 30 % feldspar and 20 % mica, or soil texture.</a:t>
            </a:r>
            <a:endParaRPr lang="en-US" sz="3600" dirty="0"/>
          </a:p>
        </p:txBody>
      </p:sp>
      <p:pic>
        <p:nvPicPr>
          <p:cNvPr id="5" name="Image 0" descr="/home/claude/f4/img/v2/stat2_triangl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triangular graph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Pie Charts and Triangular Graphs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Assessment: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Advantages: pie charts show shares of a whole; triangular graphs compare many samples of three parts.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Disadvantages: pies are poor for many categories; triangular graphs are hard for beginners.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Scatter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Scatter graphs are drawn and used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Steps: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Put the independent variable on the x-axis, plot each pair as a dot, and draw a line of best fit by eye with equal points on both sides.</a:t>
            </a:r>
            <a:endParaRPr lang="en-US" sz="3200" dirty="0"/>
          </a:p>
        </p:txBody>
      </p:sp>
      <p:pic>
        <p:nvPicPr>
          <p:cNvPr id="5" name="Image 0" descr="/home/claude/f4/img/v2/stat2_scatter.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positive correlation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Scatter Graphs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Moisture and organic content of soils rise together: a positive correlation, with one anomaly.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Scatter Graphs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2: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Altitude and temperature: Nairobi (1,770 m) and Lubango have 17 °C, while Lagos and Cape Coast at sea level have 27 °C: a strong negative correlation.</a:t>
            </a:r>
            <a:endParaRPr lang="en-US" sz="3600" dirty="0"/>
          </a:p>
        </p:txBody>
      </p:sp>
      <p:pic>
        <p:nvPicPr>
          <p:cNvPr id="5" name="Image 0" descr="/home/claude/f4/img/v2/stat2_scatter_alt.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altitude and temperature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Scatter Graphs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Assessment: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Advantages: shows direction and strength of relationships and outliers.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Disadvantages: only two variables; a trend does not prove a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would you choose for the percentages of workers in three sectors,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pie chart (or a triangular graph for several countries), because the parts make a whole of 100 %.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shows rainfall and temperature together; disadvantage: two vertical axes may confuse readers.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a pie chart, 1 %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ogive uses the ______ class limits.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a climograph, rainfall is shown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instrument that gives geographical coordinates by satellite.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diagramme en barres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Pie chart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diagramme circulaire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 de points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Cumulative frequency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fréquence cumulée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 of best 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droite d'ajustement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interpret vertical and horizontal bar graphs. Draw and interpret simple and compound line graphs. Draw an ogive and read the median. Draw a climograph and a pie chart. Plot triangular and scatter graphs and interpret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choose, draw and interpret the main graphs used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Bar Graphs; Line Graphs; Ogives and Climographs; Pie Charts and Triangular Graphs; Scatter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instrument that gives geographical coordinates by satellite.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 on squared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plot the four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the cumulative frequencies.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pie with a protractor.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line of best fit by eye.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Statistical Techniques in Geographical Analysis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2026-09-29T03:13:19Z</dcterms:created>
  <dcterms:modified xsi:type="dcterms:W3CDTF">2026-09-29T03:13:19Z</dcterms:modified>
</cp:coreProperties>
</file>