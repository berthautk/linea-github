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Lst>
  <p:notesMasterIdLst>
    <p:notesMasterId r:id="rId8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4: Plotting and Interpreting Graphical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Graphical Techniques. The key notions we shall use today are: bar graph, line graph (simple, compound), ogive, cumulative frequency, climograph, pie chart, triangular graph, scatter graph, line of best fit. At the end, you should be able to do this: learners are able to choose, draw and interpret the main graphs used in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3 (Part 3): Measures of Association: Spearman's Rank Correlation. The question was: Name three types of graphs.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Bar graphs, line graphs, pie charts, climographs, triangular graphs, scatter graphs or ogives (any three).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draw and interpret vertical and horizontal bar graphs. Number 2: draw and interpret simple and compound line graphs. Number 3: draw an ogive and read the median. Number 4: draw a climograph and a pie chart. Number 5: plot triangular and scatter graphs and interpret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Rs measures the relationship between two variables. The median divides data into two halves. Climate data include temperature and rainfall.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his project on Garoua, a student has tables of rainfall and temperature, maize production by region, the shares of products at an agricultural show, soil samples and altitudes of weather stations. His teacher tells him that each set of data needs the right graph. He asks: "Which graph should I use for each set of data, how do I draw it correctly, and how do I interpret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know how to choose, draw and interpret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graph shows rainfall and temperature together?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graph shows parts of a whole?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pie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give a graph a title, labelled axes with units, a suitable scale and a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graphical skills needed in projects, fieldwork reports and practical examinations.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vertical bar 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region produces the most maize?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South (200 tons).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simple line 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By how much does temperature fall for every 500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ogive.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value is used on the x-axis of an ogive?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upper limit of each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pie chart.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degrees represent 25 %?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25 × 3.6 = 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altitude and temperature.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type of correlation does this scatter graph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strong negative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Bar graph and Line 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Ogive, Climograph and Scatter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Construction and Interpretation. Bar graphs are constructed and interpreted as follows. Copy the point on Types on the left, then draw the diagram on the right: a vertical bar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and Interpretation. Copy the point on Construction: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a horizontal bar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Bar graphs have the following advantages and disadvantages. Copy the point on Easy comparison: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Copy the point on Limited use: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Construction and Interpretation. Line graphs are constructed and interpreted as follows. Copy the point on Types: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Construction on the left, then draw the diagram on the right: a line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and Interpretation.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Line graphs have the following advantages and disadvantages. Copy the point on Clear trends: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Copy the point on Risk of confusion: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Construction and Interpretation. Ogives are constructed and interpreted as follows. Copy the point on Cumulative frequencies on the left, then draw the diagram on the right: an ogive.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and Interpretation. Copy the point on Plotting: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and Interpretation.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Ogives have the following advantages and disadvantages. Copy the point on Quick reading of the median and quartiles: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Copy the point on Hidden class frequencies: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Construction and Interpretation. Climographs are constructed and interpreted as follows. Copy the point on Construction on the left, then draw the diagram on the right: the climograph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and Interpretation. Copy the point on Rainfall at Garoua: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and Interpretation. Copy the point on Temperature at Garoua: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Climographs have the following advantages and disadvantages. Copy the point on Complete picture of the climate: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Copy the point on Difficult for beginners: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Construction and Interpretation. Pie charts are constructed and interpreted as follows. Copy the point on Construction on the left, then draw the diagram on the right: a pie chart.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and Interpretation.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Pie charts have the following advantages and disadvantages. Copy the point on Clear shares: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Copy the point on Poor for many categories: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Construction and Interpretation. Triangular graphs are constructed and interpreted as follows. Copy the point on Construction on the left, then draw the diagram on the right: a triangular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and Interpretation.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Triangular graphs have the following advantages and disadvantages. Copy the point on Many samples on one graph: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Copy the point on Hard to read: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Construction and Interpretation. Scatter graphs are constructed and interpreted as follows. Copy the point on Construction on the left, then draw the diagram on the right: a scatter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and Interpretation. Copy the point on Example 1: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2 on the left, then draw the diagram on the right: altitude and temperature.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Scatter graphs have the following advantages and disadvantages. Copy the point on Direction and strength of a relationship: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Copy the point on Only two variables: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graph would you choose for the percentages of workers in three sectors, and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pie chart (or a triangular graph for several countries), because the parts make a whole of 100 %.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a climograph.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shows rainfall and temperature together; disadvantage: two vertical axes may confuse readers.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3, 6; number 2, upper; number 3,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instrument that gives geographical coordinates by satellite.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1: Getting Geographical Coordinates.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4: PLOTTING AND INTERPRETING GRAPHICAL TOOLS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Plotting and Interpreting Graphical Tools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Graphical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4: Plotting and Interpreting Graphical Tools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Bar graph, line graph (simple, compound), ogive, cumulative frequency, climograph, pie chart, triangular graph, scatter graph, line of best fit.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Construction, interpretation, advantages and disadvantages of bar graphs, line graphs, ogives, climographs, pie charts, triangular graphs and scatter 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draw and interpret the main graphs used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3 (Part 3): Measures of Association: Spearman's Rank Correlation):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 graphs, line graphs, pie charts, climographs, triangular graphs, scatter graphs or ogives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interpret vertical and horizontal bar graphs.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interpret simple and compound line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 ogive and read the median.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climograph and a pie chart.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Plot triangular and scatter graphs and interpret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Rs measures the relationship between two variables.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median divides data into two halves.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data include temperature and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his project on Garoua, a student has tables of rainfall and temperature, maize production by region, the shares of products at an agricultural show, soil samples and altitudes of weather stations.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teacher tells him that each set of data needs the right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"Which graph should I use for each set of data, how do I draw it correctly, and how do I interpret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know how to choose, draw and interpret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rainfall and temperature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parts of a whole?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pie chart.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give a graph a title, labelled axes with units, a suitable scale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graphical skills needed in projects, fieldwork reports and practical examinations.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at2_bar.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vertical bar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produces the most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 (200 tons).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tat2_line.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simple line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how much does temperature fall for every 500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OGIVE AND CLIMOGRAPH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at2_ogive.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ogive.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OGIVE AND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value is used on the x-axis of an ogive?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OGIVE AND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upper limit of each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PIE CHART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t2_pie.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pie chart.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PIE CHART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degrees represent 25 %?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PIE CHART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25 × 3.6 = 90°.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SCATTER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tat2_scatter_alt.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Altitude and temperature.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SCATTER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correlation does this scatter 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SCATTER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strong negative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Graphical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4: Plotting and Interpreting Graphical Tools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using bars whose length shows the value of each category.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joining points to show change over time or the relationship between two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Ogive: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cumulative frequency curve.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combining rainfall (bars) and temperature (line) of a station.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Scatter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of points showing the relationship between two numerical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Bar Graphs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Bar graphs are constructed and interpreted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Vertical bar graphs suit short category names, while horizontal bar graphs suit long names. Both compare separate categories.</a:t>
            </a:r>
            <a:endParaRPr lang="en-US" sz="3600" dirty="0"/>
          </a:p>
        </p:txBody>
      </p:sp>
      <p:pic>
        <p:nvPicPr>
          <p:cNvPr id="6" name="Image 0" descr="/home/claude/f4/img/v2/stat2_bar.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vertical bar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Bar Graphs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axes, one for the categories and one for the values, and choose an even scale. Draw bars of equal width and spacing with a ruler, then add a title, axis labels with units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Bar Graphs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For maize production, the South leads with 200 t and the Centre is lowest with 100 t. For rainfall, City B is the wettest with 700 mm and City A the driest with 450 mm.</a:t>
            </a:r>
            <a:endParaRPr lang="en-US" sz="3600" dirty="0"/>
          </a:p>
        </p:txBody>
      </p:sp>
      <p:pic>
        <p:nvPicPr>
          <p:cNvPr id="6" name="Image 0" descr="/home/claude/f4/img/v2/stat2_hbar.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horizontal bar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Bar Graphs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Advantages and Disadvantages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Bar graphs have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Easy comparison: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 graphs are easy to draw and read. The length of the bars shows at once which category is the largest.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Bar Graphs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Advantages and Disadvantages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Limited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unsuitable for continuous data such as temperature over time. They also become cluttered when there are too many 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Graphs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Line graphs are constructed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simple line graph shows one set of data, such as the population of a town over time. A compound line graph shows several sets on the same axes, with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Graphs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Put the independent variable, such as time or altitude, on the x-axis and the dependent variable on the y-axis. Plot the points and join them with a ruler.</a:t>
            </a:r>
            <a:endParaRPr lang="en-US" sz="3600" dirty="0"/>
          </a:p>
        </p:txBody>
      </p:sp>
      <p:pic>
        <p:nvPicPr>
          <p:cNvPr id="6" name="Image 0" descr="/home/claude/f4/img/v2/stat2_line.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line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Graphs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from 30 °C at sea level to 15 °C at 1,500 m. The graph shows a regular fall of 5 °C every 500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Graphs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Advantages and Disadvantages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Line graphs have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Clear trends: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 graphs show clearly whether values rise or fall over time. They also allow future values to be predicted.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Graphs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Advantages and Disadvantages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Risk of confusion: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lines on the same graph can confuse the reader. A trend also does not show its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Cumulative Frequency Curves (Ogives)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Ogives are constructed and interpreted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Cumulative frequencies: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Make a frequency table and add the frequencies progressively to obtain the cumulative frequencies. The last cumulative frequency equals the total number of values.</a:t>
            </a:r>
            <a:endParaRPr lang="en-US" sz="3000" dirty="0"/>
          </a:p>
        </p:txBody>
      </p:sp>
      <p:pic>
        <p:nvPicPr>
          <p:cNvPr id="6" name="Image 0" descr="/home/claude/f4/img/v2/stat2_ogive.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ogive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Cumulative Frequency Curves (Ogives)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Plotting: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 each cumulative frequency against the upper limit of its class. Join the points with a smooth curve.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Cumulative Frequency Curves (Ogives)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scores of 25 students give the points (10, 2), (20, 7), (30, 15), (40, 21) and (50, 25). The median, read at the 12.5th student, is about 27 marks.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Cumulative Frequency Curves (Ogives)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Advantages and Disadvantages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Ogives have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Quick reading of the median and quartiles: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median and the quartiles are read directly from the curve. No long calculation is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Cumulative Frequency Curves (Ogives)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Advantages and Disadvantages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Hidden class frequencies: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curve shows only running totals. The frequency of each class cannot be seen directly.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Climographs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Climographs are constructed and interpreted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Put the months on the x-axis, rainfall as bars on the left y-axis and temperature as a line on the right y-axis. Each axis must have its own scale and units.</a:t>
            </a:r>
            <a:endParaRPr lang="en-US" sz="3200" dirty="0"/>
          </a:p>
        </p:txBody>
      </p:sp>
      <p:pic>
        <p:nvPicPr>
          <p:cNvPr id="6" name="Image 0" descr="/home/claude/f4/img/v2/garoua_climate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climograph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Climographs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climograph of Garoua shows a rainy season from May to October with a peak in August. From November to April, almost no rain 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Climographs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line shows a hot dry season with the highest temperatures in March and April. Temperatures fall slightly during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Climographs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Advantages and Disadvantages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Climographs have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Complete picture of the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Climographs compare rainfall and temperature month by month on one graph. The seasons can be seen at a glance.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Climographs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Advantages and Disadvantages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Difficult for beginners: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vertical axes have different scales and units. Beginners may read the bars on the wrong 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Pie Charts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Pie charts are constructed and interpreted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Convert the values to percentages, then to degrees by multiplying by 3.6. Draw the sectors with a protractor, starting from the top, and add a key.</a:t>
            </a:r>
            <a:endParaRPr lang="en-US" sz="3200" dirty="0"/>
          </a:p>
        </p:txBody>
      </p:sp>
      <p:pic>
        <p:nvPicPr>
          <p:cNvPr id="6" name="Image 0" descr="/home/claude/f4/img/v2/stat2_pie.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pie chart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Pie Charts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Ebolowa agricultural show, cereals were 30 % (108°), processed food 25 % (90°) and livestock 20 % (72°). Tubers were 15 % (54°) and others 10 % (36°).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Pie Charts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Advantages and Disadvantages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Pie charts have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Clear shares: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Pie charts show clearly the share of each part in a whole. The largest sector is seen at once.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Pie Charts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Advantages and Disadvantages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for many categories: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many categories, the sectors become too small to read. Small differences between sectors are also hard to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Triangular Graphs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Triangular graphs are constructed and interpreted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Each side of an equilateral triangle is a scale from 0 to 100 % for one of three components that add up to 100 %. Each sample is plotted as one point where the three values meet.</a:t>
            </a:r>
            <a:endParaRPr lang="en-US" sz="3000" dirty="0"/>
          </a:p>
        </p:txBody>
      </p:sp>
      <p:pic>
        <p:nvPicPr>
          <p:cNvPr id="6" name="Image 0" descr="/home/claude/f4/img/v2/stat2_triangle.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triangular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Triangular Graphs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 made of 50 % quartz, 30 % feldspar and 20 % mica is shown by one point. Soil texture, with its shares of sand, silt and clay, is also shown in this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Triangular Graphs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Advantages and Disadvantages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Triangular graphs have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Many samples on one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samples of three parts can be compared on one graph. Groups of similar samples appear as clusters of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Triangular Graphs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Advantages and Disadvantages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 to read: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Beginners find it difficult to follow the three scales. They often read a value on the wrong side of the triangle.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Scatter Graphs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Scatter graphs are constructed and interpreted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Put the independent variable on the x-axis and the dependent variable on the y-axis, and plot each pair of values as a dot. Draw a line of best fit by eye, with about the same number of points on each side.</a:t>
            </a:r>
            <a:endParaRPr lang="en-US" sz="2800" dirty="0"/>
          </a:p>
        </p:txBody>
      </p:sp>
      <p:pic>
        <p:nvPicPr>
          <p:cNvPr id="6" name="Image 0" descr="/home/claude/f4/img/v2/stat2_scatter.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scatter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Scatter Graphs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moisture and organic content of soils rise together, which shows a positive correlation. One point lies far from the line and is an anomaly.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Scatter Graphs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Construction and Interpretation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2: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Nairobi (1,770 m) and Lubango have about 17 °C, while Lagos and Cape Coast at sea level have about 27 °C. The graph shows a strong negative correlation between altitude and temperature.</a:t>
            </a:r>
            <a:endParaRPr lang="en-US" sz="3600" dirty="0"/>
          </a:p>
        </p:txBody>
      </p:sp>
      <p:pic>
        <p:nvPicPr>
          <p:cNvPr id="6" name="Image 0" descr="/home/claude/f4/img/v2/stat2_scatter_alt.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altitude and temperature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Scatter Graphs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Advantages and Disadvantages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Scatter graphs have the following advantages and disadvantages: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Direction and strength of a relationship: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Scatter graphs show whether two variables are related, and how strongly. They also reveal outliers that do not follow the trend.</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Scatter Graphs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Advantages and Disadvantages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Only two variables: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scatter graph shows only two variables at a time. A trend also does not prove that one variable causes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would you choose for the percentages of workers in three sectors,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pie chart (or a triangular graph for several countries), because the parts make a whole of 100 %.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shows rainfall and temperature together; disadvantage: two vertical axes may confuse readers.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a pie chart, 1 %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ogive uses the ______ class limits.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a climograph, rainfall is shown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instrument that gives geographical coordinates by satellite.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1: Getting Geographical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diagramme en barres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Pie chart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diagramme circulaire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Scatter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 de points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Cumulative frequency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fréquence cumulée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 of best fit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droite d'ajustement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4: Plotting and Interpreting Graphical Tools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and interpret vertical and horizontal bar graphs. Draw and interpret simple and compound line graphs. Draw an ogive and read the median. Draw a climograph and a pie chart. Plot triangular and scatter graphs and interpret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draw and interpret the main graphs used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Construction and Interpretation;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instrument that gives geographical coordinates by satellite.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 on squared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plot the four points.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the cumulative frequencies.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pie with a protractor.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line of best fit by eye.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82</Slides>
  <Notes>82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82</vt:i4>
      </vt:variant>
    </vt:vector>
  </HeadingPairs>
  <TitlesOfParts>
    <vt:vector size="8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2026-10-06T05:35:45Z</dcterms:created>
  <dcterms:modified xsi:type="dcterms:W3CDTF">2026-10-06T05:35:45Z</dcterms:modified>
</cp:coreProperties>
</file>