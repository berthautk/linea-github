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3): Measures of Association: Spearman's Rank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association, correlation, positive and negative correlation, rank, tied ranks, Spearman's rank correlation coefficient (Rs), null hypothesis, significance. At the end, you should be able to do this: learners are able to calculate, interpret and test the significance of Spearman's rank correlation for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2): Measures of Dispersion: Variance, Standard Deviation and Coefficient of Variation. The question was: Rank these values from highest to lowest: 12, 30, 25, 18.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 (rank 1), 25 (rank 2), 18 (rank 3), 12 (rank 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what Spearman's rank correlation measures. Number 2: rank data, including tied values. Number 3: calculate Rs step by step. Number 4: interpret the strength and direction of Rs. Number 5: test the significance of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Data can be ranked from highest to lowest. A scatter graph shows a relationship between two variables. Soil is thin on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fieldwork on a hill near Garoua, students measured the slope angle and the soil depth at 10 points. They expected thin soils on steep slopes, but the figures seem to show the opposite. Their teacher tells them: "Do not guess. Measure the relationship." A student asks: "How can we calculate whether slope angle and soil depth are really related, and how strongly?"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students do not know how to measure the relationship between two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statistic measures the relationship with ranks?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Spearman's rank correlation coefficient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the null hypothesis say?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 relationship between slope angle and soil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state a null hypothesis, calculate Rs and test its significance before concluding.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a key tool to test geographical relationships in fieldwork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negative correlation.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kind of correlation does this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negative correlation: one variable increases as the other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simple Spearman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Two equal values would occupy ranks 2 and 3. Which rank do they receive?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 + 3) ÷ 2 = 2.5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slope angle and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Rs if Σd² = 48 and n = 10.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Rs = 1 − 288 ÷ 990 ≈ +0.71.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interpreting 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Rs = +0.71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fairly strong positive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measuring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Rs = 0.71 significant at 95 % for n = 10 (critical value 0.648)?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0.71 is greater than 0.648, so the null hypothesis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Correlation.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Spearman's rank correlation coefficient (Rs) and Null hypothesis (H0).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Uses of Spearman's Rank Correlation. Spearman's rank correlation shows the following. Copy the point on Existence and strength on the left, then draw the diagram on the right: types of correlation.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Copy the point on Direction: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Copy the point on Use of ranks: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 and Steps of Calculation. Rs is calculated in the following steps. Copy the point on Formula on the left, then draw the diagram on the right: spearman's formula.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Copy the point on Stating the hypothesis and ranking: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Copy the point on Calculating: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Copy the point on Tied ranks: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Slope Angle and Soil Depth. The worked example is solved as follows. Copy the point on Hypothesis and data on the left, then draw the diagram on the right: the calculation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Slope Angle and Soil Depth. Copy the point on Calculation: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Slope Angle and Soil Depth. Copy the point on Interpretation: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and Significance. Rs is interpreted and tested as follows. Copy the point on Positive values on the left, then draw the diagram on the right: the scale of 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the point on Negative values: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the point on Significance test: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the point on Application and conclusion: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a null hypothesis for rainfall and crop yield.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h0: there is no significant relationship between annual rainfall and crop yield.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Six pairs give Σd² = 4. Calculate Rs and interpret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rs = 1 − 24 ÷ 210 ≈ +0.89: a strong positive correlation.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 number 2, no; number 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graphs.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4: Plotting and Interpreting Graphical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3): MEASURES OF ASSOCIATION: SPEARMAN'S RANK CORRELATION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Association: Spearman's Rank Correlation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Association, correlation, positive and negative correlation, rank, tied ranks, Spearman's rank correlation coefficient (Rs), null hypothesis,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uses of Spearman's rank correlation; the formula and steps of calculation; interpretation and significance; worked example (slope angle and soil depth).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2): Measures of Dispersion: Variance, Standard Deviation and Coefficient of Variation):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(rank 1), 25 (rank 2), 18 (rank 3), 12 (rank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Spearman's rank correlation measures.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 data, including tied values.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Rs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strength and direction of 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Test the significance of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ranked from highest to lowest.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scatter graph shows a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is thin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fieldwork on a hill near Garoua, students measured the slope angle and the soil depth at 10 points.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expected thin soils on steep slopes, but the figures seem to show the opposite.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teacher tells them: "Do not guess.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"How can we calculate whether slope angle and soil depth are really related, and how strongly?"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students do not know how to measure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statistic measures the relationship with ranks?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Spearman's rank correlation coefficient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 null hypothesis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relationship between slope angle and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state a null hypothesis, calculate Rs and test its significance before concluding.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a key tool to test geographical relationships in fieldwork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catt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negative correlation.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correlation does this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negative correlation: one variable increases as the other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ear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Spearman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equal values would occupy ranks 2 and 3. Which rank do they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+ 3) ÷ 2 = 2.5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pearm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 angle and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Rs if Σd² = 48 and n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1 − 288 ÷ 990 ≈ +0.71.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rs_scal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Interpreting 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Rs = +0.71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fairly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Rs = 0.71 significant at 95 % for n = 10 (critical value 0.648)?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0.71 is greater than 0.648, so the null hypothesis is rejected.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Spearman's rank correlation coefficient (Rs):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measure of the strength and direction of the relationship between two variables using their ranks.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Null hypothesis (H0):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statement that there is no relationship between the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level of confidence that a correlation is real and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Spearman's rank correlation shows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Existence and strength: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Rs shows whether a relationship exists between two variables; Rs = 0 means there is none. The closer Rs is to +1 or −1, the stronger the relationship.</a:t>
            </a:r>
            <a:endParaRPr lang="en-US" sz="3400" dirty="0"/>
          </a:p>
        </p:txBody>
      </p:sp>
      <p:pic>
        <p:nvPicPr>
          <p:cNvPr id="5" name="Image 0" descr="/home/claude/f4/img/v2/scatter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correlation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positive correlation means that both variables rise or fall together, like altitude and rainfall on a windward slope. A negative correlation means that one rises while the other falls, like altitude and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method uses the ranks of the values instead of the values themselves. It therefore works with ordinal data and with very uneven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Rs is calculated in the following steps: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Rs = 1 − (6Σd²) ÷ (n³ − n), where d is the difference between the two ranks of each pair and n is the number of pairs. The result always lies between −1 and +1.</a:t>
            </a:r>
            <a:endParaRPr lang="en-US" sz="3400" dirty="0"/>
          </a:p>
        </p:txBody>
      </p:sp>
      <p:pic>
        <p:nvPicPr>
          <p:cNvPr id="5" name="Image 0" descr="/home/claude/f4/img/v2/spearma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Spearman's formula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Stating the hypothesis and ranking: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state the null hypothesis (H0) and count the pairs (n). Then rank each variable separately, giving rank 1 to the highest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pair, calculate d, then d², and add them to find Σd². Substitute Σd² and n into the formula and interpret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Tied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values are equal, they share the average of the ranks they occupy. For example, two soil depths of 60 cm occupying ranks 1 and 2 each get rank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worked example is solved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Hypothesis and data: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H0: there is no significant relationship between slope angle and soil depth. Slope angle and soil depth are measured at 10 points on a hill, and each variable is ranked.</a:t>
            </a:r>
            <a:endParaRPr lang="en-US" sz="3200" dirty="0"/>
          </a:p>
        </p:txBody>
      </p:sp>
      <p:pic>
        <p:nvPicPr>
          <p:cNvPr id="5" name="Image 0" descr="/home/claude/f4/img/v2/stat2_spearma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calculation table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table gives Σd² = 48 and n = 10. Rs = 1 − (6 × 48) ÷ (1,000 − 10) = 1 − 288 ÷ 990 ≈ +0.71.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+0.71 shows a fairly strong positive correlation: on this hill, soils tend to be deeper where slopes are steeper. This may be explained by vegetation or rock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Rs is interpreted and tested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Positive values: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Rs = +1 is a perfect positive correlation, +0.5 to +0.9 a strong one and +0.1 to +0.4 a weak one. Rs = 0 means there is no correlation.</a:t>
            </a:r>
            <a:endParaRPr lang="en-US" sz="3600" dirty="0"/>
          </a:p>
        </p:txBody>
      </p:sp>
      <p:pic>
        <p:nvPicPr>
          <p:cNvPr id="5" name="Image 0" descr="/home/claude/f4/img/v2/stat2_rs_scal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scale of 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is a perfect negative correlation, −0.5 to −0.9 a strong one and −0.1 to −0.4 a weak one. The sign shows the direction and the value shows the strength.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test: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is compared with the critical values given in tables for the same number of pairs. If Rs is greater than the critical value, the correlation is significant.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and conclusion: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n = 10, the critical values are 0.648 at 95 % and 0.794 at 99 %, so Rs = 0.71 is significant at 95 % but not at 99 %. We therefore reject H0 at the 95 % level: the relationship is real and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a null hypothesis for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H0: there is no significant relationship between annual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Six pairs give Σd² = 4. Calculate Rs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1 − 24 ÷ 210 ≈ +0.89: a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always lies between −1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null hypothesis says there is ______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 1 − (6Σd²) ÷ (n³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corrélation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Null hypothesis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 nulle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Significance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significativité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Négatif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Spearman's rank correlation measures. Rank data, including tied values. Calculate Rs step by step. Interpret the strength and direction of Rs. Test the significance of 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Uses of Spearman's Rank Correlation; Formula and Steps of Calculation; Worked Example: Slope Angle and Soil Depth; Interpretation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positive and negative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rank the heights of five students.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complete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scale from −1 to +1.</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the critical value.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2026-09-29T11:40:36Z</dcterms:created>
  <dcterms:modified xsi:type="dcterms:W3CDTF">2026-09-29T11:40:36Z</dcterms:modified>
</cp:coreProperties>
</file>