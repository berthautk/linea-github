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(Part 3): Measures of Association: Spearman's Rank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association, correlation, positive and negative correlation, rank, tied ranks, Spearman's rank correlation coefficient (Rs), null hypothesis, significance. At the end, you should be able to do this: learners are able to calculate, interpret and test the significance of Spearman's rank correlation for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(Part 2): Measures of Dispersion: Variance, Standard Deviation and Coefficient of Variation. The question was: Rank these values from highest to lowest: 12, 30, 25, 18.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30 (rank 1), 25 (rank 2), 18 (rank 3), 12 (rank 4).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what Spearman's rank correlation measures. Number 2: rank data, including tied values. Number 3: calculate Rs step by step. Number 4: interpret the strength and direction of Rs. Number 5: test the significance of 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Data can be ranked from highest to lowest. A scatter graph shows a relationship between two variables. Soil is thin on steep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fieldwork on a hill near Garoua, students measured the slope angle and the soil depth at 10 points. They expected thin soils on steep slopes, but the figures seem to show the opposite. Their teacher tells them: "Do not guess. Measure the relationship." A student asks: "How can we calculate whether slope angle and soil depth are really related, and how strongly?"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students do not know how to measure the relationship between two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statistic measures the relationship with ranks?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Spearman's rank correlation coefficient (Rs).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will the null hypothesis say?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no relationship between slope angle and soil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state a null hypothesis, calculate Rs and test its significance before concluding.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a key tool to test geographical relationships in fieldwork and examinations.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negative correlation.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kind of correlation does this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negative correlation: one variable increases as the other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simple Spearman table.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Two equal values would occupy ranks 2 and 3. Which rank do they receive?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 + 3) ÷ 2 = 2.5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slope angle and soil depth.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Rs if Σd² = 48 and n = 10.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Rs = 1 − 288 ÷ 990 ≈ +0.71.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interpreting 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Rs = +0.71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fairly strong positive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measuring soil depth.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Rs = 0.71 significant at 95 % for n = 10 (critical value 0.648)?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0.71 is greater than 0.648, so the null hypothesis is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Correlation.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Spearman's rank correlation coefficient (Rs) and Null hypothesis (H0).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Uses of Spearman's Rank Correlation. Spearman's rank correlation tells us the following. Copy the point on Existence on the left, then draw the diagram on the right: a negative correlation.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Uses of Spearman's Rank Correlation. On this slide we have Strength and Direction.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Uses of Spearman's Rank Correlation. On this slide we have Use of ranks.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Formula and Steps of Calculation. Rs is calculated with the following steps. Copy the point on Formula on the left, then draw the diagram on the right: a simple Spearman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 and Steps of Calculation. On this slide we have Steps.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 and Steps of Calculation. On this slide we have Tied ranks.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 Slope Angle and Soil Depth. The worked example is solved as follows. On this slide we have Null hypothesis.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Table on the left, then draw the diagram on the right: slope angle and soil depth.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Slope Angle and Soil Depth. On this slide we have Result and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and Significance. Rs is interpreted and tested as follows. On this slide we have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Significance.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Significance test on the left, then draw the diagram on the right: interpreting 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Significance. On this slide we have Application and Conclusion.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a null hypothesis for rainfall and crop yield.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h0: there is no significant relationship between annual rainfall and crop yield.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Six pairs give Σd² = 4. Calculate Rs and interpret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rs = 1 − 24 ÷ 210 ≈ +0.89: a strong positive correlation.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 number 2, no; number 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types of graphs.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4: Plotting and Interpreting Graphical Tools.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3 (PART 3): MEASURES OF ASSOCIATION: SPEARMAN'S RANK CORRELATION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Measures of Association: Spearman's Rank Correlation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(Part 3): Measures of Association: Spearman's Rank Correlation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Association, correlation, positive and negative correlation, rank, tied ranks, Spearman's rank correlation coefficient (Rs), null hypothesis,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uses of Spearman's rank correlation; the formula and steps of calculation; interpretation and significance; worked example (slope angle and soil depth).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interpret and test the significance of Spearman's rank correlation for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(Part 2): Measures of Dispersion: Variance, Standard Deviation and Coefficient of Variation):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these values from highest to lowest: 12, 30, 25,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(rank 1), 25 (rank 2), 18 (rank 3), 12 (rank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Spearman's rank correlation measures.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Rank data, including tied values.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Rs step by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strength and direction of 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Test the significance of 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Data can be ranked from highest to lowest.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scatter graph shows a relationship between two variables.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is thin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fieldwork on a hill near Garoua, students measured the slope angle and the soil depth at 10 points.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expected thin soils on steep slopes, but the figures seem to show the opposite.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teacher tells them: "Do not guess.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relationship."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asks: "How can we calculate whether slope angle and soil depth are really related, and how strongly?"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students do not know how to measure the relationship between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statistic measures the relationship with ranks?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Spearman's rank correlation coefficient (Rs).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 null hypothesis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 relationship between slope angle and soil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state a null hypothesis, calculate Rs and test its significance before concluding.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a key tool to test geographical relationships in fieldwork and examinations.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catt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negative correlation.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correlation does this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negative correlation: one variable increases as the other decreases.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RANKING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pearm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Spearman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equal values would occupy ranks 2 and 3. Which rank do they receive?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+ 3) ÷ 2 = 2.5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spearm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Slope angle and soil depth.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Rs if Σd² = 48 and n =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1 − 288 ÷ 990 ≈ +0.71.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rs_scal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Interpreting 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Rs = +0.71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fairly strong positive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soil depth.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Rs = 0.71 significant at 95 % for n = 10 (critical value 0.648)?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0.71 is greater than 0.648, so the null hypothesis is rejected.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3 (Part 3): Measures of Association: Spearman's Rank Correlation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relationship between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Spearman's rank correlation coefficient (Rs):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measure of the strength and direction of the relationship between two variables using their ranks.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Null hypothesis (H0):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statement that there is no relationship between the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level of confidence that a correlation is real and not due to chance.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Uses of Spearman's Rank Correlation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Spearman's rank correlation tells us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Existence: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Whether a relationship exists; Rs = 0 means no relationship.</a:t>
            </a:r>
            <a:endParaRPr lang="en-US" sz="3600" dirty="0"/>
          </a:p>
        </p:txBody>
      </p:sp>
      <p:pic>
        <p:nvPicPr>
          <p:cNvPr id="5" name="Image 0" descr="/home/claude/f4/img/v2/scatter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negative correlation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Uses of Spearman's Rank Correlation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closer Rs is to +1 or −1, the stronger the relationship.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Positive: both variables rise or fall together, like altitude and rainfall on a windward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Uses of Spearman's Rank Correlation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Negative: one rises while the other falls, like altitude and temperature.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ranks: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ranks instead of values, so it works with ordinal data and uneven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Rs is calculated with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Rs = 1 − (6Σd²) ÷ (n³ − n), where d is the difference between ranks and n the number of pairs.</a:t>
            </a:r>
            <a:endParaRPr lang="en-US" sz="3600" dirty="0"/>
          </a:p>
        </p:txBody>
      </p:sp>
      <p:pic>
        <p:nvPicPr>
          <p:cNvPr id="5" name="Image 0" descr="/home/claude/f4/img/v2/spearma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simple Spearman table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State the null hypothesis (H0).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 the pairs (n).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Rank each variable, the highest value getting rank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Give tied values the average of their ranks.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Calculate d, then d², then Σd².</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Substitute into the formula and interpret.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Tied ranks: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soil depths of 60 cm would occupy ranks 1 and 2, so each gets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Worked Example: Slope Angle and Soil Depth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worked example is solved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Null hypothesis: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H0: there is no significant relationship between slope angle and soil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Worked Example: Slope Angle and Soil Depth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Table: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two variables of the 10 points are ranked and d² is calculated.</a:t>
            </a:r>
            <a:endParaRPr lang="en-US" sz="3600" dirty="0"/>
          </a:p>
        </p:txBody>
      </p:sp>
      <p:pic>
        <p:nvPicPr>
          <p:cNvPr id="5" name="Image 0" descr="/home/claude/f4/img/v2/stat2_spearman.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slope angle and soil depth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Worked Example: Slope Angle and Soil Depth</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Σd² = 48, so Rs = 1 − (6 × 48) ÷ (1,000 − 10) = 1 − 288 ÷ 990 ≈ +0.71.</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+0.71 shows a fairly strong positive correlation: on this hill, soils tend to be deeper where slopes are steeper, perhaps because of vegetation or rock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Rs is interpreted and tested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 perfect positive correlation.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+0.5 to +0.9: strong positive.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+0.1 to +0.4: weak positive.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0: no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−0.1 to −0.4: weak negative; −0.5 to −0.9: strong negative; −1: perfect negative.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Significance test: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Rs is compared with critical values from tables for the same n.</a:t>
            </a:r>
            <a:endParaRPr lang="en-US" sz="3600" dirty="0"/>
          </a:p>
        </p:txBody>
      </p:sp>
      <p:pic>
        <p:nvPicPr>
          <p:cNvPr id="5" name="Image 0" descr="/home/claude/f4/img/v2/stat2_rs_scal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interpreting 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n = 10, the critical values are 0.648 (95 %) and 0.794 (99 %), so Rs = 0.71 is significant at 95 % but not at 99 %.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Conclusion: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reject H0 at the 95 % level: the relationship is real, not due to chance.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a null hypothesis for rainfall and crop yield.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H0: there is no significant relationship between annual rainfall and crop yield.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Six pairs give Σd² = 4. Calculate Rs and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1 − 24 ÷ 210 ≈ +0.89: a strong positive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Rs always lies between −1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null hypothesis says there is ______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Rs = 1 − (6Σd²) ÷ (n³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4: Plotting and Interpreting Graphical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Correlation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corrélation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Null hypothesis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L'hypothèse nulle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Significance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significativité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Positif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Négatif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(Part 3): Measures of Association: Spearman's Rank Correlation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what Spearman's rank correlation measures. Rank data, including tied values. Calculate Rs step by step. Interpret the strength and direction of Rs. Test the significance of 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interpret and test the significance of Spearman's rank correlation for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Uses of Spearman's Rank Correlation; Formula and Steps of Calculation; Worked Example: Slope Angle and Soil Depth; Interpretation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types of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positive and negative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rank the heights of five students.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complete the table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scale from −1 to +1.</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the critical value.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2026-09-28T22:24:58Z</dcterms:created>
  <dcterms:modified xsi:type="dcterms:W3CDTF">2026-09-28T22:24:58Z</dcterms:modified>
</cp:coreProperties>
</file>