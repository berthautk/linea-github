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Quantitative Techniques 3 (Part 3): Measures of Association: Spearman's Rank Correlation.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Quantitative Techniques in Geography, and the sub-topic is Statistical Techniques. The key notions we shall use today are: association, correlation, positive and negative correlation, rank, tied ranks, Spearman's rank correlation coefficient (Rs), null hypothesis, significance. At the end, you should be able to do this: learners are able to calculate, interpret and test the significance of Spearman's rank correlation for geographical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Quantitative Techniques 3 (Part 2): Measures of Dispersion: Variance, Standard Deviation and Coefficient of Variation. The question was: Rank these values from highest to lowest: 12, 30, 25, 18.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30 (rank 1), 25 (rank 2), 18 (rank 3), 12 (rank 4).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explain what Spearman's rank correlation measures. Number 2: rank data, including tied values. Number 3: calculate Rs step by step. Number 4: interpret the strength and direction of Rs. Number 5: test the significance of 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Data can be ranked from highest to lowest. A scatter graph shows a relationship between two variables. Soil is thin on steep slopes.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fieldwork on a hill near Garoua, students measured the slope angle and the soil depth at 10 points. They expected thin soils on steep slopes, but the figures seem to show the opposite. Their teacher tells them: "Do not guess. Measure the relationship." A student asks: "How can we calculate whether slope angle and soil depth are really related, and how strongly?"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students do not know how to measure the relationship between two variables.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statistic measures the relationship with ranks?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Spearman's rank correlation coefficient (Rs).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will the null hypothesis say?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There is no relationship between slope angle and soil depth.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state a null hypothesis, calculate Rs and test its significance before concluding.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gives a key tool to test geographical relationships in fieldwork and examinations.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negative correlation.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kind of correlation does this graph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negative correlation: one variable increases as the other decreases.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simple Spearman table.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Two equal values would occupy ranks 2 and 3. Which rank do they receive?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 + 3) ÷ 2 = 2.5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slope angle and soil depth.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Calculate Rs if Σd² = 48 and n = 10.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Rs = 1 − 288 ÷ 990 ≈ +0.71.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interpreting 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Rs = +0.71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fairly strong positive correlation.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measuring soil depth.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Is Rs = 0.71 significant at 95 % for n = 10 (critical value 0.648)?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Yes: 0.71 is greater than 0.648, so the null hypothesis is rejected.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Correlation.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Spearman's rank correlation coefficient (Rs) and Null hypothesis (H0).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Significance.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Uses of Spearman's Rank Correlation. Spearman's rank correlation shows the following. Copy the point on Existence and strength on the left, then draw the diagram on the right: types of correlation.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Uses of Spearman's Rank Correlation. Copy the point on Direction: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Uses of Spearman's Rank Correlation. Copy the point on Use of ranks: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Formula and Steps of Calculation. Rs is calculated in the following steps. Copy the point on Formula on the left, then draw the diagram on the right: spearman's formula.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Formula and Steps of Calculation. Copy the point on Stating the hypothesis and ranking: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Formula and Steps of Calculation. Copy the point on Calculating: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Formula and Steps of Calculation. Copy the point on Tied ranks: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Worked Example: Slope Angle and Soil Depth. The worked example is solved as follows. Copy the point on Hypothesis and data on the left, then draw the diagram on the right: the calculation table.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Worked Example: Slope Angle and Soil Depth. Copy the point on Calculation: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Worked Example: Slope Angle and Soil Depth. Copy the point on Interpretation: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Interpretation and Significance. Rs is interpreted and tested as follows. Copy the point on Positive values on the left, then draw the diagram on the right: the scale of 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Interpretation and Significance. Copy the point on Negative values: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Interpretation and Significance. Copy the point on Significance test: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Interpretation and Significance. Copy the point on Application and conclusion: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State a null hypothesis for rainfall and crop yield.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h0: there is no significant relationship between annual rainfall and crop yield.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Six pairs give Σd² = 4. Calculate Rs and interpret it.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rs = 1 − 24 ÷ 210 ≈ +0.89: a strong positive correlation.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 number 2, no; number 3,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types of graphs.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Quantitative Techniques 4: Plotting and Interpreting Graphical Tools.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QUANTITATIVE TECHNIQUES 3 (PART 3): MEASURES OF ASSOCIATION: SPEARMAN'S RANK CORRELATION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Quantitative Techniques 3 (Part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Measures of Association: Spearman's Rank Correlation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Statistical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3 (Part 3): Measures of Association: Spearman's Rank Correlation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Association, correlation, positive and negative correlation, rank, tied ranks, Spearman's rank correlation coefficient (Rs), null hypothesis,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uses of Spearman's rank correlation; the formula and steps of calculation; interpretation and significance; worked example (slope angle and soil depth).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interpret and test the significance of Spearman's rank correlation for geographical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(Quantitative Techniques 3 (Part 2): Measures of Dispersion: Variance, Standard Deviation and Coefficient of Variation):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Rank these values from highest to lowest: 12, 30, 25, 18.</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 (rank 1), 25 (rank 2), 18 (rank 3), 12 (rank 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what Spearman's rank correlation measures.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Rank data, including tied values.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Rs step by step.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the strength and direction of 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Test the significance of 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Data can be ranked from highest to lowest.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scatter graph shows a relationship between two variables.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is thin on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fieldwork on a hill near Garoua, students measured the slope angle and the soil depth at 10 points.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expected thin soils on steep slopes, but the figures seem to show the opposite.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teacher tells them: "Do not guess.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the relationship."</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student asks: "How can we calculate whether slope angle and soil depth are really related, and how strongly?"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students do not know how to measure the relationship between two variables.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statistic measures the relationship with ranks?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Spearman's rank correlation coefficient (Rs).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will the null hypothesis say?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no relationship between slope angle and soil depth.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state a null hypothesis, calculate Rs and test its significance before concluding.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gives a key tool to test geographical relationships in fieldwork and examinations.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catter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negative correlation.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kind of correlation does this graph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negative correlation: one variable increases as the other decreases.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RANKING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pearm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simple Spearman table.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RANKING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equal values would occupy ranks 2 and 3. Which rank do they receive?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RANKING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 + 3) ÷ 2 = 2.5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tat2_spearman.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Slope angle and soil depth.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Rs if Σd² = 48 and n = 10.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Rs = 1 − 288 ÷ 990 ≈ +0.71.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tat2_rs_scal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Interpreting 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Rs = +0.71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fairly strong positive correlation.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SIGNIFICANCE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oil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Measuring soil depth.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Rs = 0.71 significant at 95 % for n = 10 (critical value 0.648)?</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0.71 is greater than 0.648, so the null hypothesis is rejected.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Quantitative Techniques in Geography</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Statistical Techniques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Quantitative Techniques 3 (Part 3): Measures of Association: Spearman's Rank Correlation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Correlation: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relationship between two variables.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Spearman's rank correlation coefficient (Rs):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measure of the strength and direction of the relationship between two variables using their ranks.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Null hypothesis (H0):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statement that there is no relationship between the two variables.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Significance: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level of confidence that a correlation is real and not due to chance.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Uses of Spearman's Rank Correlation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Spearman's rank correlation shows the following:</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Existence and strength: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Rs shows whether a relationship exists between two variables; Rs = 0 means there is none. The closer Rs is to +1 or −1, the stronger the relationship.</a:t>
            </a:r>
            <a:endParaRPr lang="en-US" sz="3400" dirty="0"/>
          </a:p>
        </p:txBody>
      </p:sp>
      <p:pic>
        <p:nvPicPr>
          <p:cNvPr id="5" name="Image 0" descr="/home/claude/f4/img/v2/scatter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correlation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Uses of Spearman's Rank Correlation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Direction: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positive correlation means that both variables rise or fall together, like altitude and rainfall on a windward slope. A negative correlation means that one rises while the other falls, like altitude and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Uses of Spearman's Rank Correlation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of ranks: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method uses the ranks of the values instead of the values themselves. It therefore works with ordinal data and with very uneven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Formula and Steps of Calculation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Rs is calculated in the following steps: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Rs = 1 − (6Σd²) ÷ (n³ − n), where d is the difference between the two ranks of each pair and n is the number of pairs. The result always lies between −1 and +1.</a:t>
            </a:r>
            <a:endParaRPr lang="en-US" sz="3400" dirty="0"/>
          </a:p>
        </p:txBody>
      </p:sp>
      <p:pic>
        <p:nvPicPr>
          <p:cNvPr id="5" name="Image 0" descr="/home/claude/f4/img/v2/spearman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Spearman's formula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Formula and Steps of Calculation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Stating the hypothesis and ranking: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First state the null hypothesis (H0) and count the pairs (n). Then rank each variable separately, giving rank 1 to the highest value.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Formula and Steps of Calculation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Calculating: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each pair, calculate d, then d², and add them to find Σd². Substitute Σd² and n into the formula and interpret the result.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Formula and Steps of Calculation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Tied ranks: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two values are equal, they share the average of the ranks they occupy. For example, two soil depths of 60 cm occupying ranks 1 and 2 each get rank 1.5.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Worked Example: Slope Angle and Soil Depth</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worked example is solved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Hypothesis and data: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H0: there is no significant relationship between slope angle and soil depth. Slope angle and soil depth are measured at 10 points on a hill, and each variable is ranked.</a:t>
            </a:r>
            <a:endParaRPr lang="en-US" sz="3200" dirty="0"/>
          </a:p>
        </p:txBody>
      </p:sp>
      <p:pic>
        <p:nvPicPr>
          <p:cNvPr id="5" name="Image 0" descr="/home/claude/f4/img/v2/stat2_spearman.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calculation table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Worked Example: Slope Angle and Soil Depth</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Calculation: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table gives Σd² = 48 and n = 10. Rs = 1 − (6 × 48) ÷ (1,000 − 10) = 1 − 288 ÷ 990 ≈ +0.71.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Worked Example: Slope Angle and Soil Depth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Rs = +0.71 shows a fairly strong positive correlation: on this hill, soils tend to be deeper where slopes are steeper. This may be explained by vegetation or rock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Interpretation and Significance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Rs is interpreted and tested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Positive values: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Rs = +1 is a perfect positive correlation, +0.5 to +0.9 a strong one and +0.1 to +0.4 a weak one. Rs = 0 means there is no correlation.</a:t>
            </a:r>
            <a:endParaRPr lang="en-US" sz="3600" dirty="0"/>
          </a:p>
        </p:txBody>
      </p:sp>
      <p:pic>
        <p:nvPicPr>
          <p:cNvPr id="5" name="Image 0" descr="/home/claude/f4/img/v2/stat2_rs_scale.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scale of 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Interpretation and Significance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values: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Rs = −1 is a perfect negative correlation, −0.5 to −0.9 a strong one and −0.1 to −0.4 a weak one. The sign shows the direction and the value shows the strength.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Interpretation and Significance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Significance test: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Rs is compared with the critical values given in tables for the same number of pairs. If Rs is greater than the critical value, the correlation is significant.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Interpretation and Significance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Application and conclusion: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n = 10, the critical values are 0.648 at 95 % and 0.794 at 99 %, so Rs = 0.71 is significant at 95 % but not at 99 %. We therefore reject H0 at the 95 % level: the relationship is real and not due to chance.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a null hypothesis for rainfall and crop yield.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H0: there is no significant relationship between annual rainfall and crop yield.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Six pairs give Σd² = 4. Calculate Rs and interpret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Rs = 1 − 24 ÷ 210 ≈ +0.89: a strong positive correlation.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Rs always lies between −1 and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null hypothesis says there is ______ relationship.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Rs = 1 − (6Σd²) ÷ (n³ −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Quantitative Techniques 4: Plotting and Interpreting Graphical Tools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Correlation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corrélation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Null hypothesis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L'hypothèse nulle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Significance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significativité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Positif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Négatif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3 (Part 3): Measures of Association: Spearman's Rank Correlation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what Spearman's rank correlation measures. Rank data, including tied values. Calculate Rs step by step. Interpret the strength and direction of Rs. Test the significance of 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interpret and test the significance of Spearman's rank correlation for geographical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Uses of Spearman's Rank Correlation; Formula and Steps of Calculation; Worked Example: Slope Angle and Soil Depth; Interpretation and Significance.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types of graphs.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positive and negative patterns.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rank the heights of five students.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complete the table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scale from −1 to +1.</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with the critical value.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Statistical Techniques in Geographical Analysis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“Humic Dystrudept (fine-loamy, isotic, frigid)” by SoilScience.info, CC BY 2.0, via Flickr (https://www.flickr.com/photos/22503286@N06/5140645742)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2026-09-29T12:19:06Z</dcterms:created>
  <dcterms:modified xsi:type="dcterms:W3CDTF">2026-09-29T12:19:06Z</dcterms:modified>
</cp:coreProperties>
</file>