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slideMasters/slideMaster53.xml" ContentType="application/vnd.openxmlformats-officedocument.presentationml.slideMaster+xml"/>
  <Override PartName="/ppt/slides/slide53.xml" ContentType="application/vnd.openxmlformats-officedocument.presentationml.slide+xml"/>
  <Override PartName="/ppt/slideMasters/slideMaster54.xml" ContentType="application/vnd.openxmlformats-officedocument.presentationml.slideMaster+xml"/>
  <Override PartName="/ppt/slides/slide54.xml" ContentType="application/vnd.openxmlformats-officedocument.presentationml.slide+xml"/>
  <Override PartName="/ppt/slideMasters/slideMaster55.xml" ContentType="application/vnd.openxmlformats-officedocument.presentationml.slideMaster+xml"/>
  <Override PartName="/ppt/slides/slide55.xml" ContentType="application/vnd.openxmlformats-officedocument.presentationml.slide+xml"/>
  <Override PartName="/ppt/slideMasters/slideMaster56.xml" ContentType="application/vnd.openxmlformats-officedocument.presentationml.slideMaster+xml"/>
  <Override PartName="/ppt/slides/slide56.xml" ContentType="application/vnd.openxmlformats-officedocument.presentationml.slide+xml"/>
  <Override PartName="/ppt/slideMasters/slideMaster57.xml" ContentType="application/vnd.openxmlformats-officedocument.presentationml.slideMaster+xml"/>
  <Override PartName="/ppt/slides/slide57.xml" ContentType="application/vnd.openxmlformats-officedocument.presentationml.slide+xml"/>
  <Override PartName="/ppt/slideMasters/slideMaster58.xml" ContentType="application/vnd.openxmlformats-officedocument.presentationml.slideMaster+xml"/>
  <Override PartName="/ppt/slides/slide58.xml" ContentType="application/vnd.openxmlformats-officedocument.presentationml.slide+xml"/>
  <Override PartName="/ppt/slideMasters/slideMaster59.xml" ContentType="application/vnd.openxmlformats-officedocument.presentationml.slideMaster+xml"/>
  <Override PartName="/ppt/slides/slide59.xml" ContentType="application/vnd.openxmlformats-officedocument.presentationml.slide+xml"/>
  <Override PartName="/ppt/slideMasters/slideMaster60.xml" ContentType="application/vnd.openxmlformats-officedocument.presentationml.slideMaster+xml"/>
  <Override PartName="/ppt/slides/slide6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Lst>
  <p:notesMasterIdLst>
    <p:notesMasterId r:id="rId62"/>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slide" Target="slides/slide59.xml"/><Relationship Id="rId61" Type="http://schemas.openxmlformats.org/officeDocument/2006/relationships/slide" Target="slides/slide60.xml"/><Relationship Id="rId62" Type="http://schemas.openxmlformats.org/officeDocument/2006/relationships/notesMaster" Target="notesMasters/notesMaster1.xml"/><Relationship Id="rId63" Type="http://schemas.openxmlformats.org/officeDocument/2006/relationships/presProps" Target="presProps.xml"/><Relationship Id="rId64" Type="http://schemas.openxmlformats.org/officeDocument/2006/relationships/viewProps" Target="viewProps.xml"/><Relationship Id="rId65" Type="http://schemas.openxmlformats.org/officeDocument/2006/relationships/theme" Target="theme/theme1.xml"/><Relationship Id="rId66"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_rels/notesSlide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xml"/>
		</Relationships>
</file>

<file path=ppt/notesSlides/_rels/notesSlide5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4.xml"/>
		</Relationships>
</file>

<file path=ppt/notesSlides/_rels/notesSlide5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5.xml"/>
		</Relationships>
</file>

<file path=ppt/notesSlides/_rels/notesSlide5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6.xml"/>
		</Relationships>
</file>

<file path=ppt/notesSlides/_rels/notesSlide5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7.xml"/>
		</Relationships>
</file>

<file path=ppt/notesSlides/_rels/notesSlide5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8.xml"/>
		</Relationships>
</file>

<file path=ppt/notesSlides/_rels/notesSlide5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9.xml"/>
		</Relationships>
</file>

<file path=ppt/notesSlides/_rels/notesSlide6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class, and welcome to our geography lesson. I am your geography teacher, Mr Kamdem. Today we are starting Lesson 16: Carrying Capacity.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lesson is for Upper Sixth Arts. It belongs to Module 4: Understanding and managing population dynamics across the world in general and Cameroon in particular. We shall need 2 periods to cover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topic is Population Growth and Resources, and the sub-topic is Population and Resource Relationships. The key notions we shall use today are: carrying capacity, S-curve (logistic growth), J-curve, overshoot, oscillation, instantaneous adjustment, overpopulation, sustainable and underpopulation regimes. At the end, you should be able to do this: learners are able to explain carrying capacity and the ways populations adjust to it, and apply them to overgrazing around Garoua.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we start the new lesson, let us correct the homework I gave you at the end of Lesson 15: Types of Migration. The question was: Define carrying capacity. Take out your exercise books.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a good answer. Carrying capacity is the maximum number of people (or animals) an environment can support for a long time without being damaged. Compare it with your own answer and correct your work in 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plan of our lesson today. First, we shall correct the homework. Then we shall look at the objectives and recall what you already know. After that, we shall study a situation from real life and the action to take, and do the learning activities. Finally, we shall copy the board summary, do the evaluation and the remediation, and I will give you the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 your time to copy this part; we will continue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By the end of this lesson, you should be able to do five things. Number 1: define carrying capacity. Number 2: describe the S-curve of progressive adjustment. Number 3: describe the J-curve of overshoot and oscillation. Number 4: describe instantaneous adjustment. Number 5: describe the three population-resource regimes.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first remember what you already know. Rural-rural migration moves herders to new pastures. Overgrazing destroys grass. Resources are limited. Keep this in mind, because we shall build on it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 your time to copy this part; we will continue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 carefully to this situation from real life. A Fulani herdsman near Garoua has pasture for 50 cattle. In the rainy season the grass is plentiful and his animals are fat, so he buys 50 more. Soon the grass is eaten down to the bare soil, the ground becomes hard and dusty, and his 100 animals become thin and weak. His son asks: "Why did the herd suffer when it became bigger, and how many animals can the land really feed?" Think about it, because I am going to ask you some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1: What is the problem in the situation?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The herdsman exceeded the number of animals the land can support.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2: What is this limit called?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The carrying capacity.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3: What happened to the land?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It was degraded: bare, hard and dusty soil.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this situation, the action we are working towards in this lesson is the following: keep herds and farming within the carrying capacity of the land, and rotate pastures.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is this lesson important for you? This lesson helps us to understand the limits of the environment and the need to balance population and resources.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1. Look carefully at this diagram: too many animals on a pasture.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1: What happens when the number of cattle exceeds the carrying capacity?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The grass disappears, the soil is eroded and the animals become weak.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2. Look carefully at this picture: three ways of adjusting.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2: What happens to growth on an S-curve near the carrying capacity?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It slows down and the population becomes stable.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3. Look carefully at this diagram: the S-curve and the J-curve.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3: What happens after the J-curve overshoots the carrying capacity?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The population crashes, then may oscillate.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4. Look carefully at this picture: three population-resource regimes.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4: In which regime are resources not fully used?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Underpopulation.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5. Look carefully at this picture: drought in the Sahel.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5: Why are parts of the Sahel said to be overpopulated?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Too many people and animals for the land lead to desertification and food shortages.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are going to copy the board summary. Write the title and the headings neatly in your notebooks. I will give you enough time for each slide, so do not rush.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the definitions. The key terms of this lesson are defined as follows. On this slide we have Carrying capacity (K).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the definitions. On this slide we have Overshoot and Oscillation.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the definitions. On this slide we have Population-resource regime.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Meaning of Carrying Capacity. Carrying capacity is explained as follows. Copy the point on A limit on the left, then draw the diagram on the right: overgrazing.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Meaning of Carrying Capacity. Copy the point on Example: write the key term first, then its explanation.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Meaning of Carrying Capacity. Copy the point on Human populations: write the key term first, then its explanation.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Ways of Adjusting to Carrying Capacity. Populations adjust to carrying capacity in the following ways. Copy the point on Progressive adjustment (S-curve) on the left, then draw the diagram on the right: growth curves.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Overshoot and oscillation (J-curve) on the left, then draw the diagram on the right: carrying capacity.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Ways of Adjusting to Carrying Capacity. Copy the point on Boom and bust: write the key term first, then its explanation.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Ways of Adjusting to Carrying Capacity. Copy the point on Instantaneous adjustment: write the key term first, then its explanation.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Population-Resource Regimes. The relationship between population and resources gives the following regimes. Copy the point on Overpopulation regime on the left, then draw the diagram on the right: population-resource regimes.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Population-Resource Regimes. Copy the point on Sustainable (optimum) regime: write the key term first, then its explanation.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Population-Resource Regimes. Copy the point on Underpopulation regime: write the key term first, then its explanation.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1: Distinguish between the S-curve and the J-curve.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on the S-curve growth slows and stabilises at the carrying capacity; on the J-curve growth overshoots it and then crashes.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2: Which curve is more stable, and why?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the S-curve, because the population adjusts to its resources without destroying them.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those who need more practice, fill in the blanks in your exercise book. The answers are: number 1, carrying; number 2, S; number 3, sustainable.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your homework: Give one indicator of overpopulation. We shall correct it at the beginning of our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next lesson will be on Lesson 17: Overpopulation, Underpopulation and Optimum Population. Thank you for your attention, and see you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play the bilingual game. I say a word in English, and you give me the French word. Then we do the reverse.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record this information in the official logbook of the class after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complete the second page of the logbook: the matter taught, the evaluation, the homework and the attendance.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for me, the teacher: it gives the timing of the lesson and what to do if the projector is not available.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references and picture credits used to prepare this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ESSON">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640080" cy="658368"/>
          </a:xfrm>
          <a:prstGeom prst="rect">
            <a:avLst/>
          </a:prstGeom>
          <a:solidFill>
            <a:srgbClr val="990011"/>
          </a:solidFill>
          <a:ln w="12700">
            <a:solidFill>
              <a:srgbClr val="990011"/>
            </a:solidFill>
            <a:prstDash val="solid"/>
          </a:ln>
        </p:spPr>
      </p:sp>
      <p:sp>
        <p:nvSpPr>
          <p:cNvPr id="3" name="Text 1"/>
          <p:cNvSpPr/>
          <p:nvPr/>
        </p:nvSpPr>
        <p:spPr>
          <a:xfrm>
            <a:off x="640080" y="0"/>
            <a:ext cx="4754880" cy="658368"/>
          </a:xfrm>
          <a:prstGeom prst="homePlate">
            <a:avLst/>
          </a:prstGeom>
          <a:solidFill>
            <a:srgbClr val="990011"/>
          </a:solidFill>
          <a:ln>
            <a:solidFill>
              <a:srgbClr val="990011"/>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GEOGRAPHY / UPPER SIXTH ARTS</a:t>
            </a:r>
            <a:endParaRPr lang="en-US" sz="1800" dirty="0"/>
          </a:p>
        </p:txBody>
      </p:sp>
      <p:sp>
        <p:nvSpPr>
          <p:cNvPr id="4" name="Text 2"/>
          <p:cNvSpPr/>
          <p:nvPr/>
        </p:nvSpPr>
        <p:spPr>
          <a:xfrm>
            <a:off x="5212080" y="0"/>
            <a:ext cx="6979615" cy="658368"/>
          </a:xfrm>
          <a:prstGeom prst="chevron">
            <a:avLst/>
          </a:prstGeom>
          <a:solidFill>
            <a:srgbClr val="1C3F6E"/>
          </a:solidFill>
          <a:ln>
            <a:solidFill>
              <a:srgbClr val="1C3F6E"/>
            </a:solid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LESSON 16: CARRYING CAPACITY</a:t>
            </a:r>
            <a:endParaRPr lang="en-US" sz="1600" dirty="0"/>
          </a:p>
        </p:txBody>
      </p:sp>
      <p:sp>
        <p:nvSpPr>
          <p:cNvPr id="5" name="Shape 3"/>
          <p:cNvSpPr/>
          <p:nvPr/>
        </p:nvSpPr>
        <p:spPr>
          <a:xfrm>
            <a:off x="0" y="6492240"/>
            <a:ext cx="2743200" cy="365760"/>
          </a:xfrm>
          <a:prstGeom prst="rect">
            <a:avLst/>
          </a:prstGeom>
          <a:solidFill>
            <a:srgbClr val="1C3F6E"/>
          </a:solidFill>
          <a:ln w="12700">
            <a:solidFill>
              <a:srgbClr val="1C3F6E"/>
            </a:solidFill>
            <a:prstDash val="solid"/>
          </a:ln>
        </p:spPr>
      </p:sp>
      <p:sp>
        <p:nvSpPr>
          <p:cNvPr id="6"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7"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8"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GBHS GAROUA</a:t>
            </a:r>
            <a:endParaRPr lang="en-US" sz="1300" dirty="0"/>
          </a:p>
        </p:txBody>
      </p:sp>
      <p:sp>
        <p:nvSpPr>
          <p:cNvPr id="9"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0"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VER">
    <p:bg>
      <p:bgPr>
        <a:solidFill>
          <a:srgbClr val="FFFFFF"/>
        </a:solidFill>
      </p:bgPr>
    </p:bg>
    <p:spTree>
      <p:nvGrpSpPr>
        <p:cNvPr id="1" name=""/>
        <p:cNvGrpSpPr/>
        <p:nvPr/>
      </p:nvGrpSpPr>
      <p:grpSpPr>
        <a:xfrm>
          <a:off x="0" y="0"/>
          <a:ext cx="0" cy="0"/>
          <a:chOff x="0" y="0"/>
          <a:chExt cx="0" cy="0"/>
        </a:xfrm>
      </p:grpSpPr>
      <p:pic>
        <p:nvPicPr>
          <p:cNvPr id="2" name="Image 0" descr="/home/claude/f4/img/minesec_sheet.png">    </p:cNvPr>
          <p:cNvPicPr>
            <a:picLocks noChangeAspect="1"/>
          </p:cNvPicPr>
          <p:nvPr/>
        </p:nvPicPr>
        <p:blipFill>
          <a:blip r:embed="rId1"/>
          <a:stretch>
            <a:fillRect/>
          </a:stretch>
        </p:blipFill>
        <p:spPr>
          <a:xfrm>
            <a:off x="0" y="0"/>
            <a:ext cx="5888736" cy="6492240"/>
          </a:xfrm>
          <a:prstGeom prst="rect">
            <a:avLst/>
          </a:prstGeom>
        </p:spPr>
      </p:pic>
      <p:sp>
        <p:nvSpPr>
          <p:cNvPr id="3" name="Text 0"/>
          <p:cNvSpPr/>
          <p:nvPr/>
        </p:nvSpPr>
        <p:spPr>
          <a:xfrm>
            <a:off x="6126480" y="502920"/>
            <a:ext cx="5760720" cy="822960"/>
          </a:xfrm>
          <a:prstGeom prst="rect">
            <a:avLst/>
          </a:prstGeom>
          <a:noFill/>
          <a:ln/>
        </p:spPr>
        <p:txBody>
          <a:bodyPr wrap="square" lIns="0" tIns="0" rIns="0" bIns="0" rtlCol="0" anchor="ctr"/>
          <a:lstStyle/>
          <a:p>
            <a:pPr algn="ctr" indent="0" marL="0">
              <a:buNone/>
            </a:pPr>
            <a:r>
              <a:rPr lang="en-US" sz="4400" b="1" dirty="0">
                <a:solidFill>
                  <a:srgbClr val="1565C0"/>
                </a:solidFill>
                <a:latin typeface="Times New Roman" pitchFamily="34" charset="0"/>
                <a:ea typeface="Times New Roman" pitchFamily="34" charset="-122"/>
                <a:cs typeface="Times New Roman" pitchFamily="34" charset="-120"/>
              </a:rPr>
              <a:t>MINESEC</a:t>
            </a:r>
            <a:endParaRPr lang="en-US" sz="4400" dirty="0"/>
          </a:p>
        </p:txBody>
      </p:sp>
      <p:sp>
        <p:nvSpPr>
          <p:cNvPr id="4" name="Text 1"/>
          <p:cNvSpPr/>
          <p:nvPr/>
        </p:nvSpPr>
        <p:spPr>
          <a:xfrm>
            <a:off x="6126480" y="1325880"/>
            <a:ext cx="5760720" cy="457200"/>
          </a:xfrm>
          <a:prstGeom prst="rect">
            <a:avLst/>
          </a:prstGeom>
          <a:noFill/>
          <a:ln/>
        </p:spPr>
        <p:txBody>
          <a:bodyPr wrap="square" lIns="0" tIns="0" rIns="0" bIns="0" rtlCol="0" anchor="ctr"/>
          <a:lstStyle/>
          <a:p>
            <a:pPr algn="ctr" indent="0" marL="0">
              <a:buNone/>
            </a:pPr>
            <a:r>
              <a:rPr lang="en-US" sz="1800" b="1" dirty="0">
                <a:solidFill>
                  <a:srgbClr val="1C3F6E"/>
                </a:solidFill>
                <a:latin typeface="Calibri" pitchFamily="34" charset="0"/>
                <a:ea typeface="Calibri" pitchFamily="34" charset="-122"/>
                <a:cs typeface="Calibri" pitchFamily="34" charset="-120"/>
              </a:rPr>
              <a:t>GBHS GAROUA  —  GEOGRAPHY DEPARTMENT</a:t>
            </a:r>
            <a:endParaRPr lang="en-US" sz="1800" dirty="0"/>
          </a:p>
        </p:txBody>
      </p:sp>
      <p:sp>
        <p:nvSpPr>
          <p:cNvPr id="5" name="Text 2"/>
          <p:cNvSpPr/>
          <p:nvPr/>
        </p:nvSpPr>
        <p:spPr>
          <a:xfrm>
            <a:off x="6126480" y="5257800"/>
            <a:ext cx="5760720" cy="914400"/>
          </a:xfrm>
          <a:prstGeom prst="rect">
            <a:avLst/>
          </a:prstGeom>
          <a:noFill/>
          <a:ln/>
        </p:spPr>
        <p:txBody>
          <a:bodyPr wrap="square" lIns="0" tIns="0" rIns="0" bIns="0" rtlCol="0" anchor="ctr"/>
          <a:lstStyle/>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KAMDEM Emmanuel Berthaut</a:t>
            </a:r>
            <a:endParaRPr lang="en-US" sz="2000" dirty="0"/>
          </a:p>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Geography Teacher</a:t>
            </a:r>
            <a:endParaRPr lang="en-US" sz="2000" dirty="0"/>
          </a:p>
        </p:txBody>
      </p:sp>
      <p:sp>
        <p:nvSpPr>
          <p:cNvPr id="6" name="Shape 3"/>
          <p:cNvSpPr/>
          <p:nvPr/>
        </p:nvSpPr>
        <p:spPr>
          <a:xfrm>
            <a:off x="0" y="6492240"/>
            <a:ext cx="2743200" cy="365760"/>
          </a:xfrm>
          <a:prstGeom prst="rect">
            <a:avLst/>
          </a:prstGeom>
          <a:solidFill>
            <a:srgbClr val="1C3F6E"/>
          </a:solidFill>
          <a:ln w="12700">
            <a:solidFill>
              <a:srgbClr val="1C3F6E"/>
            </a:solidFill>
            <a:prstDash val="solid"/>
          </a:ln>
        </p:spPr>
      </p:sp>
      <p:sp>
        <p:nvSpPr>
          <p:cNvPr id="7"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8"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9"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GBHS GAROUA</a:t>
            </a:r>
            <a:endParaRPr lang="en-US" sz="1300" dirty="0"/>
          </a:p>
        </p:txBody>
      </p:sp>
      <p:sp>
        <p:nvSpPr>
          <p:cNvPr id="10"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1"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2.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slideLayout" Target="../slideLayouts/slideLayout2.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slideLayout" Target="../slideLayouts/slideLayout2.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2.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slideLayout" Target="../slideLayouts/slideLayout2.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slideLayout" Target="../slideLayouts/slideLayout2.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jpg"/><Relationship Id="rId2" Type="http://schemas.openxmlformats.org/officeDocument/2006/relationships/slideLayout" Target="../slideLayouts/slideLayout2.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2.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2.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2.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2.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slideLayout" Target="../slideLayouts/slideLayout2.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slideLayout" Target="../slideLayouts/slideLayout2.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slideLayout" Target="../slideLayouts/slideLayout2.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slideLayout" Target="../slideLayouts/slideLayout2.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slideLayout" Target="../slideLayouts/slideLayout2.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slideLayout" Target="../slideLayouts/slideLayout2.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slideLayout" Target="../slideLayouts/slideLayout2.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slideLayout" Target="../slideLayouts/slideLayout2.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slideLayout" Target="../slideLayouts/slideLayout2.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slideLayout" Target="../slideLayouts/slideLayout2.xml"/><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image" Target="../media/image-47-1.png"/><Relationship Id="rId2" Type="http://schemas.openxmlformats.org/officeDocument/2006/relationships/slideLayout" Target="../slideLayouts/slideLayout2.xml"/><Relationship Id="rId3"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image" Target="../media/image-48-1.png"/><Relationship Id="rId2" Type="http://schemas.openxmlformats.org/officeDocument/2006/relationships/slideLayout" Target="../slideLayouts/slideLayout2.xml"/><Relationship Id="rId3"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image" Target="../media/image-49-1.png"/><Relationship Id="rId2" Type="http://schemas.openxmlformats.org/officeDocument/2006/relationships/slideLayout" Target="../slideLayouts/slideLayout2.xml"/><Relationship Id="rId3"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image" Target="../media/image-50-1.png"/><Relationship Id="rId2" Type="http://schemas.openxmlformats.org/officeDocument/2006/relationships/slideLayout" Target="../slideLayouts/slideLayout2.xml"/><Relationship Id="rId3"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image" Target="../media/image-51-1.png"/><Relationship Id="rId2" Type="http://schemas.openxmlformats.org/officeDocument/2006/relationships/slideLayout" Target="../slideLayouts/slideLayout2.xml"/><Relationship Id="rId3"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image" Target="../media/image-52-1.png"/><Relationship Id="rId2" Type="http://schemas.openxmlformats.org/officeDocument/2006/relationships/slideLayout" Target="../slideLayouts/slideLayout2.xml"/><Relationship Id="rId3"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image" Target="../media/image-53-1.png"/><Relationship Id="rId2" Type="http://schemas.openxmlformats.org/officeDocument/2006/relationships/slideLayout" Target="../slideLayouts/slideLayout2.xml"/><Relationship Id="rId3"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image" Target="../media/image-54-1.png"/><Relationship Id="rId2" Type="http://schemas.openxmlformats.org/officeDocument/2006/relationships/slideLayout" Target="../slideLayouts/slideLayout2.xml"/><Relationship Id="rId3"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image" Target="../media/image-55-1.png"/><Relationship Id="rId2" Type="http://schemas.openxmlformats.org/officeDocument/2006/relationships/slideLayout" Target="../slideLayouts/slideLayout2.xml"/><Relationship Id="rId3"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image" Target="../media/image-59-1.png"/><Relationship Id="rId2" Type="http://schemas.openxmlformats.org/officeDocument/2006/relationships/slideLayout" Target="../slideLayouts/slideLayout2.xml"/><Relationship Id="rId3"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Id1" Type="http://schemas.openxmlformats.org/officeDocument/2006/relationships/image" Target="../media/image-60-1.png"/><Relationship Id="rId2" Type="http://schemas.openxmlformats.org/officeDocument/2006/relationships/slideLayout" Target="../slideLayouts/slideLayout2.xml"/><Relationship Id="rId3" Type="http://schemas.openxmlformats.org/officeDocument/2006/relationships/notesSlide" Target="../notesSlides/notesSlide60.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nvSpPr>
        <p:spPr>
          <a:xfrm>
            <a:off x="6126480" y="1965960"/>
            <a:ext cx="5760720" cy="1005840"/>
          </a:xfrm>
          <a:prstGeom prst="rect">
            <a:avLst/>
          </a:prstGeom>
          <a:noFill/>
          <a:ln/>
        </p:spPr>
        <p:txBody>
          <a:bodyPr wrap="square" lIns="0" tIns="0" rIns="0" bIns="0" rtlCol="0" anchor="ct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UPPER SIXTH ARTS</a:t>
            </a:r>
            <a:endParaRPr lang="en-US" sz="2600" dirty="0"/>
          </a:p>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GEOGRAPHY</a:t>
            </a:r>
            <a:endParaRPr lang="en-US" sz="2600" dirty="0"/>
          </a:p>
        </p:txBody>
      </p:sp>
      <p:sp>
        <p:nvSpPr>
          <p:cNvPr id="3" name="Text 1"/>
          <p:cNvSpPr/>
          <p:nvPr/>
        </p:nvSpPr>
        <p:spPr>
          <a:xfrm>
            <a:off x="6126480" y="3063240"/>
            <a:ext cx="5760720" cy="2103120"/>
          </a:xfrm>
          <a:prstGeom prst="rect">
            <a:avLst/>
          </a:prstGeom>
          <a:noFill/>
          <a:ln/>
        </p:spPr>
        <p:txBody>
          <a:bodyPr wrap="square" lIns="0" tIns="0" rIns="0" bIns="0" rtlCol="0" anchor="ctr">
            <a:normAutofit/>
          </a:bodyP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Lesson 16</a:t>
            </a:r>
            <a:endParaRPr lang="en-US" sz="2600" dirty="0"/>
          </a:p>
          <a:p>
            <a:pPr algn="ctr" indent="0" marL="0">
              <a:buNone/>
            </a:pPr>
            <a:r>
              <a:rPr lang="en-US" sz="3200" b="1" dirty="0">
                <a:solidFill>
                  <a:srgbClr val="990011"/>
                </a:solidFill>
                <a:latin typeface="Times New Roman" pitchFamily="34" charset="0"/>
                <a:ea typeface="Times New Roman" pitchFamily="34" charset="-122"/>
                <a:cs typeface="Times New Roman" pitchFamily="34" charset="-120"/>
              </a:rPr>
              <a:t>Carrying Capacity</a:t>
            </a:r>
            <a:endParaRPr lang="en-US" sz="2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CLASS INFO</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Class, Chapter and Duration</a:t>
            </a:r>
            <a:endParaRPr lang="en-US" sz="36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Class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Upper Sixth Arts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Chapter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Module 4: Understanding and managing population dynamics across the world in general and Cameroon in particular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Duration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2 periods (2 × 50 minutes)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IDENTIFICATION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Identification</a:t>
            </a:r>
            <a:endParaRPr lang="en-US" sz="36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Population Growth and Resources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Sub-topic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Population and Resource Relationships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Lesson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Lesson 16: Carrying Capacity</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Notions / Concepts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Carrying capacity, S-curve (logistic growth), J-curve, overshoot, oscillation, instantaneous adjustment, overpopulation, sustainable and underpopulation regimes.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Syllabus focus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Meaning of carrying capacity; ways of adjusting to it (S-curve, J-curve, instantaneous adjustment); population-resource regimes (overpopulation, sustainable, underpopulation).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Competence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Learners are able to explain carrying capacity and the ways populations adjust to it, and apply them to overgrazing around Garoua.</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of the 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C3F6E"/>
                </a:solidFill>
                <a:latin typeface="Times New Roman" pitchFamily="34" charset="0"/>
                <a:ea typeface="Times New Roman" pitchFamily="34" charset="-122"/>
                <a:cs typeface="Times New Roman" pitchFamily="34" charset="-120"/>
              </a:rPr>
              <a:t>Question (Lesson 15: Types of Migration):</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Define carrying capacity.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Carrying capacity is the maximum number of people (or animals) an environment can support for a long time without being damaged.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LESSON PLAN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Plan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Correction of the homework</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Objectives and recall</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Real-life situation and action to take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Learning activities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Board summary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Evaluation, remediation and homework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By the end of this lesson, you should be able to:</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Define carrying capacity.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Describe the S-curve of progressive adjustment.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Describe the J-curve of overshoot and oscillation.</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Describe instantaneous adjustment.</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Describe the three population-resource regimes.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PREVIOUS KNOWLEDGE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Previous Knowledge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Rural-rural migration moves herders to new pastures.</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Overgrazing destroys grass.</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Resources are limited.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1463040" cy="5833872"/>
          </a:xfrm>
          <a:prstGeom prst="rect">
            <a:avLst/>
          </a:prstGeom>
        </p:spPr>
      </p:pic>
      <p:sp>
        <p:nvSpPr>
          <p:cNvPr id="4" name="Text 1"/>
          <p:cNvSpPr/>
          <p:nvPr/>
        </p:nvSpPr>
        <p:spPr>
          <a:xfrm>
            <a:off x="1691640" y="1005840"/>
            <a:ext cx="101800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a:t>
            </a:r>
            <a:endParaRPr lang="en-US" sz="3600" dirty="0"/>
          </a:p>
        </p:txBody>
      </p:sp>
      <p:sp>
        <p:nvSpPr>
          <p:cNvPr id="5" name="Text 2"/>
          <p:cNvSpPr/>
          <p:nvPr/>
        </p:nvSpPr>
        <p:spPr>
          <a:xfrm>
            <a:off x="1691640" y="1783080"/>
            <a:ext cx="101800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 Fulani herdsman near Garoua has pasture for 50 cattle.</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In the rainy season the grass is plentiful and his animals are fat, so he buys 50 more.</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Soon the grass is eaten down to the bare soil, the ground becomes hard and dusty, and his 100 animals become thin and weak.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His son asks: "Why did the herd suffer when it became bigger, and how many animals can the land really feed?"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problem in the situation?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herdsman exceeded the number of animals the land can support.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this limit called?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carrying capacity.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3</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happened to the land?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was degraded: bare, hard and dusty soil.</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ACTION TO TAKE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Action to Take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Keep herds and farming within the carrying capacity of the land, and rotate pastures.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JUSTIFICATION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Justification of the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This lesson helps us to understand the limits of the environment and the need to balance population and resources.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MEANING</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a:t>
            </a:r>
            <a:endParaRPr lang="en-US" sz="3600" dirty="0"/>
          </a:p>
        </p:txBody>
      </p:sp>
      <p:pic>
        <p:nvPicPr>
          <p:cNvPr id="4" name="Image 0" descr="/home/claude/f4/img/v2/overgrazing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Too many animals on a pasture.</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MEANING</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happens when the number of cattle exceeds the carrying capacity?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MEANING</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grass disappears, the soil is eroded and the animals become weak.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S-CURVE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a:t>
            </a:r>
            <a:endParaRPr lang="en-US" sz="3600" dirty="0"/>
          </a:p>
        </p:txBody>
      </p:sp>
      <p:pic>
        <p:nvPicPr>
          <p:cNvPr id="4" name="Image 0" descr="/home/claude/f4/img/v2/pop2_curves.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Three ways of adjusting.</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S-CURVE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happens to growth on an S-curve near the carrying capacity?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S-CURVE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slows down and the population becomes stable.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J-CURVE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a:t>
            </a:r>
            <a:endParaRPr lang="en-US" sz="3600" dirty="0"/>
          </a:p>
        </p:txBody>
      </p:sp>
      <p:pic>
        <p:nvPicPr>
          <p:cNvPr id="4" name="Image 0" descr="/home/claude/f4/img/v2/carrying_big.png">    </p:cNvPr>
          <p:cNvPicPr>
            <a:picLocks noChangeAspect="1"/>
          </p:cNvPicPr>
          <p:nvPr/>
        </p:nvPicPr>
        <p:blipFill>
          <a:blip r:embed="rId1"/>
          <a:stretch>
            <a:fillRect/>
          </a:stretch>
        </p:blipFill>
        <p:spPr>
          <a:xfrm>
            <a:off x="1215564" y="1783080"/>
            <a:ext cx="9760567"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The S-curve and the J-curve.</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J-CURVE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happens after the J-curve overshoots the carrying capacity?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J-CURVE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population crashes, then may oscillate.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REGIMES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a:t>
            </a:r>
            <a:endParaRPr lang="en-US" sz="3600" dirty="0"/>
          </a:p>
        </p:txBody>
      </p:sp>
      <p:pic>
        <p:nvPicPr>
          <p:cNvPr id="4" name="Image 0" descr="/home/claude/f4/img/v2/pop2_regimes3.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Three population-resource regimes.</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REGIMES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In which regime are resources not fully used?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REGIMES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Underpopulation.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REGIMES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a:t>
            </a:r>
            <a:endParaRPr lang="en-US" sz="3600" dirty="0"/>
          </a:p>
        </p:txBody>
      </p:sp>
      <p:pic>
        <p:nvPicPr>
          <p:cNvPr id="4" name="Image 0" descr="/home/claude/f4/img/v2/f2t_drought.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Drought in the Sahel.</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REGIMES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are parts of the Sahel said to be overpopulated?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REGIMES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Too many people and animals for the land lead to desertification and food shortages.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Board Summary</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Topic: Population Growth and Resources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Sub-topic: Population and Resource Relationships</a:t>
            </a:r>
            <a:endParaRPr lang="en-US" sz="4000" dirty="0"/>
          </a:p>
          <a:p>
            <a:pPr algn="l"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16: Carrying Capacity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key terms of this lesson are defined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Carrying capacity (K):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maximum number of individuals that an environment can support for a long time without being damaged.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 (continued)</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Overshoot: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situation where a population grows beyond the carrying capacity.</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Oscillation: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repeated rise and fall of a population around the carrying capacity.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Population-resource regime: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type of relationship between the size of a population and its resources.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Meaning of Carrying Capacity</a:t>
            </a:r>
            <a:endParaRPr lang="en-US" sz="3600" dirty="0"/>
          </a:p>
        </p:txBody>
      </p:sp>
      <p:sp>
        <p:nvSpPr>
          <p:cNvPr id="4" name="Text 2"/>
          <p:cNvSpPr/>
          <p:nvPr/>
        </p:nvSpPr>
        <p:spPr>
          <a:xfrm>
            <a:off x="365760" y="1783080"/>
            <a:ext cx="6035040" cy="4617720"/>
          </a:xfrm>
          <a:prstGeom prst="rect">
            <a:avLst/>
          </a:prstGeom>
          <a:noFill/>
          <a:ln/>
        </p:spPr>
        <p:txBody>
          <a:bodyPr wrap="square" lIns="0" tIns="0" rIns="0" bIns="0" rtlCol="0" anchor="t"/>
          <a:lstStyle/>
          <a:p>
            <a:pPr algn="l" indent="0" marL="0">
              <a:spcAft>
                <a:spcPts val="800"/>
              </a:spcAft>
              <a:buNone/>
            </a:pPr>
            <a:r>
              <a:rPr lang="en-US" sz="3600" i="1" dirty="0">
                <a:solidFill>
                  <a:srgbClr val="111111"/>
                </a:solidFill>
                <a:latin typeface="Times New Roman" pitchFamily="34" charset="0"/>
                <a:ea typeface="Times New Roman" pitchFamily="34" charset="-122"/>
                <a:cs typeface="Times New Roman" pitchFamily="34" charset="-120"/>
              </a:rPr>
              <a:t>Carrying capacity is explained as follows:</a:t>
            </a:r>
            <a:endParaRPr lang="en-US" sz="3600" dirty="0"/>
          </a:p>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A limit: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Carrying capacity is the largest population that an area can feed and support without being damaged. It depends on the food, water and space available.</a:t>
            </a:r>
            <a:endParaRPr lang="en-US" sz="3600" dirty="0"/>
          </a:p>
        </p:txBody>
      </p:sp>
      <p:pic>
        <p:nvPicPr>
          <p:cNvPr id="5" name="Image 0" descr="/home/claude/f4/img/v2/overgrazing_big.png">    </p:cNvPr>
          <p:cNvPicPr>
            <a:picLocks noChangeAspect="1"/>
          </p:cNvPicPr>
          <p:nvPr/>
        </p:nvPicPr>
        <p:blipFill>
          <a:blip r:embed="rId1"/>
          <a:stretch>
            <a:fillRect/>
          </a:stretch>
        </p:blipFill>
        <p:spPr>
          <a:xfrm>
            <a:off x="6537960" y="2849678"/>
            <a:ext cx="5470855" cy="2137053"/>
          </a:xfrm>
          <a:prstGeom prst="rect">
            <a:avLst/>
          </a:prstGeom>
        </p:spPr>
      </p:pic>
      <p:sp>
        <p:nvSpPr>
          <p:cNvPr id="6" name="Text 3"/>
          <p:cNvSpPr/>
          <p:nvPr/>
        </p:nvSpPr>
        <p:spPr>
          <a:xfrm>
            <a:off x="6537960" y="6089904"/>
            <a:ext cx="547085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overgrazing</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Meaning of Carrying Capacity</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Example: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 pasture near Garoua that can feed 50 cattle is destroyed if 100 graze on it. The grass disappears and the soil is eroded.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Meaning of Carrying Capacity</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Human populations: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For people, carrying capacity is not fixed. Technology, such as irrigation and fertilisers, and trade can raise it.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Ways of Adjusting to Carrying Capacity</a:t>
            </a:r>
            <a:endParaRPr lang="en-US" sz="3600" dirty="0"/>
          </a:p>
        </p:txBody>
      </p:sp>
      <p:sp>
        <p:nvSpPr>
          <p:cNvPr id="4" name="Text 2"/>
          <p:cNvSpPr/>
          <p:nvPr/>
        </p:nvSpPr>
        <p:spPr>
          <a:xfrm>
            <a:off x="365760" y="1783080"/>
            <a:ext cx="6035040" cy="4617720"/>
          </a:xfrm>
          <a:prstGeom prst="rect">
            <a:avLst/>
          </a:prstGeom>
          <a:noFill/>
          <a:ln/>
        </p:spPr>
        <p:txBody>
          <a:bodyPr wrap="square" lIns="0" tIns="0" rIns="0" bIns="0" rtlCol="0" anchor="t"/>
          <a:lstStyle/>
          <a:p>
            <a:pPr algn="l" indent="0" marL="0">
              <a:spcAft>
                <a:spcPts val="800"/>
              </a:spcAft>
              <a:buNone/>
            </a:pPr>
            <a:r>
              <a:rPr lang="en-US" sz="3200" i="1" dirty="0">
                <a:solidFill>
                  <a:srgbClr val="111111"/>
                </a:solidFill>
                <a:latin typeface="Times New Roman" pitchFamily="34" charset="0"/>
                <a:ea typeface="Times New Roman" pitchFamily="34" charset="-122"/>
                <a:cs typeface="Times New Roman" pitchFamily="34" charset="-120"/>
              </a:rPr>
              <a:t>Populations adjust to carrying capacity in the following ways:</a:t>
            </a:r>
            <a:endParaRPr lang="en-US" sz="3200" dirty="0"/>
          </a:p>
          <a:p>
            <a:pPr algn="l" indent="0" marL="0">
              <a:spcAft>
                <a:spcPts val="800"/>
              </a:spcAft>
              <a:buNone/>
            </a:pPr>
            <a:r>
              <a:rPr lang="en-US" sz="3200" b="1" dirty="0">
                <a:solidFill>
                  <a:srgbClr val="111111"/>
                </a:solidFill>
                <a:latin typeface="Times New Roman" pitchFamily="34" charset="0"/>
                <a:ea typeface="Times New Roman" pitchFamily="34" charset="-122"/>
                <a:cs typeface="Times New Roman" pitchFamily="34" charset="-120"/>
              </a:rPr>
              <a:t>Progressive adjustment (S-curve): </a:t>
            </a:r>
            <a:pPr algn="l" indent="0" marL="0">
              <a:spcAft>
                <a:spcPts val="800"/>
              </a:spcAft>
              <a:buNone/>
            </a:pPr>
            <a:r>
              <a:rPr lang="en-US" sz="3200" dirty="0">
                <a:solidFill>
                  <a:srgbClr val="111111"/>
                </a:solidFill>
                <a:latin typeface="Times New Roman" pitchFamily="34" charset="0"/>
                <a:ea typeface="Times New Roman" pitchFamily="34" charset="-122"/>
                <a:cs typeface="Times New Roman" pitchFamily="34" charset="-120"/>
              </a:rPr>
              <a:t>Growth is slow at first, then fast, then slows down near the carrying capacity and stabilises. Fish introduced into a large lake grow in this way.</a:t>
            </a:r>
            <a:endParaRPr lang="en-US" sz="3200" dirty="0"/>
          </a:p>
        </p:txBody>
      </p:sp>
      <p:pic>
        <p:nvPicPr>
          <p:cNvPr id="5" name="Image 0" descr="/home/claude/f4/img/v2/pop2_curves.png">    </p:cNvPr>
          <p:cNvPicPr>
            <a:picLocks noChangeAspect="1"/>
          </p:cNvPicPr>
          <p:nvPr/>
        </p:nvPicPr>
        <p:blipFill>
          <a:blip r:embed="rId1"/>
          <a:stretch>
            <a:fillRect/>
          </a:stretch>
        </p:blipFill>
        <p:spPr>
          <a:xfrm>
            <a:off x="6537960" y="2849678"/>
            <a:ext cx="5470855" cy="2137053"/>
          </a:xfrm>
          <a:prstGeom prst="rect">
            <a:avLst/>
          </a:prstGeom>
        </p:spPr>
      </p:pic>
      <p:sp>
        <p:nvSpPr>
          <p:cNvPr id="6" name="Text 3"/>
          <p:cNvSpPr/>
          <p:nvPr/>
        </p:nvSpPr>
        <p:spPr>
          <a:xfrm>
            <a:off x="6537960" y="6089904"/>
            <a:ext cx="547085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growth curves</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Ways of Adjusting to Carrying Capacity</a:t>
            </a:r>
            <a:endParaRPr lang="en-US" sz="3600" dirty="0"/>
          </a:p>
        </p:txBody>
      </p:sp>
      <p:sp>
        <p:nvSpPr>
          <p:cNvPr id="4" name="Text 2"/>
          <p:cNvSpPr/>
          <p:nvPr/>
        </p:nvSpPr>
        <p:spPr>
          <a:xfrm>
            <a:off x="365760" y="1783080"/>
            <a:ext cx="6035040" cy="4617720"/>
          </a:xfrm>
          <a:prstGeom prst="rect">
            <a:avLst/>
          </a:prstGeom>
          <a:noFill/>
          <a:ln/>
        </p:spPr>
        <p:txBody>
          <a:bodyPr wrap="square" lIns="0" tIns="0" rIns="0" bIns="0" rtlCol="0" anchor="t"/>
          <a:lstStyle/>
          <a:p>
            <a:pPr algn="l" indent="0" marL="0">
              <a:spcAft>
                <a:spcPts val="800"/>
              </a:spcAft>
              <a:buNone/>
            </a:pPr>
            <a:r>
              <a:rPr lang="en-US" sz="3400" b="1" dirty="0">
                <a:solidFill>
                  <a:srgbClr val="111111"/>
                </a:solidFill>
                <a:latin typeface="Times New Roman" pitchFamily="34" charset="0"/>
                <a:ea typeface="Times New Roman" pitchFamily="34" charset="-122"/>
                <a:cs typeface="Times New Roman" pitchFamily="34" charset="-120"/>
              </a:rPr>
              <a:t>Overshoot and oscillation (J-curve): </a:t>
            </a:r>
            <a:pPr algn="l" indent="0" marL="0">
              <a:spcAft>
                <a:spcPts val="800"/>
              </a:spcAft>
              <a:buNone/>
            </a:pPr>
            <a:r>
              <a:rPr lang="en-US" sz="3400" dirty="0">
                <a:solidFill>
                  <a:srgbClr val="111111"/>
                </a:solidFill>
                <a:latin typeface="Times New Roman" pitchFamily="34" charset="0"/>
                <a:ea typeface="Times New Roman" pitchFamily="34" charset="-122"/>
                <a:cs typeface="Times New Roman" pitchFamily="34" charset="-120"/>
              </a:rPr>
              <a:t>Growth is exponential and passes the carrying capacity, then the population crashes through starvation or disease. Insects and algae behave in this way after a favourable season.</a:t>
            </a:r>
            <a:endParaRPr lang="en-US" sz="3400" dirty="0"/>
          </a:p>
        </p:txBody>
      </p:sp>
      <p:pic>
        <p:nvPicPr>
          <p:cNvPr id="5" name="Image 0" descr="/home/claude/f4/img/v2/carrying_big.png">    </p:cNvPr>
          <p:cNvPicPr>
            <a:picLocks noChangeAspect="1"/>
          </p:cNvPicPr>
          <p:nvPr/>
        </p:nvPicPr>
        <p:blipFill>
          <a:blip r:embed="rId1"/>
          <a:stretch>
            <a:fillRect/>
          </a:stretch>
        </p:blipFill>
        <p:spPr>
          <a:xfrm>
            <a:off x="6537960" y="2721454"/>
            <a:ext cx="5470855" cy="2393499"/>
          </a:xfrm>
          <a:prstGeom prst="rect">
            <a:avLst/>
          </a:prstGeom>
        </p:spPr>
      </p:pic>
      <p:sp>
        <p:nvSpPr>
          <p:cNvPr id="6" name="Text 3"/>
          <p:cNvSpPr/>
          <p:nvPr/>
        </p:nvSpPr>
        <p:spPr>
          <a:xfrm>
            <a:off x="6537960" y="6089904"/>
            <a:ext cx="547085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carrying capacity</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Ways of Adjusting to Carrying Capacity</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Boom and bust: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After a crash, the population may recover and grow again. It then repeats the cycle of rises and falls around the carrying capacity.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Ways of Adjusting to Carrying Capacity</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Instantaneous adjustment: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population stops abruptly at the carrying capacity without passing it. This is rare, for example when a volcanic eruption suddenly destroys the food of island birds.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Population-Resource Regimes</a:t>
            </a:r>
            <a:endParaRPr lang="en-US" sz="3600" dirty="0"/>
          </a:p>
        </p:txBody>
      </p:sp>
      <p:sp>
        <p:nvSpPr>
          <p:cNvPr id="4" name="Text 2"/>
          <p:cNvSpPr/>
          <p:nvPr/>
        </p:nvSpPr>
        <p:spPr>
          <a:xfrm>
            <a:off x="365760" y="1783080"/>
            <a:ext cx="6035040" cy="4617720"/>
          </a:xfrm>
          <a:prstGeom prst="rect">
            <a:avLst/>
          </a:prstGeom>
          <a:noFill/>
          <a:ln/>
        </p:spPr>
        <p:txBody>
          <a:bodyPr wrap="square" lIns="0" tIns="0" rIns="0" bIns="0" rtlCol="0" anchor="t"/>
          <a:lstStyle/>
          <a:p>
            <a:pPr algn="l" indent="0" marL="0">
              <a:spcAft>
                <a:spcPts val="800"/>
              </a:spcAft>
              <a:buNone/>
            </a:pPr>
            <a:r>
              <a:rPr lang="en-US" sz="3200" i="1" dirty="0">
                <a:solidFill>
                  <a:srgbClr val="111111"/>
                </a:solidFill>
                <a:latin typeface="Times New Roman" pitchFamily="34" charset="0"/>
                <a:ea typeface="Times New Roman" pitchFamily="34" charset="-122"/>
                <a:cs typeface="Times New Roman" pitchFamily="34" charset="-120"/>
              </a:rPr>
              <a:t>The relationship between population and resources gives the following regimes:</a:t>
            </a:r>
            <a:endParaRPr lang="en-US" sz="3200" dirty="0"/>
          </a:p>
          <a:p>
            <a:pPr algn="l" indent="0" marL="0">
              <a:spcAft>
                <a:spcPts val="800"/>
              </a:spcAft>
              <a:buNone/>
            </a:pPr>
            <a:r>
              <a:rPr lang="en-US" sz="3200" b="1" dirty="0">
                <a:solidFill>
                  <a:srgbClr val="111111"/>
                </a:solidFill>
                <a:latin typeface="Times New Roman" pitchFamily="34" charset="0"/>
                <a:ea typeface="Times New Roman" pitchFamily="34" charset="-122"/>
                <a:cs typeface="Times New Roman" pitchFamily="34" charset="-120"/>
              </a:rPr>
              <a:t>Overpopulation regime: </a:t>
            </a:r>
            <a:pPr algn="l" indent="0" marL="0">
              <a:spcAft>
                <a:spcPts val="800"/>
              </a:spcAft>
              <a:buNone/>
            </a:pPr>
            <a:r>
              <a:rPr lang="en-US" sz="3200" dirty="0">
                <a:solidFill>
                  <a:srgbClr val="111111"/>
                </a:solidFill>
                <a:latin typeface="Times New Roman" pitchFamily="34" charset="0"/>
                <a:ea typeface="Times New Roman" pitchFamily="34" charset="-122"/>
                <a:cs typeface="Times New Roman" pitchFamily="34" charset="-120"/>
              </a:rPr>
              <a:t>The population exceeds the carrying capacity, causing deforestation, overgrazing, water shortages and poverty. Parts of the Sahel are in this situation.</a:t>
            </a:r>
            <a:endParaRPr lang="en-US" sz="3200" dirty="0"/>
          </a:p>
        </p:txBody>
      </p:sp>
      <p:pic>
        <p:nvPicPr>
          <p:cNvPr id="5" name="Image 0" descr="/home/claude/f4/img/v2/pop2_regimes3.png">    </p:cNvPr>
          <p:cNvPicPr>
            <a:picLocks noChangeAspect="1"/>
          </p:cNvPicPr>
          <p:nvPr/>
        </p:nvPicPr>
        <p:blipFill>
          <a:blip r:embed="rId1"/>
          <a:stretch>
            <a:fillRect/>
          </a:stretch>
        </p:blipFill>
        <p:spPr>
          <a:xfrm>
            <a:off x="6537960" y="2849678"/>
            <a:ext cx="5470855" cy="2137053"/>
          </a:xfrm>
          <a:prstGeom prst="rect">
            <a:avLst/>
          </a:prstGeom>
        </p:spPr>
      </p:pic>
      <p:sp>
        <p:nvSpPr>
          <p:cNvPr id="6" name="Text 3"/>
          <p:cNvSpPr/>
          <p:nvPr/>
        </p:nvSpPr>
        <p:spPr>
          <a:xfrm>
            <a:off x="6537960" y="6089904"/>
            <a:ext cx="547085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population-resource regimes</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Population-Resource Regimes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Sustainable (optimum) regime: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population is at or below the carrying capacity, and resources are managed carefully. Norway and Sweden are examples.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Population-Resource Regimes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Underpopulation regime: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population is far below the carrying capacity, with rich resources, labour shortages and small markets. Northern Canada and Siberia are examples.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Distinguish between the S-curve and the J-curve.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49</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On the S-curve growth slows and stabilises at the carrying capacity; on the J-curve growth overshoots it and then crashes.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50</a:t>
            </a:fld>
            <a:endParaRPr lang="en-US"/>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Which curve is more stable, and why?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51</a:t>
            </a:fld>
            <a:endParaRPr lang="en-US"/>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S-curve, because the population adjusts to its resources without destroying them.</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52</a:t>
            </a:fld>
            <a:endParaRPr lang="en-US"/>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1463040" cy="5833872"/>
          </a:xfrm>
          <a:prstGeom prst="rect">
            <a:avLst/>
          </a:prstGeom>
        </p:spPr>
      </p:pic>
      <p:sp>
        <p:nvSpPr>
          <p:cNvPr id="4" name="Text 1"/>
          <p:cNvSpPr/>
          <p:nvPr/>
        </p:nvSpPr>
        <p:spPr>
          <a:xfrm>
            <a:off x="1691640" y="1005840"/>
            <a:ext cx="101800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a:t>
            </a:r>
            <a:endParaRPr lang="en-US" sz="3600" dirty="0"/>
          </a:p>
        </p:txBody>
      </p:sp>
      <p:sp>
        <p:nvSpPr>
          <p:cNvPr id="5" name="Text 2"/>
          <p:cNvSpPr/>
          <p:nvPr/>
        </p:nvSpPr>
        <p:spPr>
          <a:xfrm>
            <a:off x="1691640" y="1783080"/>
            <a:ext cx="101800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Fill in the blanks: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The maximum population an environment can support is its ______ capacity.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Logistic growth has the shape of the letter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Norway is an example of a ______ regime.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53</a:t>
            </a:fld>
            <a:endParaRPr lang="en-US"/>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one indicator of overpopulation.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54</a:t>
            </a:fld>
            <a:endParaRPr lang="en-US"/>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NEXT LESSON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Next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ctr"/>
          <a:lstStyle/>
          <a:p>
            <a:pPr algn="ctr"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Our next lesson will be on:</a:t>
            </a:r>
            <a:endParaRPr lang="en-US" sz="4000" dirty="0"/>
          </a:p>
          <a:p>
            <a:pPr algn="ctr"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17: Overpopulation, Underpopulation and Optimum Population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55</a:t>
            </a:fld>
            <a:endParaRPr lang="en-US"/>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BILINGUAL GAME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Bilingual Game (Jeu Bilingue)</a:t>
            </a:r>
            <a:endParaRPr lang="en-US" sz="3600" dirty="0"/>
          </a:p>
        </p:txBody>
      </p:sp>
      <p:graphicFrame>
        <p:nvGraphicFramePr>
          <p:cNvPr id="57" name="Table 0"/>
          <p:cNvGraphicFramePr>
            <a:graphicFrameLocks noGrp="1"/>
          </p:cNvGraphicFramePr>
          <p:nvPr>
            <p:extLst>
              <p:ext uri="{D42A27DB-BD31-4B8C-83A1-F6EECF244321}">
                <p14:modId xmlns:p14="http://schemas.microsoft.com/office/powerpoint/2010/main" val="1579011935"/>
              </p:ext>
            </p:extLst>
          </p:nvPr>
        </p:nvGraphicFramePr>
        <p:xfrm>
          <a:off x="1706728" y="1783080"/>
          <a:ext cx="8778240" cy="914400"/>
        </p:xfrm>
        <a:graphic>
          <a:graphicData uri="http://schemas.openxmlformats.org/drawingml/2006/table">
            <a:tbl>
              <a:tblPr/>
              <a:tblGrid>
                <a:gridCol w="4389120"/>
                <a:gridCol w="4389120"/>
              </a:tblGrid>
              <a:tr h="0">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English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Français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Carrying capacity</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capacité de charge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Overpopulation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surpopulation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Sustainable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Durable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Resources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Les ressources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Underpopulation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sous-population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Overgrazing</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surpâturage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56</a:t>
            </a:fld>
            <a:endParaRPr lang="en-US"/>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name="Slide 5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(1/2)</a:t>
            </a:r>
            <a:endParaRPr lang="en-US" sz="3600" dirty="0"/>
          </a:p>
        </p:txBody>
      </p:sp>
      <p:graphicFrame>
        <p:nvGraphicFramePr>
          <p:cNvPr id="58"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Module / Topic</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Population Growth and Resources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Lesson Title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Lesson 16: Carrying Capacity</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Expected Learning Outcomes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Define carrying capacity. Describe the S-curve of progressive adjustment. Describe the J-curve of overshoot and oscillation. Describe instantaneous adjustment. Describe the three population-resource regimes.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Competence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Learners are able to explain carrying capacity and the ways populations adjust to it, and apply them to overgrazing around Garoua.</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57</a:t>
            </a:fld>
            <a:endParaRPr lang="en-US"/>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name="Slide 5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(2/2)</a:t>
            </a:r>
            <a:endParaRPr lang="en-US" sz="3600" dirty="0"/>
          </a:p>
        </p:txBody>
      </p:sp>
      <p:graphicFrame>
        <p:nvGraphicFramePr>
          <p:cNvPr id="59"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Matter Taught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DEFINITIONS; Meaning of Carrying Capacity; Ways of Adjusting to Carrying Capacity; Population-Resource Regimes.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Evaluation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Formative evaluation and remediation exercise.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Homework</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Give one indicator of overpopulation.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Enrolment / Present / Absent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____ / ____ / ____</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Achievement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To be completed after the lesson.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58</a:t>
            </a:fld>
            <a:endParaRPr lang="en-US"/>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name="Slide 5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TEACHER'S NOTE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Teacher's Note</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Timing: Homework correction, plan, objectives 8 min | Recall, situation, action 10 min | 5 activities 30 min | Board summary (copying) 30 min | Evaluation, remediation 10 min | Homework, next lesson 5 min | Logbook 7 min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1): describe an overgrazed pasture.</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2): draw the S-curve.</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3): draw the J-curve and the crash.</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4): write the three regimes.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5): describe the Sahel.</a:t>
            </a:r>
            <a:endParaRPr lang="en-US" sz="2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59</a:t>
            </a:fld>
            <a:endParaRPr lang="en-US"/>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name="Slide 6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References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Geography Syllabus for Sixth Forms (Lower and Upper Sixth), MINESEC, 2019 — Module 4 (Population Geography).</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Teacher's course notes: Mr KAMDEM E., Population Geography (USA), GBHS Garoua, 2026.</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United Nations, World Population Prospects 2024.</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5: “Imagine a world without trees” by aloshbennett, CC BY 2.0, via Flickr (https://www.flickr.com/photos/13203757@N00/3480223314)</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Diagrams and animations: drawn for this lesson (Geography Department).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60</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60</Slides>
  <Notes>60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60</vt:i4>
      </vt:variant>
    </vt:vector>
  </HeadingPairs>
  <TitlesOfParts>
    <vt:vector size="6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lpstr>Slide 57</vt:lpstr>
      <vt:lpstr>Slide 58</vt:lpstr>
      <vt:lpstr>Slide 59</vt:lpstr>
      <vt:lpstr>Slide 60</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2026-10-06T05:44:07Z</dcterms:created>
  <dcterms:modified xsi:type="dcterms:W3CDTF">2026-10-06T05:44:07Z</dcterms:modified>
</cp:coreProperties>
</file>