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Calculating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fecundity, fertility, crude birth rate, crude death rate, rate of natural increase, net migration rate, growth rate, doubling time, rule of 70. At the end, you should be able to do this: learners are able to calculate and interpret the main demographic indices and use them to project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Population Growth and its Determinants. The question was: Define the crude birth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crude birth rate is the number of live births per 1,000 people in a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fecundity from fertility. Number 2: calculate the crude birth rate and the crude death rate. Number 3: calculate the rate of natural increase and the growth rate. Number 4: calculate the doubling time with the rule of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change = (births − deaths) + (immigrants − emigrants). The crude birth rate is given per 1,000 people.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town council of a city of 400,000 people recorded 16,000 births and 4,000 deaths last year. The Mayor wants to know how many schools and health centres will be needed in ten or twenty years. His assistant has the figures but does not know what to do with them. She asks: "How do we calculate the birth rate, the death rate, the growth rate and the time the population will take to double?"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assistant does not know how to calculate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data does she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(400,000), the births (16,000) and the deaths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Mayor need the doubling time?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plan schools, health centres and housing for the future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the formula, the working and the unit (‰, % or years) in every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gives us the numerical tools used by planners and in examinations to measure population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Our class of 50 is a village where 3 babies are born in a year.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 ÷ 50 × 1,000 = 60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CDR of the town (4,000 deaths, 400,000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4,000 ÷ 400,000 × 1,000 = 10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data of a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With a CBR of 40 ‰ and a CDR of 10 ‰, what is the RNI?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(40 − 10) ÷ 10 =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population doubling.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will a population growing at 3 % take to double?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70 ÷ 3 ≈ 23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solutions of the exercises.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town of 50,000 has 850 births.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850 ÷ 50,000 × 1,000 = 17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Fecundity and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Crude birth rate (CBR), Crude death rate (CDR) and Doubling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Fertility and Mortality. Fertility and mortality are measured as follows. Copy the point on Fecundity and fertility: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Crude birth rate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Crude death rate on the left, then draw the diagram on the right: demographic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Population Change. Population change is calculated as follows. Copy the point on Rate of natural increase (RNI):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Population Change. Copy the point on Net migration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Population Change. Copy the point on Growth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Projecting Future Population. The future population is projected as follows. Copy the point on The rule of 70 on the left, then draw the diagram on the right: population projection.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Projecting Future Population. Copy the point on Use for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Exercises with Solutions. The practical exercises are solved as follows. Copy the point on Exercise 1 (CBR) on the left, then draw the diagram on the right: exercises.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2 (CDR):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3 (growth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Copy the point on Exercise 4 (doubling time):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of 25,000 people has 1,000 births and 200 deaths. Calculate its CBR, CDR and RNI.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cBR = 40 ‰; CDR = 8 ‰; RNI = (40 − 8) ÷ 10 = 3.2 %.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doubling time of a population growing at 2 % a year.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70 ÷ 2 = 35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1,000; number 2, 10; number 3,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non-demographic factors of population growth.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Factors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CALCULATING DEMOGRAPHIC INDICES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Demographic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Calculating Demographic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Fecundity, fertility, crude birth rate, crude death rate, rate of natural increase, net migration rate, growth rate, doubling time, rule of 70.</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fertility (fecundity and fertility, CBR); measures of mortality (CDR); rate of natural increase and net migration rate; doubling time; practical exercises.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Population Growth and its Determinants):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crude birth rate is the number of live births per 1,000 people in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fecundity from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crude birth rate and the crude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rate of natural increase and the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doubling time with the rule of 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crude birth rate is given per 1,000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council of a city of 400,000 people recorded 16,000 births and 4,000 deaths last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wants to know how many schools and health centres will be needed in ten or twenty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assistant has the figures but does not know what to do with them.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"How do we calculate the birth rate, the death rate, the growth rate and the time the population will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assistant does not know how to calculate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data does she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(400,000), the births (16,000) and the deaths (4,000).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Mayor need the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health centres and housing for the future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the formula, the working and the unit (‰, % or years) in every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gives us the numerical tools used by planners and in examinations to measure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class of 50 is a village where 3 babies are born in a year.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50 × 1,000 = 60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aroua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CDR of the town (4,000 deaths, 400,000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4,000 ÷ 400,000 × 1,000 = 10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CBR of 40 ‰ and a CDR of 10 ‰, what is the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oje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doubling.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will a population growing at 3 %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exerci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Solutions of the exercises.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has 850 births.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850 ÷ 50,000 × 1,000 = 17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biological ability of a woman or a couple to have children.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number of live births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birth rate (CBR):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live births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death rate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years a population needs to double at a constant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and mortality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and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Fecundity is the ability to have children, while fertility is the actual number of births. A woman can therefore be fecund but have no live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Crude 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CBR = births ÷ total population × 1,000. For example, 16,000 births in a town of 400,000 people give 16,000 ÷ 400,000 × 1,000 = 40 per 1,000.</a:t>
            </a:r>
            <a:endParaRPr lang="en-US" sz="3600" dirty="0"/>
          </a:p>
        </p:txBody>
      </p:sp>
      <p:pic>
        <p:nvPicPr>
          <p:cNvPr id="5" name="Image 0" descr="/home/claude/f4/img/v2/pop2_garoua_cal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Crude death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CDR = deaths ÷ total population × 1,000. For example, 4,000 deaths in the same town give 4,000 ÷ 400,000 × 1,000 = 10 per 1,000.</a:t>
            </a:r>
            <a:endParaRPr lang="en-US" sz="3600" dirty="0"/>
          </a:p>
        </p:txBody>
      </p:sp>
      <p:pic>
        <p:nvPicPr>
          <p:cNvPr id="5" name="Image 0" descr="/home/claude/f4/img/v2/indic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demographic indices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change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of natural increase (RNI):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RNI (%) = (CBR − CDR) ÷ 10, and it does not include migration. With a CBR of 40 and a CDR of 10, the RNI is (40 − 10)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Net migration rate = (immigrants − emigrants) ÷ total population × 1,000. It is positive when more people arrive than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rate (%) = [(births − deaths) + (immigrants − emigrants)] ÷ population × 100. It combines natural increase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future population is projected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rule of 70: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Doubling time in years ≈ 70 ÷ growth rate in %. For example, a town growing at 3 % a year doubles in about 70 ÷ 3 ≈ 23 years.</a:t>
            </a:r>
            <a:endParaRPr lang="en-US" sz="3600" dirty="0"/>
          </a:p>
        </p:txBody>
      </p:sp>
      <p:pic>
        <p:nvPicPr>
          <p:cNvPr id="5" name="Image 0" descr="/home/claude/f4/img/v2/projection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projection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for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doubles in about 23 years, it will need twice as many classrooms, health centres and water points. Projections allow the state to prepare these services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practical exercises are solved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Exercise 1 (CBR):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town of 50,000 people has 850 births in a year. Its CBR is 850 ÷ 50,000 × 1,000 = 17 per 1,000.</a:t>
            </a:r>
            <a:endParaRPr lang="en-US" sz="3600" dirty="0"/>
          </a:p>
        </p:txBody>
      </p:sp>
      <p:pic>
        <p:nvPicPr>
          <p:cNvPr id="5" name="Image 0" descr="/home/claude/f4/img/v2/pop2_exercis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exercises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2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of 150,000 people has 1,200 deaths in a year. Its CDR is 1,200 ÷ 150,000 × 1,000 = 8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3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of 3,000,000 people has 120,000 births, 85,000 deaths, 30,000 immigrants and 25,000 emigrants. Its growth rate is (35,000 + 5,000) ÷ 3,000,000 × 100 ≈ 1.33 %.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4 (doubling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grows by 3 % a year. It will double in about 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25,000 people has 1,000 births and 200 deaths. Calculate its CBR, CDR and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CBR = 40 ‰; CDR = 8 ‰; RNI = (40 − 8) ÷ 10 = 3.2 %.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doubling time of a population growing at 2 %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2 =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CBR is expressed per ______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RNI (%) = (CBR − CDR)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 ______ ÷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projection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projection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Fecundity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 biologique (fécondabilité)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Calculating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fecundity from fertility. Calculate the crude birth rate and the crude death rate. Calculate the rate of natural increase and the growth rate. Calculate the doubling time with the rule of 70.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Fertility and Mortality; Calculating Population Change; Projecting Future Population; Practical Exercises with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non-demographic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learners work in pairs.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2026-09-29T11:37:04Z</dcterms:created>
  <dcterms:modified xsi:type="dcterms:W3CDTF">2026-09-29T11:37:04Z</dcterms:modified>
</cp:coreProperties>
</file>