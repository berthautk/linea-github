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Calculating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fecundity, fertility, crude birth rate, crude death rate, rate of natural increase, net migration rate, growth rate, doubling time, rule of 70. At the end, you should be able to do this: learners are able to calculate and interpret the main demographic indices and use them to project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Population Growth and its Determinants. The question was: Define the crude birth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crude birth rate is the number of live births per 1,000 people in a year.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distinguish fecundity from fertility. Number 2: calculate the crude birth rate and the crude death rate. Number 3: calculate the rate of natural increase and the growth rate. Number 4: calculate the doubling time with the rule of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change = (births − deaths) + (immigrants − emigrants). The crude birth rate is given per 1,000 people. Cameroon grows by about 2.6 % a year.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town council of a city of 400,000 people recorded 16,000 births and 4,000 deaths last year. The Mayor wants to know how many schools and health centres will be needed in ten or twenty years. His assistant has the figures but does not know what to do with them. She asks: "How do we calculate the birth rate, the death rate, the growth rate and the time the population will take to double?"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assistant does not know how to calculate demographic indices.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data does she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population (400,000), the births (16,000) and the deaths (4,000).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Mayor need the doubling time?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plan schools, health centres and housing for the future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show the formula, the working and the unit (‰, % or years) in every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gives us the numerical tools used by planners and in examinations to measure population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Our class of 50 is a village where 3 babies are born in a year.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 ÷ 50 × 1,000 = 60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CDR of the town (4,000 deaths, 400,000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4,000 ÷ 400,000 × 1,000 = 10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data of a country.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With a CBR of 40 ‰ and a CDR of 10 ‰, what is the RNI?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(40 − 10) ÷ 10 = 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population doubling.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long will a population growing at 3 % take to double?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70 ÷ 3 ≈ 23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solutions of the exercises.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town of 50,000 has 850 births. What is its CBR?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850 ÷ 50,000 × 1,000 = 17 per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Fecundity and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Crude birth rate (CBR), Crude death rate (CDR) and Doubling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Measures of Fertility and Mortality. Fertility and mortality are measured as follows. On this slide we have Fecundity and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CBR formula on the left, then draw the diagram on the right: the main formulas.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CBR example on the left, then draw the diagram on the right: a worked example.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Measures of Fertility and Mortality. On this slide we have CDR formula and CDR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Calculating Population Change. Population change is calculated as follows. On this slide we have Rate of natural increase (RNI) and RNI example.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Calculating Population Change. On this slide we have Net migration rate and Growth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Projecting Future Population. The future population is projected as follows. Copy the point on Rule of 70 on the left, then draw the diagram on the right: a population doubling.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Projecting Future Population. On this slide we have Example and Use for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Exercises with Solutions. The solutions of the practical exercises are the following. Copy the point on Exercise 1 (CBR) on the left, then draw the diagram on the right: solutions.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On this slide we have Exercise 2 (CDR) and Exercise 3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Exercises with Solutions. On this slide we have Exercise 4 (doubling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town of 25,000 people has 1,000 births and 200 deaths. Calculate its CBR, CDR and RNI.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cBR = 40 ‰; CDR = 8 ‰; RNI = (40 − 8) ÷ 10 = 3.2 %.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doubling time of a population growing at 2 % a year.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70 ÷ 2 = 35 years.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1,000; number 2, 10; number 3, 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non-demographic factors of population growth.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Factors of Population Growth.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CALCULATING DEMOGRAPHIC INDICES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Demographic Indices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Calculating Demographic Indices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Fecundity, fertility, crude birth rate, crude death rate, rate of natural increase, net migration rate, growth rate, doubling time, rule of 70.</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Measures of fertility (fecundity and fertility, CBR); measures of mortality (CDR); rate of natural increase and net migration rate; doubling time; practical exercises.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Population Growth and its Determinants):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crude birth rate is the number of live births per 1,000 people in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fecundity from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crude birth rate and the crude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rate of natural increase and the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doubling time with the rule of 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crude birth rate is given per 1,000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council of a city of 400,000 people recorded 16,000 births and 4,000 deaths last year.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Mayor wants to know how many schools and health centres will be needed in ten or twenty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assistant has the figures but does not know what to do with them.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"How do we calculate the birth rate, the death rate, the growth rate and the time the population will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assistant does not know how to calculate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data does she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(400,000), the births (16,000) and the deaths (4,000).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Mayor need the doubling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plan schools, health centres and housing for the future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Show the formula, the working and the unit (‰, % or years) in every calculation.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gives us the numerical tools used by planners and in examinations to measure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Our class of 50 is a village where 3 babies are born in a year.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 ÷ 50 × 1,000 = 60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aroua_cal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CDR of the town (4,000 deaths, 400,000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4,000 ÷ 400,000 × 1,000 = 10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w_indi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country.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CBR of 40 ‰ and a CDR of 10 ‰, what is the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rojec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doubling.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long will a population growing at 3 % take to double?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DOUBLING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exerci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Solutions of the exercises.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50,000 has 850 births. What is its CBR?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EXERCISES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850 ÷ 50,000 × 1,000 = 17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biological ability of a woman or a couple to have children.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number of live births in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birth rate (CBR):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live births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Crude death rate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deaths per 1,000 people in a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years a population needs to double at a constant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and mortality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Fecundity and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woman can be fecund (able to have children) but not fertile (having no live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CBR 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CBR = births ÷ total population × 1,000.</a:t>
            </a:r>
            <a:endParaRPr lang="en-US" sz="3600" dirty="0"/>
          </a:p>
        </p:txBody>
      </p:sp>
      <p:pic>
        <p:nvPicPr>
          <p:cNvPr id="5" name="Image 0" descr="/home/claude/f4/img/v2/indic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main formulas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CBR example: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16,000 births in a town of 400,000: 16,000 ÷ 400,000 × 1,000 = 40 per 1,000.</a:t>
            </a:r>
            <a:endParaRPr lang="en-US" sz="3600" dirty="0"/>
          </a:p>
        </p:txBody>
      </p:sp>
      <p:pic>
        <p:nvPicPr>
          <p:cNvPr id="5" name="Image 0" descr="/home/claude/f4/img/v2/pop2_garoua_calc.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worked example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Measures of Fertility and Mortality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CDR 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CDR = deaths ÷ total population ×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CDR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4,000 deaths in the same town: 4,000 ÷ 400,000 × 1,000 = 10 per 1,000.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change is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Rate of natural increase (RNI):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RNI (%) = (CBR − CDR) ÷ 10; it excludes migration.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RNI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CBR of 40 and a CDR of 10: (40 − 10)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Calculating Population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(Immigrants − emigrants) ÷ total population ×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[(births − deaths) + (immigrants − emigrants)] ÷ population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future population is projected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Rule of 70: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Doubling time (years) ≈ 70 ÷ growth rate (%).</a:t>
            </a:r>
            <a:endParaRPr lang="en-US" sz="3600" dirty="0"/>
          </a:p>
        </p:txBody>
      </p:sp>
      <p:pic>
        <p:nvPicPr>
          <p:cNvPr id="5" name="Image 0" descr="/home/claude/f4/img/v2/projection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population doubling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Projecting Future Population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growing at 3 % a year doubles in about 70 ÷ 3 ≈ 23 years.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for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doubles in about 23 years, it will need twice as many classrooms, health centres and water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solutions of the practical exercises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Exercise 1 (CBR):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850 births in a town of 50,000: 850 ÷ 50,000 × 1,000 = 17 per 1,000.</a:t>
            </a:r>
            <a:endParaRPr lang="en-US" sz="3600" dirty="0"/>
          </a:p>
        </p:txBody>
      </p:sp>
      <p:pic>
        <p:nvPicPr>
          <p:cNvPr id="5" name="Image 0" descr="/home/claude/f4/img/v2/pop2_exercis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solutions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2 (CDR):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 deaths in a region of 150,000: 1,200 ÷ 150,000 × 1,000 = 8 per 1,000.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3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120,000 births, 85,000 deaths, 30,000 immigrants and 25,000 emigrants in 3,000,000 people: (35,000 + 5,000) ÷ 3,000,000 × 100 ≈ 1.33 %.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Practical Exercises with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Exercise 4 (doubling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growth rate of 3 % gives 70 ÷ 3 ≈ 23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of 25,000 people has 1,000 births and 200 deaths. Calculate its CBR, CDR and RNI.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CBR = 40 ‰; CDR = 8 ‰; RNI = (40 − 8) ÷ 10 = 3.2 %.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doubling time of a population growing at 2 %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70 ÷ 2 = 35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CBR is expressed per ______ people.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RNI (%) = (CBR − CDR)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Doubling time ≈ ______ ÷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Doubling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 de doublement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projection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projection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Fecundity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 biologique (fécondabilité)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Calculating Demographic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fecundity from fertility. Calculate the crude birth rate and the crude death rate. Calculate the rate of natural increase and the growth rate. Calculate the doubling time with the rule of 70.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main demographic indices and use them to project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Measures of Fertility and Mortality; Calculating Population Change; Projecting Future Population; Practical Exercises with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non-demographic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rising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let learners work in pairs.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2026-09-29T03:13:00Z</dcterms:created>
  <dcterms:modified xsi:type="dcterms:W3CDTF">2026-09-29T03:13:00Z</dcterms:modified>
</cp:coreProperties>
</file>