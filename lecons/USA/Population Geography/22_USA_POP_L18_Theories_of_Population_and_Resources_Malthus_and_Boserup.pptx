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slideMasters/slideMaster56.xml" ContentType="application/vnd.openxmlformats-officedocument.presentationml.slideMaster+xml"/>
  <Override PartName="/ppt/slides/slide56.xml" ContentType="application/vnd.openxmlformats-officedocument.presentationml.slide+xml"/>
  <Override PartName="/ppt/slideMasters/slideMaster57.xml" ContentType="application/vnd.openxmlformats-officedocument.presentationml.slideMaster+xml"/>
  <Override PartName="/ppt/slides/slide57.xml" ContentType="application/vnd.openxmlformats-officedocument.presentationml.slide+xml"/>
  <Override PartName="/ppt/slideMasters/slideMaster58.xml" ContentType="application/vnd.openxmlformats-officedocument.presentationml.slideMaster+xml"/>
  <Override PartName="/ppt/slides/slide58.xml" ContentType="application/vnd.openxmlformats-officedocument.presentationml.slide+xml"/>
  <Override PartName="/ppt/slideMasters/slideMaster59.xml" ContentType="application/vnd.openxmlformats-officedocument.presentationml.slideMaster+xml"/>
  <Override PartName="/ppt/slides/slide59.xml" ContentType="application/vnd.openxmlformats-officedocument.presentationml.slide+xml"/>
  <Override PartName="/ppt/slideMasters/slideMaster60.xml" ContentType="application/vnd.openxmlformats-officedocument.presentationml.slideMaster+xml"/>
  <Override PartName="/ppt/slides/slide60.xml" ContentType="application/vnd.openxmlformats-officedocument.presentationml.slide+xml"/>
  <Override PartName="/ppt/slideMasters/slideMaster61.xml" ContentType="application/vnd.openxmlformats-officedocument.presentationml.slideMaster+xml"/>
  <Override PartName="/ppt/slides/slide61.xml" ContentType="application/vnd.openxmlformats-officedocument.presentationml.slide+xml"/>
  <Override PartName="/ppt/slideMasters/slideMaster62.xml" ContentType="application/vnd.openxmlformats-officedocument.presentationml.slideMaster+xml"/>
  <Override PartName="/ppt/slides/slide62.xml" ContentType="application/vnd.openxmlformats-officedocument.presentationml.slide+xml"/>
  <Override PartName="/ppt/slideMasters/slideMaster63.xml" ContentType="application/vnd.openxmlformats-officedocument.presentationml.slideMaster+xml"/>
  <Override PartName="/ppt/slides/slide63.xml" ContentType="application/vnd.openxmlformats-officedocument.presentationml.slide+xml"/>
  <Override PartName="/ppt/slideMasters/slideMaster64.xml" ContentType="application/vnd.openxmlformats-officedocument.presentationml.slideMaster+xml"/>
  <Override PartName="/ppt/slides/slide64.xml" ContentType="application/vnd.openxmlformats-officedocument.presentationml.slide+xml"/>
  <Override PartName="/ppt/slideMasters/slideMaster65.xml" ContentType="application/vnd.openxmlformats-officedocument.presentationml.slideMaster+xml"/>
  <Override PartName="/ppt/slides/slide65.xml" ContentType="application/vnd.openxmlformats-officedocument.presentationml.slide+xml"/>
  <Override PartName="/ppt/slideMasters/slideMaster66.xml" ContentType="application/vnd.openxmlformats-officedocument.presentationml.slideMaster+xml"/>
  <Override PartName="/ppt/slides/slide66.xml" ContentType="application/vnd.openxmlformats-officedocument.presentationml.slide+xml"/>
  <Override PartName="/ppt/slideMasters/slideMaster67.xml" ContentType="application/vnd.openxmlformats-officedocument.presentationml.slideMaster+xml"/>
  <Override PartName="/ppt/slides/slide67.xml" ContentType="application/vnd.openxmlformats-officedocument.presentationml.slide+xml"/>
  <Override PartName="/ppt/slideMasters/slideMaster68.xml" ContentType="application/vnd.openxmlformats-officedocument.presentationml.slideMaster+xml"/>
  <Override PartName="/ppt/slides/slide68.xml" ContentType="application/vnd.openxmlformats-officedocument.presentationml.slide+xml"/>
  <Override PartName="/ppt/slideMasters/slideMaster69.xml" ContentType="application/vnd.openxmlformats-officedocument.presentationml.slideMaster+xml"/>
  <Override PartName="/ppt/slides/slide69.xml" ContentType="application/vnd.openxmlformats-officedocument.presentationml.slide+xml"/>
  <Override PartName="/ppt/slideMasters/slideMaster70.xml" ContentType="application/vnd.openxmlformats-officedocument.presentationml.slideMaster+xml"/>
  <Override PartName="/ppt/slides/slide70.xml" ContentType="application/vnd.openxmlformats-officedocument.presentationml.slide+xml"/>
  <Override PartName="/ppt/slideMasters/slideMaster71.xml" ContentType="application/vnd.openxmlformats-officedocument.presentationml.slideMaster+xml"/>
  <Override PartName="/ppt/slides/slide7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 id="322" r:id="rId68"/>
    <p:sldId id="323" r:id="rId69"/>
    <p:sldId id="324" r:id="rId70"/>
    <p:sldId id="325" r:id="rId71"/>
    <p:sldId id="326" r:id="rId72"/>
  </p:sldIdLst>
  <p:notesMasterIdLst>
    <p:notesMasterId r:id="rId7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slide" Target="slides/slide61.xml"/><Relationship Id="rId63" Type="http://schemas.openxmlformats.org/officeDocument/2006/relationships/slide" Target="slides/slide62.xml"/><Relationship Id="rId64" Type="http://schemas.openxmlformats.org/officeDocument/2006/relationships/slide" Target="slides/slide63.xml"/><Relationship Id="rId65" Type="http://schemas.openxmlformats.org/officeDocument/2006/relationships/slide" Target="slides/slide64.xml"/><Relationship Id="rId66" Type="http://schemas.openxmlformats.org/officeDocument/2006/relationships/slide" Target="slides/slide65.xml"/><Relationship Id="rId67" Type="http://schemas.openxmlformats.org/officeDocument/2006/relationships/slide" Target="slides/slide66.xml"/><Relationship Id="rId68" Type="http://schemas.openxmlformats.org/officeDocument/2006/relationships/slide" Target="slides/slide67.xml"/><Relationship Id="rId69" Type="http://schemas.openxmlformats.org/officeDocument/2006/relationships/slide" Target="slides/slide68.xml"/><Relationship Id="rId70" Type="http://schemas.openxmlformats.org/officeDocument/2006/relationships/slide" Target="slides/slide69.xml"/><Relationship Id="rId71" Type="http://schemas.openxmlformats.org/officeDocument/2006/relationships/slide" Target="slides/slide70.xml"/><Relationship Id="rId72" Type="http://schemas.openxmlformats.org/officeDocument/2006/relationships/slide" Target="slides/slide71.xml"/><Relationship Id="rId73" Type="http://schemas.openxmlformats.org/officeDocument/2006/relationships/notesMaster" Target="notesMasters/notesMaster1.xml"/><Relationship Id="rId74" Type="http://schemas.openxmlformats.org/officeDocument/2006/relationships/presProps" Target="presProps.xml"/><Relationship Id="rId75" Type="http://schemas.openxmlformats.org/officeDocument/2006/relationships/viewProps" Target="viewProps.xml"/><Relationship Id="rId76" Type="http://schemas.openxmlformats.org/officeDocument/2006/relationships/theme" Target="theme/theme1.xml"/><Relationship Id="rId7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_rels/notesSlide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7.xml"/>
		</Relationships>
</file>

<file path=ppt/notesSlides/_rels/notesSlide5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8.xml"/>
		</Relationships>
</file>

<file path=ppt/notesSlides/_rels/notesSlide5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9.xml"/>
		</Relationships>
</file>

<file path=ppt/notesSlides/_rels/notesSlide6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0.xml"/>
		</Relationships>
</file>

<file path=ppt/notesSlides/_rels/notesSlide6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1.xml"/>
		</Relationships>
</file>

<file path=ppt/notesSlides/_rels/notesSlide6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2.xml"/>
		</Relationships>
</file>

<file path=ppt/notesSlides/_rels/notesSlide6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3.xml"/>
		</Relationships>
</file>

<file path=ppt/notesSlides/_rels/notesSlide6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4.xml"/>
		</Relationships>
</file>

<file path=ppt/notesSlides/_rels/notesSlide6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5.xml"/>
		</Relationships>
</file>

<file path=ppt/notesSlides/_rels/notesSlide6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6.xml"/>
		</Relationships>
</file>

<file path=ppt/notesSlides/_rels/notesSlide6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7.xml"/>
		</Relationships>
</file>

<file path=ppt/notesSlides/_rels/notesSlide6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8.xml"/>
		</Relationships>
</file>

<file path=ppt/notesSlides/_rels/notesSlide6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9.xml"/>
		</Relationships>
</file>

<file path=ppt/notesSlides/_rels/notesSlide7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0.xml"/>
		</Relationships>
</file>

<file path=ppt/notesSlides/_rels/notesSlide7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class, and welcome to our geography lesson. I am your geography teacher, Mr Kamdem. Today we are starting Lesson 18: Theories of Population and Resources: Malthus and Boserup.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lesson is for Upper Sixth Arts. It belongs to Module 4: Understanding and managing population dynamics across the world in general and Cameroon in particular. We shall need 2 periods to cover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topic is Population Growth and Resources, and the sub-topic is Theories of Population Growth and Resources. The key notions we shall use today are: pessimistic view, optimistic view, geometric growth, arithmetic growth, checks, agricultural intensification, innovation. At the end, you should be able to do this: learners are able to explain, compare and criticise the theories of Malthus and Boserup and apply them to North Cameroon.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we start the new lesson, let us correct the homework I gave you at the end of Lesson 17: Overpopulation, Underpopulation and Optimum Population. The question was: Give the date of Malthus's essay on population. Take out your exercise books.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a good answer. Thomas Malthus published "An Essay on the Principle of Population" in 1798. Compare it with your own answer and correct your work in 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plan of our lesson today. First, we shall correct the homework. Then we shall look at the objectives and recall what you already know. After that, we shall study a situation from real life and the action to take, and do the learning activities. Finally, we shall copy the board summary, do the evaluation and the remediation, and I will give you the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 your time to copy this part; we will continue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By the end of this lesson, you should be able to do five things. Number 1: distinguish the pessimistic and optimistic views. Number 2: explain Malthus's theory and appraise it. Number 3: explain Boserup's theory and appraise it. Number 4: compare the two theories. Number 5: apply them to present-day issues.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first remember what you already know. Overpopulation lowers living standards. Technology raises carrying capacity. The world population passed 8 billion in 2022. Keep this in mind, because we shall build on it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 your time to copy this part; we will continue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 your time to copy this part; we will continue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Listen carefully to this situation from real life. In a village near Lagdo, which has grown from 50 to more than 200 families, two elders debate. Mallam Bello says: "The land of each family is getting smaller and the soil is tired; soon there will be hunger and conflict!" Madame Fanta, head of the women's farming cooperative, answers: "More people means more hands and more minds; this pressure will push our children to irrigate from the lake and use better seeds!" A young man listening asks: "Who is right, and are these only the opinions of two elders?" Think about it, because I am going to ask you some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1: What is the problem in the situation?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The young man does not know the theories on population growth and resources.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2: What is the view of Mallam Bello?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A pessimistic view: population will grow faster than food.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3: What is the view of Madame Fanta?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An optimistic view: population pressure will lead to new farming methods.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this situation, the action we are working towards in this lesson is the following: combine the control of population growth with innovation in farming to ensure food security.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is this lesson important for you? This lesson helps us to judge the future of population and food in Cameroon and the world with scientific theories.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1. Look carefully at this picture: malthus and Boserup compared.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1: Which theorist has an optimistic view?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Ester Boserup.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2. Look carefully at this diagram: population and food according to Malthus.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2: How does food production grow according to Malthus?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Arithmetically (1, 2, 3, 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3. Look carefully at this picture: drought and hunger.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3: Name one "positive check" of Malthus.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Famine, war or disease.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4. Look carefully at this diagram: from forest fallow to multi-cropping.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4: What happens to farming when population pressure grows, according to Boserup?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It is intensified: fallows are shortened and new methods are used.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5. Look carefully at this picture: the Lagdo dam.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5: How does the Lagdo dam illustrate Boserup's theory?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Irrigation from the lake allows more food for a growing population.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are going to copy the board summary. Write the title and the headings neatly in your notebooks. I will give you enough time for each slide, so do not rush.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the definitions. The key terms of this lesson are defined as follows. On this slide we have Geometric progression.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the definitions. On this slide we have Arithmetic progression and Checks.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the definitions. On this slide we have Agricultural intensification.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General Views on Population and Resources. There are two general views on population and resources. Copy the point on The pessimistic view on the left, then draw the diagram on the right: malthus and Boserup.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General Views on Population and Resources. Copy the point on The optimistic view: write the key term first, then its explanation.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His Views. The theory of Malthus is explained as follows. Copy the point on The essay on the left, then draw the diagram on the right: the theory of Malthus.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His Views. Copy the point on Population and food: write the key term first, then its explanation.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Copy the point on Checks on the left, then draw the diagram on the right: drought.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Strengths and Weaknesses. The theory of Malthus has the following strengths and weaknesses. Copy the point on Strength: food insecurity: write the key term first, then its explanation.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Strengths and Weaknesses. Copy the point on Strength: limits of resources: write the key term first, then its explanation.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Strengths and Weaknesses. Copy the point on Weakness: technology: write the key term first, then its explanation.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Strengths and Weaknesses. Copy the point on Weakness: distribution: write the key term first, then its explanation.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Her Views. The theory of Boserup is explained as follows. Copy the point on The book on the left, then draw the diagram on the right: the theory of Boserup.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Her Views. Copy the point on Population pressure and invention: write the key term first, then its explanation.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Copy the point on Example on the left, then draw the diagram on the right: lake Lagdo.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Strengths and Weaknesses. The theory of Boserup has the following strengths and weaknesses. Copy the point on Strength: human innovation: write the key term first, then its explanation.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Strengths and Weaknesses. Copy the point on Strength: real examples: write the key term first, then its explanation.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Strengths and Weaknesses. Copy the point on Weakness: too optimistic: write the key term first, then its explanation.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Strengths and Weaknesses. Copy the point on Weakness: environmental damage: write the key term first, then its explanation.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Comparison and Application Today. The two theories compare and apply today as follows. Copy the point on Population growth and development: write the key term first, then its explanation.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Comparison and Application Today. Copy the point on Developing countries: write the key term first, then its explanation.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Comparison and Application Today. Copy the point on Developed countries: write the key term first, then its explanation.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Comparison and Application Today. Copy the point on A balanced view: write the key term first, then its explanation.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1: State the main difference between Malthus and Boserup.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malthus thinks population growth leads to famine; Boserup thinks it leads to agricultural innovation.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2: Give one weakness of each theory.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malthus underestimated technology; Boserup is too optimistic and ignores environmental limits.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those who need more practice, fill in the blanks in your exercise book. The answers are: number 1, 1798; number 2, arithmetically; number 3, optimistic.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your homework: State the population of Cameroon at the 2005 census. We shall correct it at the beginning of our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next lesson will be on Further Study 1: Population Change in Cameroon. Thank you for your attention, and see you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play the bilingual game. I say a word in English, and you give me the French word. Then we do the reverse.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record this information in the official logbook of the class after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complete the second page of the logbook: the matter taught, the evaluation, the homework and the attendance.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for me, the teacher: it gives the timing of the lesson and what to do if the projector is not available.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references and picture credits used to prepare this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ESSON">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640080" cy="658368"/>
          </a:xfrm>
          <a:prstGeom prst="rect">
            <a:avLst/>
          </a:prstGeom>
          <a:solidFill>
            <a:srgbClr val="990011"/>
          </a:solidFill>
          <a:ln w="12700">
            <a:solidFill>
              <a:srgbClr val="990011"/>
            </a:solidFill>
            <a:prstDash val="solid"/>
          </a:ln>
        </p:spPr>
      </p:sp>
      <p:sp>
        <p:nvSpPr>
          <p:cNvPr id="3" name="Text 1"/>
          <p:cNvSpPr/>
          <p:nvPr/>
        </p:nvSpPr>
        <p:spPr>
          <a:xfrm>
            <a:off x="640080" y="0"/>
            <a:ext cx="4754880" cy="658368"/>
          </a:xfrm>
          <a:prstGeom prst="homePlate">
            <a:avLst/>
          </a:prstGeom>
          <a:solidFill>
            <a:srgbClr val="990011"/>
          </a:solidFill>
          <a:ln>
            <a:solidFill>
              <a:srgbClr val="990011"/>
            </a:solid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GEOGRAPHY / UPPER SIXTH ARTS</a:t>
            </a:r>
            <a:endParaRPr lang="en-US" sz="1800" dirty="0"/>
          </a:p>
        </p:txBody>
      </p:sp>
      <p:sp>
        <p:nvSpPr>
          <p:cNvPr id="4" name="Text 2"/>
          <p:cNvSpPr/>
          <p:nvPr/>
        </p:nvSpPr>
        <p:spPr>
          <a:xfrm>
            <a:off x="5212080" y="0"/>
            <a:ext cx="6979615" cy="658368"/>
          </a:xfrm>
          <a:prstGeom prst="chevron">
            <a:avLst/>
          </a:prstGeom>
          <a:solidFill>
            <a:srgbClr val="1C3F6E"/>
          </a:solidFill>
          <a:ln>
            <a:solidFill>
              <a:srgbClr val="1C3F6E"/>
            </a:solid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LESSON 18: THEORIES OF POPULATION AND RESOURCES: MALTHUS AND BOSERUP</a:t>
            </a:r>
            <a:endParaRPr lang="en-US" sz="1200" dirty="0"/>
          </a:p>
        </p:txBody>
      </p:sp>
      <p:sp>
        <p:nvSpPr>
          <p:cNvPr id="5" name="Shape 3"/>
          <p:cNvSpPr/>
          <p:nvPr/>
        </p:nvSpPr>
        <p:spPr>
          <a:xfrm>
            <a:off x="0" y="6492240"/>
            <a:ext cx="2743200" cy="365760"/>
          </a:xfrm>
          <a:prstGeom prst="rect">
            <a:avLst/>
          </a:prstGeom>
          <a:solidFill>
            <a:srgbClr val="1C3F6E"/>
          </a:solidFill>
          <a:ln w="12700">
            <a:solidFill>
              <a:srgbClr val="1C3F6E"/>
            </a:solidFill>
            <a:prstDash val="solid"/>
          </a:ln>
        </p:spPr>
      </p:sp>
      <p:sp>
        <p:nvSpPr>
          <p:cNvPr id="6"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7"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8"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GBHS GAROUA</a:t>
            </a:r>
            <a:endParaRPr lang="en-US" sz="1300" dirty="0"/>
          </a:p>
        </p:txBody>
      </p:sp>
      <p:sp>
        <p:nvSpPr>
          <p:cNvPr id="9"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0"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VER">
    <p:bg>
      <p:bgPr>
        <a:solidFill>
          <a:srgbClr val="FFFFFF"/>
        </a:solidFill>
      </p:bgPr>
    </p:bg>
    <p:spTree>
      <p:nvGrpSpPr>
        <p:cNvPr id="1" name=""/>
        <p:cNvGrpSpPr/>
        <p:nvPr/>
      </p:nvGrpSpPr>
      <p:grpSpPr>
        <a:xfrm>
          <a:off x="0" y="0"/>
          <a:ext cx="0" cy="0"/>
          <a:chOff x="0" y="0"/>
          <a:chExt cx="0" cy="0"/>
        </a:xfrm>
      </p:grpSpPr>
      <p:pic>
        <p:nvPicPr>
          <p:cNvPr id="2" name="Image 0" descr="/home/claude/f4/img/minesec_sheet.png">    </p:cNvPr>
          <p:cNvPicPr>
            <a:picLocks noChangeAspect="1"/>
          </p:cNvPicPr>
          <p:nvPr/>
        </p:nvPicPr>
        <p:blipFill>
          <a:blip r:embed="rId1"/>
          <a:stretch>
            <a:fillRect/>
          </a:stretch>
        </p:blipFill>
        <p:spPr>
          <a:xfrm>
            <a:off x="0" y="0"/>
            <a:ext cx="5888736" cy="6492240"/>
          </a:xfrm>
          <a:prstGeom prst="rect">
            <a:avLst/>
          </a:prstGeom>
        </p:spPr>
      </p:pic>
      <p:sp>
        <p:nvSpPr>
          <p:cNvPr id="3" name="Text 0"/>
          <p:cNvSpPr/>
          <p:nvPr/>
        </p:nvSpPr>
        <p:spPr>
          <a:xfrm>
            <a:off x="6126480" y="502920"/>
            <a:ext cx="5760720" cy="822960"/>
          </a:xfrm>
          <a:prstGeom prst="rect">
            <a:avLst/>
          </a:prstGeom>
          <a:noFill/>
          <a:ln/>
        </p:spPr>
        <p:txBody>
          <a:bodyPr wrap="square" lIns="0" tIns="0" rIns="0" bIns="0" rtlCol="0" anchor="ctr"/>
          <a:lstStyle/>
          <a:p>
            <a:pPr algn="ctr" indent="0" marL="0">
              <a:buNone/>
            </a:pPr>
            <a:r>
              <a:rPr lang="en-US" sz="4400" b="1" dirty="0">
                <a:solidFill>
                  <a:srgbClr val="1565C0"/>
                </a:solidFill>
                <a:latin typeface="Times New Roman" pitchFamily="34" charset="0"/>
                <a:ea typeface="Times New Roman" pitchFamily="34" charset="-122"/>
                <a:cs typeface="Times New Roman" pitchFamily="34" charset="-120"/>
              </a:rPr>
              <a:t>MINESEC</a:t>
            </a:r>
            <a:endParaRPr lang="en-US" sz="4400" dirty="0"/>
          </a:p>
        </p:txBody>
      </p:sp>
      <p:sp>
        <p:nvSpPr>
          <p:cNvPr id="4" name="Text 1"/>
          <p:cNvSpPr/>
          <p:nvPr/>
        </p:nvSpPr>
        <p:spPr>
          <a:xfrm>
            <a:off x="6126480" y="1325880"/>
            <a:ext cx="5760720" cy="457200"/>
          </a:xfrm>
          <a:prstGeom prst="rect">
            <a:avLst/>
          </a:prstGeom>
          <a:noFill/>
          <a:ln/>
        </p:spPr>
        <p:txBody>
          <a:bodyPr wrap="square" lIns="0" tIns="0" rIns="0" bIns="0" rtlCol="0" anchor="ctr"/>
          <a:lstStyle/>
          <a:p>
            <a:pPr algn="ctr" indent="0" marL="0">
              <a:buNone/>
            </a:pPr>
            <a:r>
              <a:rPr lang="en-US" sz="1800" b="1" dirty="0">
                <a:solidFill>
                  <a:srgbClr val="1C3F6E"/>
                </a:solidFill>
                <a:latin typeface="Calibri" pitchFamily="34" charset="0"/>
                <a:ea typeface="Calibri" pitchFamily="34" charset="-122"/>
                <a:cs typeface="Calibri" pitchFamily="34" charset="-120"/>
              </a:rPr>
              <a:t>GBHS GAROUA  —  GEOGRAPHY DEPARTMENT</a:t>
            </a:r>
            <a:endParaRPr lang="en-US" sz="1800" dirty="0"/>
          </a:p>
        </p:txBody>
      </p:sp>
      <p:sp>
        <p:nvSpPr>
          <p:cNvPr id="5" name="Text 2"/>
          <p:cNvSpPr/>
          <p:nvPr/>
        </p:nvSpPr>
        <p:spPr>
          <a:xfrm>
            <a:off x="6126480" y="5257800"/>
            <a:ext cx="5760720" cy="914400"/>
          </a:xfrm>
          <a:prstGeom prst="rect">
            <a:avLst/>
          </a:prstGeom>
          <a:noFill/>
          <a:ln/>
        </p:spPr>
        <p:txBody>
          <a:bodyPr wrap="square" lIns="0" tIns="0" rIns="0" bIns="0" rtlCol="0" anchor="ctr"/>
          <a:lstStyle/>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KAMDEM Emmanuel Berthaut</a:t>
            </a:r>
            <a:endParaRPr lang="en-US" sz="2000" dirty="0"/>
          </a:p>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Geography Teacher</a:t>
            </a:r>
            <a:endParaRPr lang="en-US" sz="2000" dirty="0"/>
          </a:p>
        </p:txBody>
      </p:sp>
      <p:sp>
        <p:nvSpPr>
          <p:cNvPr id="6" name="Shape 3"/>
          <p:cNvSpPr/>
          <p:nvPr/>
        </p:nvSpPr>
        <p:spPr>
          <a:xfrm>
            <a:off x="0" y="6492240"/>
            <a:ext cx="2743200" cy="365760"/>
          </a:xfrm>
          <a:prstGeom prst="rect">
            <a:avLst/>
          </a:prstGeom>
          <a:solidFill>
            <a:srgbClr val="1C3F6E"/>
          </a:solidFill>
          <a:ln w="12700">
            <a:solidFill>
              <a:srgbClr val="1C3F6E"/>
            </a:solidFill>
            <a:prstDash val="solid"/>
          </a:ln>
        </p:spPr>
      </p:sp>
      <p:sp>
        <p:nvSpPr>
          <p:cNvPr id="7"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8"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9"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GBHS GAROUA</a:t>
            </a:r>
            <a:endParaRPr lang="en-US" sz="1300" dirty="0"/>
          </a:p>
        </p:txBody>
      </p:sp>
      <p:sp>
        <p:nvSpPr>
          <p:cNvPr id="10"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1"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2.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2.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2.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2.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2.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2.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jpg"/><Relationship Id="rId2" Type="http://schemas.openxmlformats.org/officeDocument/2006/relationships/slideLayout" Target="../slideLayouts/slideLayout2.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2.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2.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2.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2.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2.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jpg"/><Relationship Id="rId2" Type="http://schemas.openxmlformats.org/officeDocument/2006/relationships/slideLayout" Target="../slideLayouts/slideLayout2.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2.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2.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2.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2.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slideLayout" Target="../slideLayouts/slideLayout2.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2.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2.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slideLayout" Target="../slideLayouts/slideLayout2.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slideLayout" Target="../slideLayouts/slideLayout2.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slideLayout" Target="../slideLayouts/slideLayout2.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jpg"/><Relationship Id="rId2" Type="http://schemas.openxmlformats.org/officeDocument/2006/relationships/slideLayout" Target="../slideLayouts/slideLayout2.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slideLayout" Target="../slideLayouts/slideLayout2.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slideLayout" Target="../slideLayouts/slideLayout2.xml"/><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47-1.png"/><Relationship Id="rId2" Type="http://schemas.openxmlformats.org/officeDocument/2006/relationships/slideLayout" Target="../slideLayouts/slideLayout2.xml"/><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image" Target="../media/image-48-1.png"/><Relationship Id="rId2" Type="http://schemas.openxmlformats.org/officeDocument/2006/relationships/slideLayout" Target="../slideLayouts/slideLayout2.xml"/><Relationship Id="rId3"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image" Target="../media/image-49-1.png"/><Relationship Id="rId2" Type="http://schemas.openxmlformats.org/officeDocument/2006/relationships/slideLayout" Target="../slideLayouts/slideLayout2.xml"/><Relationship Id="rId3"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image" Target="../media/image-50-1.png"/><Relationship Id="rId2" Type="http://schemas.openxmlformats.org/officeDocument/2006/relationships/slideLayout" Target="../slideLayouts/slideLayout2.xml"/><Relationship Id="rId3"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image" Target="../media/image-51-1.jpg"/><Relationship Id="rId2" Type="http://schemas.openxmlformats.org/officeDocument/2006/relationships/slideLayout" Target="../slideLayouts/slideLayout2.xml"/><Relationship Id="rId3"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image" Target="../media/image-52-1.png"/><Relationship Id="rId2" Type="http://schemas.openxmlformats.org/officeDocument/2006/relationships/slideLayout" Target="../slideLayouts/slideLayout2.xml"/><Relationship Id="rId3"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image" Target="../media/image-53-1.png"/><Relationship Id="rId2" Type="http://schemas.openxmlformats.org/officeDocument/2006/relationships/slideLayout" Target="../slideLayouts/slideLayout2.xml"/><Relationship Id="rId3"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image" Target="../media/image-54-1.png"/><Relationship Id="rId2" Type="http://schemas.openxmlformats.org/officeDocument/2006/relationships/slideLayout" Target="../slideLayouts/slideLayout2.xml"/><Relationship Id="rId3"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image" Target="../media/image-55-1.png"/><Relationship Id="rId2" Type="http://schemas.openxmlformats.org/officeDocument/2006/relationships/slideLayout" Target="../slideLayouts/slideLayout2.xml"/><Relationship Id="rId3"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image" Target="../media/image-56-1.png"/><Relationship Id="rId2" Type="http://schemas.openxmlformats.org/officeDocument/2006/relationships/slideLayout" Target="../slideLayouts/slideLayout2.xml"/><Relationship Id="rId3"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image" Target="../media/image-57-1.png"/><Relationship Id="rId2" Type="http://schemas.openxmlformats.org/officeDocument/2006/relationships/slideLayout" Target="../slideLayouts/slideLayout2.xml"/><Relationship Id="rId3"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image" Target="../media/image-58-1.png"/><Relationship Id="rId2" Type="http://schemas.openxmlformats.org/officeDocument/2006/relationships/slideLayout" Target="../slideLayouts/slideLayout2.xml"/><Relationship Id="rId3"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image" Target="../media/image-59-1.png"/><Relationship Id="rId2" Type="http://schemas.openxmlformats.org/officeDocument/2006/relationships/slideLayout" Target="../slideLayouts/slideLayout2.xml"/><Relationship Id="rId3"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image" Target="../media/image-60-1.png"/><Relationship Id="rId2" Type="http://schemas.openxmlformats.org/officeDocument/2006/relationships/slideLayout" Target="../slideLayouts/slideLayout2.xml"/><Relationship Id="rId3"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image" Target="../media/image-61-1.png"/><Relationship Id="rId2" Type="http://schemas.openxmlformats.org/officeDocument/2006/relationships/slideLayout" Target="../slideLayouts/slideLayout2.xml"/><Relationship Id="rId3"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image" Target="../media/image-62-1.png"/><Relationship Id="rId2" Type="http://schemas.openxmlformats.org/officeDocument/2006/relationships/slideLayout" Target="../slideLayouts/slideLayout2.xml"/><Relationship Id="rId3"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image" Target="../media/image-63-1.png"/><Relationship Id="rId2" Type="http://schemas.openxmlformats.org/officeDocument/2006/relationships/slideLayout" Target="../slideLayouts/slideLayout2.xml"/><Relationship Id="rId3"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image" Target="../media/image-64-1.png"/><Relationship Id="rId2" Type="http://schemas.openxmlformats.org/officeDocument/2006/relationships/slideLayout" Target="../slideLayouts/slideLayout2.xml"/><Relationship Id="rId3"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image" Target="../media/image-65-1.png"/><Relationship Id="rId2" Type="http://schemas.openxmlformats.org/officeDocument/2006/relationships/slideLayout" Target="../slideLayouts/slideLayout2.xml"/><Relationship Id="rId3"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image" Target="../media/image-66-1.png"/><Relationship Id="rId2" Type="http://schemas.openxmlformats.org/officeDocument/2006/relationships/slideLayout" Target="../slideLayouts/slideLayout2.xml"/><Relationship Id="rId3"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image" Target="../media/image-70-1.png"/><Relationship Id="rId2" Type="http://schemas.openxmlformats.org/officeDocument/2006/relationships/slideLayout" Target="../slideLayouts/slideLayout2.xml"/><Relationship Id="rId3"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image" Target="../media/image-71-1.png"/><Relationship Id="rId2" Type="http://schemas.openxmlformats.org/officeDocument/2006/relationships/slideLayout" Target="../slideLayouts/slideLayout2.xml"/><Relationship Id="rId3" Type="http://schemas.openxmlformats.org/officeDocument/2006/relationships/notesSlide" Target="../notesSlides/notesSlide7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6126480" y="1965960"/>
            <a:ext cx="5760720" cy="1005840"/>
          </a:xfrm>
          <a:prstGeom prst="rect">
            <a:avLst/>
          </a:prstGeom>
          <a:noFill/>
          <a:ln/>
        </p:spPr>
        <p:txBody>
          <a:bodyPr wrap="square" lIns="0" tIns="0" rIns="0" bIns="0" rtlCol="0" anchor="ct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UPPER SIXTH ARTS</a:t>
            </a:r>
            <a:endParaRPr lang="en-US" sz="2600" dirty="0"/>
          </a:p>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GEOGRAPHY</a:t>
            </a:r>
            <a:endParaRPr lang="en-US" sz="2600" dirty="0"/>
          </a:p>
        </p:txBody>
      </p:sp>
      <p:sp>
        <p:nvSpPr>
          <p:cNvPr id="3" name="Text 1"/>
          <p:cNvSpPr/>
          <p:nvPr/>
        </p:nvSpPr>
        <p:spPr>
          <a:xfrm>
            <a:off x="6126480" y="3063240"/>
            <a:ext cx="5760720" cy="2103120"/>
          </a:xfrm>
          <a:prstGeom prst="rect">
            <a:avLst/>
          </a:prstGeom>
          <a:noFill/>
          <a:ln/>
        </p:spPr>
        <p:txBody>
          <a:bodyPr wrap="square" lIns="0" tIns="0" rIns="0" bIns="0" rtlCol="0" anchor="ctr">
            <a:normAutofit/>
          </a:bodyP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Lesson 18</a:t>
            </a:r>
            <a:endParaRPr lang="en-US" sz="2600" dirty="0"/>
          </a:p>
          <a:p>
            <a:pPr algn="ctr" indent="0" marL="0">
              <a:buNone/>
            </a:pPr>
            <a:r>
              <a:rPr lang="en-US" sz="3200" b="1" dirty="0">
                <a:solidFill>
                  <a:srgbClr val="990011"/>
                </a:solidFill>
                <a:latin typeface="Times New Roman" pitchFamily="34" charset="0"/>
                <a:ea typeface="Times New Roman" pitchFamily="34" charset="-122"/>
                <a:cs typeface="Times New Roman" pitchFamily="34" charset="-120"/>
              </a:rPr>
              <a:t>Theories of Population and Resources: Malthus and Boserup</a:t>
            </a:r>
            <a:endParaRPr lang="en-US" sz="2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CLASS INFO</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Class, Chapter and Duration</a:t>
            </a:r>
            <a:endParaRPr lang="en-US" sz="36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Class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Upper Sixth Arts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Chapter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Module 4: Understanding and managing population dynamics across the world in general and Cameroon in particular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Duration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2 periods (2 × 50 minutes)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IDENTIFICATION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Identification</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Population Growth and Resources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Sub-topic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Theories of Population Growth and Resources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Lesson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Lesson 18: Theories of Population and Resources: Malthus and Boserup</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Notions / Concepts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Pessimistic view, optimistic view, geometric growth, arithmetic growth, checks, agricultural intensification, innovation.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Syllabus focus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General views on population and resources; the Malthusian theory, its strengths and weaknesses; Boserup's theory, its strengths and weaknesses; comparison and application today.</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Competence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Learners are able to explain, compare and criticise the theories of Malthus and Boserup and apply them to North Cameroon.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of the 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C3F6E"/>
                </a:solidFill>
                <a:latin typeface="Times New Roman" pitchFamily="34" charset="0"/>
                <a:ea typeface="Times New Roman" pitchFamily="34" charset="-122"/>
                <a:cs typeface="Times New Roman" pitchFamily="34" charset="-120"/>
              </a:rPr>
              <a:t>Question (Lesson 17: Overpopulation, Underpopulation and Optimum Population):</a:t>
            </a:r>
            <a:endParaRPr lang="en-US" sz="4000" dirty="0"/>
          </a:p>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the date of Malthus's essay on population.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Thomas Malthus published "An Essay on the Principle of Population" in 1798.</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LESSON PLAN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Plan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Correction of the homework</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Objectives and recall</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Real-life situation and action to take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Learning activities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Board summary</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Evaluation, remediation and homework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1463040" cy="5833872"/>
          </a:xfrm>
          <a:prstGeom prst="rect">
            <a:avLst/>
          </a:prstGeom>
        </p:spPr>
      </p:pic>
      <p:sp>
        <p:nvSpPr>
          <p:cNvPr id="4" name="Text 1"/>
          <p:cNvSpPr/>
          <p:nvPr/>
        </p:nvSpPr>
        <p:spPr>
          <a:xfrm>
            <a:off x="1691640" y="1005840"/>
            <a:ext cx="101800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a:t>
            </a:r>
            <a:endParaRPr lang="en-US" sz="3600" dirty="0"/>
          </a:p>
        </p:txBody>
      </p:sp>
      <p:sp>
        <p:nvSpPr>
          <p:cNvPr id="5" name="Text 2"/>
          <p:cNvSpPr/>
          <p:nvPr/>
        </p:nvSpPr>
        <p:spPr>
          <a:xfrm>
            <a:off x="1691640" y="1783080"/>
            <a:ext cx="101800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By the end of this lesson, you should be able to:</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Distinguish the pessimistic and optimistic views.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Explain Malthus's theory and appraise it.</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Explain Boserup's theory and appraise it.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Compare the two theories.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Apply them to present-day issues.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PREVIOUS KNOWLEDGE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Previous Knowledge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Overpopulation lowers living standards.</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Technology raises carrying capacity.</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The world population passed 8 billion in 2022.</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in Real Life</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In a village near Lagdo, which has grown from 50 to more than 200 families, two elders debate.</a:t>
            </a:r>
            <a:endParaRPr lang="en-US" sz="4000" dirty="0"/>
          </a:p>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Mallam Bello says: "The land of each family is getting smaller and the soil is tired; soon there will be hunger and conflict!"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in Real Life (continued)</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Madame Fanta, head of the women's farming cooperative, answers: "More people means more hands and more minds; this pressure will push our children to irrigate from the lake and use better seeds!"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in Real Life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 young man listening asks: "Who is right, and are these only the opinions of two elders?"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problem in the situation?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young man does not know the theories on population growth and resources.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view of Mallam Bello?</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 pessimistic view: population will grow faster than food.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3</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view of Madame Fanta?</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An optimistic view: population pressure will lead to new farming methods.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ACTION TO TAKE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Action to Take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Combine the control of population growth with innovation in farming to ensure food security.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JUSTIFICATION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Justification of the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This lesson helps us to judge the future of population and food in Cameroon and the world with scientific theories.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GENERAL VIEWS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a:t>
            </a:r>
            <a:endParaRPr lang="en-US" sz="3600" dirty="0"/>
          </a:p>
        </p:txBody>
      </p:sp>
      <p:pic>
        <p:nvPicPr>
          <p:cNvPr id="4" name="Image 0" descr="/home/claude/f4/img/v2/pop2_malthus_boserup.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Malthus and Boserup compared.</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GENERAL VIEWS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Which theorist has an optimistic view?</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GENERAL VIEWS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Ester Boserup.</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MALTHUS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a:t>
            </a:r>
            <a:endParaRPr lang="en-US" sz="3600" dirty="0"/>
          </a:p>
        </p:txBody>
      </p:sp>
      <p:pic>
        <p:nvPicPr>
          <p:cNvPr id="4" name="Image 0" descr="/home/claude/f4/img/v2/malthus_big.png">    </p:cNvPr>
          <p:cNvPicPr>
            <a:picLocks noChangeAspect="1"/>
          </p:cNvPicPr>
          <p:nvPr/>
        </p:nvPicPr>
        <p:blipFill>
          <a:blip r:embed="rId1"/>
          <a:stretch>
            <a:fillRect/>
          </a:stretch>
        </p:blipFill>
        <p:spPr>
          <a:xfrm>
            <a:off x="1215564" y="1783080"/>
            <a:ext cx="9760567"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Population and food according to Malthus.</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MALTHUS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How does food production grow according to Malthus?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MALTHUS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Arithmetically (1, 2, 3, 4…).</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MALTHUS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a:t>
            </a:r>
            <a:endParaRPr lang="en-US" sz="3600" dirty="0"/>
          </a:p>
        </p:txBody>
      </p:sp>
      <p:pic>
        <p:nvPicPr>
          <p:cNvPr id="4" name="Image 0" descr="/home/claude/f4/img/v2/f2t_drought.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Drought and hunger.</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MALTHUS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Name one "positive check" of Malthus.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MALTHUS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Famine, war or disease.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BOSERUP</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a:t>
            </a:r>
            <a:endParaRPr lang="en-US" sz="3600" dirty="0"/>
          </a:p>
        </p:txBody>
      </p:sp>
      <p:pic>
        <p:nvPicPr>
          <p:cNvPr id="4" name="Image 0" descr="/home/claude/f4/img/v2/boserup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From forest fallow to multi-cropping.</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BOSERUP</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happens to farming when population pressure grows, according to Boserup?</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BOSERUP</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intensified: fallows are shortened and new methods are used.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4. APPLICATION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a:t>
            </a:r>
            <a:endParaRPr lang="en-US" sz="3600" dirty="0"/>
          </a:p>
        </p:txBody>
      </p:sp>
      <p:pic>
        <p:nvPicPr>
          <p:cNvPr id="4" name="Image 0" descr="/home/claude/f4/img/v2/f2t_lagdo.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The Lagdo dam.</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4. APPLICATION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How does the Lagdo dam illustrate Boserup's theory?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4. APPLICATION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Irrigation from the lake allows more food for a growing population.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Board Summary</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3200" b="1" dirty="0">
                <a:solidFill>
                  <a:srgbClr val="111111"/>
                </a:solidFill>
                <a:latin typeface="Times New Roman" pitchFamily="34" charset="0"/>
                <a:ea typeface="Times New Roman" pitchFamily="34" charset="-122"/>
                <a:cs typeface="Times New Roman" pitchFamily="34" charset="-120"/>
              </a:rPr>
              <a:t>Topic: Population Growth and Resources</a:t>
            </a:r>
            <a:endParaRPr lang="en-US" sz="3200" dirty="0"/>
          </a:p>
          <a:p>
            <a:pPr algn="l" indent="0" marL="0">
              <a:spcAft>
                <a:spcPts val="800"/>
              </a:spcAft>
              <a:buNone/>
            </a:pPr>
            <a:r>
              <a:rPr lang="en-US" sz="3200" b="1" dirty="0">
                <a:solidFill>
                  <a:srgbClr val="111111"/>
                </a:solidFill>
                <a:latin typeface="Times New Roman" pitchFamily="34" charset="0"/>
                <a:ea typeface="Times New Roman" pitchFamily="34" charset="-122"/>
                <a:cs typeface="Times New Roman" pitchFamily="34" charset="-120"/>
              </a:rPr>
              <a:t>Sub-topic: Theories of Population Growth and Resources</a:t>
            </a:r>
            <a:endParaRPr lang="en-US" sz="3200" dirty="0"/>
          </a:p>
          <a:p>
            <a:pPr algn="l" indent="0" marL="0">
              <a:spcAft>
                <a:spcPts val="800"/>
              </a:spcAft>
              <a:buNone/>
            </a:pPr>
            <a:r>
              <a:rPr lang="en-US" sz="3200" b="1" dirty="0">
                <a:solidFill>
                  <a:srgbClr val="990011"/>
                </a:solidFill>
                <a:latin typeface="Times New Roman" pitchFamily="34" charset="0"/>
                <a:ea typeface="Times New Roman" pitchFamily="34" charset="-122"/>
                <a:cs typeface="Times New Roman" pitchFamily="34" charset="-120"/>
              </a:rPr>
              <a:t>Lesson 18: Theories of Population and Resources: Malthus and Boserup</a:t>
            </a:r>
            <a:endParaRPr lang="en-US" sz="32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DEFINITIONS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 key terms of this lesson are defined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Geometric progression: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a series in which each number is multiplied by the same factor (1, 2, 4, 8, 16).</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DEFINITIONS (continued)</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Arithmetic progression: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a series in which the same number is added each time (1, 2, 3, 4, 5).</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Checks: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They are the factors that limit population growth, such as famine, war, disease or late marriage.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DEFINITIONS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Agricultural intensification: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the increase of production on the same land through more labour, new tools and new methods.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365760" y="1005840"/>
            <a:ext cx="11460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General Views on Population and Resources</a:t>
            </a:r>
            <a:endParaRPr lang="en-US" sz="3600" dirty="0"/>
          </a:p>
        </p:txBody>
      </p:sp>
      <p:sp>
        <p:nvSpPr>
          <p:cNvPr id="4" name="Text 2"/>
          <p:cNvSpPr/>
          <p:nvPr/>
        </p:nvSpPr>
        <p:spPr>
          <a:xfrm>
            <a:off x="365760" y="1783080"/>
            <a:ext cx="6035040" cy="4617720"/>
          </a:xfrm>
          <a:prstGeom prst="rect">
            <a:avLst/>
          </a:prstGeom>
          <a:noFill/>
          <a:ln/>
        </p:spPr>
        <p:txBody>
          <a:bodyPr wrap="square" lIns="0" tIns="0" rIns="0" bIns="0" rtlCol="0" anchor="t"/>
          <a:lstStyle/>
          <a:p>
            <a:pPr algn="l" indent="0" marL="0">
              <a:spcAft>
                <a:spcPts val="800"/>
              </a:spcAft>
              <a:buNone/>
            </a:pPr>
            <a:r>
              <a:rPr lang="en-US" sz="3200" i="1" dirty="0">
                <a:solidFill>
                  <a:srgbClr val="111111"/>
                </a:solidFill>
                <a:latin typeface="Times New Roman" pitchFamily="34" charset="0"/>
                <a:ea typeface="Times New Roman" pitchFamily="34" charset="-122"/>
                <a:cs typeface="Times New Roman" pitchFamily="34" charset="-120"/>
              </a:rPr>
              <a:t>There are two general views on population and resources:</a:t>
            </a:r>
            <a:endParaRPr lang="en-US" sz="3200" dirty="0"/>
          </a:p>
          <a:p>
            <a:pPr algn="l" indent="0" marL="0">
              <a:spcAft>
                <a:spcPts val="800"/>
              </a:spcAft>
              <a:buNone/>
            </a:pPr>
            <a:r>
              <a:rPr lang="en-US" sz="3200" b="1" dirty="0">
                <a:solidFill>
                  <a:srgbClr val="111111"/>
                </a:solidFill>
                <a:latin typeface="Times New Roman" pitchFamily="34" charset="0"/>
                <a:ea typeface="Times New Roman" pitchFamily="34" charset="-122"/>
                <a:cs typeface="Times New Roman" pitchFamily="34" charset="-120"/>
              </a:rPr>
              <a:t>The pessimistic view: </a:t>
            </a:r>
            <a:pPr algn="l" indent="0" marL="0">
              <a:spcAft>
                <a:spcPts val="800"/>
              </a:spcAft>
              <a:buNone/>
            </a:pPr>
            <a:r>
              <a:rPr lang="en-US" sz="3200" dirty="0">
                <a:solidFill>
                  <a:srgbClr val="111111"/>
                </a:solidFill>
                <a:latin typeface="Times New Roman" pitchFamily="34" charset="0"/>
                <a:ea typeface="Times New Roman" pitchFamily="34" charset="-122"/>
                <a:cs typeface="Times New Roman" pitchFamily="34" charset="-120"/>
              </a:rPr>
              <a:t>It holds that population grows faster than resources and will cause shortages, famine and crises. Malthus and, later, the Neo-Malthusians defend this view.</a:t>
            </a:r>
            <a:endParaRPr lang="en-US" sz="3200" dirty="0"/>
          </a:p>
        </p:txBody>
      </p:sp>
      <p:pic>
        <p:nvPicPr>
          <p:cNvPr id="5" name="Image 0" descr="/home/claude/f4/img/v2/pop2_malthus_boserup.png">    </p:cNvPr>
          <p:cNvPicPr>
            <a:picLocks noChangeAspect="1"/>
          </p:cNvPicPr>
          <p:nvPr/>
        </p:nvPicPr>
        <p:blipFill>
          <a:blip r:embed="rId1"/>
          <a:stretch>
            <a:fillRect/>
          </a:stretch>
        </p:blipFill>
        <p:spPr>
          <a:xfrm>
            <a:off x="6537960" y="2849678"/>
            <a:ext cx="5470855" cy="2137053"/>
          </a:xfrm>
          <a:prstGeom prst="rect">
            <a:avLst/>
          </a:prstGeom>
        </p:spPr>
      </p:pic>
      <p:sp>
        <p:nvSpPr>
          <p:cNvPr id="6" name="Text 3"/>
          <p:cNvSpPr/>
          <p:nvPr/>
        </p:nvSpPr>
        <p:spPr>
          <a:xfrm>
            <a:off x="6537960" y="6089904"/>
            <a:ext cx="5470855" cy="347472"/>
          </a:xfrm>
          <a:prstGeom prst="rect">
            <a:avLst/>
          </a:prstGeom>
          <a:noFill/>
          <a:ln/>
        </p:spPr>
        <p:txBody>
          <a:bodyPr wrap="square" lIns="0" tIns="0" rIns="0" bIns="0" rtlCol="0" anchor="ctr"/>
          <a:lstStyle/>
          <a:p>
            <a:pPr algn="ctr" indent="0" marL="0">
              <a:buNone/>
            </a:pPr>
            <a:r>
              <a:rPr lang="en-US" sz="1600" i="1" dirty="0">
                <a:solidFill>
                  <a:srgbClr val="555555"/>
                </a:solidFill>
                <a:latin typeface="Times New Roman" pitchFamily="34" charset="0"/>
                <a:ea typeface="Times New Roman" pitchFamily="34" charset="-122"/>
                <a:cs typeface="Times New Roman" pitchFamily="34" charset="-120"/>
              </a:rPr>
              <a:t>Illustration: Malthus and Boserup</a:t>
            </a:r>
            <a:endParaRPr lang="en-US" sz="16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General Views on Population and Resources</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The optimistic view: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holds that population growth stimulates human invention, which increases resources. Boserup defends this view, summed up by the saying "necessity is the mother of invention".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365760" y="1005840"/>
            <a:ext cx="11460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The Theory of Malthus</a:t>
            </a:r>
            <a:endParaRPr lang="en-US" sz="3600" dirty="0"/>
          </a:p>
        </p:txBody>
      </p:sp>
      <p:sp>
        <p:nvSpPr>
          <p:cNvPr id="4" name="Text 2"/>
          <p:cNvSpPr/>
          <p:nvPr/>
        </p:nvSpPr>
        <p:spPr>
          <a:xfrm>
            <a:off x="365760" y="1737360"/>
            <a:ext cx="6035040" cy="457200"/>
          </a:xfrm>
          <a:prstGeom prst="rect">
            <a:avLst/>
          </a:prstGeom>
          <a:noFill/>
          <a:ln/>
        </p:spPr>
        <p:txBody>
          <a:bodyPr wrap="square" lIns="0" tIns="0" rIns="0" bIns="0" rtlCol="0" anchor="ctr">
            <a:normAutofit/>
          </a:bodyPr>
          <a:lstStyle/>
          <a:p>
            <a:pPr algn="l" indent="0" marL="0">
              <a:buNone/>
            </a:pPr>
            <a:r>
              <a:rPr lang="en-US" sz="3000" b="1" dirty="0">
                <a:solidFill>
                  <a:srgbClr val="990011"/>
                </a:solidFill>
                <a:latin typeface="Times New Roman" pitchFamily="34" charset="0"/>
                <a:ea typeface="Times New Roman" pitchFamily="34" charset="-122"/>
                <a:cs typeface="Times New Roman" pitchFamily="34" charset="-120"/>
              </a:rPr>
              <a:t>A) His Views</a:t>
            </a:r>
            <a:endParaRPr lang="en-US" sz="3000" dirty="0"/>
          </a:p>
        </p:txBody>
      </p:sp>
      <p:sp>
        <p:nvSpPr>
          <p:cNvPr id="5" name="Text 3"/>
          <p:cNvSpPr/>
          <p:nvPr/>
        </p:nvSpPr>
        <p:spPr>
          <a:xfrm>
            <a:off x="365760" y="2240280"/>
            <a:ext cx="6035040" cy="4160520"/>
          </a:xfrm>
          <a:prstGeom prst="rect">
            <a:avLst/>
          </a:prstGeom>
          <a:noFill/>
          <a:ln/>
        </p:spPr>
        <p:txBody>
          <a:bodyPr wrap="square" lIns="0" tIns="0" rIns="0" bIns="0" rtlCol="0" anchor="t"/>
          <a:lstStyle/>
          <a:p>
            <a:pPr algn="l" indent="0" marL="0">
              <a:spcAft>
                <a:spcPts val="800"/>
              </a:spcAft>
              <a:buNone/>
            </a:pPr>
            <a:r>
              <a:rPr lang="en-US" sz="3200" i="1" dirty="0">
                <a:solidFill>
                  <a:srgbClr val="111111"/>
                </a:solidFill>
                <a:latin typeface="Times New Roman" pitchFamily="34" charset="0"/>
                <a:ea typeface="Times New Roman" pitchFamily="34" charset="-122"/>
                <a:cs typeface="Times New Roman" pitchFamily="34" charset="-120"/>
              </a:rPr>
              <a:t>The theory of Malthus is explained as follows:</a:t>
            </a:r>
            <a:endParaRPr lang="en-US" sz="3200" dirty="0"/>
          </a:p>
          <a:p>
            <a:pPr algn="l" indent="0" marL="0">
              <a:spcAft>
                <a:spcPts val="800"/>
              </a:spcAft>
              <a:buNone/>
            </a:pPr>
            <a:r>
              <a:rPr lang="en-US" sz="3200" b="1" dirty="0">
                <a:solidFill>
                  <a:srgbClr val="111111"/>
                </a:solidFill>
                <a:latin typeface="Times New Roman" pitchFamily="34" charset="0"/>
                <a:ea typeface="Times New Roman" pitchFamily="34" charset="-122"/>
                <a:cs typeface="Times New Roman" pitchFamily="34" charset="-120"/>
              </a:rPr>
              <a:t>The essay: </a:t>
            </a:r>
            <a:pPr algn="l" indent="0" marL="0">
              <a:spcAft>
                <a:spcPts val="800"/>
              </a:spcAft>
              <a:buNone/>
            </a:pPr>
            <a:r>
              <a:rPr lang="en-US" sz="3200" dirty="0">
                <a:solidFill>
                  <a:srgbClr val="111111"/>
                </a:solidFill>
                <a:latin typeface="Times New Roman" pitchFamily="34" charset="0"/>
                <a:ea typeface="Times New Roman" pitchFamily="34" charset="-122"/>
                <a:cs typeface="Times New Roman" pitchFamily="34" charset="-120"/>
              </a:rPr>
              <a:t>Thomas Malthus, an English clergyman, published "An Essay on the Principle of Population" in 1798. He wrote at a time of rapid population growth and poverty in England.</a:t>
            </a:r>
            <a:endParaRPr lang="en-US" sz="3200" dirty="0"/>
          </a:p>
        </p:txBody>
      </p:sp>
      <p:pic>
        <p:nvPicPr>
          <p:cNvPr id="6" name="Image 0" descr="/home/claude/f4/img/v2/malthus_big.png">    </p:cNvPr>
          <p:cNvPicPr>
            <a:picLocks noChangeAspect="1"/>
          </p:cNvPicPr>
          <p:nvPr/>
        </p:nvPicPr>
        <p:blipFill>
          <a:blip r:embed="rId1"/>
          <a:stretch>
            <a:fillRect/>
          </a:stretch>
        </p:blipFill>
        <p:spPr>
          <a:xfrm>
            <a:off x="6537960" y="2721454"/>
            <a:ext cx="5470855" cy="2393499"/>
          </a:xfrm>
          <a:prstGeom prst="rect">
            <a:avLst/>
          </a:prstGeom>
        </p:spPr>
      </p:pic>
      <p:sp>
        <p:nvSpPr>
          <p:cNvPr id="7" name="Text 4"/>
          <p:cNvSpPr/>
          <p:nvPr/>
        </p:nvSpPr>
        <p:spPr>
          <a:xfrm>
            <a:off x="6537960" y="6089904"/>
            <a:ext cx="5470855" cy="347472"/>
          </a:xfrm>
          <a:prstGeom prst="rect">
            <a:avLst/>
          </a:prstGeom>
          <a:noFill/>
          <a:ln/>
        </p:spPr>
        <p:txBody>
          <a:bodyPr wrap="square" lIns="0" tIns="0" rIns="0" bIns="0" rtlCol="0" anchor="ctr"/>
          <a:lstStyle/>
          <a:p>
            <a:pPr algn="ctr" indent="0" marL="0">
              <a:buNone/>
            </a:pPr>
            <a:r>
              <a:rPr lang="en-US" sz="1600" i="1" dirty="0">
                <a:solidFill>
                  <a:srgbClr val="555555"/>
                </a:solidFill>
                <a:latin typeface="Times New Roman" pitchFamily="34" charset="0"/>
                <a:ea typeface="Times New Roman" pitchFamily="34" charset="-122"/>
                <a:cs typeface="Times New Roman" pitchFamily="34" charset="-120"/>
              </a:rPr>
              <a:t>Illustration: the theory of Malthus</a:t>
            </a:r>
            <a:endParaRPr lang="en-US" sz="16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The Theory of Malthus</a:t>
            </a:r>
            <a:endParaRPr lang="en-US" sz="3600" dirty="0"/>
          </a:p>
        </p:txBody>
      </p:sp>
      <p:sp>
        <p:nvSpPr>
          <p:cNvPr id="5" name="Text 2"/>
          <p:cNvSpPr/>
          <p:nvPr/>
        </p:nvSpPr>
        <p:spPr>
          <a:xfrm>
            <a:off x="2697480" y="1737360"/>
            <a:ext cx="9174175" cy="457200"/>
          </a:xfrm>
          <a:prstGeom prst="rect">
            <a:avLst/>
          </a:prstGeom>
          <a:noFill/>
          <a:ln/>
        </p:spPr>
        <p:txBody>
          <a:bodyPr wrap="square" lIns="0" tIns="0" rIns="0" bIns="0" rtlCol="0" anchor="ctr"/>
          <a:lstStyle/>
          <a:p>
            <a:pPr algn="l" indent="0" marL="0">
              <a:buNone/>
            </a:pPr>
            <a:r>
              <a:rPr lang="en-US" sz="3200" b="1" dirty="0">
                <a:solidFill>
                  <a:srgbClr val="990011"/>
                </a:solidFill>
                <a:latin typeface="Times New Roman" pitchFamily="34" charset="0"/>
                <a:ea typeface="Times New Roman" pitchFamily="34" charset="-122"/>
                <a:cs typeface="Times New Roman" pitchFamily="34" charset="-120"/>
              </a:rPr>
              <a:t>A) His Views</a:t>
            </a:r>
            <a:endParaRPr lang="en-US" sz="3200" dirty="0"/>
          </a:p>
        </p:txBody>
      </p:sp>
      <p:sp>
        <p:nvSpPr>
          <p:cNvPr id="6" name="Text 3"/>
          <p:cNvSpPr/>
          <p:nvPr/>
        </p:nvSpPr>
        <p:spPr>
          <a:xfrm>
            <a:off x="2697480" y="2240280"/>
            <a:ext cx="9174175" cy="42062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Population and food: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Population grows in a geometric progression (1, 2, 4, 8), while food grows in an arithmetic progression (1, 2, 3, 4). Population will therefore soon exceed food supply, which blocks economic development.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365760" y="1005840"/>
            <a:ext cx="11460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The Theory of Malthus</a:t>
            </a:r>
            <a:endParaRPr lang="en-US" sz="3600" dirty="0"/>
          </a:p>
        </p:txBody>
      </p:sp>
      <p:sp>
        <p:nvSpPr>
          <p:cNvPr id="4" name="Text 2"/>
          <p:cNvSpPr/>
          <p:nvPr/>
        </p:nvSpPr>
        <p:spPr>
          <a:xfrm>
            <a:off x="365760" y="1737360"/>
            <a:ext cx="6035040" cy="457200"/>
          </a:xfrm>
          <a:prstGeom prst="rect">
            <a:avLst/>
          </a:prstGeom>
          <a:noFill/>
          <a:ln/>
        </p:spPr>
        <p:txBody>
          <a:bodyPr wrap="square" lIns="0" tIns="0" rIns="0" bIns="0" rtlCol="0" anchor="ctr">
            <a:normAutofit/>
          </a:bodyPr>
          <a:lstStyle/>
          <a:p>
            <a:pPr algn="l" indent="0" marL="0">
              <a:buNone/>
            </a:pPr>
            <a:r>
              <a:rPr lang="en-US" sz="3000" b="1" dirty="0">
                <a:solidFill>
                  <a:srgbClr val="990011"/>
                </a:solidFill>
                <a:latin typeface="Times New Roman" pitchFamily="34" charset="0"/>
                <a:ea typeface="Times New Roman" pitchFamily="34" charset="-122"/>
                <a:cs typeface="Times New Roman" pitchFamily="34" charset="-120"/>
              </a:rPr>
              <a:t>A) His Views</a:t>
            </a:r>
            <a:endParaRPr lang="en-US" sz="3000" dirty="0"/>
          </a:p>
        </p:txBody>
      </p:sp>
      <p:sp>
        <p:nvSpPr>
          <p:cNvPr id="5" name="Text 3"/>
          <p:cNvSpPr/>
          <p:nvPr/>
        </p:nvSpPr>
        <p:spPr>
          <a:xfrm>
            <a:off x="365760" y="2240280"/>
            <a:ext cx="6035040" cy="4160520"/>
          </a:xfrm>
          <a:prstGeom prst="rect">
            <a:avLst/>
          </a:prstGeom>
          <a:noFill/>
          <a:ln/>
        </p:spPr>
        <p:txBody>
          <a:bodyPr wrap="square" lIns="0" tIns="0" rIns="0" bIns="0" rtlCol="0" anchor="t"/>
          <a:lstStyle/>
          <a:p>
            <a:pPr algn="l" indent="0" marL="0">
              <a:spcAft>
                <a:spcPts val="800"/>
              </a:spcAft>
              <a:buNone/>
            </a:pPr>
            <a:r>
              <a:rPr lang="en-US" sz="3400" b="1" dirty="0">
                <a:solidFill>
                  <a:srgbClr val="111111"/>
                </a:solidFill>
                <a:latin typeface="Times New Roman" pitchFamily="34" charset="0"/>
                <a:ea typeface="Times New Roman" pitchFamily="34" charset="-122"/>
                <a:cs typeface="Times New Roman" pitchFamily="34" charset="-120"/>
              </a:rPr>
              <a:t>Checks: </a:t>
            </a:r>
            <a:pPr algn="l" indent="0" marL="0">
              <a:spcAft>
                <a:spcPts val="800"/>
              </a:spcAft>
              <a:buNone/>
            </a:pPr>
            <a:r>
              <a:rPr lang="en-US" sz="3400" dirty="0">
                <a:solidFill>
                  <a:srgbClr val="111111"/>
                </a:solidFill>
                <a:latin typeface="Times New Roman" pitchFamily="34" charset="0"/>
                <a:ea typeface="Times New Roman" pitchFamily="34" charset="-122"/>
                <a:cs typeface="Times New Roman" pitchFamily="34" charset="-120"/>
              </a:rPr>
              <a:t>Preventive checks, such as late marriage and moral restraint, can reduce births. If they fail, positive checks, such as famine, war and disease, reduce the population by force.</a:t>
            </a:r>
            <a:endParaRPr lang="en-US" sz="3400" dirty="0"/>
          </a:p>
        </p:txBody>
      </p:sp>
      <p:pic>
        <p:nvPicPr>
          <p:cNvPr id="6" name="Image 0" descr="/home/claude/f4/img/v2/f2t_drought.jpg">    </p:cNvPr>
          <p:cNvPicPr>
            <a:picLocks noChangeAspect="1"/>
          </p:cNvPicPr>
          <p:nvPr/>
        </p:nvPicPr>
        <p:blipFill>
          <a:blip r:embed="rId1"/>
          <a:stretch>
            <a:fillRect/>
          </a:stretch>
        </p:blipFill>
        <p:spPr>
          <a:xfrm>
            <a:off x="6537960" y="2400897"/>
            <a:ext cx="5470855" cy="3034615"/>
          </a:xfrm>
          <a:prstGeom prst="rect">
            <a:avLst/>
          </a:prstGeom>
        </p:spPr>
      </p:pic>
      <p:sp>
        <p:nvSpPr>
          <p:cNvPr id="7" name="Text 4"/>
          <p:cNvSpPr/>
          <p:nvPr/>
        </p:nvSpPr>
        <p:spPr>
          <a:xfrm>
            <a:off x="6537960" y="6089904"/>
            <a:ext cx="5470855" cy="347472"/>
          </a:xfrm>
          <a:prstGeom prst="rect">
            <a:avLst/>
          </a:prstGeom>
          <a:noFill/>
          <a:ln/>
        </p:spPr>
        <p:txBody>
          <a:bodyPr wrap="square" lIns="0" tIns="0" rIns="0" bIns="0" rtlCol="0" anchor="ctr"/>
          <a:lstStyle/>
          <a:p>
            <a:pPr algn="ctr" indent="0" marL="0">
              <a:buNone/>
            </a:pPr>
            <a:r>
              <a:rPr lang="en-US" sz="1600" i="1" dirty="0">
                <a:solidFill>
                  <a:srgbClr val="555555"/>
                </a:solidFill>
                <a:latin typeface="Times New Roman" pitchFamily="34" charset="0"/>
                <a:ea typeface="Times New Roman" pitchFamily="34" charset="-122"/>
                <a:cs typeface="Times New Roman" pitchFamily="34" charset="-120"/>
              </a:rPr>
              <a:t>Illustration: drought</a:t>
            </a:r>
            <a:endParaRPr lang="en-US" sz="16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The Theory of Malthus</a:t>
            </a:r>
            <a:endParaRPr lang="en-US" sz="3600" dirty="0"/>
          </a:p>
        </p:txBody>
      </p:sp>
      <p:sp>
        <p:nvSpPr>
          <p:cNvPr id="5" name="Text 2"/>
          <p:cNvSpPr/>
          <p:nvPr/>
        </p:nvSpPr>
        <p:spPr>
          <a:xfrm>
            <a:off x="2697480" y="1737360"/>
            <a:ext cx="9174175" cy="457200"/>
          </a:xfrm>
          <a:prstGeom prst="rect">
            <a:avLst/>
          </a:prstGeom>
          <a:noFill/>
          <a:ln/>
        </p:spPr>
        <p:txBody>
          <a:bodyPr wrap="square" lIns="0" tIns="0" rIns="0" bIns="0" rtlCol="0" anchor="ctr"/>
          <a:lstStyle/>
          <a:p>
            <a:pPr algn="l" indent="0" marL="0">
              <a:buNone/>
            </a:pPr>
            <a:r>
              <a:rPr lang="en-US" sz="3200" b="1" dirty="0">
                <a:solidFill>
                  <a:srgbClr val="990011"/>
                </a:solidFill>
                <a:latin typeface="Times New Roman" pitchFamily="34" charset="0"/>
                <a:ea typeface="Times New Roman" pitchFamily="34" charset="-122"/>
                <a:cs typeface="Times New Roman" pitchFamily="34" charset="-120"/>
              </a:rPr>
              <a:t>B) Strengths and Weaknesses</a:t>
            </a:r>
            <a:endParaRPr lang="en-US" sz="3200" dirty="0"/>
          </a:p>
        </p:txBody>
      </p:sp>
      <p:sp>
        <p:nvSpPr>
          <p:cNvPr id="6" name="Text 3"/>
          <p:cNvSpPr/>
          <p:nvPr/>
        </p:nvSpPr>
        <p:spPr>
          <a:xfrm>
            <a:off x="2697480" y="2240280"/>
            <a:ext cx="9174175" cy="4206240"/>
          </a:xfrm>
          <a:prstGeom prst="rect">
            <a:avLst/>
          </a:prstGeom>
          <a:noFill/>
          <a:ln/>
        </p:spPr>
        <p:txBody>
          <a:bodyPr wrap="square" lIns="0" tIns="0" rIns="0" bIns="0" rtlCol="0" anchor="t"/>
          <a:lstStyle/>
          <a:p>
            <a:pPr algn="l" indent="0" marL="0">
              <a:spcAft>
                <a:spcPts val="800"/>
              </a:spcAft>
              <a:buNone/>
            </a:pPr>
            <a:r>
              <a:rPr lang="en-US" sz="3600" i="1" dirty="0">
                <a:solidFill>
                  <a:srgbClr val="111111"/>
                </a:solidFill>
                <a:latin typeface="Times New Roman" pitchFamily="34" charset="0"/>
                <a:ea typeface="Times New Roman" pitchFamily="34" charset="-122"/>
                <a:cs typeface="Times New Roman" pitchFamily="34" charset="-120"/>
              </a:rPr>
              <a:t>The theory of Malthus has the following strengths and weaknesses:</a:t>
            </a:r>
            <a:endParaRPr lang="en-US" sz="3600" dirty="0"/>
          </a:p>
          <a:p>
            <a:pPr algn="l" indent="0" marL="0">
              <a:spcAft>
                <a:spcPts val="800"/>
              </a:spcAft>
              <a:buNone/>
            </a:pPr>
            <a:r>
              <a:rPr lang="en-US" sz="3600" b="1" dirty="0">
                <a:solidFill>
                  <a:srgbClr val="111111"/>
                </a:solidFill>
                <a:latin typeface="Times New Roman" pitchFamily="34" charset="0"/>
                <a:ea typeface="Times New Roman" pitchFamily="34" charset="-122"/>
                <a:cs typeface="Times New Roman" pitchFamily="34" charset="-120"/>
              </a:rPr>
              <a:t>Strength: food insecurity: </a:t>
            </a:r>
            <a:pPr algn="l" indent="0" marL="0">
              <a:spcAft>
                <a:spcPts val="800"/>
              </a:spcAft>
              <a:buNone/>
            </a:pPr>
            <a:r>
              <a:rPr lang="en-US" sz="3600" dirty="0">
                <a:solidFill>
                  <a:srgbClr val="111111"/>
                </a:solidFill>
                <a:latin typeface="Times New Roman" pitchFamily="34" charset="0"/>
                <a:ea typeface="Times New Roman" pitchFamily="34" charset="-122"/>
                <a:cs typeface="Times New Roman" pitchFamily="34" charset="-120"/>
              </a:rPr>
              <a:t>The theory remains useful to understand food insecurity and famines in fast-growing regions such as the Sahel. It explains why population policies are needed.</a:t>
            </a:r>
            <a:endParaRPr lang="en-US" sz="36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The Theory of Malthus</a:t>
            </a:r>
            <a:endParaRPr lang="en-US" sz="3600" dirty="0"/>
          </a:p>
        </p:txBody>
      </p:sp>
      <p:sp>
        <p:nvSpPr>
          <p:cNvPr id="5" name="Text 2"/>
          <p:cNvSpPr/>
          <p:nvPr/>
        </p:nvSpPr>
        <p:spPr>
          <a:xfrm>
            <a:off x="4069080" y="1737360"/>
            <a:ext cx="7802575" cy="457200"/>
          </a:xfrm>
          <a:prstGeom prst="rect">
            <a:avLst/>
          </a:prstGeom>
          <a:noFill/>
          <a:ln/>
        </p:spPr>
        <p:txBody>
          <a:bodyPr wrap="square" lIns="0" tIns="0" rIns="0" bIns="0" rtlCol="0" anchor="ctr"/>
          <a:lstStyle/>
          <a:p>
            <a:pPr algn="l" indent="0" marL="0">
              <a:buNone/>
            </a:pPr>
            <a:r>
              <a:rPr lang="en-US" sz="3200" b="1" dirty="0">
                <a:solidFill>
                  <a:srgbClr val="990011"/>
                </a:solidFill>
                <a:latin typeface="Times New Roman" pitchFamily="34" charset="0"/>
                <a:ea typeface="Times New Roman" pitchFamily="34" charset="-122"/>
                <a:cs typeface="Times New Roman" pitchFamily="34" charset="-120"/>
              </a:rPr>
              <a:t>B) Strengths and Weaknesses</a:t>
            </a:r>
            <a:endParaRPr lang="en-US" sz="3200" dirty="0"/>
          </a:p>
        </p:txBody>
      </p:sp>
      <p:sp>
        <p:nvSpPr>
          <p:cNvPr id="6" name="Text 3"/>
          <p:cNvSpPr/>
          <p:nvPr/>
        </p:nvSpPr>
        <p:spPr>
          <a:xfrm>
            <a:off x="4069080" y="2240280"/>
            <a:ext cx="7802575" cy="42062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Strength: limits of resources: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warns that resources such as land, water and forests are limited. Environmentalists use it to explain climate change and the exhaustion of resources.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The Theory of Malthus</a:t>
            </a:r>
            <a:endParaRPr lang="en-US" sz="3600" dirty="0"/>
          </a:p>
        </p:txBody>
      </p:sp>
      <p:sp>
        <p:nvSpPr>
          <p:cNvPr id="5" name="Text 2"/>
          <p:cNvSpPr/>
          <p:nvPr/>
        </p:nvSpPr>
        <p:spPr>
          <a:xfrm>
            <a:off x="2697480" y="1737360"/>
            <a:ext cx="9174175" cy="457200"/>
          </a:xfrm>
          <a:prstGeom prst="rect">
            <a:avLst/>
          </a:prstGeom>
          <a:noFill/>
          <a:ln/>
        </p:spPr>
        <p:txBody>
          <a:bodyPr wrap="square" lIns="0" tIns="0" rIns="0" bIns="0" rtlCol="0" anchor="ctr"/>
          <a:lstStyle/>
          <a:p>
            <a:pPr algn="l" indent="0" marL="0">
              <a:buNone/>
            </a:pPr>
            <a:r>
              <a:rPr lang="en-US" sz="3200" b="1" dirty="0">
                <a:solidFill>
                  <a:srgbClr val="990011"/>
                </a:solidFill>
                <a:latin typeface="Times New Roman" pitchFamily="34" charset="0"/>
                <a:ea typeface="Times New Roman" pitchFamily="34" charset="-122"/>
                <a:cs typeface="Times New Roman" pitchFamily="34" charset="-120"/>
              </a:rPr>
              <a:t>B) Strengths and Weaknesses</a:t>
            </a:r>
            <a:endParaRPr lang="en-US" sz="3200" dirty="0"/>
          </a:p>
        </p:txBody>
      </p:sp>
      <p:sp>
        <p:nvSpPr>
          <p:cNvPr id="6" name="Text 3"/>
          <p:cNvSpPr/>
          <p:nvPr/>
        </p:nvSpPr>
        <p:spPr>
          <a:xfrm>
            <a:off x="2697480" y="2240280"/>
            <a:ext cx="9174175" cy="42062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Weakness: technology: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Malthus underestimated technology, which has greatly increased food production through fertilisers, machines and new seeds. World food production has grown faster than population since 1798.</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The Theory of Malthus</a:t>
            </a:r>
            <a:endParaRPr lang="en-US" sz="3600" dirty="0"/>
          </a:p>
        </p:txBody>
      </p:sp>
      <p:sp>
        <p:nvSpPr>
          <p:cNvPr id="5" name="Text 2"/>
          <p:cNvSpPr/>
          <p:nvPr/>
        </p:nvSpPr>
        <p:spPr>
          <a:xfrm>
            <a:off x="2697480" y="1737360"/>
            <a:ext cx="9174175" cy="457200"/>
          </a:xfrm>
          <a:prstGeom prst="rect">
            <a:avLst/>
          </a:prstGeom>
          <a:noFill/>
          <a:ln/>
        </p:spPr>
        <p:txBody>
          <a:bodyPr wrap="square" lIns="0" tIns="0" rIns="0" bIns="0" rtlCol="0" anchor="ctr"/>
          <a:lstStyle/>
          <a:p>
            <a:pPr algn="l" indent="0" marL="0">
              <a:buNone/>
            </a:pPr>
            <a:r>
              <a:rPr lang="en-US" sz="3200" b="1" dirty="0">
                <a:solidFill>
                  <a:srgbClr val="990011"/>
                </a:solidFill>
                <a:latin typeface="Times New Roman" pitchFamily="34" charset="0"/>
                <a:ea typeface="Times New Roman" pitchFamily="34" charset="-122"/>
                <a:cs typeface="Times New Roman" pitchFamily="34" charset="-120"/>
              </a:rPr>
              <a:t>B) Strengths and Weaknesses</a:t>
            </a:r>
            <a:endParaRPr lang="en-US" sz="3200" dirty="0"/>
          </a:p>
        </p:txBody>
      </p:sp>
      <p:sp>
        <p:nvSpPr>
          <p:cNvPr id="6" name="Text 3"/>
          <p:cNvSpPr/>
          <p:nvPr/>
        </p:nvSpPr>
        <p:spPr>
          <a:xfrm>
            <a:off x="2697480" y="2240280"/>
            <a:ext cx="9174175" cy="42062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Weakness: distribution: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His theory is based on pre-industrial England and did not foresee family planning. It also ignores the unequal distribution of resources, which causes more hunger than their lack.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365760" y="1005840"/>
            <a:ext cx="11460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The Theory of Boserup</a:t>
            </a:r>
            <a:endParaRPr lang="en-US" sz="3600" dirty="0"/>
          </a:p>
        </p:txBody>
      </p:sp>
      <p:sp>
        <p:nvSpPr>
          <p:cNvPr id="4" name="Text 2"/>
          <p:cNvSpPr/>
          <p:nvPr/>
        </p:nvSpPr>
        <p:spPr>
          <a:xfrm>
            <a:off x="365760" y="1737360"/>
            <a:ext cx="6035040" cy="457200"/>
          </a:xfrm>
          <a:prstGeom prst="rect">
            <a:avLst/>
          </a:prstGeom>
          <a:noFill/>
          <a:ln/>
        </p:spPr>
        <p:txBody>
          <a:bodyPr wrap="square" lIns="0" tIns="0" rIns="0" bIns="0" rtlCol="0" anchor="ctr">
            <a:normAutofit/>
          </a:bodyPr>
          <a:lstStyle/>
          <a:p>
            <a:pPr algn="l" indent="0" marL="0">
              <a:buNone/>
            </a:pPr>
            <a:r>
              <a:rPr lang="en-US" sz="3000" b="1" dirty="0">
                <a:solidFill>
                  <a:srgbClr val="990011"/>
                </a:solidFill>
                <a:latin typeface="Times New Roman" pitchFamily="34" charset="0"/>
                <a:ea typeface="Times New Roman" pitchFamily="34" charset="-122"/>
                <a:cs typeface="Times New Roman" pitchFamily="34" charset="-120"/>
              </a:rPr>
              <a:t>A) Her Views</a:t>
            </a:r>
            <a:endParaRPr lang="en-US" sz="3000" dirty="0"/>
          </a:p>
        </p:txBody>
      </p:sp>
      <p:sp>
        <p:nvSpPr>
          <p:cNvPr id="5" name="Text 3"/>
          <p:cNvSpPr/>
          <p:nvPr/>
        </p:nvSpPr>
        <p:spPr>
          <a:xfrm>
            <a:off x="365760" y="2240280"/>
            <a:ext cx="6035040" cy="4160520"/>
          </a:xfrm>
          <a:prstGeom prst="rect">
            <a:avLst/>
          </a:prstGeom>
          <a:noFill/>
          <a:ln/>
        </p:spPr>
        <p:txBody>
          <a:bodyPr wrap="square" lIns="0" tIns="0" rIns="0" bIns="0" rtlCol="0" anchor="t"/>
          <a:lstStyle/>
          <a:p>
            <a:pPr algn="l" indent="0" marL="0">
              <a:spcAft>
                <a:spcPts val="800"/>
              </a:spcAft>
              <a:buNone/>
            </a:pPr>
            <a:r>
              <a:rPr lang="en-US" sz="3200" i="1" dirty="0">
                <a:solidFill>
                  <a:srgbClr val="111111"/>
                </a:solidFill>
                <a:latin typeface="Times New Roman" pitchFamily="34" charset="0"/>
                <a:ea typeface="Times New Roman" pitchFamily="34" charset="-122"/>
                <a:cs typeface="Times New Roman" pitchFamily="34" charset="-120"/>
              </a:rPr>
              <a:t>The theory of Boserup is explained as follows:</a:t>
            </a:r>
            <a:endParaRPr lang="en-US" sz="3200" dirty="0"/>
          </a:p>
          <a:p>
            <a:pPr algn="l" indent="0" marL="0">
              <a:spcAft>
                <a:spcPts val="800"/>
              </a:spcAft>
              <a:buNone/>
            </a:pPr>
            <a:r>
              <a:rPr lang="en-US" sz="3200" b="1" dirty="0">
                <a:solidFill>
                  <a:srgbClr val="111111"/>
                </a:solidFill>
                <a:latin typeface="Times New Roman" pitchFamily="34" charset="0"/>
                <a:ea typeface="Times New Roman" pitchFamily="34" charset="-122"/>
                <a:cs typeface="Times New Roman" pitchFamily="34" charset="-120"/>
              </a:rPr>
              <a:t>The book: </a:t>
            </a:r>
            <a:pPr algn="l" indent="0" marL="0">
              <a:spcAft>
                <a:spcPts val="800"/>
              </a:spcAft>
              <a:buNone/>
            </a:pPr>
            <a:r>
              <a:rPr lang="en-US" sz="3200" dirty="0">
                <a:solidFill>
                  <a:srgbClr val="111111"/>
                </a:solidFill>
                <a:latin typeface="Times New Roman" pitchFamily="34" charset="0"/>
                <a:ea typeface="Times New Roman" pitchFamily="34" charset="-122"/>
                <a:cs typeface="Times New Roman" pitchFamily="34" charset="-120"/>
              </a:rPr>
              <a:t>Ester Boserup, a Danish economist, published "The Conditions of Agricultural Growth" in 1965. She studied farming systems in Africa and Asia.</a:t>
            </a:r>
            <a:endParaRPr lang="en-US" sz="3200" dirty="0"/>
          </a:p>
        </p:txBody>
      </p:sp>
      <p:pic>
        <p:nvPicPr>
          <p:cNvPr id="6" name="Image 0" descr="/home/claude/f4/img/v2/boserup_big.png">    </p:cNvPr>
          <p:cNvPicPr>
            <a:picLocks noChangeAspect="1"/>
          </p:cNvPicPr>
          <p:nvPr/>
        </p:nvPicPr>
        <p:blipFill>
          <a:blip r:embed="rId1"/>
          <a:stretch>
            <a:fillRect/>
          </a:stretch>
        </p:blipFill>
        <p:spPr>
          <a:xfrm>
            <a:off x="6537960" y="2849678"/>
            <a:ext cx="5470855" cy="2137053"/>
          </a:xfrm>
          <a:prstGeom prst="rect">
            <a:avLst/>
          </a:prstGeom>
        </p:spPr>
      </p:pic>
      <p:sp>
        <p:nvSpPr>
          <p:cNvPr id="7" name="Text 4"/>
          <p:cNvSpPr/>
          <p:nvPr/>
        </p:nvSpPr>
        <p:spPr>
          <a:xfrm>
            <a:off x="6537960" y="6089904"/>
            <a:ext cx="5470855" cy="347472"/>
          </a:xfrm>
          <a:prstGeom prst="rect">
            <a:avLst/>
          </a:prstGeom>
          <a:noFill/>
          <a:ln/>
        </p:spPr>
        <p:txBody>
          <a:bodyPr wrap="square" lIns="0" tIns="0" rIns="0" bIns="0" rtlCol="0" anchor="ctr"/>
          <a:lstStyle/>
          <a:p>
            <a:pPr algn="ctr" indent="0" marL="0">
              <a:buNone/>
            </a:pPr>
            <a:r>
              <a:rPr lang="en-US" sz="1600" i="1" dirty="0">
                <a:solidFill>
                  <a:srgbClr val="555555"/>
                </a:solidFill>
                <a:latin typeface="Times New Roman" pitchFamily="34" charset="0"/>
                <a:ea typeface="Times New Roman" pitchFamily="34" charset="-122"/>
                <a:cs typeface="Times New Roman" pitchFamily="34" charset="-120"/>
              </a:rPr>
              <a:t>Illustration: the theory of Boserup</a:t>
            </a:r>
            <a:endParaRPr lang="en-US" sz="16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1463040" cy="5833872"/>
          </a:xfrm>
          <a:prstGeom prst="rect">
            <a:avLst/>
          </a:prstGeom>
        </p:spPr>
      </p:pic>
      <p:sp>
        <p:nvSpPr>
          <p:cNvPr id="4" name="Text 1"/>
          <p:cNvSpPr/>
          <p:nvPr/>
        </p:nvSpPr>
        <p:spPr>
          <a:xfrm>
            <a:off x="1691640" y="1005840"/>
            <a:ext cx="101800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The Theory of Boserup</a:t>
            </a:r>
            <a:endParaRPr lang="en-US" sz="3600" dirty="0"/>
          </a:p>
        </p:txBody>
      </p:sp>
      <p:sp>
        <p:nvSpPr>
          <p:cNvPr id="5" name="Text 2"/>
          <p:cNvSpPr/>
          <p:nvPr/>
        </p:nvSpPr>
        <p:spPr>
          <a:xfrm>
            <a:off x="1691640" y="1737360"/>
            <a:ext cx="10180015" cy="457200"/>
          </a:xfrm>
          <a:prstGeom prst="rect">
            <a:avLst/>
          </a:prstGeom>
          <a:noFill/>
          <a:ln/>
        </p:spPr>
        <p:txBody>
          <a:bodyPr wrap="square" lIns="0" tIns="0" rIns="0" bIns="0" rtlCol="0" anchor="ctr"/>
          <a:lstStyle/>
          <a:p>
            <a:pPr algn="l" indent="0" marL="0">
              <a:buNone/>
            </a:pPr>
            <a:r>
              <a:rPr lang="en-US" sz="3200" b="1" dirty="0">
                <a:solidFill>
                  <a:srgbClr val="990011"/>
                </a:solidFill>
                <a:latin typeface="Times New Roman" pitchFamily="34" charset="0"/>
                <a:ea typeface="Times New Roman" pitchFamily="34" charset="-122"/>
                <a:cs typeface="Times New Roman" pitchFamily="34" charset="-120"/>
              </a:rPr>
              <a:t>A) Her Views</a:t>
            </a:r>
            <a:endParaRPr lang="en-US" sz="3200" dirty="0"/>
          </a:p>
        </p:txBody>
      </p:sp>
      <p:sp>
        <p:nvSpPr>
          <p:cNvPr id="6" name="Text 3"/>
          <p:cNvSpPr/>
          <p:nvPr/>
        </p:nvSpPr>
        <p:spPr>
          <a:xfrm>
            <a:off x="1691640" y="2240280"/>
            <a:ext cx="10180015" cy="4206240"/>
          </a:xfrm>
          <a:prstGeom prst="rect">
            <a:avLst/>
          </a:prstGeom>
          <a:noFill/>
          <a:ln/>
        </p:spPr>
        <p:txBody>
          <a:bodyPr wrap="square" lIns="0" tIns="0" rIns="0" bIns="0" rtlCol="0" anchor="t"/>
          <a:lstStyle/>
          <a:p>
            <a:pPr algn="l" indent="0" marL="0">
              <a:spcAft>
                <a:spcPts val="800"/>
              </a:spcAft>
              <a:buNone/>
            </a:pPr>
            <a:r>
              <a:rPr lang="en-US" sz="3800" b="1" dirty="0">
                <a:solidFill>
                  <a:srgbClr val="111111"/>
                </a:solidFill>
                <a:latin typeface="Times New Roman" pitchFamily="34" charset="0"/>
                <a:ea typeface="Times New Roman" pitchFamily="34" charset="-122"/>
                <a:cs typeface="Times New Roman" pitchFamily="34" charset="-120"/>
              </a:rPr>
              <a:t>Population pressure and invention: </a:t>
            </a:r>
            <a:pPr algn="l" indent="0" marL="0">
              <a:spcAft>
                <a:spcPts val="800"/>
              </a:spcAft>
              <a:buNone/>
            </a:pPr>
            <a:r>
              <a:rPr lang="en-US" sz="3800" dirty="0">
                <a:solidFill>
                  <a:srgbClr val="111111"/>
                </a:solidFill>
                <a:latin typeface="Times New Roman" pitchFamily="34" charset="0"/>
                <a:ea typeface="Times New Roman" pitchFamily="34" charset="-122"/>
                <a:cs typeface="Times New Roman" pitchFamily="34" charset="-120"/>
              </a:rPr>
              <a:t>When population grows, farmers are forced to find ways of producing more food: "necessity is the mother of invention". Forest fallow gives way to bush fallow, short fallow, annual cropping and multi-cropping, so population growth promotes economic development.</a:t>
            </a:r>
            <a:endParaRPr lang="en-US" sz="3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50</a:t>
            </a:fld>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365760" y="1005840"/>
            <a:ext cx="11460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The Theory of Boserup</a:t>
            </a:r>
            <a:endParaRPr lang="en-US" sz="3600" dirty="0"/>
          </a:p>
        </p:txBody>
      </p:sp>
      <p:sp>
        <p:nvSpPr>
          <p:cNvPr id="4" name="Text 2"/>
          <p:cNvSpPr/>
          <p:nvPr/>
        </p:nvSpPr>
        <p:spPr>
          <a:xfrm>
            <a:off x="365760" y="1737360"/>
            <a:ext cx="6035040" cy="457200"/>
          </a:xfrm>
          <a:prstGeom prst="rect">
            <a:avLst/>
          </a:prstGeom>
          <a:noFill/>
          <a:ln/>
        </p:spPr>
        <p:txBody>
          <a:bodyPr wrap="square" lIns="0" tIns="0" rIns="0" bIns="0" rtlCol="0" anchor="ctr">
            <a:normAutofit/>
          </a:bodyPr>
          <a:lstStyle/>
          <a:p>
            <a:pPr algn="l" indent="0" marL="0">
              <a:buNone/>
            </a:pPr>
            <a:r>
              <a:rPr lang="en-US" sz="3000" b="1" dirty="0">
                <a:solidFill>
                  <a:srgbClr val="990011"/>
                </a:solidFill>
                <a:latin typeface="Times New Roman" pitchFamily="34" charset="0"/>
                <a:ea typeface="Times New Roman" pitchFamily="34" charset="-122"/>
                <a:cs typeface="Times New Roman" pitchFamily="34" charset="-120"/>
              </a:rPr>
              <a:t>A) Her Views</a:t>
            </a:r>
            <a:endParaRPr lang="en-US" sz="3000" dirty="0"/>
          </a:p>
        </p:txBody>
      </p:sp>
      <p:sp>
        <p:nvSpPr>
          <p:cNvPr id="5" name="Text 3"/>
          <p:cNvSpPr/>
          <p:nvPr/>
        </p:nvSpPr>
        <p:spPr>
          <a:xfrm>
            <a:off x="365760" y="2240280"/>
            <a:ext cx="6035040" cy="4160520"/>
          </a:xfrm>
          <a:prstGeom prst="rect">
            <a:avLst/>
          </a:prstGeom>
          <a:noFill/>
          <a:ln/>
        </p:spPr>
        <p:txBody>
          <a:bodyPr wrap="square" lIns="0" tIns="0" rIns="0" bIns="0" rtlCol="0" anchor="t"/>
          <a:lstStyle/>
          <a:p>
            <a:pPr algn="l" indent="0" marL="0">
              <a:spcAft>
                <a:spcPts val="800"/>
              </a:spcAft>
              <a:buNone/>
            </a:pPr>
            <a:r>
              <a:rPr lang="en-US" sz="3400" b="1" dirty="0">
                <a:solidFill>
                  <a:srgbClr val="111111"/>
                </a:solidFill>
                <a:latin typeface="Times New Roman" pitchFamily="34" charset="0"/>
                <a:ea typeface="Times New Roman" pitchFamily="34" charset="-122"/>
                <a:cs typeface="Times New Roman" pitchFamily="34" charset="-120"/>
              </a:rPr>
              <a:t>Example: </a:t>
            </a:r>
            <a:pPr algn="l" indent="0" marL="0">
              <a:spcAft>
                <a:spcPts val="800"/>
              </a:spcAft>
              <a:buNone/>
            </a:pPr>
            <a:r>
              <a:rPr lang="en-US" sz="3400" dirty="0">
                <a:solidFill>
                  <a:srgbClr val="111111"/>
                </a:solidFill>
                <a:latin typeface="Times New Roman" pitchFamily="34" charset="0"/>
                <a:ea typeface="Times New Roman" pitchFamily="34" charset="-122"/>
                <a:cs typeface="Times New Roman" pitchFamily="34" charset="-120"/>
              </a:rPr>
              <a:t>In the North, irrigated rice around the Lagdo reservoir feeds a growing population. In the Mandara Mountains, dense populations built terraces and use manure to farm the slopes intensively.</a:t>
            </a:r>
            <a:endParaRPr lang="en-US" sz="3400" dirty="0"/>
          </a:p>
        </p:txBody>
      </p:sp>
      <p:pic>
        <p:nvPicPr>
          <p:cNvPr id="6" name="Image 0" descr="/home/claude/f4/img/v2/f2t_lagdo.jpg">    </p:cNvPr>
          <p:cNvPicPr>
            <a:picLocks noChangeAspect="1"/>
          </p:cNvPicPr>
          <p:nvPr/>
        </p:nvPicPr>
        <p:blipFill>
          <a:blip r:embed="rId1"/>
          <a:stretch>
            <a:fillRect/>
          </a:stretch>
        </p:blipFill>
        <p:spPr>
          <a:xfrm>
            <a:off x="6537960" y="2400897"/>
            <a:ext cx="5470855" cy="3034615"/>
          </a:xfrm>
          <a:prstGeom prst="rect">
            <a:avLst/>
          </a:prstGeom>
        </p:spPr>
      </p:pic>
      <p:sp>
        <p:nvSpPr>
          <p:cNvPr id="7" name="Text 4"/>
          <p:cNvSpPr/>
          <p:nvPr/>
        </p:nvSpPr>
        <p:spPr>
          <a:xfrm>
            <a:off x="6537960" y="6089904"/>
            <a:ext cx="5470855" cy="347472"/>
          </a:xfrm>
          <a:prstGeom prst="rect">
            <a:avLst/>
          </a:prstGeom>
          <a:noFill/>
          <a:ln/>
        </p:spPr>
        <p:txBody>
          <a:bodyPr wrap="square" lIns="0" tIns="0" rIns="0" bIns="0" rtlCol="0" anchor="ctr"/>
          <a:lstStyle/>
          <a:p>
            <a:pPr algn="ctr" indent="0" marL="0">
              <a:buNone/>
            </a:pPr>
            <a:r>
              <a:rPr lang="en-US" sz="1600" i="1" dirty="0">
                <a:solidFill>
                  <a:srgbClr val="555555"/>
                </a:solidFill>
                <a:latin typeface="Times New Roman" pitchFamily="34" charset="0"/>
                <a:ea typeface="Times New Roman" pitchFamily="34" charset="-122"/>
                <a:cs typeface="Times New Roman" pitchFamily="34" charset="-120"/>
              </a:rPr>
              <a:t>Illustration: Lake Lagdo</a:t>
            </a:r>
            <a:endParaRPr lang="en-US" sz="16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51</a:t>
            </a:fld>
            <a:endParaRPr lang="en-US"/>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The Theory of Boserup</a:t>
            </a:r>
            <a:endParaRPr lang="en-US" sz="3600" dirty="0"/>
          </a:p>
        </p:txBody>
      </p:sp>
      <p:sp>
        <p:nvSpPr>
          <p:cNvPr id="5" name="Text 2"/>
          <p:cNvSpPr/>
          <p:nvPr/>
        </p:nvSpPr>
        <p:spPr>
          <a:xfrm>
            <a:off x="2697480" y="1737360"/>
            <a:ext cx="9174175" cy="457200"/>
          </a:xfrm>
          <a:prstGeom prst="rect">
            <a:avLst/>
          </a:prstGeom>
          <a:noFill/>
          <a:ln/>
        </p:spPr>
        <p:txBody>
          <a:bodyPr wrap="square" lIns="0" tIns="0" rIns="0" bIns="0" rtlCol="0" anchor="ctr"/>
          <a:lstStyle/>
          <a:p>
            <a:pPr algn="l" indent="0" marL="0">
              <a:buNone/>
            </a:pPr>
            <a:r>
              <a:rPr lang="en-US" sz="3200" b="1" dirty="0">
                <a:solidFill>
                  <a:srgbClr val="990011"/>
                </a:solidFill>
                <a:latin typeface="Times New Roman" pitchFamily="34" charset="0"/>
                <a:ea typeface="Times New Roman" pitchFamily="34" charset="-122"/>
                <a:cs typeface="Times New Roman" pitchFamily="34" charset="-120"/>
              </a:rPr>
              <a:t>B) Strengths and Weaknesses</a:t>
            </a:r>
            <a:endParaRPr lang="en-US" sz="3200" dirty="0"/>
          </a:p>
        </p:txBody>
      </p:sp>
      <p:sp>
        <p:nvSpPr>
          <p:cNvPr id="6" name="Text 3"/>
          <p:cNvSpPr/>
          <p:nvPr/>
        </p:nvSpPr>
        <p:spPr>
          <a:xfrm>
            <a:off x="2697480" y="2240280"/>
            <a:ext cx="9174175" cy="42062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 theory of Boserup has the following strengths and weaknesses: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Strength: human innovation: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shows the power of human innovation to overcome resource limits. The Green Revolution in Asia supports it.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52</a:t>
            </a:fld>
            <a:endParaRPr lang="en-US"/>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The Theory of Boserup</a:t>
            </a:r>
            <a:endParaRPr lang="en-US" sz="3600" dirty="0"/>
          </a:p>
        </p:txBody>
      </p:sp>
      <p:sp>
        <p:nvSpPr>
          <p:cNvPr id="5" name="Text 2"/>
          <p:cNvSpPr/>
          <p:nvPr/>
        </p:nvSpPr>
        <p:spPr>
          <a:xfrm>
            <a:off x="2697480" y="1737360"/>
            <a:ext cx="9174175" cy="457200"/>
          </a:xfrm>
          <a:prstGeom prst="rect">
            <a:avLst/>
          </a:prstGeom>
          <a:noFill/>
          <a:ln/>
        </p:spPr>
        <p:txBody>
          <a:bodyPr wrap="square" lIns="0" tIns="0" rIns="0" bIns="0" rtlCol="0" anchor="ctr"/>
          <a:lstStyle/>
          <a:p>
            <a:pPr algn="l" indent="0" marL="0">
              <a:buNone/>
            </a:pPr>
            <a:r>
              <a:rPr lang="en-US" sz="3200" b="1" dirty="0">
                <a:solidFill>
                  <a:srgbClr val="990011"/>
                </a:solidFill>
                <a:latin typeface="Times New Roman" pitchFamily="34" charset="0"/>
                <a:ea typeface="Times New Roman" pitchFamily="34" charset="-122"/>
                <a:cs typeface="Times New Roman" pitchFamily="34" charset="-120"/>
              </a:rPr>
              <a:t>B) Strengths and Weaknesses</a:t>
            </a:r>
            <a:endParaRPr lang="en-US" sz="3200" dirty="0"/>
          </a:p>
        </p:txBody>
      </p:sp>
      <p:sp>
        <p:nvSpPr>
          <p:cNvPr id="6" name="Text 3"/>
          <p:cNvSpPr/>
          <p:nvPr/>
        </p:nvSpPr>
        <p:spPr>
          <a:xfrm>
            <a:off x="2697480" y="2240280"/>
            <a:ext cx="9174175" cy="42062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Strength: real examples: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fits many countries where farming has progressed with population growth, such as the Machakos district of Kenya. Densely populated areas often have the most intensive farming.</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53</a:t>
            </a:fld>
            <a:endParaRPr lang="en-US"/>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The Theory of Boserup</a:t>
            </a:r>
            <a:endParaRPr lang="en-US" sz="3600" dirty="0"/>
          </a:p>
        </p:txBody>
      </p:sp>
      <p:sp>
        <p:nvSpPr>
          <p:cNvPr id="5" name="Text 2"/>
          <p:cNvSpPr/>
          <p:nvPr/>
        </p:nvSpPr>
        <p:spPr>
          <a:xfrm>
            <a:off x="4069080" y="1737360"/>
            <a:ext cx="7802575" cy="457200"/>
          </a:xfrm>
          <a:prstGeom prst="rect">
            <a:avLst/>
          </a:prstGeom>
          <a:noFill/>
          <a:ln/>
        </p:spPr>
        <p:txBody>
          <a:bodyPr wrap="square" lIns="0" tIns="0" rIns="0" bIns="0" rtlCol="0" anchor="ctr"/>
          <a:lstStyle/>
          <a:p>
            <a:pPr algn="l" indent="0" marL="0">
              <a:buNone/>
            </a:pPr>
            <a:r>
              <a:rPr lang="en-US" sz="3200" b="1" dirty="0">
                <a:solidFill>
                  <a:srgbClr val="990011"/>
                </a:solidFill>
                <a:latin typeface="Times New Roman" pitchFamily="34" charset="0"/>
                <a:ea typeface="Times New Roman" pitchFamily="34" charset="-122"/>
                <a:cs typeface="Times New Roman" pitchFamily="34" charset="-120"/>
              </a:rPr>
              <a:t>B) Strengths and Weaknesses</a:t>
            </a:r>
            <a:endParaRPr lang="en-US" sz="3200" dirty="0"/>
          </a:p>
        </p:txBody>
      </p:sp>
      <p:sp>
        <p:nvSpPr>
          <p:cNvPr id="6" name="Text 3"/>
          <p:cNvSpPr/>
          <p:nvPr/>
        </p:nvSpPr>
        <p:spPr>
          <a:xfrm>
            <a:off x="4069080" y="2240280"/>
            <a:ext cx="7802575" cy="42062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Weakness: too optimistic: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Innovation does not always come in time, and some areas suffer famine before new methods are adopted. It also needs capital and education that poor farmers lack.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54</a:t>
            </a:fld>
            <a:endParaRPr lang="en-US"/>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The Theory of Boserup</a:t>
            </a:r>
            <a:endParaRPr lang="en-US" sz="3600" dirty="0"/>
          </a:p>
        </p:txBody>
      </p:sp>
      <p:sp>
        <p:nvSpPr>
          <p:cNvPr id="5" name="Text 2"/>
          <p:cNvSpPr/>
          <p:nvPr/>
        </p:nvSpPr>
        <p:spPr>
          <a:xfrm>
            <a:off x="4069080" y="1737360"/>
            <a:ext cx="7802575" cy="457200"/>
          </a:xfrm>
          <a:prstGeom prst="rect">
            <a:avLst/>
          </a:prstGeom>
          <a:noFill/>
          <a:ln/>
        </p:spPr>
        <p:txBody>
          <a:bodyPr wrap="square" lIns="0" tIns="0" rIns="0" bIns="0" rtlCol="0" anchor="ctr"/>
          <a:lstStyle/>
          <a:p>
            <a:pPr algn="l" indent="0" marL="0">
              <a:buNone/>
            </a:pPr>
            <a:r>
              <a:rPr lang="en-US" sz="3200" b="1" dirty="0">
                <a:solidFill>
                  <a:srgbClr val="990011"/>
                </a:solidFill>
                <a:latin typeface="Times New Roman" pitchFamily="34" charset="0"/>
                <a:ea typeface="Times New Roman" pitchFamily="34" charset="-122"/>
                <a:cs typeface="Times New Roman" pitchFamily="34" charset="-120"/>
              </a:rPr>
              <a:t>B) Strengths and Weaknesses</a:t>
            </a:r>
            <a:endParaRPr lang="en-US" sz="3200" dirty="0"/>
          </a:p>
        </p:txBody>
      </p:sp>
      <p:sp>
        <p:nvSpPr>
          <p:cNvPr id="6" name="Text 3"/>
          <p:cNvSpPr/>
          <p:nvPr/>
        </p:nvSpPr>
        <p:spPr>
          <a:xfrm>
            <a:off x="4069080" y="2240280"/>
            <a:ext cx="7802575" cy="42062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Weakness: environmental damage: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Intensification can cause soil erosion, deforestation and water shortages. It also fails where there is war or no investment.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55</a:t>
            </a:fld>
            <a:endParaRPr lang="en-US"/>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4. Comparison and Application Today</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 two theories compare and apply today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Population growth and development: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For Malthus, population growth is a threat that hinders development. For Boserup, it is a stimulus that promotes development through technology.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56</a:t>
            </a:fld>
            <a:endParaRPr lang="en-US"/>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4. Comparison and Application Today</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Developing countries: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In sub-Saharan Africa, rapid growth causes food shortages, which supports Malthus. However, innovations such as improved seeds and irrigation support Boserup.</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57</a:t>
            </a:fld>
            <a:endParaRPr lang="en-US"/>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5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4. Comparison and Application Today</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Developed countries: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Climate change and over-consumption have revived Malthusian fears about the limits of the Earth. Neo-Malthusians warn that resources are being exhausted.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58</a:t>
            </a:fld>
            <a:endParaRPr lang="en-US"/>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5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4. Comparison and Application Today</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A balanced view: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Neither theory is fully right. Good policies combine the control of population growth with innovation and the conservation of resources.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59</a:t>
            </a:fld>
            <a:endParaRPr lang="en-US"/>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name="Slide 6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State the main difference between Malthus and Boserup.</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60</a:t>
            </a:fld>
            <a:endParaRPr lang="en-US"/>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name="Slide 6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Malthus thinks population growth leads to famine; Boserup thinks it leads to agricultural innovation.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61</a:t>
            </a:fld>
            <a:endParaRPr lang="en-US"/>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name="Slide 6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one weakness of each theory.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62</a:t>
            </a:fld>
            <a:endParaRPr lang="en-US"/>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name="Slide 6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Malthus underestimated technology; Boserup is too optimistic and ignores environmental limits.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63</a:t>
            </a:fld>
            <a:endParaRPr lang="en-US"/>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name="Slide 6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REMEDIATION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Remediation</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Fill in the blanks: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Malthus published his essay in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According to Malthus, food grows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Boserup's theory is ______.</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64</a:t>
            </a:fld>
            <a:endParaRPr lang="en-US"/>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name="Slide 6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State the population of Cameroon at the 2005 census.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65</a:t>
            </a:fld>
            <a:endParaRPr lang="en-US"/>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name="Slide 6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NEXT LESSON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Next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ctr"/>
          <a:lstStyle/>
          <a:p>
            <a:pPr algn="ctr"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Our next lesson will be on:</a:t>
            </a:r>
            <a:endParaRPr lang="en-US" sz="4000" dirty="0"/>
          </a:p>
          <a:p>
            <a:pPr algn="ctr"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Further Study 1: Population Change in Cameroon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66</a:t>
            </a:fld>
            <a:endParaRPr lang="en-US"/>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name="Slide 6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BILINGUAL GAME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Bilingual Game (Jeu Bilingue)</a:t>
            </a:r>
            <a:endParaRPr lang="en-US" sz="3600" dirty="0"/>
          </a:p>
        </p:txBody>
      </p:sp>
      <p:graphicFrame>
        <p:nvGraphicFramePr>
          <p:cNvPr id="68" name="Table 0"/>
          <p:cNvGraphicFramePr>
            <a:graphicFrameLocks noGrp="1"/>
          </p:cNvGraphicFramePr>
          <p:nvPr>
            <p:extLst>
              <p:ext uri="{D42A27DB-BD31-4B8C-83A1-F6EECF244321}">
                <p14:modId xmlns:p14="http://schemas.microsoft.com/office/powerpoint/2010/main" val="1579011935"/>
              </p:ext>
            </p:extLst>
          </p:nvPr>
        </p:nvGraphicFramePr>
        <p:xfrm>
          <a:off x="1706728" y="1783080"/>
          <a:ext cx="8778240" cy="914400"/>
        </p:xfrm>
        <a:graphic>
          <a:graphicData uri="http://schemas.openxmlformats.org/drawingml/2006/table">
            <a:tbl>
              <a:tblPr/>
              <a:tblGrid>
                <a:gridCol w="4389120"/>
                <a:gridCol w="4389120"/>
              </a:tblGrid>
              <a:tr h="0">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English</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Français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Population growth</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croissance démographique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Resources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Les ressources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Theory</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théorie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Famine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famine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Invention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L'invention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Intensification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L'intensification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67</a:t>
            </a:fld>
            <a:endParaRPr lang="en-US"/>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name="Slide 6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(1/2)</a:t>
            </a:r>
            <a:endParaRPr lang="en-US" sz="3600" dirty="0"/>
          </a:p>
        </p:txBody>
      </p:sp>
      <p:graphicFrame>
        <p:nvGraphicFramePr>
          <p:cNvPr id="69"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Module / Topic</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Population Growth and Resources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Lesson Title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Lesson 18: Theories of Population and Resources: Malthus and Boserup</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Expected Learning Outcomes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Distinguish the pessimistic and optimistic views. Explain Malthus's theory and appraise it. Explain Boserup's theory and appraise it. Compare the two theories. Apply them to present-day issues.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Competence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Learners are able to explain, compare and criticise the theories of Malthus and Boserup and apply them to North Cameroon.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68</a:t>
            </a:fld>
            <a:endParaRPr lang="en-US"/>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name="Slide 6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(2/2)</a:t>
            </a:r>
            <a:endParaRPr lang="en-US" sz="3600" dirty="0"/>
          </a:p>
        </p:txBody>
      </p:sp>
      <p:graphicFrame>
        <p:nvGraphicFramePr>
          <p:cNvPr id="70"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Matter Taught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DEFINITIONS; General Views on Population and Resources; His Views; Strengths and Weaknesses; Her Views; Comparison and Application Today.</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Evaluation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Formative evaluation and remediation exercise.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Homework</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State the population of Cameroon at the 2005 census.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Enrolment / Present / Absent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____ / ____ / ____</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Achievement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To be completed after the lesson.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69</a:t>
            </a:fld>
            <a:endParaRPr lang="en-US"/>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name="Slide 7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TEACHER'S NOTE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Teacher's Note</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Timing: Homework correction, plan, objectives 8 min | Recall, situation, action 10 min | 5 activities 30 min | Board summary (copying) 30 min | Evaluation, remediation 10 min | Homework, next lesson 5 min | Logbook 7 min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1): draw the comparison table.</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2): write the two series on the board.</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3): discuss food crises in the Sahel.</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4): draw the staircase.</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5): describe irrigated rice at Lagdo.</a:t>
            </a:r>
            <a:endParaRPr lang="en-US" sz="2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70</a:t>
            </a:fld>
            <a:endParaRPr lang="en-US"/>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name="Slide 7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REFERENCES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References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Geography Syllabus for Sixth Forms (Lower and Upper Sixth), MINESEC, 2019 — Module 4 (Population Geography).</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Teacher's course notes: Mr KAMDEM E., Population Geography (USA), GBHS Garoua, 2026.</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United Nations, World Population Prospects 2024.</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3: “Imagine a world without trees” by aloshbennett, CC BY 2.0, via Flickr (https://www.flickr.com/photos/13203757@N00/3480223314)</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5: “South Holston Lake, (Virginia-Tennessee border, USA)” by James St. John, CC BY 2.0, via Flickr (https://www.flickr.com/photos/47445767@N05/39221734762)</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Diagrams and animations: drawn for this lesson (Geography Department).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71</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71</Slides>
  <Notes>71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71</vt:i4>
      </vt:variant>
    </vt:vector>
  </HeadingPairs>
  <TitlesOfParts>
    <vt:vector size="7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lpstr>Slide 58</vt:lpstr>
      <vt:lpstr>Slide 59</vt:lpstr>
      <vt:lpstr>Slide 60</vt:lpstr>
      <vt:lpstr>Slide 61</vt:lpstr>
      <vt:lpstr>Slide 62</vt:lpstr>
      <vt:lpstr>Slide 63</vt:lpstr>
      <vt:lpstr>Slide 64</vt:lpstr>
      <vt:lpstr>Slide 65</vt:lpstr>
      <vt:lpstr>Slide 66</vt:lpstr>
      <vt:lpstr>Slide 67</vt:lpstr>
      <vt:lpstr>Slide 68</vt:lpstr>
      <vt:lpstr>Slide 69</vt:lpstr>
      <vt:lpstr>Slide 70</vt:lpstr>
      <vt:lpstr>Slide 71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2026-09-29T11:38:39Z</dcterms:created>
  <dcterms:modified xsi:type="dcterms:W3CDTF">2026-09-29T11:38:39Z</dcterms:modified>
</cp:coreProperties>
</file>