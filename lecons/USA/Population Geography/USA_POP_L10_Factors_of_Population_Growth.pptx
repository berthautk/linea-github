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slideMasters/slideMaster27.xml" ContentType="application/vnd.openxmlformats-officedocument.presentationml.slideMaster+xml"/>
  <Override PartName="/ppt/slides/slide27.xml" ContentType="application/vnd.openxmlformats-officedocument.presentationml.slide+xml"/>
  <Override PartName="/ppt/slideMasters/slideMaster28.xml" ContentType="application/vnd.openxmlformats-officedocument.presentationml.slideMaster+xml"/>
  <Override PartName="/ppt/slides/slide28.xml" ContentType="application/vnd.openxmlformats-officedocument.presentationml.slide+xml"/>
  <Override PartName="/ppt/slideMasters/slideMaster29.xml" ContentType="application/vnd.openxmlformats-officedocument.presentationml.slideMaster+xml"/>
  <Override PartName="/ppt/slides/slide29.xml" ContentType="application/vnd.openxmlformats-officedocument.presentationml.slide+xml"/>
  <Override PartName="/ppt/slideMasters/slideMaster30.xml" ContentType="application/vnd.openxmlformats-officedocument.presentationml.slideMaster+xml"/>
  <Override PartName="/ppt/slides/slide30.xml" ContentType="application/vnd.openxmlformats-officedocument.presentationml.slide+xml"/>
  <Override PartName="/ppt/slideMasters/slideMaster31.xml" ContentType="application/vnd.openxmlformats-officedocument.presentationml.slideMaster+xml"/>
  <Override PartName="/ppt/slides/slide31.xml" ContentType="application/vnd.openxmlformats-officedocument.presentationml.slide+xml"/>
  <Override PartName="/ppt/slideMasters/slideMaster32.xml" ContentType="application/vnd.openxmlformats-officedocument.presentationml.slideMaster+xml"/>
  <Override PartName="/ppt/slides/slide32.xml" ContentType="application/vnd.openxmlformats-officedocument.presentationml.slide+xml"/>
  <Override PartName="/ppt/slideMasters/slideMaster33.xml" ContentType="application/vnd.openxmlformats-officedocument.presentationml.slideMaster+xml"/>
  <Override PartName="/ppt/slides/slide33.xml" ContentType="application/vnd.openxmlformats-officedocument.presentationml.slide+xml"/>
  <Override PartName="/ppt/slideMasters/slideMaster34.xml" ContentType="application/vnd.openxmlformats-officedocument.presentationml.slideMaster+xml"/>
  <Override PartName="/ppt/slides/slide34.xml" ContentType="application/vnd.openxmlformats-officedocument.presentationml.slide+xml"/>
  <Override PartName="/ppt/slideMasters/slideMaster35.xml" ContentType="application/vnd.openxmlformats-officedocument.presentationml.slideMaster+xml"/>
  <Override PartName="/ppt/slides/slide35.xml" ContentType="application/vnd.openxmlformats-officedocument.presentationml.slide+xml"/>
  <Override PartName="/ppt/slideMasters/slideMaster36.xml" ContentType="application/vnd.openxmlformats-officedocument.presentationml.slideMaster+xml"/>
  <Override PartName="/ppt/slides/slide36.xml" ContentType="application/vnd.openxmlformats-officedocument.presentationml.slide+xml"/>
  <Override PartName="/ppt/slideMasters/slideMaster37.xml" ContentType="application/vnd.openxmlformats-officedocument.presentationml.slideMaster+xml"/>
  <Override PartName="/ppt/slides/slide37.xml" ContentType="application/vnd.openxmlformats-officedocument.presentationml.slide+xml"/>
  <Override PartName="/ppt/slideMasters/slideMaster38.xml" ContentType="application/vnd.openxmlformats-officedocument.presentationml.slideMaster+xml"/>
  <Override PartName="/ppt/slides/slide38.xml" ContentType="application/vnd.openxmlformats-officedocument.presentationml.slide+xml"/>
  <Override PartName="/ppt/slideMasters/slideMaster39.xml" ContentType="application/vnd.openxmlformats-officedocument.presentationml.slideMaster+xml"/>
  <Override PartName="/ppt/slides/slide39.xml" ContentType="application/vnd.openxmlformats-officedocument.presentationml.slide+xml"/>
  <Override PartName="/ppt/slideMasters/slideMaster40.xml" ContentType="application/vnd.openxmlformats-officedocument.presentationml.slideMaster+xml"/>
  <Override PartName="/ppt/slides/slide40.xml" ContentType="application/vnd.openxmlformats-officedocument.presentationml.slide+xml"/>
  <Override PartName="/ppt/slideMasters/slideMaster41.xml" ContentType="application/vnd.openxmlformats-officedocument.presentationml.slideMaster+xml"/>
  <Override PartName="/ppt/slides/slide41.xml" ContentType="application/vnd.openxmlformats-officedocument.presentationml.slide+xml"/>
  <Override PartName="/ppt/slideMasters/slideMaster42.xml" ContentType="application/vnd.openxmlformats-officedocument.presentationml.slideMaster+xml"/>
  <Override PartName="/ppt/slides/slide42.xml" ContentType="application/vnd.openxmlformats-officedocument.presentationml.slide+xml"/>
  <Override PartName="/ppt/slideMasters/slideMaster43.xml" ContentType="application/vnd.openxmlformats-officedocument.presentationml.slideMaster+xml"/>
  <Override PartName="/ppt/slides/slide43.xml" ContentType="application/vnd.openxmlformats-officedocument.presentationml.slide+xml"/>
  <Override PartName="/ppt/slideMasters/slideMaster44.xml" ContentType="application/vnd.openxmlformats-officedocument.presentationml.slideMaster+xml"/>
  <Override PartName="/ppt/slides/slide44.xml" ContentType="application/vnd.openxmlformats-officedocument.presentationml.slide+xml"/>
  <Override PartName="/ppt/slideMasters/slideMaster45.xml" ContentType="application/vnd.openxmlformats-officedocument.presentationml.slideMaster+xml"/>
  <Override PartName="/ppt/slides/slide4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4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290" r:id="rId36"/>
    <p:sldId id="291" r:id="rId37"/>
    <p:sldId id="292" r:id="rId38"/>
    <p:sldId id="293" r:id="rId39"/>
    <p:sldId id="294" r:id="rId40"/>
    <p:sldId id="295" r:id="rId41"/>
    <p:sldId id="296" r:id="rId42"/>
    <p:sldId id="297" r:id="rId43"/>
    <p:sldId id="298" r:id="rId44"/>
    <p:sldId id="299" r:id="rId45"/>
    <p:sldId id="300" r:id="rId46"/>
  </p:sldIdLst>
  <p:notesMasterIdLst>
    <p:notesMasterId r:id="rId47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slide" Target="slides/slide29.xml"/><Relationship Id="rId31" Type="http://schemas.openxmlformats.org/officeDocument/2006/relationships/slide" Target="slides/slide30.xml"/><Relationship Id="rId32" Type="http://schemas.openxmlformats.org/officeDocument/2006/relationships/slide" Target="slides/slide31.xml"/><Relationship Id="rId33" Type="http://schemas.openxmlformats.org/officeDocument/2006/relationships/slide" Target="slides/slide32.xml"/><Relationship Id="rId34" Type="http://schemas.openxmlformats.org/officeDocument/2006/relationships/slide" Target="slides/slide33.xml"/><Relationship Id="rId35" Type="http://schemas.openxmlformats.org/officeDocument/2006/relationships/slide" Target="slides/slide34.xml"/><Relationship Id="rId36" Type="http://schemas.openxmlformats.org/officeDocument/2006/relationships/slide" Target="slides/slide35.xml"/><Relationship Id="rId37" Type="http://schemas.openxmlformats.org/officeDocument/2006/relationships/slide" Target="slides/slide36.xml"/><Relationship Id="rId38" Type="http://schemas.openxmlformats.org/officeDocument/2006/relationships/slide" Target="slides/slide37.xml"/><Relationship Id="rId39" Type="http://schemas.openxmlformats.org/officeDocument/2006/relationships/slide" Target="slides/slide38.xml"/><Relationship Id="rId40" Type="http://schemas.openxmlformats.org/officeDocument/2006/relationships/slide" Target="slides/slide39.xml"/><Relationship Id="rId41" Type="http://schemas.openxmlformats.org/officeDocument/2006/relationships/slide" Target="slides/slide40.xml"/><Relationship Id="rId42" Type="http://schemas.openxmlformats.org/officeDocument/2006/relationships/slide" Target="slides/slide41.xml"/><Relationship Id="rId43" Type="http://schemas.openxmlformats.org/officeDocument/2006/relationships/slide" Target="slides/slide42.xml"/><Relationship Id="rId44" Type="http://schemas.openxmlformats.org/officeDocument/2006/relationships/slide" Target="slides/slide43.xml"/><Relationship Id="rId45" Type="http://schemas.openxmlformats.org/officeDocument/2006/relationships/slide" Target="slides/slide44.xml"/><Relationship Id="rId46" Type="http://schemas.openxmlformats.org/officeDocument/2006/relationships/slide" Target="slides/slide45.xml"/><Relationship Id="rId47" Type="http://schemas.openxmlformats.org/officeDocument/2006/relationships/notesMaster" Target="notesMasters/notesMaster1.xml"/><Relationship Id="rId48" Type="http://schemas.openxmlformats.org/officeDocument/2006/relationships/presProps" Target="presProps.xml"/><Relationship Id="rId49" Type="http://schemas.openxmlformats.org/officeDocument/2006/relationships/viewProps" Target="viewProps.xml"/><Relationship Id="rId50" Type="http://schemas.openxmlformats.org/officeDocument/2006/relationships/theme" Target="theme/theme1.xml"/><Relationship Id="rId51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_rels/notesSlide2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7.xml"/>
		</Relationships>
</file>

<file path=ppt/notesSlides/_rels/notesSlide2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8.xml"/>
		</Relationships>
</file>

<file path=ppt/notesSlides/_rels/notesSlide2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9.xml"/>
		</Relationships>
</file>

<file path=ppt/notesSlides/_rels/notesSlide3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0.xml"/>
		</Relationships>
</file>

<file path=ppt/notesSlides/_rels/notesSlide3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1.xml"/>
		</Relationships>
</file>

<file path=ppt/notesSlides/_rels/notesSlide3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2.xml"/>
		</Relationships>
</file>

<file path=ppt/notesSlides/_rels/notesSlide3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3.xml"/>
		</Relationships>
</file>

<file path=ppt/notesSlides/_rels/notesSlide3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4.xml"/>
		</Relationships>
</file>

<file path=ppt/notesSlides/_rels/notesSlide3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5.xml"/>
		</Relationships>
</file>

<file path=ppt/notesSlides/_rels/notesSlide3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6.xml"/>
		</Relationships>
</file>

<file path=ppt/notesSlides/_rels/notesSlide3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7.xml"/>
		</Relationships>
</file>

<file path=ppt/notesSlides/_rels/notesSlide3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8.xml"/>
		</Relationships>
</file>

<file path=ppt/notesSlides/_rels/notesSlide3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9.xml"/>
		</Relationships>
</file>

<file path=ppt/notesSlides/_rels/notesSlide4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0.xml"/>
		</Relationships>
</file>

<file path=ppt/notesSlides/_rels/notesSlide4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1.xml"/>
		</Relationships>
</file>

<file path=ppt/notesSlides/_rels/notesSlide4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2.xml"/>
		</Relationships>
</file>

<file path=ppt/notesSlides/_rels/notesSlide4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3.xml"/>
		</Relationships>
</file>

<file path=ppt/notesSlides/_rels/notesSlide4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4.xml"/>
		</Relationships>
</file>

<file path=ppt/notesSlides/_rels/notesSlide4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Good morning, class. Today we study Lesson 10: Factors of Population Growth.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Read the situation slowly, twice.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Without the projector: list the factors.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Without the projector: discuss girls' schooling.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Without the projector: discuss rural families.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Without the projector: list childhood vaccines.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Without the projector: discuss health centres.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Learners copy the board summary now. Give them enough time for each slide.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Answers: 1. mortality 2. lowers 3. death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This homework prepares the next lesson.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Say the English word; learners give the French word, then the reverse.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7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0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3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6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6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8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9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0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1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3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4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5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6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7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8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9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0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1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2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3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4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201168"/>
          </a:xfrm>
          <a:prstGeom prst="rect">
            <a:avLst/>
          </a:prstGeom>
          <a:solidFill>
            <a:srgbClr val="990011"/>
          </a:solidFill>
          <a:ln w="12700">
            <a:solidFill>
              <a:srgbClr val="990011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656832"/>
            <a:ext cx="12191695" cy="201168"/>
          </a:xfrm>
          <a:prstGeom prst="rect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pic>
        <p:nvPicPr>
          <p:cNvPr id="4" name="Image 0" descr="/home/claude/pw1/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09590" y="457200"/>
            <a:ext cx="1371600" cy="1371600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731520" y="1965960"/>
            <a:ext cx="1072591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C3F6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DIVINE GRACE COLLEGE OF ARTS, SCIENCE AND TECHNOLOGY</a:t>
            </a:r>
            <a:endParaRPr lang="en-US" sz="2000" dirty="0"/>
          </a:p>
        </p:txBody>
      </p:sp>
      <p:sp>
        <p:nvSpPr>
          <p:cNvPr id="6" name="Text 3"/>
          <p:cNvSpPr txBox="1"/>
          <p:nvPr/>
        </p:nvSpPr>
        <p:spPr>
          <a:xfrm>
            <a:off x="914400" y="2606040"/>
            <a:ext cx="1036015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(DGCAST) — GAROUA   |   GEOGRAPHY DEPARTMENT</a:t>
            </a:r>
            <a:endParaRPr lang="en-US" sz="1500" dirty="0"/>
          </a:p>
        </p:txBody>
      </p:sp>
      <p:sp>
        <p:nvSpPr>
          <p:cNvPr id="7" name="Text 4"/>
          <p:cNvSpPr txBox="1"/>
          <p:nvPr/>
        </p:nvSpPr>
        <p:spPr>
          <a:xfrm>
            <a:off x="914400" y="3200400"/>
            <a:ext cx="1036015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99001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UPPER SIXTH ARTS  —  POPULATION GEOGRAPHY  —  LESSON 10</a:t>
            </a:r>
            <a:endParaRPr lang="en-US" sz="3400" dirty="0"/>
          </a:p>
        </p:txBody>
      </p:sp>
      <p:sp>
        <p:nvSpPr>
          <p:cNvPr id="8" name="Text 5"/>
          <p:cNvSpPr txBox="1"/>
          <p:nvPr/>
        </p:nvSpPr>
        <p:spPr>
          <a:xfrm>
            <a:off x="914400" y="3931920"/>
            <a:ext cx="1036015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100" b="1" dirty="0">
                <a:solidFill>
                  <a:srgbClr val="B886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Factors of Population Growth</a:t>
            </a:r>
            <a:endParaRPr lang="en-US" sz="2100" dirty="0"/>
          </a:p>
        </p:txBody>
      </p:sp>
      <p:sp>
        <p:nvSpPr>
          <p:cNvPr id="9" name="Text 6"/>
          <p:cNvSpPr txBox="1"/>
          <p:nvPr/>
        </p:nvSpPr>
        <p:spPr>
          <a:xfrm>
            <a:off x="914400" y="5394960"/>
            <a:ext cx="10360152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 KAMDEM EMMANUEL</a:t>
            </a:r>
            <a:endParaRPr lang="en-US" sz="1600" dirty="0"/>
          </a:p>
          <a:p>
            <a:pPr algn="ctr" indent="0" marL="0">
              <a:buNone/>
            </a:pPr>
            <a:r>
              <a:rPr lang="en-US" sz="16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Geography Teacher — PLEG</a:t>
            </a:r>
            <a:endParaRPr lang="en-US" sz="1600" dirty="0"/>
          </a:p>
          <a:p>
            <a:pPr algn="ctr" indent="0" marL="0">
              <a:buNone/>
            </a:pPr>
            <a:r>
              <a:rPr lang="en-US" sz="16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Academic Year 2026 / 2027</a:t>
            </a:r>
            <a:endParaRPr lang="en-US" sz="16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668366" cy="777240"/>
          </a:xfrm>
          <a:prstGeom prst="rect">
            <a:avLst/>
          </a:prstGeom>
          <a:solidFill>
            <a:srgbClr val="990011"/>
          </a:solidFill>
          <a:ln w="12700">
            <a:solidFill>
              <a:srgbClr val="990011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274320" y="0"/>
            <a:ext cx="5394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GEOGRAPHY — UPPER SIXTH ARTS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5668366" y="0"/>
            <a:ext cx="6523330" cy="777240"/>
          </a:xfrm>
          <a:prstGeom prst="chevron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126480" y="0"/>
            <a:ext cx="5760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 INFO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0" y="6548018"/>
            <a:ext cx="3657600" cy="310896"/>
          </a:xfrm>
          <a:prstGeom prst="rect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37160" y="6548018"/>
            <a:ext cx="3383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 / 2027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657600" y="6548018"/>
            <a:ext cx="5852160" cy="310896"/>
          </a:xfrm>
          <a:prstGeom prst="rect">
            <a:avLst/>
          </a:prstGeom>
          <a:solidFill>
            <a:srgbClr val="B8860B"/>
          </a:solidFill>
          <a:ln w="12700">
            <a:solidFill>
              <a:srgbClr val="B8860B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794760" y="6548018"/>
            <a:ext cx="5577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DGCAST GAROUA — GEOGRAPHY DEPARTMENT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9509760" y="6548018"/>
            <a:ext cx="2681935" cy="310896"/>
          </a:xfrm>
          <a:prstGeom prst="rect">
            <a:avLst/>
          </a:prstGeom>
          <a:solidFill>
            <a:srgbClr val="36454F"/>
          </a:solidFill>
          <a:ln w="12700">
            <a:solidFill>
              <a:srgbClr val="36454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9601200" y="6548018"/>
            <a:ext cx="2514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 KAMDEM E.   |   2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457200" y="896112"/>
            <a:ext cx="1127455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99001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Class, Chapter &amp; Duration</a:t>
            </a:r>
            <a:endParaRPr lang="en-US" sz="3000" dirty="0"/>
          </a:p>
        </p:txBody>
      </p:sp>
      <p:graphicFrame>
        <p:nvGraphicFramePr>
          <p:cNvPr id="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783080"/>
          <a:ext cx="11274552" cy="914400"/>
        </p:xfrm>
        <a:graphic>
          <a:graphicData uri="http://schemas.openxmlformats.org/drawingml/2006/table">
            <a:tbl>
              <a:tblPr/>
              <a:tblGrid>
                <a:gridCol w="2377440"/>
                <a:gridCol w="8897112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Class</a:t>
                      </a:r>
                      <a:endParaRPr lang="en-US" sz="2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3F6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000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Upper Sixth Arts</a:t>
                      </a:r>
                      <a:endParaRPr lang="en-US" sz="2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Chapter</a:t>
                      </a:r>
                      <a:endParaRPr lang="en-US" sz="2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3F6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000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Module 4: Understanding and managing population dynamics across the world in general and Cameroon in particular</a:t>
                      </a:r>
                      <a:endParaRPr lang="en-US" sz="2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Duration</a:t>
                      </a:r>
                      <a:endParaRPr lang="en-US" sz="2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3F6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000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 periods (2 × 50 minutes)</a:t>
                      </a:r>
                      <a:endParaRPr lang="en-US" sz="2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668366" cy="777240"/>
          </a:xfrm>
          <a:prstGeom prst="rect">
            <a:avLst/>
          </a:prstGeom>
          <a:solidFill>
            <a:srgbClr val="990011"/>
          </a:solidFill>
          <a:ln w="12700">
            <a:solidFill>
              <a:srgbClr val="990011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274320" y="0"/>
            <a:ext cx="5394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GEOGRAPHY — UPPER SIXTH ARTS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5668366" y="0"/>
            <a:ext cx="6523330" cy="777240"/>
          </a:xfrm>
          <a:prstGeom prst="chevron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126480" y="0"/>
            <a:ext cx="5760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IDENTIFICATION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0" y="6548018"/>
            <a:ext cx="3657600" cy="310896"/>
          </a:xfrm>
          <a:prstGeom prst="rect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37160" y="6548018"/>
            <a:ext cx="3383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 / 2027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657600" y="6548018"/>
            <a:ext cx="5852160" cy="310896"/>
          </a:xfrm>
          <a:prstGeom prst="rect">
            <a:avLst/>
          </a:prstGeom>
          <a:solidFill>
            <a:srgbClr val="B8860B"/>
          </a:solidFill>
          <a:ln w="12700">
            <a:solidFill>
              <a:srgbClr val="B8860B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794760" y="6548018"/>
            <a:ext cx="5577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DGCAST GAROUA — GEOGRAPHY DEPARTMENT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9509760" y="6548018"/>
            <a:ext cx="2681935" cy="310896"/>
          </a:xfrm>
          <a:prstGeom prst="rect">
            <a:avLst/>
          </a:prstGeom>
          <a:solidFill>
            <a:srgbClr val="36454F"/>
          </a:solidFill>
          <a:ln w="12700">
            <a:solidFill>
              <a:srgbClr val="36454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9601200" y="6548018"/>
            <a:ext cx="2514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 KAMDEM E.   |   3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457200" y="896112"/>
            <a:ext cx="1127455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99001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Lesson Identification</a:t>
            </a:r>
            <a:endParaRPr lang="en-US" sz="3000" dirty="0"/>
          </a:p>
        </p:txBody>
      </p:sp>
      <p:graphicFrame>
        <p:nvGraphicFramePr>
          <p:cNvPr id="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783080"/>
          <a:ext cx="11274552" cy="914400"/>
        </p:xfrm>
        <a:graphic>
          <a:graphicData uri="http://schemas.openxmlformats.org/drawingml/2006/table">
            <a:tbl>
              <a:tblPr/>
              <a:tblGrid>
                <a:gridCol w="2377440"/>
                <a:gridCol w="8897112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Topic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3F6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Population Change over Time (Population Growth)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Sub-topic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3F6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Population Growth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Lesson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3F6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Lesson 10: Factors of Population Growth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Notions / Concepts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3F6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Fertility factors, mortality factors, family planning, infant mortality, female education.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Syllabus focus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3F6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How factors influence fertility, mortality and migration in various regions.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Competence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3F6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Learners are able to explain the factors that raise or lower birth and death rates.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668366" cy="777240"/>
          </a:xfrm>
          <a:prstGeom prst="rect">
            <a:avLst/>
          </a:prstGeom>
          <a:solidFill>
            <a:srgbClr val="990011"/>
          </a:solidFill>
          <a:ln w="12700">
            <a:solidFill>
              <a:srgbClr val="990011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274320" y="0"/>
            <a:ext cx="5394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GEOGRAPHY — UPPER SIXTH ARTS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5668366" y="0"/>
            <a:ext cx="6523330" cy="777240"/>
          </a:xfrm>
          <a:prstGeom prst="chevron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126480" y="0"/>
            <a:ext cx="5760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OBJECTIVES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0" y="6548018"/>
            <a:ext cx="3657600" cy="310896"/>
          </a:xfrm>
          <a:prstGeom prst="rect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37160" y="6548018"/>
            <a:ext cx="3383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 / 2027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657600" y="6548018"/>
            <a:ext cx="5852160" cy="310896"/>
          </a:xfrm>
          <a:prstGeom prst="rect">
            <a:avLst/>
          </a:prstGeom>
          <a:solidFill>
            <a:srgbClr val="B8860B"/>
          </a:solidFill>
          <a:ln w="12700">
            <a:solidFill>
              <a:srgbClr val="B8860B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794760" y="6548018"/>
            <a:ext cx="5577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DGCAST GAROUA — GEOGRAPHY DEPARTMENT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9509760" y="6548018"/>
            <a:ext cx="2681935" cy="310896"/>
          </a:xfrm>
          <a:prstGeom prst="rect">
            <a:avLst/>
          </a:prstGeom>
          <a:solidFill>
            <a:srgbClr val="36454F"/>
          </a:solidFill>
          <a:ln w="12700">
            <a:solidFill>
              <a:srgbClr val="36454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9601200" y="6548018"/>
            <a:ext cx="2514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 KAMDEM E.   |   4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457200" y="896112"/>
            <a:ext cx="1127455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99001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Learning Objectives</a:t>
            </a:r>
            <a:endParaRPr lang="en-US" sz="30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1783080"/>
            <a:ext cx="11274552" cy="4663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spcAft>
                <a:spcPts val="800"/>
              </a:spcAft>
              <a:buNone/>
            </a:pPr>
            <a:r>
              <a:rPr lang="en-US" sz="2200" b="1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By the end of the lesson, the learner should be able to:</a:t>
            </a:r>
            <a:endParaRPr lang="en-US" sz="2200" dirty="0"/>
          </a:p>
          <a:p>
            <a:pPr marL="342900" indent="-342900">
              <a:lnSpc>
                <a:spcPct val="100000"/>
              </a:lnSpc>
              <a:spcAft>
                <a:spcPts val="800"/>
              </a:spcAft>
              <a:buSzPct val="100000"/>
              <a:buFont typeface="+mj-lt"/>
              <a:buAutoNum type="arabicPeriod" startAt="1"/>
            </a:pPr>
            <a:r>
              <a:rPr lang="en-US" sz="22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Explain the factors of high and low fertility.</a:t>
            </a:r>
            <a:endParaRPr lang="en-US" sz="2200" dirty="0"/>
          </a:p>
          <a:p>
            <a:pPr marL="342900" indent="-342900">
              <a:lnSpc>
                <a:spcPct val="100000"/>
              </a:lnSpc>
              <a:spcAft>
                <a:spcPts val="800"/>
              </a:spcAft>
              <a:buSzPct val="100000"/>
              <a:buFont typeface="+mj-lt"/>
              <a:buAutoNum type="arabicPeriod" startAt="1"/>
            </a:pPr>
            <a:r>
              <a:rPr lang="en-US" sz="22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Explain the factors of falling mortality.</a:t>
            </a:r>
            <a:endParaRPr lang="en-US" sz="2200" dirty="0"/>
          </a:p>
          <a:p>
            <a:pPr marL="342900" indent="-342900">
              <a:lnSpc>
                <a:spcPct val="100000"/>
              </a:lnSpc>
              <a:spcAft>
                <a:spcPts val="800"/>
              </a:spcAft>
              <a:buSzPct val="100000"/>
              <a:buFont typeface="+mj-lt"/>
              <a:buAutoNum type="arabicPeriod" startAt="1"/>
            </a:pPr>
            <a:r>
              <a:rPr lang="en-US" sz="22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Compare these factors in MEDCs and LEDCs.</a:t>
            </a:r>
            <a:endParaRPr lang="en-US" sz="2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668366" cy="777240"/>
          </a:xfrm>
          <a:prstGeom prst="rect">
            <a:avLst/>
          </a:prstGeom>
          <a:solidFill>
            <a:srgbClr val="990011"/>
          </a:solidFill>
          <a:ln w="12700">
            <a:solidFill>
              <a:srgbClr val="990011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274320" y="0"/>
            <a:ext cx="5394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GEOGRAPHY — UPPER SIXTH ARTS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5668366" y="0"/>
            <a:ext cx="6523330" cy="777240"/>
          </a:xfrm>
          <a:prstGeom prst="chevron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126480" y="0"/>
            <a:ext cx="5760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RECALL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0" y="6548018"/>
            <a:ext cx="3657600" cy="310896"/>
          </a:xfrm>
          <a:prstGeom prst="rect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37160" y="6548018"/>
            <a:ext cx="3383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 / 2027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657600" y="6548018"/>
            <a:ext cx="5852160" cy="310896"/>
          </a:xfrm>
          <a:prstGeom prst="rect">
            <a:avLst/>
          </a:prstGeom>
          <a:solidFill>
            <a:srgbClr val="B8860B"/>
          </a:solidFill>
          <a:ln w="12700">
            <a:solidFill>
              <a:srgbClr val="B8860B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794760" y="6548018"/>
            <a:ext cx="5577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DGCAST GAROUA — GEOGRAPHY DEPARTMENT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9509760" y="6548018"/>
            <a:ext cx="2681935" cy="310896"/>
          </a:xfrm>
          <a:prstGeom prst="rect">
            <a:avLst/>
          </a:prstGeom>
          <a:solidFill>
            <a:srgbClr val="36454F"/>
          </a:solidFill>
          <a:ln w="12700">
            <a:solidFill>
              <a:srgbClr val="36454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9601200" y="6548018"/>
            <a:ext cx="2514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 KAMDEM E.   |   5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457200" y="896112"/>
            <a:ext cx="1127455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99001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Recall</a:t>
            </a:r>
            <a:endParaRPr lang="en-US" sz="30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1783080"/>
            <a:ext cx="11274552" cy="4663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ct val="100000"/>
              </a:lnSpc>
              <a:spcAft>
                <a:spcPts val="800"/>
              </a:spcAft>
              <a:buSzPct val="100000"/>
              <a:buChar char="•"/>
            </a:pPr>
            <a:r>
              <a:rPr lang="en-US" sz="24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Births, deaths and migration change population.</a:t>
            </a:r>
            <a:endParaRPr lang="en-US" sz="2400" dirty="0"/>
          </a:p>
          <a:p>
            <a:pPr marL="342900" indent="-342900">
              <a:lnSpc>
                <a:spcPct val="100000"/>
              </a:lnSpc>
              <a:spcAft>
                <a:spcPts val="800"/>
              </a:spcAft>
              <a:buSzPct val="100000"/>
              <a:buChar char="•"/>
            </a:pPr>
            <a:r>
              <a:rPr lang="en-US" sz="24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Africa has high birth rates.</a:t>
            </a:r>
            <a:endParaRPr lang="en-US" sz="24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668366" cy="777240"/>
          </a:xfrm>
          <a:prstGeom prst="rect">
            <a:avLst/>
          </a:prstGeom>
          <a:solidFill>
            <a:srgbClr val="990011"/>
          </a:solidFill>
          <a:ln w="12700">
            <a:solidFill>
              <a:srgbClr val="990011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274320" y="0"/>
            <a:ext cx="5394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GEOGRAPHY — UPPER SIXTH ARTS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5668366" y="0"/>
            <a:ext cx="6523330" cy="777240"/>
          </a:xfrm>
          <a:prstGeom prst="chevron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126480" y="0"/>
            <a:ext cx="5760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REAL-LIFE SITUATION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0" y="6548018"/>
            <a:ext cx="3657600" cy="310896"/>
          </a:xfrm>
          <a:prstGeom prst="rect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37160" y="6548018"/>
            <a:ext cx="3383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 / 2027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657600" y="6548018"/>
            <a:ext cx="5852160" cy="310896"/>
          </a:xfrm>
          <a:prstGeom prst="rect">
            <a:avLst/>
          </a:prstGeom>
          <a:solidFill>
            <a:srgbClr val="B8860B"/>
          </a:solidFill>
          <a:ln w="12700">
            <a:solidFill>
              <a:srgbClr val="B8860B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794760" y="6548018"/>
            <a:ext cx="5577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DGCAST GAROUA — GEOGRAPHY DEPARTMENT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9509760" y="6548018"/>
            <a:ext cx="2681935" cy="310896"/>
          </a:xfrm>
          <a:prstGeom prst="rect">
            <a:avLst/>
          </a:prstGeom>
          <a:solidFill>
            <a:srgbClr val="36454F"/>
          </a:solidFill>
          <a:ln w="12700">
            <a:solidFill>
              <a:srgbClr val="36454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9601200" y="6548018"/>
            <a:ext cx="2514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 KAMDEM E.   |   6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457200" y="896112"/>
            <a:ext cx="1127455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9900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Real-Life Situation</a:t>
            </a:r>
            <a:endParaRPr lang="en-US" sz="36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1783080"/>
            <a:ext cx="11274552" cy="4663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spcAft>
                <a:spcPts val="800"/>
              </a:spcAft>
              <a:buNone/>
            </a:pPr>
            <a:r>
              <a:rPr lang="en-US" sz="4000" dirty="0">
                <a:solidFill>
                  <a:srgbClr val="1111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In a village near Maroua, a mother has eight children. Her daughter, a teacher in Yaoundé, plans to have three. Learners ask why family size changes between generations.</a:t>
            </a:r>
            <a:endParaRPr lang="en-US" sz="4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668366" cy="777240"/>
          </a:xfrm>
          <a:prstGeom prst="rect">
            <a:avLst/>
          </a:prstGeom>
          <a:solidFill>
            <a:srgbClr val="990011"/>
          </a:solidFill>
          <a:ln w="12700">
            <a:solidFill>
              <a:srgbClr val="990011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274320" y="0"/>
            <a:ext cx="5394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GEOGRAPHY — UPPER SIXTH ARTS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5668366" y="0"/>
            <a:ext cx="6523330" cy="777240"/>
          </a:xfrm>
          <a:prstGeom prst="chevron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126480" y="0"/>
            <a:ext cx="5760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REAL-LIFE SITUATION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0" y="6548018"/>
            <a:ext cx="3657600" cy="310896"/>
          </a:xfrm>
          <a:prstGeom prst="rect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37160" y="6548018"/>
            <a:ext cx="3383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 / 2027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657600" y="6548018"/>
            <a:ext cx="5852160" cy="310896"/>
          </a:xfrm>
          <a:prstGeom prst="rect">
            <a:avLst/>
          </a:prstGeom>
          <a:solidFill>
            <a:srgbClr val="B8860B"/>
          </a:solidFill>
          <a:ln w="12700">
            <a:solidFill>
              <a:srgbClr val="B8860B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794760" y="6548018"/>
            <a:ext cx="5577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DGCAST GAROUA — GEOGRAPHY DEPARTMENT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9509760" y="6548018"/>
            <a:ext cx="2681935" cy="310896"/>
          </a:xfrm>
          <a:prstGeom prst="rect">
            <a:avLst/>
          </a:prstGeom>
          <a:solidFill>
            <a:srgbClr val="36454F"/>
          </a:solidFill>
          <a:ln w="12700">
            <a:solidFill>
              <a:srgbClr val="36454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9601200" y="6548018"/>
            <a:ext cx="2514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 KAMDEM E.   |   7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457200" y="896112"/>
            <a:ext cx="1127455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9900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Situation — Question 1</a:t>
            </a:r>
            <a:endParaRPr lang="en-US" sz="36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1783080"/>
            <a:ext cx="11274552" cy="4663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spcAft>
                <a:spcPts val="800"/>
              </a:spcAft>
              <a:buNone/>
            </a:pPr>
            <a:r>
              <a:rPr lang="en-US" sz="4000" dirty="0">
                <a:solidFill>
                  <a:srgbClr val="1111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What is the problem in the situation?</a:t>
            </a:r>
            <a:endParaRPr lang="en-US" sz="4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668366" cy="777240"/>
          </a:xfrm>
          <a:prstGeom prst="rect">
            <a:avLst/>
          </a:prstGeom>
          <a:solidFill>
            <a:srgbClr val="990011"/>
          </a:solidFill>
          <a:ln w="12700">
            <a:solidFill>
              <a:srgbClr val="990011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274320" y="0"/>
            <a:ext cx="5394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GEOGRAPHY — UPPER SIXTH ARTS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5668366" y="0"/>
            <a:ext cx="6523330" cy="777240"/>
          </a:xfrm>
          <a:prstGeom prst="chevron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126480" y="0"/>
            <a:ext cx="5760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REAL-LIFE SITUATION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0" y="6548018"/>
            <a:ext cx="3657600" cy="310896"/>
          </a:xfrm>
          <a:prstGeom prst="rect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37160" y="6548018"/>
            <a:ext cx="3383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 / 2027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657600" y="6548018"/>
            <a:ext cx="5852160" cy="310896"/>
          </a:xfrm>
          <a:prstGeom prst="rect">
            <a:avLst/>
          </a:prstGeom>
          <a:solidFill>
            <a:srgbClr val="B8860B"/>
          </a:solidFill>
          <a:ln w="12700">
            <a:solidFill>
              <a:srgbClr val="B8860B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794760" y="6548018"/>
            <a:ext cx="5577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DGCAST GAROUA — GEOGRAPHY DEPARTMENT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9509760" y="6548018"/>
            <a:ext cx="2681935" cy="310896"/>
          </a:xfrm>
          <a:prstGeom prst="rect">
            <a:avLst/>
          </a:prstGeom>
          <a:solidFill>
            <a:srgbClr val="36454F"/>
          </a:solidFill>
          <a:ln w="12700">
            <a:solidFill>
              <a:srgbClr val="36454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9601200" y="6548018"/>
            <a:ext cx="2514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 KAMDEM E.   |   8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457200" y="896112"/>
            <a:ext cx="1127455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9900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Answer</a:t>
            </a:r>
            <a:endParaRPr lang="en-US" sz="36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1783080"/>
            <a:ext cx="11274552" cy="4663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spcAft>
                <a:spcPts val="800"/>
              </a:spcAft>
              <a:buNone/>
            </a:pPr>
            <a:r>
              <a:rPr lang="en-US" sz="4000" dirty="0">
                <a:solidFill>
                  <a:srgbClr val="1111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Family size falls from mother to daughter.</a:t>
            </a:r>
            <a:endParaRPr lang="en-US" sz="4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668366" cy="777240"/>
          </a:xfrm>
          <a:prstGeom prst="rect">
            <a:avLst/>
          </a:prstGeom>
          <a:solidFill>
            <a:srgbClr val="990011"/>
          </a:solidFill>
          <a:ln w="12700">
            <a:solidFill>
              <a:srgbClr val="990011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274320" y="0"/>
            <a:ext cx="5394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GEOGRAPHY — UPPER SIXTH ARTS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5668366" y="0"/>
            <a:ext cx="6523330" cy="777240"/>
          </a:xfrm>
          <a:prstGeom prst="chevron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126480" y="0"/>
            <a:ext cx="5760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REAL-LIFE SITUATION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0" y="6548018"/>
            <a:ext cx="3657600" cy="310896"/>
          </a:xfrm>
          <a:prstGeom prst="rect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37160" y="6548018"/>
            <a:ext cx="3383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 / 2027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657600" y="6548018"/>
            <a:ext cx="5852160" cy="310896"/>
          </a:xfrm>
          <a:prstGeom prst="rect">
            <a:avLst/>
          </a:prstGeom>
          <a:solidFill>
            <a:srgbClr val="B8860B"/>
          </a:solidFill>
          <a:ln w="12700">
            <a:solidFill>
              <a:srgbClr val="B8860B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794760" y="6548018"/>
            <a:ext cx="5577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DGCAST GAROUA — GEOGRAPHY DEPARTMENT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9509760" y="6548018"/>
            <a:ext cx="2681935" cy="310896"/>
          </a:xfrm>
          <a:prstGeom prst="rect">
            <a:avLst/>
          </a:prstGeom>
          <a:solidFill>
            <a:srgbClr val="36454F"/>
          </a:solidFill>
          <a:ln w="12700">
            <a:solidFill>
              <a:srgbClr val="36454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9601200" y="6548018"/>
            <a:ext cx="2514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 KAMDEM E.   |   9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457200" y="896112"/>
            <a:ext cx="1127455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9900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Situation — Question 2</a:t>
            </a:r>
            <a:endParaRPr lang="en-US" sz="36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1783080"/>
            <a:ext cx="11274552" cy="4663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spcAft>
                <a:spcPts val="800"/>
              </a:spcAft>
              <a:buNone/>
            </a:pPr>
            <a:r>
              <a:rPr lang="en-US" sz="4000" dirty="0">
                <a:solidFill>
                  <a:srgbClr val="1111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What changed for the daughter?</a:t>
            </a:r>
            <a:endParaRPr lang="en-US" sz="4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668366" cy="777240"/>
          </a:xfrm>
          <a:prstGeom prst="rect">
            <a:avLst/>
          </a:prstGeom>
          <a:solidFill>
            <a:srgbClr val="990011"/>
          </a:solidFill>
          <a:ln w="12700">
            <a:solidFill>
              <a:srgbClr val="990011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274320" y="0"/>
            <a:ext cx="5394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GEOGRAPHY — UPPER SIXTH ARTS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5668366" y="0"/>
            <a:ext cx="6523330" cy="777240"/>
          </a:xfrm>
          <a:prstGeom prst="chevron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126480" y="0"/>
            <a:ext cx="5760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REAL-LIFE SITUATION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0" y="6548018"/>
            <a:ext cx="3657600" cy="310896"/>
          </a:xfrm>
          <a:prstGeom prst="rect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37160" y="6548018"/>
            <a:ext cx="3383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 / 2027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657600" y="6548018"/>
            <a:ext cx="5852160" cy="310896"/>
          </a:xfrm>
          <a:prstGeom prst="rect">
            <a:avLst/>
          </a:prstGeom>
          <a:solidFill>
            <a:srgbClr val="B8860B"/>
          </a:solidFill>
          <a:ln w="12700">
            <a:solidFill>
              <a:srgbClr val="B8860B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794760" y="6548018"/>
            <a:ext cx="5577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DGCAST GAROUA — GEOGRAPHY DEPARTMENT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9509760" y="6548018"/>
            <a:ext cx="2681935" cy="310896"/>
          </a:xfrm>
          <a:prstGeom prst="rect">
            <a:avLst/>
          </a:prstGeom>
          <a:solidFill>
            <a:srgbClr val="36454F"/>
          </a:solidFill>
          <a:ln w="12700">
            <a:solidFill>
              <a:srgbClr val="36454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9601200" y="6548018"/>
            <a:ext cx="2514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 KAMDEM E.   |   10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457200" y="896112"/>
            <a:ext cx="1127455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9900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Answer</a:t>
            </a:r>
            <a:endParaRPr lang="en-US" sz="36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1783080"/>
            <a:ext cx="11274552" cy="4663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spcAft>
                <a:spcPts val="800"/>
              </a:spcAft>
              <a:buNone/>
            </a:pPr>
            <a:r>
              <a:rPr lang="en-US" sz="4000" dirty="0">
                <a:solidFill>
                  <a:srgbClr val="1111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Education, a job and life in town.</a:t>
            </a:r>
            <a:endParaRPr lang="en-US" sz="4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668366" cy="777240"/>
          </a:xfrm>
          <a:prstGeom prst="rect">
            <a:avLst/>
          </a:prstGeom>
          <a:solidFill>
            <a:srgbClr val="990011"/>
          </a:solidFill>
          <a:ln w="12700">
            <a:solidFill>
              <a:srgbClr val="990011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274320" y="0"/>
            <a:ext cx="5394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GEOGRAPHY — UPPER SIXTH ARTS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5668366" y="0"/>
            <a:ext cx="6523330" cy="777240"/>
          </a:xfrm>
          <a:prstGeom prst="chevron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126480" y="0"/>
            <a:ext cx="5760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REAL-LIFE SITUATION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0" y="6548018"/>
            <a:ext cx="3657600" cy="310896"/>
          </a:xfrm>
          <a:prstGeom prst="rect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37160" y="6548018"/>
            <a:ext cx="3383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 / 2027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657600" y="6548018"/>
            <a:ext cx="5852160" cy="310896"/>
          </a:xfrm>
          <a:prstGeom prst="rect">
            <a:avLst/>
          </a:prstGeom>
          <a:solidFill>
            <a:srgbClr val="B8860B"/>
          </a:solidFill>
          <a:ln w="12700">
            <a:solidFill>
              <a:srgbClr val="B8860B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794760" y="6548018"/>
            <a:ext cx="5577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DGCAST GAROUA — GEOGRAPHY DEPARTMENT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9509760" y="6548018"/>
            <a:ext cx="2681935" cy="310896"/>
          </a:xfrm>
          <a:prstGeom prst="rect">
            <a:avLst/>
          </a:prstGeom>
          <a:solidFill>
            <a:srgbClr val="36454F"/>
          </a:solidFill>
          <a:ln w="12700">
            <a:solidFill>
              <a:srgbClr val="36454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9601200" y="6548018"/>
            <a:ext cx="2514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 KAMDEM E.   |   11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457200" y="896112"/>
            <a:ext cx="1127455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9900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Situation — Question 3</a:t>
            </a:r>
            <a:endParaRPr lang="en-US" sz="36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1783080"/>
            <a:ext cx="11274552" cy="4663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spcAft>
                <a:spcPts val="800"/>
              </a:spcAft>
              <a:buNone/>
            </a:pPr>
            <a:r>
              <a:rPr lang="en-US" sz="4000" dirty="0">
                <a:solidFill>
                  <a:srgbClr val="1111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What else lowers family size?</a:t>
            </a:r>
            <a:endParaRPr lang="en-US" sz="40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668366" cy="777240"/>
          </a:xfrm>
          <a:prstGeom prst="rect">
            <a:avLst/>
          </a:prstGeom>
          <a:solidFill>
            <a:srgbClr val="990011"/>
          </a:solidFill>
          <a:ln w="12700">
            <a:solidFill>
              <a:srgbClr val="990011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274320" y="0"/>
            <a:ext cx="5394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GEOGRAPHY — UPPER SIXTH ARTS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5668366" y="0"/>
            <a:ext cx="6523330" cy="777240"/>
          </a:xfrm>
          <a:prstGeom prst="chevron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126480" y="0"/>
            <a:ext cx="5760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REAL-LIFE SITUATION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0" y="6548018"/>
            <a:ext cx="3657600" cy="310896"/>
          </a:xfrm>
          <a:prstGeom prst="rect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37160" y="6548018"/>
            <a:ext cx="3383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 / 2027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657600" y="6548018"/>
            <a:ext cx="5852160" cy="310896"/>
          </a:xfrm>
          <a:prstGeom prst="rect">
            <a:avLst/>
          </a:prstGeom>
          <a:solidFill>
            <a:srgbClr val="B8860B"/>
          </a:solidFill>
          <a:ln w="12700">
            <a:solidFill>
              <a:srgbClr val="B8860B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794760" y="6548018"/>
            <a:ext cx="5577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DGCAST GAROUA — GEOGRAPHY DEPARTMENT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9509760" y="6548018"/>
            <a:ext cx="2681935" cy="310896"/>
          </a:xfrm>
          <a:prstGeom prst="rect">
            <a:avLst/>
          </a:prstGeom>
          <a:solidFill>
            <a:srgbClr val="36454F"/>
          </a:solidFill>
          <a:ln w="12700">
            <a:solidFill>
              <a:srgbClr val="36454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9601200" y="6548018"/>
            <a:ext cx="2514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 KAMDEM E.   |   12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457200" y="896112"/>
            <a:ext cx="1127455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9900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Possible Answer</a:t>
            </a:r>
            <a:endParaRPr lang="en-US" sz="36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1783080"/>
            <a:ext cx="11274552" cy="4663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spcAft>
                <a:spcPts val="800"/>
              </a:spcAft>
              <a:buNone/>
            </a:pPr>
            <a:r>
              <a:rPr lang="en-US" sz="4000" dirty="0">
                <a:solidFill>
                  <a:srgbClr val="1111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Family planning and falling child deaths.</a:t>
            </a:r>
            <a:endParaRPr lang="en-US" sz="40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668366" cy="777240"/>
          </a:xfrm>
          <a:prstGeom prst="rect">
            <a:avLst/>
          </a:prstGeom>
          <a:solidFill>
            <a:srgbClr val="990011"/>
          </a:solidFill>
          <a:ln w="12700">
            <a:solidFill>
              <a:srgbClr val="990011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274320" y="0"/>
            <a:ext cx="5394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GEOGRAPHY — UPPER SIXTH ARTS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5668366" y="0"/>
            <a:ext cx="6523330" cy="777240"/>
          </a:xfrm>
          <a:prstGeom prst="chevron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126480" y="0"/>
            <a:ext cx="5760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JUSTIFICATION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0" y="6548018"/>
            <a:ext cx="3657600" cy="310896"/>
          </a:xfrm>
          <a:prstGeom prst="rect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37160" y="6548018"/>
            <a:ext cx="3383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 / 2027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657600" y="6548018"/>
            <a:ext cx="5852160" cy="310896"/>
          </a:xfrm>
          <a:prstGeom prst="rect">
            <a:avLst/>
          </a:prstGeom>
          <a:solidFill>
            <a:srgbClr val="B8860B"/>
          </a:solidFill>
          <a:ln w="12700">
            <a:solidFill>
              <a:srgbClr val="B8860B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794760" y="6548018"/>
            <a:ext cx="5577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DGCAST GAROUA — GEOGRAPHY DEPARTMENT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9509760" y="6548018"/>
            <a:ext cx="2681935" cy="310896"/>
          </a:xfrm>
          <a:prstGeom prst="rect">
            <a:avLst/>
          </a:prstGeom>
          <a:solidFill>
            <a:srgbClr val="36454F"/>
          </a:solidFill>
          <a:ln w="12700">
            <a:solidFill>
              <a:srgbClr val="36454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9601200" y="6548018"/>
            <a:ext cx="2514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 KAMDEM E.   |   13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457200" y="896112"/>
            <a:ext cx="1127455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9900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Justification of the Lesson</a:t>
            </a:r>
            <a:endParaRPr lang="en-US" sz="36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1783080"/>
            <a:ext cx="11274552" cy="4663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spcAft>
                <a:spcPts val="800"/>
              </a:spcAft>
              <a:buNone/>
            </a:pPr>
            <a:r>
              <a:rPr lang="en-US" sz="4000" dirty="0">
                <a:solidFill>
                  <a:srgbClr val="1111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This lesson helps us to understand why birth and death rates change.</a:t>
            </a:r>
            <a:endParaRPr lang="en-US" sz="40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668366" cy="777240"/>
          </a:xfrm>
          <a:prstGeom prst="rect">
            <a:avLst/>
          </a:prstGeom>
          <a:solidFill>
            <a:srgbClr val="990011"/>
          </a:solidFill>
          <a:ln w="12700">
            <a:solidFill>
              <a:srgbClr val="990011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274320" y="0"/>
            <a:ext cx="5394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GEOGRAPHY — UPPER SIXTH ARTS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5668366" y="0"/>
            <a:ext cx="6523330" cy="777240"/>
          </a:xfrm>
          <a:prstGeom prst="chevron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126480" y="0"/>
            <a:ext cx="5760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I. FACTORS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0" y="6548018"/>
            <a:ext cx="3657600" cy="310896"/>
          </a:xfrm>
          <a:prstGeom prst="rect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37160" y="6548018"/>
            <a:ext cx="3383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 / 2027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657600" y="6548018"/>
            <a:ext cx="5852160" cy="310896"/>
          </a:xfrm>
          <a:prstGeom prst="rect">
            <a:avLst/>
          </a:prstGeom>
          <a:solidFill>
            <a:srgbClr val="B8860B"/>
          </a:solidFill>
          <a:ln w="12700">
            <a:solidFill>
              <a:srgbClr val="B8860B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794760" y="6548018"/>
            <a:ext cx="5577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DGCAST GAROUA — GEOGRAPHY DEPARTMENT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9509760" y="6548018"/>
            <a:ext cx="2681935" cy="310896"/>
          </a:xfrm>
          <a:prstGeom prst="rect">
            <a:avLst/>
          </a:prstGeom>
          <a:solidFill>
            <a:srgbClr val="36454F"/>
          </a:solidFill>
          <a:ln w="12700">
            <a:solidFill>
              <a:srgbClr val="36454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9601200" y="6548018"/>
            <a:ext cx="2514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 KAMDEM E.   |   14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457200" y="896112"/>
            <a:ext cx="1127455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9900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Activity 1</a:t>
            </a:r>
            <a:endParaRPr lang="en-US" sz="3600" dirty="0"/>
          </a:p>
        </p:txBody>
      </p:sp>
      <p:pic>
        <p:nvPicPr>
          <p:cNvPr id="13" name="Image 0" descr="/home/claude/f4/img/v2/growth_factors_big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00838" y="1691640"/>
            <a:ext cx="11587277" cy="4526280"/>
          </a:xfrm>
          <a:prstGeom prst="rect">
            <a:avLst/>
          </a:prstGeom>
        </p:spPr>
      </p:pic>
      <p:sp>
        <p:nvSpPr>
          <p:cNvPr id="14" name="Text 11"/>
          <p:cNvSpPr txBox="1"/>
          <p:nvPr/>
        </p:nvSpPr>
        <p:spPr>
          <a:xfrm>
            <a:off x="457200" y="6245352"/>
            <a:ext cx="112745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i="1" dirty="0">
                <a:solidFill>
                  <a:srgbClr val="555555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Factors of high fertility and falling mortality.</a:t>
            </a:r>
            <a:endParaRPr lang="en-US" sz="14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668366" cy="777240"/>
          </a:xfrm>
          <a:prstGeom prst="rect">
            <a:avLst/>
          </a:prstGeom>
          <a:solidFill>
            <a:srgbClr val="990011"/>
          </a:solidFill>
          <a:ln w="12700">
            <a:solidFill>
              <a:srgbClr val="990011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274320" y="0"/>
            <a:ext cx="5394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GEOGRAPHY — UPPER SIXTH ARTS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5668366" y="0"/>
            <a:ext cx="6523330" cy="777240"/>
          </a:xfrm>
          <a:prstGeom prst="chevron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126480" y="0"/>
            <a:ext cx="5760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I. FACTORS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0" y="6548018"/>
            <a:ext cx="3657600" cy="310896"/>
          </a:xfrm>
          <a:prstGeom prst="rect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37160" y="6548018"/>
            <a:ext cx="3383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 / 2027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657600" y="6548018"/>
            <a:ext cx="5852160" cy="310896"/>
          </a:xfrm>
          <a:prstGeom prst="rect">
            <a:avLst/>
          </a:prstGeom>
          <a:solidFill>
            <a:srgbClr val="B8860B"/>
          </a:solidFill>
          <a:ln w="12700">
            <a:solidFill>
              <a:srgbClr val="B8860B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794760" y="6548018"/>
            <a:ext cx="5577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DGCAST GAROUA — GEOGRAPHY DEPARTMENT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9509760" y="6548018"/>
            <a:ext cx="2681935" cy="310896"/>
          </a:xfrm>
          <a:prstGeom prst="rect">
            <a:avLst/>
          </a:prstGeom>
          <a:solidFill>
            <a:srgbClr val="36454F"/>
          </a:solidFill>
          <a:ln w="12700">
            <a:solidFill>
              <a:srgbClr val="36454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9601200" y="6548018"/>
            <a:ext cx="2514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 KAMDEM E.   |   15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457200" y="896112"/>
            <a:ext cx="1127455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9900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Activity 1: Question</a:t>
            </a:r>
            <a:endParaRPr lang="en-US" sz="36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1783080"/>
            <a:ext cx="11274552" cy="4663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spcAft>
                <a:spcPts val="800"/>
              </a:spcAft>
              <a:buNone/>
            </a:pPr>
            <a:r>
              <a:rPr lang="en-US" sz="4000" dirty="0">
                <a:solidFill>
                  <a:srgbClr val="1111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Give two factors of high fertility.</a:t>
            </a:r>
            <a:endParaRPr lang="en-US" sz="40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668366" cy="777240"/>
          </a:xfrm>
          <a:prstGeom prst="rect">
            <a:avLst/>
          </a:prstGeom>
          <a:solidFill>
            <a:srgbClr val="990011"/>
          </a:solidFill>
          <a:ln w="12700">
            <a:solidFill>
              <a:srgbClr val="990011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274320" y="0"/>
            <a:ext cx="5394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GEOGRAPHY — UPPER SIXTH ARTS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5668366" y="0"/>
            <a:ext cx="6523330" cy="777240"/>
          </a:xfrm>
          <a:prstGeom prst="chevron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126480" y="0"/>
            <a:ext cx="5760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I. FACTORS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0" y="6548018"/>
            <a:ext cx="3657600" cy="310896"/>
          </a:xfrm>
          <a:prstGeom prst="rect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37160" y="6548018"/>
            <a:ext cx="3383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 / 2027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657600" y="6548018"/>
            <a:ext cx="5852160" cy="310896"/>
          </a:xfrm>
          <a:prstGeom prst="rect">
            <a:avLst/>
          </a:prstGeom>
          <a:solidFill>
            <a:srgbClr val="B8860B"/>
          </a:solidFill>
          <a:ln w="12700">
            <a:solidFill>
              <a:srgbClr val="B8860B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794760" y="6548018"/>
            <a:ext cx="5577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DGCAST GAROUA — GEOGRAPHY DEPARTMENT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9509760" y="6548018"/>
            <a:ext cx="2681935" cy="310896"/>
          </a:xfrm>
          <a:prstGeom prst="rect">
            <a:avLst/>
          </a:prstGeom>
          <a:solidFill>
            <a:srgbClr val="36454F"/>
          </a:solidFill>
          <a:ln w="12700">
            <a:solidFill>
              <a:srgbClr val="36454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9601200" y="6548018"/>
            <a:ext cx="2514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 KAMDEM E.   |   16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457200" y="896112"/>
            <a:ext cx="1127455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9900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Answer</a:t>
            </a:r>
            <a:endParaRPr lang="en-US" sz="36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1783080"/>
            <a:ext cx="11274552" cy="4663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spcAft>
                <a:spcPts val="800"/>
              </a:spcAft>
              <a:buNone/>
            </a:pPr>
            <a:r>
              <a:rPr lang="en-US" sz="4000" dirty="0">
                <a:solidFill>
                  <a:srgbClr val="1111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Early marriage and children as labour (also religion, little family planning).</a:t>
            </a:r>
            <a:endParaRPr lang="en-US" sz="40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668366" cy="777240"/>
          </a:xfrm>
          <a:prstGeom prst="rect">
            <a:avLst/>
          </a:prstGeom>
          <a:solidFill>
            <a:srgbClr val="990011"/>
          </a:solidFill>
          <a:ln w="12700">
            <a:solidFill>
              <a:srgbClr val="990011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274320" y="0"/>
            <a:ext cx="5394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GEOGRAPHY — UPPER SIXTH ARTS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5668366" y="0"/>
            <a:ext cx="6523330" cy="777240"/>
          </a:xfrm>
          <a:prstGeom prst="chevron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126480" y="0"/>
            <a:ext cx="5760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II. FERTILITY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0" y="6548018"/>
            <a:ext cx="3657600" cy="310896"/>
          </a:xfrm>
          <a:prstGeom prst="rect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37160" y="6548018"/>
            <a:ext cx="3383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 / 2027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657600" y="6548018"/>
            <a:ext cx="5852160" cy="310896"/>
          </a:xfrm>
          <a:prstGeom prst="rect">
            <a:avLst/>
          </a:prstGeom>
          <a:solidFill>
            <a:srgbClr val="B8860B"/>
          </a:solidFill>
          <a:ln w="12700">
            <a:solidFill>
              <a:srgbClr val="B8860B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794760" y="6548018"/>
            <a:ext cx="5577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DGCAST GAROUA — GEOGRAPHY DEPARTMENT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9509760" y="6548018"/>
            <a:ext cx="2681935" cy="310896"/>
          </a:xfrm>
          <a:prstGeom prst="rect">
            <a:avLst/>
          </a:prstGeom>
          <a:solidFill>
            <a:srgbClr val="36454F"/>
          </a:solidFill>
          <a:ln w="12700">
            <a:solidFill>
              <a:srgbClr val="36454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9601200" y="6548018"/>
            <a:ext cx="2514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 KAMDEM E.   |   17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457200" y="896112"/>
            <a:ext cx="1127455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9900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Activity 2</a:t>
            </a:r>
            <a:endParaRPr lang="en-US" sz="3600" dirty="0"/>
          </a:p>
        </p:txBody>
      </p:sp>
      <p:pic>
        <p:nvPicPr>
          <p:cNvPr id="13" name="Image 0" descr="/home/claude/f4/img/v2/usa_girls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014449" y="1691640"/>
            <a:ext cx="8160054" cy="4526280"/>
          </a:xfrm>
          <a:prstGeom prst="rect">
            <a:avLst/>
          </a:prstGeom>
        </p:spPr>
      </p:pic>
      <p:sp>
        <p:nvSpPr>
          <p:cNvPr id="14" name="Text 11"/>
          <p:cNvSpPr txBox="1"/>
          <p:nvPr/>
        </p:nvSpPr>
        <p:spPr>
          <a:xfrm>
            <a:off x="457200" y="6245352"/>
            <a:ext cx="112745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i="1" dirty="0">
                <a:solidFill>
                  <a:srgbClr val="555555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Girls at school.</a:t>
            </a:r>
            <a:endParaRPr lang="en-US" sz="14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668366" cy="777240"/>
          </a:xfrm>
          <a:prstGeom prst="rect">
            <a:avLst/>
          </a:prstGeom>
          <a:solidFill>
            <a:srgbClr val="990011"/>
          </a:solidFill>
          <a:ln w="12700">
            <a:solidFill>
              <a:srgbClr val="990011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274320" y="0"/>
            <a:ext cx="5394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GEOGRAPHY — UPPER SIXTH ARTS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5668366" y="0"/>
            <a:ext cx="6523330" cy="777240"/>
          </a:xfrm>
          <a:prstGeom prst="chevron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126480" y="0"/>
            <a:ext cx="5760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II. FERTILITY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0" y="6548018"/>
            <a:ext cx="3657600" cy="310896"/>
          </a:xfrm>
          <a:prstGeom prst="rect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37160" y="6548018"/>
            <a:ext cx="3383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 / 2027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657600" y="6548018"/>
            <a:ext cx="5852160" cy="310896"/>
          </a:xfrm>
          <a:prstGeom prst="rect">
            <a:avLst/>
          </a:prstGeom>
          <a:solidFill>
            <a:srgbClr val="B8860B"/>
          </a:solidFill>
          <a:ln w="12700">
            <a:solidFill>
              <a:srgbClr val="B8860B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794760" y="6548018"/>
            <a:ext cx="5577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DGCAST GAROUA — GEOGRAPHY DEPARTMENT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9509760" y="6548018"/>
            <a:ext cx="2681935" cy="310896"/>
          </a:xfrm>
          <a:prstGeom prst="rect">
            <a:avLst/>
          </a:prstGeom>
          <a:solidFill>
            <a:srgbClr val="36454F"/>
          </a:solidFill>
          <a:ln w="12700">
            <a:solidFill>
              <a:srgbClr val="36454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9601200" y="6548018"/>
            <a:ext cx="2514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 KAMDEM E.   |   18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457200" y="896112"/>
            <a:ext cx="1127455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9900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Activity 2: Question</a:t>
            </a:r>
            <a:endParaRPr lang="en-US" sz="36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1783080"/>
            <a:ext cx="11274552" cy="4663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spcAft>
                <a:spcPts val="800"/>
              </a:spcAft>
              <a:buNone/>
            </a:pPr>
            <a:r>
              <a:rPr lang="en-US" sz="4000" dirty="0">
                <a:solidFill>
                  <a:srgbClr val="1111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Why does the education of girls lower birth rates?</a:t>
            </a:r>
            <a:endParaRPr lang="en-US" sz="40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668366" cy="777240"/>
          </a:xfrm>
          <a:prstGeom prst="rect">
            <a:avLst/>
          </a:prstGeom>
          <a:solidFill>
            <a:srgbClr val="990011"/>
          </a:solidFill>
          <a:ln w="12700">
            <a:solidFill>
              <a:srgbClr val="990011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274320" y="0"/>
            <a:ext cx="5394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GEOGRAPHY — UPPER SIXTH ARTS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5668366" y="0"/>
            <a:ext cx="6523330" cy="777240"/>
          </a:xfrm>
          <a:prstGeom prst="chevron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126480" y="0"/>
            <a:ext cx="5760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II. FERTILITY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0" y="6548018"/>
            <a:ext cx="3657600" cy="310896"/>
          </a:xfrm>
          <a:prstGeom prst="rect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37160" y="6548018"/>
            <a:ext cx="3383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 / 2027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657600" y="6548018"/>
            <a:ext cx="5852160" cy="310896"/>
          </a:xfrm>
          <a:prstGeom prst="rect">
            <a:avLst/>
          </a:prstGeom>
          <a:solidFill>
            <a:srgbClr val="B8860B"/>
          </a:solidFill>
          <a:ln w="12700">
            <a:solidFill>
              <a:srgbClr val="B8860B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794760" y="6548018"/>
            <a:ext cx="5577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DGCAST GAROUA — GEOGRAPHY DEPARTMENT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9509760" y="6548018"/>
            <a:ext cx="2681935" cy="310896"/>
          </a:xfrm>
          <a:prstGeom prst="rect">
            <a:avLst/>
          </a:prstGeom>
          <a:solidFill>
            <a:srgbClr val="36454F"/>
          </a:solidFill>
          <a:ln w="12700">
            <a:solidFill>
              <a:srgbClr val="36454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9601200" y="6548018"/>
            <a:ext cx="2514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 KAMDEM E.   |   19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457200" y="896112"/>
            <a:ext cx="1127455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9900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Answer</a:t>
            </a:r>
            <a:endParaRPr lang="en-US" sz="36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1783080"/>
            <a:ext cx="11274552" cy="4663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spcAft>
                <a:spcPts val="800"/>
              </a:spcAft>
              <a:buNone/>
            </a:pPr>
            <a:r>
              <a:rPr lang="en-US" sz="4000" dirty="0">
                <a:solidFill>
                  <a:srgbClr val="1111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Educated women marry later, work and choose smaller families.</a:t>
            </a:r>
            <a:endParaRPr lang="en-US" sz="40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668366" cy="777240"/>
          </a:xfrm>
          <a:prstGeom prst="rect">
            <a:avLst/>
          </a:prstGeom>
          <a:solidFill>
            <a:srgbClr val="990011"/>
          </a:solidFill>
          <a:ln w="12700">
            <a:solidFill>
              <a:srgbClr val="990011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274320" y="0"/>
            <a:ext cx="5394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GEOGRAPHY — UPPER SIXTH ARTS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5668366" y="0"/>
            <a:ext cx="6523330" cy="777240"/>
          </a:xfrm>
          <a:prstGeom prst="chevron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126480" y="0"/>
            <a:ext cx="5760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II. FERTILITY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0" y="6548018"/>
            <a:ext cx="3657600" cy="310896"/>
          </a:xfrm>
          <a:prstGeom prst="rect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37160" y="6548018"/>
            <a:ext cx="3383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 / 2027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657600" y="6548018"/>
            <a:ext cx="5852160" cy="310896"/>
          </a:xfrm>
          <a:prstGeom prst="rect">
            <a:avLst/>
          </a:prstGeom>
          <a:solidFill>
            <a:srgbClr val="B8860B"/>
          </a:solidFill>
          <a:ln w="12700">
            <a:solidFill>
              <a:srgbClr val="B8860B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794760" y="6548018"/>
            <a:ext cx="5577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DGCAST GAROUA — GEOGRAPHY DEPARTMENT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9509760" y="6548018"/>
            <a:ext cx="2681935" cy="310896"/>
          </a:xfrm>
          <a:prstGeom prst="rect">
            <a:avLst/>
          </a:prstGeom>
          <a:solidFill>
            <a:srgbClr val="36454F"/>
          </a:solidFill>
          <a:ln w="12700">
            <a:solidFill>
              <a:srgbClr val="36454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9601200" y="6548018"/>
            <a:ext cx="2514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 KAMDEM E.   |   20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457200" y="896112"/>
            <a:ext cx="1127455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9900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Activity 3</a:t>
            </a:r>
            <a:endParaRPr lang="en-US" sz="3600" dirty="0"/>
          </a:p>
        </p:txBody>
      </p:sp>
      <p:pic>
        <p:nvPicPr>
          <p:cNvPr id="13" name="Image 0" descr="/home/claude/f4/img/v2/f2t_rice_field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014449" y="1691640"/>
            <a:ext cx="8160054" cy="4526280"/>
          </a:xfrm>
          <a:prstGeom prst="rect">
            <a:avLst/>
          </a:prstGeom>
        </p:spPr>
      </p:pic>
      <p:sp>
        <p:nvSpPr>
          <p:cNvPr id="14" name="Text 11"/>
          <p:cNvSpPr txBox="1"/>
          <p:nvPr/>
        </p:nvSpPr>
        <p:spPr>
          <a:xfrm>
            <a:off x="457200" y="6245352"/>
            <a:ext cx="112745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i="1" dirty="0">
                <a:solidFill>
                  <a:srgbClr val="555555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Family farm work.</a:t>
            </a:r>
            <a:endParaRPr lang="en-US" sz="14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668366" cy="777240"/>
          </a:xfrm>
          <a:prstGeom prst="rect">
            <a:avLst/>
          </a:prstGeom>
          <a:solidFill>
            <a:srgbClr val="990011"/>
          </a:solidFill>
          <a:ln w="12700">
            <a:solidFill>
              <a:srgbClr val="990011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274320" y="0"/>
            <a:ext cx="5394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GEOGRAPHY — UPPER SIXTH ARTS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5668366" y="0"/>
            <a:ext cx="6523330" cy="777240"/>
          </a:xfrm>
          <a:prstGeom prst="chevron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126480" y="0"/>
            <a:ext cx="5760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II. FERTILITY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0" y="6548018"/>
            <a:ext cx="3657600" cy="310896"/>
          </a:xfrm>
          <a:prstGeom prst="rect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37160" y="6548018"/>
            <a:ext cx="3383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 / 2027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657600" y="6548018"/>
            <a:ext cx="5852160" cy="310896"/>
          </a:xfrm>
          <a:prstGeom prst="rect">
            <a:avLst/>
          </a:prstGeom>
          <a:solidFill>
            <a:srgbClr val="B8860B"/>
          </a:solidFill>
          <a:ln w="12700">
            <a:solidFill>
              <a:srgbClr val="B8860B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794760" y="6548018"/>
            <a:ext cx="5577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DGCAST GAROUA — GEOGRAPHY DEPARTMENT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9509760" y="6548018"/>
            <a:ext cx="2681935" cy="310896"/>
          </a:xfrm>
          <a:prstGeom prst="rect">
            <a:avLst/>
          </a:prstGeom>
          <a:solidFill>
            <a:srgbClr val="36454F"/>
          </a:solidFill>
          <a:ln w="12700">
            <a:solidFill>
              <a:srgbClr val="36454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9601200" y="6548018"/>
            <a:ext cx="2514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 KAMDEM E.   |   21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457200" y="896112"/>
            <a:ext cx="1127455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9900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Activity 3: Question</a:t>
            </a:r>
            <a:endParaRPr lang="en-US" sz="36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1783080"/>
            <a:ext cx="11274552" cy="4663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spcAft>
                <a:spcPts val="800"/>
              </a:spcAft>
              <a:buNone/>
            </a:pPr>
            <a:r>
              <a:rPr lang="en-US" sz="4000" dirty="0">
                <a:solidFill>
                  <a:srgbClr val="1111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Why do farming families often want many children?</a:t>
            </a:r>
            <a:endParaRPr lang="en-US" sz="40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668366" cy="777240"/>
          </a:xfrm>
          <a:prstGeom prst="rect">
            <a:avLst/>
          </a:prstGeom>
          <a:solidFill>
            <a:srgbClr val="990011"/>
          </a:solidFill>
          <a:ln w="12700">
            <a:solidFill>
              <a:srgbClr val="990011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274320" y="0"/>
            <a:ext cx="5394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GEOGRAPHY — UPPER SIXTH ARTS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5668366" y="0"/>
            <a:ext cx="6523330" cy="777240"/>
          </a:xfrm>
          <a:prstGeom prst="chevron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126480" y="0"/>
            <a:ext cx="5760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II. FERTILITY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0" y="6548018"/>
            <a:ext cx="3657600" cy="310896"/>
          </a:xfrm>
          <a:prstGeom prst="rect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37160" y="6548018"/>
            <a:ext cx="3383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 / 2027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657600" y="6548018"/>
            <a:ext cx="5852160" cy="310896"/>
          </a:xfrm>
          <a:prstGeom prst="rect">
            <a:avLst/>
          </a:prstGeom>
          <a:solidFill>
            <a:srgbClr val="B8860B"/>
          </a:solidFill>
          <a:ln w="12700">
            <a:solidFill>
              <a:srgbClr val="B8860B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794760" y="6548018"/>
            <a:ext cx="5577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DGCAST GAROUA — GEOGRAPHY DEPARTMENT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9509760" y="6548018"/>
            <a:ext cx="2681935" cy="310896"/>
          </a:xfrm>
          <a:prstGeom prst="rect">
            <a:avLst/>
          </a:prstGeom>
          <a:solidFill>
            <a:srgbClr val="36454F"/>
          </a:solidFill>
          <a:ln w="12700">
            <a:solidFill>
              <a:srgbClr val="36454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9601200" y="6548018"/>
            <a:ext cx="2514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 KAMDEM E.   |   22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457200" y="896112"/>
            <a:ext cx="1127455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9900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Answer</a:t>
            </a:r>
            <a:endParaRPr lang="en-US" sz="36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1783080"/>
            <a:ext cx="11274552" cy="4663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spcAft>
                <a:spcPts val="800"/>
              </a:spcAft>
              <a:buNone/>
            </a:pPr>
            <a:r>
              <a:rPr lang="en-US" sz="4000" dirty="0">
                <a:solidFill>
                  <a:srgbClr val="1111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Children help on the farm and support parents in old age.</a:t>
            </a:r>
            <a:endParaRPr lang="en-US" sz="400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668366" cy="777240"/>
          </a:xfrm>
          <a:prstGeom prst="rect">
            <a:avLst/>
          </a:prstGeom>
          <a:solidFill>
            <a:srgbClr val="990011"/>
          </a:solidFill>
          <a:ln w="12700">
            <a:solidFill>
              <a:srgbClr val="990011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274320" y="0"/>
            <a:ext cx="5394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GEOGRAPHY — UPPER SIXTH ARTS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5668366" y="0"/>
            <a:ext cx="6523330" cy="777240"/>
          </a:xfrm>
          <a:prstGeom prst="chevron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126480" y="0"/>
            <a:ext cx="5760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III. MORTALITY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0" y="6548018"/>
            <a:ext cx="3657600" cy="310896"/>
          </a:xfrm>
          <a:prstGeom prst="rect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37160" y="6548018"/>
            <a:ext cx="3383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 / 2027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657600" y="6548018"/>
            <a:ext cx="5852160" cy="310896"/>
          </a:xfrm>
          <a:prstGeom prst="rect">
            <a:avLst/>
          </a:prstGeom>
          <a:solidFill>
            <a:srgbClr val="B8860B"/>
          </a:solidFill>
          <a:ln w="12700">
            <a:solidFill>
              <a:srgbClr val="B8860B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794760" y="6548018"/>
            <a:ext cx="5577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DGCAST GAROUA — GEOGRAPHY DEPARTMENT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9509760" y="6548018"/>
            <a:ext cx="2681935" cy="310896"/>
          </a:xfrm>
          <a:prstGeom prst="rect">
            <a:avLst/>
          </a:prstGeom>
          <a:solidFill>
            <a:srgbClr val="36454F"/>
          </a:solidFill>
          <a:ln w="12700">
            <a:solidFill>
              <a:srgbClr val="36454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9601200" y="6548018"/>
            <a:ext cx="2514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 KAMDEM E.   |   23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457200" y="896112"/>
            <a:ext cx="1127455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9900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Activity 4</a:t>
            </a:r>
            <a:endParaRPr lang="en-US" sz="3600" dirty="0"/>
          </a:p>
        </p:txBody>
      </p:sp>
      <p:pic>
        <p:nvPicPr>
          <p:cNvPr id="13" name="Image 0" descr="/home/claude/f4/img/v2/usa_vaccine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014449" y="1691640"/>
            <a:ext cx="8160054" cy="4526280"/>
          </a:xfrm>
          <a:prstGeom prst="rect">
            <a:avLst/>
          </a:prstGeom>
        </p:spPr>
      </p:pic>
      <p:sp>
        <p:nvSpPr>
          <p:cNvPr id="14" name="Text 11"/>
          <p:cNvSpPr txBox="1"/>
          <p:nvPr/>
        </p:nvSpPr>
        <p:spPr>
          <a:xfrm>
            <a:off x="457200" y="6245352"/>
            <a:ext cx="112745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i="1" dirty="0">
                <a:solidFill>
                  <a:srgbClr val="555555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 baby being vaccinated.</a:t>
            </a:r>
            <a:endParaRPr lang="en-US" sz="140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668366" cy="777240"/>
          </a:xfrm>
          <a:prstGeom prst="rect">
            <a:avLst/>
          </a:prstGeom>
          <a:solidFill>
            <a:srgbClr val="990011"/>
          </a:solidFill>
          <a:ln w="12700">
            <a:solidFill>
              <a:srgbClr val="990011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274320" y="0"/>
            <a:ext cx="5394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GEOGRAPHY — UPPER SIXTH ARTS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5668366" y="0"/>
            <a:ext cx="6523330" cy="777240"/>
          </a:xfrm>
          <a:prstGeom prst="chevron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126480" y="0"/>
            <a:ext cx="5760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III. MORTALITY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0" y="6548018"/>
            <a:ext cx="3657600" cy="310896"/>
          </a:xfrm>
          <a:prstGeom prst="rect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37160" y="6548018"/>
            <a:ext cx="3383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 / 2027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657600" y="6548018"/>
            <a:ext cx="5852160" cy="310896"/>
          </a:xfrm>
          <a:prstGeom prst="rect">
            <a:avLst/>
          </a:prstGeom>
          <a:solidFill>
            <a:srgbClr val="B8860B"/>
          </a:solidFill>
          <a:ln w="12700">
            <a:solidFill>
              <a:srgbClr val="B8860B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794760" y="6548018"/>
            <a:ext cx="5577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DGCAST GAROUA — GEOGRAPHY DEPARTMENT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9509760" y="6548018"/>
            <a:ext cx="2681935" cy="310896"/>
          </a:xfrm>
          <a:prstGeom prst="rect">
            <a:avLst/>
          </a:prstGeom>
          <a:solidFill>
            <a:srgbClr val="36454F"/>
          </a:solidFill>
          <a:ln w="12700">
            <a:solidFill>
              <a:srgbClr val="36454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9601200" y="6548018"/>
            <a:ext cx="2514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 KAMDEM E.   |   24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457200" y="896112"/>
            <a:ext cx="1127455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9900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Activity 4: Question</a:t>
            </a:r>
            <a:endParaRPr lang="en-US" sz="36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1783080"/>
            <a:ext cx="11274552" cy="4663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spcAft>
                <a:spcPts val="800"/>
              </a:spcAft>
              <a:buNone/>
            </a:pPr>
            <a:r>
              <a:rPr lang="en-US" sz="4000" dirty="0">
                <a:solidFill>
                  <a:srgbClr val="1111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How do vaccines and clean water reduce death rates?</a:t>
            </a:r>
            <a:endParaRPr lang="en-US" sz="400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668366" cy="777240"/>
          </a:xfrm>
          <a:prstGeom prst="rect">
            <a:avLst/>
          </a:prstGeom>
          <a:solidFill>
            <a:srgbClr val="990011"/>
          </a:solidFill>
          <a:ln w="12700">
            <a:solidFill>
              <a:srgbClr val="990011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274320" y="0"/>
            <a:ext cx="5394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GEOGRAPHY — UPPER SIXTH ARTS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5668366" y="0"/>
            <a:ext cx="6523330" cy="777240"/>
          </a:xfrm>
          <a:prstGeom prst="chevron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126480" y="0"/>
            <a:ext cx="5760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III. MORTALITY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0" y="6548018"/>
            <a:ext cx="3657600" cy="310896"/>
          </a:xfrm>
          <a:prstGeom prst="rect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37160" y="6548018"/>
            <a:ext cx="3383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 / 2027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657600" y="6548018"/>
            <a:ext cx="5852160" cy="310896"/>
          </a:xfrm>
          <a:prstGeom prst="rect">
            <a:avLst/>
          </a:prstGeom>
          <a:solidFill>
            <a:srgbClr val="B8860B"/>
          </a:solidFill>
          <a:ln w="12700">
            <a:solidFill>
              <a:srgbClr val="B8860B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794760" y="6548018"/>
            <a:ext cx="5577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DGCAST GAROUA — GEOGRAPHY DEPARTMENT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9509760" y="6548018"/>
            <a:ext cx="2681935" cy="310896"/>
          </a:xfrm>
          <a:prstGeom prst="rect">
            <a:avLst/>
          </a:prstGeom>
          <a:solidFill>
            <a:srgbClr val="36454F"/>
          </a:solidFill>
          <a:ln w="12700">
            <a:solidFill>
              <a:srgbClr val="36454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9601200" y="6548018"/>
            <a:ext cx="2514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 KAMDEM E.   |   25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457200" y="896112"/>
            <a:ext cx="1127455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9900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Answer</a:t>
            </a:r>
            <a:endParaRPr lang="en-US" sz="36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1783080"/>
            <a:ext cx="11274552" cy="4663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spcAft>
                <a:spcPts val="800"/>
              </a:spcAft>
              <a:buNone/>
            </a:pPr>
            <a:r>
              <a:rPr lang="en-US" sz="4000" dirty="0">
                <a:solidFill>
                  <a:srgbClr val="1111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They prevent infectious diseases like measles and cholera.</a:t>
            </a:r>
            <a:endParaRPr lang="en-US" sz="4000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668366" cy="777240"/>
          </a:xfrm>
          <a:prstGeom prst="rect">
            <a:avLst/>
          </a:prstGeom>
          <a:solidFill>
            <a:srgbClr val="990011"/>
          </a:solidFill>
          <a:ln w="12700">
            <a:solidFill>
              <a:srgbClr val="990011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274320" y="0"/>
            <a:ext cx="5394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GEOGRAPHY — UPPER SIXTH ARTS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5668366" y="0"/>
            <a:ext cx="6523330" cy="777240"/>
          </a:xfrm>
          <a:prstGeom prst="chevron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126480" y="0"/>
            <a:ext cx="5760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III. MORTALITY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0" y="6548018"/>
            <a:ext cx="3657600" cy="310896"/>
          </a:xfrm>
          <a:prstGeom prst="rect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37160" y="6548018"/>
            <a:ext cx="3383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 / 2027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657600" y="6548018"/>
            <a:ext cx="5852160" cy="310896"/>
          </a:xfrm>
          <a:prstGeom prst="rect">
            <a:avLst/>
          </a:prstGeom>
          <a:solidFill>
            <a:srgbClr val="B8860B"/>
          </a:solidFill>
          <a:ln w="12700">
            <a:solidFill>
              <a:srgbClr val="B8860B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794760" y="6548018"/>
            <a:ext cx="5577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DGCAST GAROUA — GEOGRAPHY DEPARTMENT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9509760" y="6548018"/>
            <a:ext cx="2681935" cy="310896"/>
          </a:xfrm>
          <a:prstGeom prst="rect">
            <a:avLst/>
          </a:prstGeom>
          <a:solidFill>
            <a:srgbClr val="36454F"/>
          </a:solidFill>
          <a:ln w="12700">
            <a:solidFill>
              <a:srgbClr val="36454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9601200" y="6548018"/>
            <a:ext cx="2514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 KAMDEM E.   |   26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457200" y="896112"/>
            <a:ext cx="1127455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9900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Activity 5</a:t>
            </a:r>
            <a:endParaRPr lang="en-US" sz="3600" dirty="0"/>
          </a:p>
        </p:txBody>
      </p:sp>
      <p:pic>
        <p:nvPicPr>
          <p:cNvPr id="13" name="Image 0" descr="/home/claude/f4/img/v2/f2t_doctor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014449" y="1691640"/>
            <a:ext cx="8160054" cy="4526280"/>
          </a:xfrm>
          <a:prstGeom prst="rect">
            <a:avLst/>
          </a:prstGeom>
        </p:spPr>
      </p:pic>
      <p:sp>
        <p:nvSpPr>
          <p:cNvPr id="14" name="Text 11"/>
          <p:cNvSpPr txBox="1"/>
          <p:nvPr/>
        </p:nvSpPr>
        <p:spPr>
          <a:xfrm>
            <a:off x="457200" y="6245352"/>
            <a:ext cx="112745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i="1" dirty="0">
                <a:solidFill>
                  <a:srgbClr val="555555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 doctor examining a patient.</a:t>
            </a:r>
            <a:endParaRPr lang="en-US" sz="1400" dirty="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668366" cy="777240"/>
          </a:xfrm>
          <a:prstGeom prst="rect">
            <a:avLst/>
          </a:prstGeom>
          <a:solidFill>
            <a:srgbClr val="990011"/>
          </a:solidFill>
          <a:ln w="12700">
            <a:solidFill>
              <a:srgbClr val="990011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274320" y="0"/>
            <a:ext cx="5394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GEOGRAPHY — UPPER SIXTH ARTS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5668366" y="0"/>
            <a:ext cx="6523330" cy="777240"/>
          </a:xfrm>
          <a:prstGeom prst="chevron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126480" y="0"/>
            <a:ext cx="5760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III. MORTALITY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0" y="6548018"/>
            <a:ext cx="3657600" cy="310896"/>
          </a:xfrm>
          <a:prstGeom prst="rect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37160" y="6548018"/>
            <a:ext cx="3383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 / 2027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657600" y="6548018"/>
            <a:ext cx="5852160" cy="310896"/>
          </a:xfrm>
          <a:prstGeom prst="rect">
            <a:avLst/>
          </a:prstGeom>
          <a:solidFill>
            <a:srgbClr val="B8860B"/>
          </a:solidFill>
          <a:ln w="12700">
            <a:solidFill>
              <a:srgbClr val="B8860B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794760" y="6548018"/>
            <a:ext cx="5577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DGCAST GAROUA — GEOGRAPHY DEPARTMENT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9509760" y="6548018"/>
            <a:ext cx="2681935" cy="310896"/>
          </a:xfrm>
          <a:prstGeom prst="rect">
            <a:avLst/>
          </a:prstGeom>
          <a:solidFill>
            <a:srgbClr val="36454F"/>
          </a:solidFill>
          <a:ln w="12700">
            <a:solidFill>
              <a:srgbClr val="36454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9601200" y="6548018"/>
            <a:ext cx="2514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 KAMDEM E.   |   27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457200" y="896112"/>
            <a:ext cx="1127455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9900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Activity 5: Question</a:t>
            </a:r>
            <a:endParaRPr lang="en-US" sz="36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1783080"/>
            <a:ext cx="11274552" cy="4663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spcAft>
                <a:spcPts val="800"/>
              </a:spcAft>
              <a:buNone/>
            </a:pPr>
            <a:r>
              <a:rPr lang="en-US" sz="4000" dirty="0">
                <a:solidFill>
                  <a:srgbClr val="1111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Why is infant mortality still high in some regions?</a:t>
            </a:r>
            <a:endParaRPr lang="en-US" sz="4000" dirty="0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668366" cy="777240"/>
          </a:xfrm>
          <a:prstGeom prst="rect">
            <a:avLst/>
          </a:prstGeom>
          <a:solidFill>
            <a:srgbClr val="990011"/>
          </a:solidFill>
          <a:ln w="12700">
            <a:solidFill>
              <a:srgbClr val="990011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274320" y="0"/>
            <a:ext cx="5394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GEOGRAPHY — UPPER SIXTH ARTS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5668366" y="0"/>
            <a:ext cx="6523330" cy="777240"/>
          </a:xfrm>
          <a:prstGeom prst="chevron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126480" y="0"/>
            <a:ext cx="5760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III. MORTALITY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0" y="6548018"/>
            <a:ext cx="3657600" cy="310896"/>
          </a:xfrm>
          <a:prstGeom prst="rect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37160" y="6548018"/>
            <a:ext cx="3383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 / 2027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657600" y="6548018"/>
            <a:ext cx="5852160" cy="310896"/>
          </a:xfrm>
          <a:prstGeom prst="rect">
            <a:avLst/>
          </a:prstGeom>
          <a:solidFill>
            <a:srgbClr val="B8860B"/>
          </a:solidFill>
          <a:ln w="12700">
            <a:solidFill>
              <a:srgbClr val="B8860B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794760" y="6548018"/>
            <a:ext cx="5577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DGCAST GAROUA — GEOGRAPHY DEPARTMENT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9509760" y="6548018"/>
            <a:ext cx="2681935" cy="310896"/>
          </a:xfrm>
          <a:prstGeom prst="rect">
            <a:avLst/>
          </a:prstGeom>
          <a:solidFill>
            <a:srgbClr val="36454F"/>
          </a:solidFill>
          <a:ln w="12700">
            <a:solidFill>
              <a:srgbClr val="36454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9601200" y="6548018"/>
            <a:ext cx="2514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 KAMDEM E.   |   28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457200" y="896112"/>
            <a:ext cx="1127455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9900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Answer</a:t>
            </a:r>
            <a:endParaRPr lang="en-US" sz="36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1783080"/>
            <a:ext cx="11274552" cy="4663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spcAft>
                <a:spcPts val="800"/>
              </a:spcAft>
              <a:buNone/>
            </a:pPr>
            <a:r>
              <a:rPr lang="en-US" sz="4000" dirty="0">
                <a:solidFill>
                  <a:srgbClr val="1111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Few doctors, poverty, malaria and poor nutrition.</a:t>
            </a:r>
            <a:endParaRPr lang="en-US" sz="4000" dirty="0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668366" cy="777240"/>
          </a:xfrm>
          <a:prstGeom prst="rect">
            <a:avLst/>
          </a:prstGeom>
          <a:solidFill>
            <a:srgbClr val="990011"/>
          </a:solidFill>
          <a:ln w="12700">
            <a:solidFill>
              <a:srgbClr val="990011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274320" y="0"/>
            <a:ext cx="5394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GEOGRAPHY — UPPER SIXTH ARTS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5668366" y="0"/>
            <a:ext cx="6523330" cy="777240"/>
          </a:xfrm>
          <a:prstGeom prst="chevron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126480" y="0"/>
            <a:ext cx="5760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BOARD SUMMARY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0" y="6548018"/>
            <a:ext cx="3657600" cy="310896"/>
          </a:xfrm>
          <a:prstGeom prst="rect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37160" y="6548018"/>
            <a:ext cx="3383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 / 2027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657600" y="6548018"/>
            <a:ext cx="5852160" cy="310896"/>
          </a:xfrm>
          <a:prstGeom prst="rect">
            <a:avLst/>
          </a:prstGeom>
          <a:solidFill>
            <a:srgbClr val="B8860B"/>
          </a:solidFill>
          <a:ln w="12700">
            <a:solidFill>
              <a:srgbClr val="B8860B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794760" y="6548018"/>
            <a:ext cx="5577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DGCAST GAROUA — GEOGRAPHY DEPARTMENT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9509760" y="6548018"/>
            <a:ext cx="2681935" cy="310896"/>
          </a:xfrm>
          <a:prstGeom prst="rect">
            <a:avLst/>
          </a:prstGeom>
          <a:solidFill>
            <a:srgbClr val="36454F"/>
          </a:solidFill>
          <a:ln w="12700">
            <a:solidFill>
              <a:srgbClr val="36454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9601200" y="6548018"/>
            <a:ext cx="2514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 KAMDEM E.   |   29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457200" y="896112"/>
            <a:ext cx="1127455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9900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Factors of Population Growth</a:t>
            </a:r>
            <a:endParaRPr lang="en-US" sz="36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1783080"/>
            <a:ext cx="11274552" cy="4663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spcAft>
                <a:spcPts val="800"/>
              </a:spcAft>
              <a:buNone/>
            </a:pPr>
            <a:r>
              <a:rPr lang="en-US" sz="3200" b="1" dirty="0">
                <a:solidFill>
                  <a:srgbClr val="1111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Topic: Population Change over Time (Population Growth)</a:t>
            </a:r>
            <a:endParaRPr lang="en-US" sz="3200" dirty="0"/>
          </a:p>
          <a:p>
            <a:pPr indent="0" marL="0">
              <a:lnSpc>
                <a:spcPct val="100000"/>
              </a:lnSpc>
              <a:spcAft>
                <a:spcPts val="800"/>
              </a:spcAft>
              <a:buNone/>
            </a:pPr>
            <a:r>
              <a:rPr lang="en-US" sz="3200" b="1" dirty="0">
                <a:solidFill>
                  <a:srgbClr val="1111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Sub-topic: Population Growth</a:t>
            </a:r>
            <a:endParaRPr lang="en-US" sz="3200" dirty="0"/>
          </a:p>
          <a:p>
            <a:pPr indent="0" marL="0">
              <a:lnSpc>
                <a:spcPct val="100000"/>
              </a:lnSpc>
              <a:spcAft>
                <a:spcPts val="800"/>
              </a:spcAft>
              <a:buNone/>
            </a:pPr>
            <a:r>
              <a:rPr lang="en-US" sz="3200" b="1" dirty="0">
                <a:solidFill>
                  <a:srgbClr val="9900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Lesson 10: Factors of Population Growth</a:t>
            </a:r>
            <a:endParaRPr lang="en-US" sz="3200" dirty="0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668366" cy="777240"/>
          </a:xfrm>
          <a:prstGeom prst="rect">
            <a:avLst/>
          </a:prstGeom>
          <a:solidFill>
            <a:srgbClr val="990011"/>
          </a:solidFill>
          <a:ln w="12700">
            <a:solidFill>
              <a:srgbClr val="990011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274320" y="0"/>
            <a:ext cx="5394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GEOGRAPHY — UPPER SIXTH ARTS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5668366" y="0"/>
            <a:ext cx="6523330" cy="777240"/>
          </a:xfrm>
          <a:prstGeom prst="chevron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126480" y="0"/>
            <a:ext cx="5760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BOARD SUMMARY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0" y="6548018"/>
            <a:ext cx="3657600" cy="310896"/>
          </a:xfrm>
          <a:prstGeom prst="rect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37160" y="6548018"/>
            <a:ext cx="3383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 / 2027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657600" y="6548018"/>
            <a:ext cx="5852160" cy="310896"/>
          </a:xfrm>
          <a:prstGeom prst="rect">
            <a:avLst/>
          </a:prstGeom>
          <a:solidFill>
            <a:srgbClr val="B8860B"/>
          </a:solidFill>
          <a:ln w="12700">
            <a:solidFill>
              <a:srgbClr val="B8860B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794760" y="6548018"/>
            <a:ext cx="5577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DGCAST GAROUA — GEOGRAPHY DEPARTMENT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9509760" y="6548018"/>
            <a:ext cx="2681935" cy="310896"/>
          </a:xfrm>
          <a:prstGeom prst="rect">
            <a:avLst/>
          </a:prstGeom>
          <a:solidFill>
            <a:srgbClr val="36454F"/>
          </a:solidFill>
          <a:ln w="12700">
            <a:solidFill>
              <a:srgbClr val="36454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9601200" y="6548018"/>
            <a:ext cx="2514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 KAMDEM E.   |   30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457200" y="896112"/>
            <a:ext cx="1127455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9900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I. Definitions</a:t>
            </a:r>
            <a:endParaRPr lang="en-US" sz="36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1783080"/>
            <a:ext cx="11274552" cy="4663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1000"/>
              </a:spcAft>
              <a:buNone/>
            </a:pPr>
            <a:r>
              <a:rPr lang="en-US" sz="4000" b="1" dirty="0">
                <a:solidFill>
                  <a:srgbClr val="9900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Infant mortality rate: </a:t>
            </a:r>
            <a:pPr indent="0" marL="0">
              <a:spcAft>
                <a:spcPts val="1000"/>
              </a:spcAft>
              <a:buNone/>
            </a:pPr>
            <a:r>
              <a:rPr lang="en-US" sz="4000" dirty="0">
                <a:solidFill>
                  <a:srgbClr val="1111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It is the number of babies who die before age one per 1,000 live births.</a:t>
            </a:r>
            <a:endParaRPr lang="en-US" sz="4000" dirty="0"/>
          </a:p>
          <a:p>
            <a:pPr indent="0" marL="0">
              <a:spcAft>
                <a:spcPts val="1000"/>
              </a:spcAft>
              <a:buNone/>
            </a:pPr>
            <a:r>
              <a:rPr lang="en-US" sz="4000" b="1" dirty="0">
                <a:solidFill>
                  <a:srgbClr val="9900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Family planning: </a:t>
            </a:r>
            <a:pPr indent="0" marL="0">
              <a:spcAft>
                <a:spcPts val="1000"/>
              </a:spcAft>
              <a:buNone/>
            </a:pPr>
            <a:r>
              <a:rPr lang="en-US" sz="4000" dirty="0">
                <a:solidFill>
                  <a:srgbClr val="1111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It is the use of methods to choose the number and spacing of children.</a:t>
            </a:r>
            <a:endParaRPr lang="en-US" sz="4000" dirty="0"/>
          </a:p>
          <a:p>
            <a:pPr indent="0" marL="0">
              <a:spcAft>
                <a:spcPts val="1000"/>
              </a:spcAft>
              <a:buNone/>
            </a:pPr>
            <a:r>
              <a:rPr lang="en-US" sz="4000" b="1" dirty="0">
                <a:solidFill>
                  <a:srgbClr val="9900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Contraception: </a:t>
            </a:r>
            <a:pPr indent="0" marL="0">
              <a:spcAft>
                <a:spcPts val="1000"/>
              </a:spcAft>
              <a:buNone/>
            </a:pPr>
            <a:r>
              <a:rPr lang="en-US" sz="4000" dirty="0">
                <a:solidFill>
                  <a:srgbClr val="1111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It is the use of methods to prevent pregnancy.</a:t>
            </a:r>
            <a:endParaRPr lang="en-US" sz="4000" dirty="0"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668366" cy="777240"/>
          </a:xfrm>
          <a:prstGeom prst="rect">
            <a:avLst/>
          </a:prstGeom>
          <a:solidFill>
            <a:srgbClr val="990011"/>
          </a:solidFill>
          <a:ln w="12700">
            <a:solidFill>
              <a:srgbClr val="990011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274320" y="0"/>
            <a:ext cx="5394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GEOGRAPHY — UPPER SIXTH ARTS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5668366" y="0"/>
            <a:ext cx="6523330" cy="777240"/>
          </a:xfrm>
          <a:prstGeom prst="chevron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126480" y="0"/>
            <a:ext cx="5760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BOARD SUMMARY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0" y="6548018"/>
            <a:ext cx="3657600" cy="310896"/>
          </a:xfrm>
          <a:prstGeom prst="rect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37160" y="6548018"/>
            <a:ext cx="3383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 / 2027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657600" y="6548018"/>
            <a:ext cx="5852160" cy="310896"/>
          </a:xfrm>
          <a:prstGeom prst="rect">
            <a:avLst/>
          </a:prstGeom>
          <a:solidFill>
            <a:srgbClr val="B8860B"/>
          </a:solidFill>
          <a:ln w="12700">
            <a:solidFill>
              <a:srgbClr val="B8860B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794760" y="6548018"/>
            <a:ext cx="5577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DGCAST GAROUA — GEOGRAPHY DEPARTMENT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9509760" y="6548018"/>
            <a:ext cx="2681935" cy="310896"/>
          </a:xfrm>
          <a:prstGeom prst="rect">
            <a:avLst/>
          </a:prstGeom>
          <a:solidFill>
            <a:srgbClr val="36454F"/>
          </a:solidFill>
          <a:ln w="12700">
            <a:solidFill>
              <a:srgbClr val="36454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9601200" y="6548018"/>
            <a:ext cx="2514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 KAMDEM E.   |   31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457200" y="896112"/>
            <a:ext cx="1127455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9900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II. Factors of Fertility (1/2)</a:t>
            </a:r>
            <a:endParaRPr lang="en-US" sz="36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1783080"/>
            <a:ext cx="11274552" cy="4663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1000"/>
              </a:spcAft>
              <a:buNone/>
            </a:pPr>
            <a:r>
              <a:rPr lang="en-US" sz="4000" b="1" dirty="0">
                <a:solidFill>
                  <a:srgbClr val="9900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A. High fertility: </a:t>
            </a:r>
            <a:pPr indent="0" marL="0">
              <a:spcAft>
                <a:spcPts val="1000"/>
              </a:spcAft>
              <a:buNone/>
            </a:pPr>
            <a:r>
              <a:rPr lang="en-US" sz="4000" dirty="0">
                <a:solidFill>
                  <a:srgbClr val="1111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Early marriage, religion, tradition and high infant mortality raise births. Children are valued as labour and old-age security.</a:t>
            </a:r>
            <a:endParaRPr lang="en-US" sz="4000" dirty="0"/>
          </a:p>
          <a:p>
            <a:pPr indent="0" marL="0">
              <a:spcAft>
                <a:spcPts val="1000"/>
              </a:spcAft>
              <a:buNone/>
            </a:pPr>
            <a:r>
              <a:rPr lang="en-US" sz="4000" b="1" dirty="0">
                <a:solidFill>
                  <a:srgbClr val="9900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B. Low fertility: </a:t>
            </a:r>
            <a:pPr indent="0" marL="0">
              <a:spcAft>
                <a:spcPts val="1000"/>
              </a:spcAft>
              <a:buNone/>
            </a:pPr>
            <a:r>
              <a:rPr lang="en-US" sz="4000" dirty="0">
                <a:solidFill>
                  <a:srgbClr val="1111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Education of women, jobs, town life and family planning lower births. Children are costly in towns.</a:t>
            </a:r>
            <a:endParaRPr lang="en-US" sz="4000" dirty="0"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668366" cy="777240"/>
          </a:xfrm>
          <a:prstGeom prst="rect">
            <a:avLst/>
          </a:prstGeom>
          <a:solidFill>
            <a:srgbClr val="990011"/>
          </a:solidFill>
          <a:ln w="12700">
            <a:solidFill>
              <a:srgbClr val="990011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274320" y="0"/>
            <a:ext cx="5394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GEOGRAPHY — UPPER SIXTH ARTS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5668366" y="0"/>
            <a:ext cx="6523330" cy="777240"/>
          </a:xfrm>
          <a:prstGeom prst="chevron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126480" y="0"/>
            <a:ext cx="5760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BOARD SUMMARY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0" y="6548018"/>
            <a:ext cx="3657600" cy="310896"/>
          </a:xfrm>
          <a:prstGeom prst="rect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37160" y="6548018"/>
            <a:ext cx="3383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 / 2027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657600" y="6548018"/>
            <a:ext cx="5852160" cy="310896"/>
          </a:xfrm>
          <a:prstGeom prst="rect">
            <a:avLst/>
          </a:prstGeom>
          <a:solidFill>
            <a:srgbClr val="B8860B"/>
          </a:solidFill>
          <a:ln w="12700">
            <a:solidFill>
              <a:srgbClr val="B8860B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794760" y="6548018"/>
            <a:ext cx="5577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DGCAST GAROUA — GEOGRAPHY DEPARTMENT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9509760" y="6548018"/>
            <a:ext cx="2681935" cy="310896"/>
          </a:xfrm>
          <a:prstGeom prst="rect">
            <a:avLst/>
          </a:prstGeom>
          <a:solidFill>
            <a:srgbClr val="36454F"/>
          </a:solidFill>
          <a:ln w="12700">
            <a:solidFill>
              <a:srgbClr val="36454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9601200" y="6548018"/>
            <a:ext cx="2514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 KAMDEM E.   |   32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457200" y="896112"/>
            <a:ext cx="1127455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9900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II. Factors of Fertility (2/2)</a:t>
            </a:r>
            <a:endParaRPr lang="en-US" sz="36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1783080"/>
            <a:ext cx="11274552" cy="4663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1000"/>
              </a:spcAft>
              <a:buNone/>
            </a:pPr>
            <a:r>
              <a:rPr lang="en-US" sz="4000" b="1" dirty="0">
                <a:solidFill>
                  <a:srgbClr val="9900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C. Government policy: </a:t>
            </a:r>
            <a:pPr indent="0" marL="0">
              <a:spcAft>
                <a:spcPts val="1000"/>
              </a:spcAft>
              <a:buNone/>
            </a:pPr>
            <a:r>
              <a:rPr lang="en-US" sz="4000" dirty="0">
                <a:solidFill>
                  <a:srgbClr val="1111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Some states encourage fewer or more births. Laws on marriage age also matter.</a:t>
            </a:r>
            <a:endParaRPr lang="en-US" sz="4000" dirty="0"/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668366" cy="777240"/>
          </a:xfrm>
          <a:prstGeom prst="rect">
            <a:avLst/>
          </a:prstGeom>
          <a:solidFill>
            <a:srgbClr val="990011"/>
          </a:solidFill>
          <a:ln w="12700">
            <a:solidFill>
              <a:srgbClr val="990011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274320" y="0"/>
            <a:ext cx="5394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GEOGRAPHY — UPPER SIXTH ARTS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5668366" y="0"/>
            <a:ext cx="6523330" cy="777240"/>
          </a:xfrm>
          <a:prstGeom prst="chevron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126480" y="0"/>
            <a:ext cx="5760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BOARD SUMMARY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0" y="6548018"/>
            <a:ext cx="3657600" cy="310896"/>
          </a:xfrm>
          <a:prstGeom prst="rect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37160" y="6548018"/>
            <a:ext cx="3383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 / 2027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657600" y="6548018"/>
            <a:ext cx="5852160" cy="310896"/>
          </a:xfrm>
          <a:prstGeom prst="rect">
            <a:avLst/>
          </a:prstGeom>
          <a:solidFill>
            <a:srgbClr val="B8860B"/>
          </a:solidFill>
          <a:ln w="12700">
            <a:solidFill>
              <a:srgbClr val="B8860B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794760" y="6548018"/>
            <a:ext cx="5577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DGCAST GAROUA — GEOGRAPHY DEPARTMENT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9509760" y="6548018"/>
            <a:ext cx="2681935" cy="310896"/>
          </a:xfrm>
          <a:prstGeom prst="rect">
            <a:avLst/>
          </a:prstGeom>
          <a:solidFill>
            <a:srgbClr val="36454F"/>
          </a:solidFill>
          <a:ln w="12700">
            <a:solidFill>
              <a:srgbClr val="36454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9601200" y="6548018"/>
            <a:ext cx="2514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 KAMDEM E.   |   33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457200" y="896112"/>
            <a:ext cx="1127455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9900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III. Factors of Mortality and Regional Differences (1/2)</a:t>
            </a:r>
            <a:endParaRPr lang="en-US" sz="36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1783080"/>
            <a:ext cx="11274552" cy="4663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1000"/>
              </a:spcAft>
              <a:buNone/>
            </a:pPr>
            <a:r>
              <a:rPr lang="en-US" sz="4000" b="1" dirty="0">
                <a:solidFill>
                  <a:srgbClr val="9900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A. Falling mortality: </a:t>
            </a:r>
            <a:pPr indent="0" marL="0">
              <a:spcAft>
                <a:spcPts val="1000"/>
              </a:spcAft>
              <a:buNone/>
            </a:pPr>
            <a:r>
              <a:rPr lang="en-US" sz="4000" dirty="0">
                <a:solidFill>
                  <a:srgbClr val="1111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Vaccines, medicines, clean water, sanitation and better food reduce deaths. Life expectancy rises.</a:t>
            </a:r>
            <a:endParaRPr lang="en-US" sz="4000" dirty="0"/>
          </a:p>
          <a:p>
            <a:pPr indent="0" marL="0">
              <a:spcAft>
                <a:spcPts val="1000"/>
              </a:spcAft>
              <a:buNone/>
            </a:pPr>
            <a:r>
              <a:rPr lang="en-US" sz="4000" b="1" dirty="0">
                <a:solidFill>
                  <a:srgbClr val="9900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B. High mortality: </a:t>
            </a:r>
            <a:pPr indent="0" marL="0">
              <a:spcAft>
                <a:spcPts val="1000"/>
              </a:spcAft>
              <a:buNone/>
            </a:pPr>
            <a:r>
              <a:rPr lang="en-US" sz="4000" dirty="0">
                <a:solidFill>
                  <a:srgbClr val="1111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Poverty, wars, epidemics and poor health care keep deaths high. Malaria and AIDS still kill many in Africa.</a:t>
            </a:r>
            <a:endParaRPr lang="en-US" sz="4000" dirty="0"/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668366" cy="777240"/>
          </a:xfrm>
          <a:prstGeom prst="rect">
            <a:avLst/>
          </a:prstGeom>
          <a:solidFill>
            <a:srgbClr val="990011"/>
          </a:solidFill>
          <a:ln w="12700">
            <a:solidFill>
              <a:srgbClr val="990011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274320" y="0"/>
            <a:ext cx="5394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GEOGRAPHY — UPPER SIXTH ARTS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5668366" y="0"/>
            <a:ext cx="6523330" cy="777240"/>
          </a:xfrm>
          <a:prstGeom prst="chevron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126480" y="0"/>
            <a:ext cx="5760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BOARD SUMMARY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0" y="6548018"/>
            <a:ext cx="3657600" cy="310896"/>
          </a:xfrm>
          <a:prstGeom prst="rect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37160" y="6548018"/>
            <a:ext cx="3383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 / 2027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657600" y="6548018"/>
            <a:ext cx="5852160" cy="310896"/>
          </a:xfrm>
          <a:prstGeom prst="rect">
            <a:avLst/>
          </a:prstGeom>
          <a:solidFill>
            <a:srgbClr val="B8860B"/>
          </a:solidFill>
          <a:ln w="12700">
            <a:solidFill>
              <a:srgbClr val="B8860B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794760" y="6548018"/>
            <a:ext cx="5577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DGCAST GAROUA — GEOGRAPHY DEPARTMENT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9509760" y="6548018"/>
            <a:ext cx="2681935" cy="310896"/>
          </a:xfrm>
          <a:prstGeom prst="rect">
            <a:avLst/>
          </a:prstGeom>
          <a:solidFill>
            <a:srgbClr val="36454F"/>
          </a:solidFill>
          <a:ln w="12700">
            <a:solidFill>
              <a:srgbClr val="36454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9601200" y="6548018"/>
            <a:ext cx="2514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 KAMDEM E.   |   34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457200" y="896112"/>
            <a:ext cx="1127455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9900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III. Factors of Mortality and Regional Differences (2/2)</a:t>
            </a:r>
            <a:endParaRPr lang="en-US" sz="36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1783080"/>
            <a:ext cx="11274552" cy="4663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1000"/>
              </a:spcAft>
              <a:buNone/>
            </a:pPr>
            <a:r>
              <a:rPr lang="en-US" sz="4000" b="1" dirty="0">
                <a:solidFill>
                  <a:srgbClr val="9900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C. Regional differences: </a:t>
            </a:r>
            <a:pPr indent="0" marL="0">
              <a:spcAft>
                <a:spcPts val="1000"/>
              </a:spcAft>
              <a:buNone/>
            </a:pPr>
            <a:r>
              <a:rPr lang="en-US" sz="4000" dirty="0">
                <a:solidFill>
                  <a:srgbClr val="1111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In MEDCs both births and deaths are low. In many LEDCs deaths have fallen but births are still high.</a:t>
            </a:r>
            <a:endParaRPr lang="en-US" sz="4000" dirty="0"/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668366" cy="777240"/>
          </a:xfrm>
          <a:prstGeom prst="rect">
            <a:avLst/>
          </a:prstGeom>
          <a:solidFill>
            <a:srgbClr val="990011"/>
          </a:solidFill>
          <a:ln w="12700">
            <a:solidFill>
              <a:srgbClr val="990011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274320" y="0"/>
            <a:ext cx="5394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GEOGRAPHY — UPPER SIXTH ARTS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5668366" y="0"/>
            <a:ext cx="6523330" cy="777240"/>
          </a:xfrm>
          <a:prstGeom prst="chevron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126480" y="0"/>
            <a:ext cx="5760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FORMATIVE EVALUATION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0" y="6548018"/>
            <a:ext cx="3657600" cy="310896"/>
          </a:xfrm>
          <a:prstGeom prst="rect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37160" y="6548018"/>
            <a:ext cx="3383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 / 2027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657600" y="6548018"/>
            <a:ext cx="5852160" cy="310896"/>
          </a:xfrm>
          <a:prstGeom prst="rect">
            <a:avLst/>
          </a:prstGeom>
          <a:solidFill>
            <a:srgbClr val="B8860B"/>
          </a:solidFill>
          <a:ln w="12700">
            <a:solidFill>
              <a:srgbClr val="B8860B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794760" y="6548018"/>
            <a:ext cx="5577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DGCAST GAROUA — GEOGRAPHY DEPARTMENT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9509760" y="6548018"/>
            <a:ext cx="2681935" cy="310896"/>
          </a:xfrm>
          <a:prstGeom prst="rect">
            <a:avLst/>
          </a:prstGeom>
          <a:solidFill>
            <a:srgbClr val="36454F"/>
          </a:solidFill>
          <a:ln w="12700">
            <a:solidFill>
              <a:srgbClr val="36454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9601200" y="6548018"/>
            <a:ext cx="2514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 KAMDEM E.   |   35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457200" y="896112"/>
            <a:ext cx="1127455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9900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Formative Evaluation 1</a:t>
            </a:r>
            <a:endParaRPr lang="en-US" sz="36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1783080"/>
            <a:ext cx="11274552" cy="4663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spcAft>
                <a:spcPts val="800"/>
              </a:spcAft>
              <a:buNone/>
            </a:pPr>
            <a:r>
              <a:rPr lang="en-US" sz="4000" dirty="0">
                <a:solidFill>
                  <a:srgbClr val="1111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Give three factors of high fertility.</a:t>
            </a:r>
            <a:endParaRPr lang="en-US" sz="4000" dirty="0"/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668366" cy="777240"/>
          </a:xfrm>
          <a:prstGeom prst="rect">
            <a:avLst/>
          </a:prstGeom>
          <a:solidFill>
            <a:srgbClr val="990011"/>
          </a:solidFill>
          <a:ln w="12700">
            <a:solidFill>
              <a:srgbClr val="990011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274320" y="0"/>
            <a:ext cx="5394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GEOGRAPHY — UPPER SIXTH ARTS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5668366" y="0"/>
            <a:ext cx="6523330" cy="777240"/>
          </a:xfrm>
          <a:prstGeom prst="chevron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126480" y="0"/>
            <a:ext cx="5760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FORMATIVE EVALUATION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0" y="6548018"/>
            <a:ext cx="3657600" cy="310896"/>
          </a:xfrm>
          <a:prstGeom prst="rect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37160" y="6548018"/>
            <a:ext cx="3383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 / 2027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657600" y="6548018"/>
            <a:ext cx="5852160" cy="310896"/>
          </a:xfrm>
          <a:prstGeom prst="rect">
            <a:avLst/>
          </a:prstGeom>
          <a:solidFill>
            <a:srgbClr val="B8860B"/>
          </a:solidFill>
          <a:ln w="12700">
            <a:solidFill>
              <a:srgbClr val="B8860B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794760" y="6548018"/>
            <a:ext cx="5577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DGCAST GAROUA — GEOGRAPHY DEPARTMENT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9509760" y="6548018"/>
            <a:ext cx="2681935" cy="310896"/>
          </a:xfrm>
          <a:prstGeom prst="rect">
            <a:avLst/>
          </a:prstGeom>
          <a:solidFill>
            <a:srgbClr val="36454F"/>
          </a:solidFill>
          <a:ln w="12700">
            <a:solidFill>
              <a:srgbClr val="36454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9601200" y="6548018"/>
            <a:ext cx="2514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 KAMDEM E.   |   36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457200" y="896112"/>
            <a:ext cx="1127455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9900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Expected Answer</a:t>
            </a:r>
            <a:endParaRPr lang="en-US" sz="36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1783080"/>
            <a:ext cx="11274552" cy="4663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spcAft>
                <a:spcPts val="800"/>
              </a:spcAft>
              <a:buNone/>
            </a:pPr>
            <a:r>
              <a:rPr lang="en-US" sz="4000" dirty="0">
                <a:solidFill>
                  <a:srgbClr val="1111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Early marriage, children as labour, low education of women (also religion, high infant mortality).</a:t>
            </a:r>
            <a:endParaRPr lang="en-US" sz="4000" dirty="0"/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668366" cy="777240"/>
          </a:xfrm>
          <a:prstGeom prst="rect">
            <a:avLst/>
          </a:prstGeom>
          <a:solidFill>
            <a:srgbClr val="990011"/>
          </a:solidFill>
          <a:ln w="12700">
            <a:solidFill>
              <a:srgbClr val="990011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274320" y="0"/>
            <a:ext cx="5394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GEOGRAPHY — UPPER SIXTH ARTS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5668366" y="0"/>
            <a:ext cx="6523330" cy="777240"/>
          </a:xfrm>
          <a:prstGeom prst="chevron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126480" y="0"/>
            <a:ext cx="5760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FORMATIVE EVALUATION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0" y="6548018"/>
            <a:ext cx="3657600" cy="310896"/>
          </a:xfrm>
          <a:prstGeom prst="rect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37160" y="6548018"/>
            <a:ext cx="3383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 / 2027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657600" y="6548018"/>
            <a:ext cx="5852160" cy="310896"/>
          </a:xfrm>
          <a:prstGeom prst="rect">
            <a:avLst/>
          </a:prstGeom>
          <a:solidFill>
            <a:srgbClr val="B8860B"/>
          </a:solidFill>
          <a:ln w="12700">
            <a:solidFill>
              <a:srgbClr val="B8860B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794760" y="6548018"/>
            <a:ext cx="5577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DGCAST GAROUA — GEOGRAPHY DEPARTMENT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9509760" y="6548018"/>
            <a:ext cx="2681935" cy="310896"/>
          </a:xfrm>
          <a:prstGeom prst="rect">
            <a:avLst/>
          </a:prstGeom>
          <a:solidFill>
            <a:srgbClr val="36454F"/>
          </a:solidFill>
          <a:ln w="12700">
            <a:solidFill>
              <a:srgbClr val="36454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9601200" y="6548018"/>
            <a:ext cx="2514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 KAMDEM E.   |   37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457200" y="896112"/>
            <a:ext cx="1127455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9900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Formative Evaluation 2</a:t>
            </a:r>
            <a:endParaRPr lang="en-US" sz="36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1783080"/>
            <a:ext cx="11274552" cy="4663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spcAft>
                <a:spcPts val="800"/>
              </a:spcAft>
              <a:buNone/>
            </a:pPr>
            <a:r>
              <a:rPr lang="en-US" sz="4000" dirty="0">
                <a:solidFill>
                  <a:srgbClr val="1111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Give three factors of falling mortality.</a:t>
            </a:r>
            <a:endParaRPr lang="en-US" sz="4000" dirty="0"/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668366" cy="777240"/>
          </a:xfrm>
          <a:prstGeom prst="rect">
            <a:avLst/>
          </a:prstGeom>
          <a:solidFill>
            <a:srgbClr val="990011"/>
          </a:solidFill>
          <a:ln w="12700">
            <a:solidFill>
              <a:srgbClr val="990011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274320" y="0"/>
            <a:ext cx="5394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GEOGRAPHY — UPPER SIXTH ARTS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5668366" y="0"/>
            <a:ext cx="6523330" cy="777240"/>
          </a:xfrm>
          <a:prstGeom prst="chevron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126480" y="0"/>
            <a:ext cx="5760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FORMATIVE EVALUATION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0" y="6548018"/>
            <a:ext cx="3657600" cy="310896"/>
          </a:xfrm>
          <a:prstGeom prst="rect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37160" y="6548018"/>
            <a:ext cx="3383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 / 2027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657600" y="6548018"/>
            <a:ext cx="5852160" cy="310896"/>
          </a:xfrm>
          <a:prstGeom prst="rect">
            <a:avLst/>
          </a:prstGeom>
          <a:solidFill>
            <a:srgbClr val="B8860B"/>
          </a:solidFill>
          <a:ln w="12700">
            <a:solidFill>
              <a:srgbClr val="B8860B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794760" y="6548018"/>
            <a:ext cx="5577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DGCAST GAROUA — GEOGRAPHY DEPARTMENT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9509760" y="6548018"/>
            <a:ext cx="2681935" cy="310896"/>
          </a:xfrm>
          <a:prstGeom prst="rect">
            <a:avLst/>
          </a:prstGeom>
          <a:solidFill>
            <a:srgbClr val="36454F"/>
          </a:solidFill>
          <a:ln w="12700">
            <a:solidFill>
              <a:srgbClr val="36454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9601200" y="6548018"/>
            <a:ext cx="2514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 KAMDEM E.   |   38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457200" y="896112"/>
            <a:ext cx="1127455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9900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Expected Answer</a:t>
            </a:r>
            <a:endParaRPr lang="en-US" sz="36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1783080"/>
            <a:ext cx="11274552" cy="4663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spcAft>
                <a:spcPts val="800"/>
              </a:spcAft>
              <a:buNone/>
            </a:pPr>
            <a:r>
              <a:rPr lang="en-US" sz="4000" dirty="0">
                <a:solidFill>
                  <a:srgbClr val="1111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Vaccines, clean water, better food (also hospitals, medicines).</a:t>
            </a:r>
            <a:endParaRPr lang="en-US" sz="4000" dirty="0"/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668366" cy="777240"/>
          </a:xfrm>
          <a:prstGeom prst="rect">
            <a:avLst/>
          </a:prstGeom>
          <a:solidFill>
            <a:srgbClr val="990011"/>
          </a:solidFill>
          <a:ln w="12700">
            <a:solidFill>
              <a:srgbClr val="990011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274320" y="0"/>
            <a:ext cx="5394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GEOGRAPHY — UPPER SIXTH ARTS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5668366" y="0"/>
            <a:ext cx="6523330" cy="777240"/>
          </a:xfrm>
          <a:prstGeom prst="chevron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126480" y="0"/>
            <a:ext cx="5760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REMEDIATION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0" y="6548018"/>
            <a:ext cx="3657600" cy="310896"/>
          </a:xfrm>
          <a:prstGeom prst="rect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37160" y="6548018"/>
            <a:ext cx="3383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 / 2027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657600" y="6548018"/>
            <a:ext cx="5852160" cy="310896"/>
          </a:xfrm>
          <a:prstGeom prst="rect">
            <a:avLst/>
          </a:prstGeom>
          <a:solidFill>
            <a:srgbClr val="B8860B"/>
          </a:solidFill>
          <a:ln w="12700">
            <a:solidFill>
              <a:srgbClr val="B8860B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794760" y="6548018"/>
            <a:ext cx="5577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DGCAST GAROUA — GEOGRAPHY DEPARTMENT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9509760" y="6548018"/>
            <a:ext cx="2681935" cy="310896"/>
          </a:xfrm>
          <a:prstGeom prst="rect">
            <a:avLst/>
          </a:prstGeom>
          <a:solidFill>
            <a:srgbClr val="36454F"/>
          </a:solidFill>
          <a:ln w="12700">
            <a:solidFill>
              <a:srgbClr val="36454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9601200" y="6548018"/>
            <a:ext cx="2514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 KAMDEM E.   |   39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457200" y="896112"/>
            <a:ext cx="1127455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9900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Remediation</a:t>
            </a:r>
            <a:endParaRPr lang="en-US" sz="36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1783080"/>
            <a:ext cx="11274552" cy="4663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spcAft>
                <a:spcPts val="800"/>
              </a:spcAft>
              <a:buNone/>
            </a:pPr>
            <a:r>
              <a:rPr lang="en-US" sz="3600" b="1" dirty="0">
                <a:solidFill>
                  <a:srgbClr val="1111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Fill in the blanks:</a:t>
            </a:r>
            <a:endParaRPr lang="en-US" sz="3600" dirty="0"/>
          </a:p>
          <a:p>
            <a:pPr marL="342900" indent="-342900">
              <a:lnSpc>
                <a:spcPct val="100000"/>
              </a:lnSpc>
              <a:spcAft>
                <a:spcPts val="800"/>
              </a:spcAft>
              <a:buSzPct val="100000"/>
              <a:buFont typeface="+mj-lt"/>
              <a:buAutoNum type="arabicPeriod" startAt="1"/>
            </a:pPr>
            <a:r>
              <a:rPr lang="en-US" sz="3600" dirty="0">
                <a:solidFill>
                  <a:srgbClr val="1111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Deaths of babies under one year are infant ______.</a:t>
            </a:r>
            <a:endParaRPr lang="en-US" sz="3600" dirty="0"/>
          </a:p>
          <a:p>
            <a:pPr marL="342900" indent="-342900">
              <a:lnSpc>
                <a:spcPct val="100000"/>
              </a:lnSpc>
              <a:spcAft>
                <a:spcPts val="800"/>
              </a:spcAft>
              <a:buSzPct val="100000"/>
              <a:buFont typeface="+mj-lt"/>
              <a:buAutoNum type="arabicPeriod" startAt="1"/>
            </a:pPr>
            <a:r>
              <a:rPr lang="en-US" sz="3600" dirty="0">
                <a:solidFill>
                  <a:srgbClr val="1111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Educating girls ______ birth rates.</a:t>
            </a:r>
            <a:endParaRPr lang="en-US" sz="3600" dirty="0"/>
          </a:p>
          <a:p>
            <a:pPr marL="342900" indent="-342900">
              <a:lnSpc>
                <a:spcPct val="100000"/>
              </a:lnSpc>
              <a:spcAft>
                <a:spcPts val="800"/>
              </a:spcAft>
              <a:buSzPct val="100000"/>
              <a:buFont typeface="+mj-lt"/>
              <a:buAutoNum type="arabicPeriod" startAt="1"/>
            </a:pPr>
            <a:r>
              <a:rPr lang="en-US" sz="3600" dirty="0">
                <a:solidFill>
                  <a:srgbClr val="1111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Vaccines reduce ______ rates.</a:t>
            </a:r>
            <a:endParaRPr lang="en-US" sz="3600" dirty="0"/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668366" cy="777240"/>
          </a:xfrm>
          <a:prstGeom prst="rect">
            <a:avLst/>
          </a:prstGeom>
          <a:solidFill>
            <a:srgbClr val="990011"/>
          </a:solidFill>
          <a:ln w="12700">
            <a:solidFill>
              <a:srgbClr val="990011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274320" y="0"/>
            <a:ext cx="5394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GEOGRAPHY — UPPER SIXTH ARTS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5668366" y="0"/>
            <a:ext cx="6523330" cy="777240"/>
          </a:xfrm>
          <a:prstGeom prst="chevron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126480" y="0"/>
            <a:ext cx="5760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HOMEWORK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0" y="6548018"/>
            <a:ext cx="3657600" cy="310896"/>
          </a:xfrm>
          <a:prstGeom prst="rect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37160" y="6548018"/>
            <a:ext cx="3383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 / 2027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657600" y="6548018"/>
            <a:ext cx="5852160" cy="310896"/>
          </a:xfrm>
          <a:prstGeom prst="rect">
            <a:avLst/>
          </a:prstGeom>
          <a:solidFill>
            <a:srgbClr val="B8860B"/>
          </a:solidFill>
          <a:ln w="12700">
            <a:solidFill>
              <a:srgbClr val="B8860B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794760" y="6548018"/>
            <a:ext cx="5577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DGCAST GAROUA — GEOGRAPHY DEPARTMENT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9509760" y="6548018"/>
            <a:ext cx="2681935" cy="310896"/>
          </a:xfrm>
          <a:prstGeom prst="rect">
            <a:avLst/>
          </a:prstGeom>
          <a:solidFill>
            <a:srgbClr val="36454F"/>
          </a:solidFill>
          <a:ln w="12700">
            <a:solidFill>
              <a:srgbClr val="36454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9601200" y="6548018"/>
            <a:ext cx="2514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 KAMDEM E.   |   40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457200" y="896112"/>
            <a:ext cx="1127455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9900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Homework</a:t>
            </a:r>
            <a:endParaRPr lang="en-US" sz="36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1783080"/>
            <a:ext cx="11274552" cy="4663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spcAft>
                <a:spcPts val="800"/>
              </a:spcAft>
              <a:buNone/>
            </a:pPr>
            <a:r>
              <a:rPr lang="en-US" sz="4000" dirty="0">
                <a:solidFill>
                  <a:srgbClr val="1111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Compare the number of children in your grandparents' and parents' families and explain the change.</a:t>
            </a:r>
            <a:endParaRPr lang="en-US" sz="4000" dirty="0"/>
          </a:p>
          <a:p>
            <a:pPr indent="0" marL="0">
              <a:lnSpc>
                <a:spcPct val="100000"/>
              </a:lnSpc>
              <a:spcAft>
                <a:spcPts val="800"/>
              </a:spcAft>
              <a:buNone/>
            </a:pPr>
            <a:r>
              <a:rPr lang="en-US" sz="4000" b="1" dirty="0">
                <a:solidFill>
                  <a:srgbClr val="9900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This prepares Lesson 11: The Modern Demographic Explosion.</a:t>
            </a:r>
            <a:endParaRPr lang="en-US" sz="4000" dirty="0"/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668366" cy="777240"/>
          </a:xfrm>
          <a:prstGeom prst="rect">
            <a:avLst/>
          </a:prstGeom>
          <a:solidFill>
            <a:srgbClr val="990011"/>
          </a:solidFill>
          <a:ln w="12700">
            <a:solidFill>
              <a:srgbClr val="990011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274320" y="0"/>
            <a:ext cx="5394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GEOGRAPHY — UPPER SIXTH ARTS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5668366" y="0"/>
            <a:ext cx="6523330" cy="777240"/>
          </a:xfrm>
          <a:prstGeom prst="chevron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126480" y="0"/>
            <a:ext cx="5760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BILINGUAL GAME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0" y="6548018"/>
            <a:ext cx="3657600" cy="310896"/>
          </a:xfrm>
          <a:prstGeom prst="rect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37160" y="6548018"/>
            <a:ext cx="3383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 / 2027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657600" y="6548018"/>
            <a:ext cx="5852160" cy="310896"/>
          </a:xfrm>
          <a:prstGeom prst="rect">
            <a:avLst/>
          </a:prstGeom>
          <a:solidFill>
            <a:srgbClr val="B8860B"/>
          </a:solidFill>
          <a:ln w="12700">
            <a:solidFill>
              <a:srgbClr val="B8860B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794760" y="6548018"/>
            <a:ext cx="5577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DGCAST GAROUA — GEOGRAPHY DEPARTMENT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9509760" y="6548018"/>
            <a:ext cx="2681935" cy="310896"/>
          </a:xfrm>
          <a:prstGeom prst="rect">
            <a:avLst/>
          </a:prstGeom>
          <a:solidFill>
            <a:srgbClr val="36454F"/>
          </a:solidFill>
          <a:ln w="12700">
            <a:solidFill>
              <a:srgbClr val="36454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9601200" y="6548018"/>
            <a:ext cx="2514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 KAMDEM E.   |   41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457200" y="896112"/>
            <a:ext cx="1127455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99001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Bilingual Game (Jeu Bilingue)</a:t>
            </a:r>
            <a:endParaRPr lang="en-US" sz="3000" dirty="0"/>
          </a:p>
        </p:txBody>
      </p:sp>
      <p:graphicFrame>
        <p:nvGraphicFramePr>
          <p:cNvPr id="4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2011680" y="1783080"/>
          <a:ext cx="8138160" cy="914400"/>
        </p:xfrm>
        <a:graphic>
          <a:graphicData uri="http://schemas.openxmlformats.org/drawingml/2006/table">
            <a:tbl>
              <a:tblPr/>
              <a:tblGrid>
                <a:gridCol w="4069080"/>
                <a:gridCol w="4069080"/>
              </a:tblGrid>
              <a:tr h="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8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English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9001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8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Français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90011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800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Family planning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800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La planification familiale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800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Infant mortality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800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La mortalité infantile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8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800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Contraception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800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La contraception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800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Education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800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L'éducation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8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800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Health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800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La santé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800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Marriage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800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Le mariage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8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668366" cy="777240"/>
          </a:xfrm>
          <a:prstGeom prst="rect">
            <a:avLst/>
          </a:prstGeom>
          <a:solidFill>
            <a:srgbClr val="990011"/>
          </a:solidFill>
          <a:ln w="12700">
            <a:solidFill>
              <a:srgbClr val="990011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274320" y="0"/>
            <a:ext cx="5394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GEOGRAPHY — UPPER SIXTH ARTS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5668366" y="0"/>
            <a:ext cx="6523330" cy="777240"/>
          </a:xfrm>
          <a:prstGeom prst="chevron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126480" y="0"/>
            <a:ext cx="5760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LOGBOOK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0" y="6548018"/>
            <a:ext cx="3657600" cy="310896"/>
          </a:xfrm>
          <a:prstGeom prst="rect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37160" y="6548018"/>
            <a:ext cx="3383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 / 2027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657600" y="6548018"/>
            <a:ext cx="5852160" cy="310896"/>
          </a:xfrm>
          <a:prstGeom prst="rect">
            <a:avLst/>
          </a:prstGeom>
          <a:solidFill>
            <a:srgbClr val="B8860B"/>
          </a:solidFill>
          <a:ln w="12700">
            <a:solidFill>
              <a:srgbClr val="B8860B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794760" y="6548018"/>
            <a:ext cx="5577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DGCAST GAROUA — GEOGRAPHY DEPARTMENT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9509760" y="6548018"/>
            <a:ext cx="2681935" cy="310896"/>
          </a:xfrm>
          <a:prstGeom prst="rect">
            <a:avLst/>
          </a:prstGeom>
          <a:solidFill>
            <a:srgbClr val="36454F"/>
          </a:solidFill>
          <a:ln w="12700">
            <a:solidFill>
              <a:srgbClr val="36454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9601200" y="6548018"/>
            <a:ext cx="2514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 KAMDEM E.   |   42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457200" y="896112"/>
            <a:ext cx="1127455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99001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Official Logbook (1/2)</a:t>
            </a:r>
            <a:endParaRPr lang="en-US" sz="3000" dirty="0"/>
          </a:p>
        </p:txBody>
      </p:sp>
      <p:graphicFrame>
        <p:nvGraphicFramePr>
          <p:cNvPr id="4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783080"/>
          <a:ext cx="11274552" cy="914400"/>
        </p:xfrm>
        <a:graphic>
          <a:graphicData uri="http://schemas.openxmlformats.org/drawingml/2006/table">
            <a:tbl>
              <a:tblPr/>
              <a:tblGrid>
                <a:gridCol w="2926080"/>
                <a:gridCol w="8348472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Module / Topic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3F6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Population Change over Time (Population Growth)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Lesson Title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3F6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Lesson 10: Factors of Population Growth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Expected Learning Outcomes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3F6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Explain the factors of high and low fertility. Explain the factors of falling mortality. Compare these factors in MEDCs and LEDCs.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Competence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3F6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Learners are able to explain the factors that raise or lower birth and death rates.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668366" cy="777240"/>
          </a:xfrm>
          <a:prstGeom prst="rect">
            <a:avLst/>
          </a:prstGeom>
          <a:solidFill>
            <a:srgbClr val="990011"/>
          </a:solidFill>
          <a:ln w="12700">
            <a:solidFill>
              <a:srgbClr val="990011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274320" y="0"/>
            <a:ext cx="5394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GEOGRAPHY — UPPER SIXTH ARTS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5668366" y="0"/>
            <a:ext cx="6523330" cy="777240"/>
          </a:xfrm>
          <a:prstGeom prst="chevron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126480" y="0"/>
            <a:ext cx="5760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LOGBOOK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0" y="6548018"/>
            <a:ext cx="3657600" cy="310896"/>
          </a:xfrm>
          <a:prstGeom prst="rect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37160" y="6548018"/>
            <a:ext cx="3383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 / 2027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657600" y="6548018"/>
            <a:ext cx="5852160" cy="310896"/>
          </a:xfrm>
          <a:prstGeom prst="rect">
            <a:avLst/>
          </a:prstGeom>
          <a:solidFill>
            <a:srgbClr val="B8860B"/>
          </a:solidFill>
          <a:ln w="12700">
            <a:solidFill>
              <a:srgbClr val="B8860B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794760" y="6548018"/>
            <a:ext cx="5577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DGCAST GAROUA — GEOGRAPHY DEPARTMENT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9509760" y="6548018"/>
            <a:ext cx="2681935" cy="310896"/>
          </a:xfrm>
          <a:prstGeom prst="rect">
            <a:avLst/>
          </a:prstGeom>
          <a:solidFill>
            <a:srgbClr val="36454F"/>
          </a:solidFill>
          <a:ln w="12700">
            <a:solidFill>
              <a:srgbClr val="36454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9601200" y="6548018"/>
            <a:ext cx="2514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 KAMDEM E.   |   43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457200" y="896112"/>
            <a:ext cx="1127455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99001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Official Logbook (2/2)</a:t>
            </a:r>
            <a:endParaRPr lang="en-US" sz="3000" dirty="0"/>
          </a:p>
        </p:txBody>
      </p:sp>
      <p:graphicFrame>
        <p:nvGraphicFramePr>
          <p:cNvPr id="4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783080"/>
          <a:ext cx="11274552" cy="914400"/>
        </p:xfrm>
        <a:graphic>
          <a:graphicData uri="http://schemas.openxmlformats.org/drawingml/2006/table">
            <a:tbl>
              <a:tblPr/>
              <a:tblGrid>
                <a:gridCol w="2926080"/>
                <a:gridCol w="8348472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Matter Taught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3F6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I. Definitions: Infant mortality rate, Family planning, Contraception; II. Factors of Fertility: High fertility, Low fertility, Government policy; III. Factors of Mortality and Regional Differences: Falling mortality, High mortality, Regional differences.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Evaluation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3F6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Formative evaluation (3 questions) and remediation exercise.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Homework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3F6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Compare the number of children in your grandparents' and parents' families and explain the change.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Enrolment / Present / Absent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3F6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____ / ____ / ____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Achievement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3F6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To be completed by the teacher after the lesson.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668366" cy="777240"/>
          </a:xfrm>
          <a:prstGeom prst="rect">
            <a:avLst/>
          </a:prstGeom>
          <a:solidFill>
            <a:srgbClr val="990011"/>
          </a:solidFill>
          <a:ln w="12700">
            <a:solidFill>
              <a:srgbClr val="990011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274320" y="0"/>
            <a:ext cx="5394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GEOGRAPHY — UPPER SIXTH ARTS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5668366" y="0"/>
            <a:ext cx="6523330" cy="777240"/>
          </a:xfrm>
          <a:prstGeom prst="chevron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126480" y="0"/>
            <a:ext cx="5760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TEACHER'S NOTE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0" y="6548018"/>
            <a:ext cx="3657600" cy="310896"/>
          </a:xfrm>
          <a:prstGeom prst="rect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37160" y="6548018"/>
            <a:ext cx="3383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 / 2027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657600" y="6548018"/>
            <a:ext cx="5852160" cy="310896"/>
          </a:xfrm>
          <a:prstGeom prst="rect">
            <a:avLst/>
          </a:prstGeom>
          <a:solidFill>
            <a:srgbClr val="B8860B"/>
          </a:solidFill>
          <a:ln w="12700">
            <a:solidFill>
              <a:srgbClr val="B8860B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794760" y="6548018"/>
            <a:ext cx="5577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DGCAST GAROUA — GEOGRAPHY DEPARTMENT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9509760" y="6548018"/>
            <a:ext cx="2681935" cy="310896"/>
          </a:xfrm>
          <a:prstGeom prst="rect">
            <a:avLst/>
          </a:prstGeom>
          <a:solidFill>
            <a:srgbClr val="36454F"/>
          </a:solidFill>
          <a:ln w="12700">
            <a:solidFill>
              <a:srgbClr val="36454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9601200" y="6548018"/>
            <a:ext cx="2514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 KAMDEM E.   |   44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457200" y="896112"/>
            <a:ext cx="1127455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99001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Teacher's Note</a:t>
            </a:r>
            <a:endParaRPr lang="en-US" sz="30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1783080"/>
            <a:ext cx="11274552" cy="4663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spcAft>
                <a:spcPts val="800"/>
              </a:spcAft>
              <a:buNone/>
            </a:pPr>
            <a:r>
              <a:rPr lang="en-US" sz="20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Timing: Set-up, recall 8 min | Situation 8 min | 5 activities 30 min | Board summary (copying) 30 min | Evaluation, remediation 10 min | Homework, logbook 9 min | Spare 5 min</a:t>
            </a:r>
            <a:endParaRPr lang="en-US" sz="2000" dirty="0"/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668366" cy="777240"/>
          </a:xfrm>
          <a:prstGeom prst="rect">
            <a:avLst/>
          </a:prstGeom>
          <a:solidFill>
            <a:srgbClr val="990011"/>
          </a:solidFill>
          <a:ln w="12700">
            <a:solidFill>
              <a:srgbClr val="990011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274320" y="0"/>
            <a:ext cx="5394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GEOGRAPHY — UPPER SIXTH ARTS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5668366" y="0"/>
            <a:ext cx="6523330" cy="777240"/>
          </a:xfrm>
          <a:prstGeom prst="chevron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126480" y="0"/>
            <a:ext cx="5760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REFERENCES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0" y="6548018"/>
            <a:ext cx="3657600" cy="310896"/>
          </a:xfrm>
          <a:prstGeom prst="rect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37160" y="6548018"/>
            <a:ext cx="3383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 / 2027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657600" y="6548018"/>
            <a:ext cx="5852160" cy="310896"/>
          </a:xfrm>
          <a:prstGeom prst="rect">
            <a:avLst/>
          </a:prstGeom>
          <a:solidFill>
            <a:srgbClr val="B8860B"/>
          </a:solidFill>
          <a:ln w="12700">
            <a:solidFill>
              <a:srgbClr val="B8860B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794760" y="6548018"/>
            <a:ext cx="5577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DGCAST GAROUA — GEOGRAPHY DEPARTMENT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9509760" y="6548018"/>
            <a:ext cx="2681935" cy="310896"/>
          </a:xfrm>
          <a:prstGeom prst="rect">
            <a:avLst/>
          </a:prstGeom>
          <a:solidFill>
            <a:srgbClr val="36454F"/>
          </a:solidFill>
          <a:ln w="12700">
            <a:solidFill>
              <a:srgbClr val="36454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9601200" y="6548018"/>
            <a:ext cx="2514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 KAMDEM E.   |   45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457200" y="896112"/>
            <a:ext cx="1127455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99001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References</a:t>
            </a:r>
            <a:endParaRPr lang="en-US" sz="30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1783080"/>
            <a:ext cx="11274552" cy="4663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spcAft>
                <a:spcPts val="800"/>
              </a:spcAft>
              <a:buNone/>
            </a:pPr>
            <a:r>
              <a:rPr lang="en-US" sz="18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National Geography Syllabus, Sixth Forms (Lower &amp; Upper Sixth), MINESEC/IGE/IP-SS, August 2019 — Module 4 (Population Geography).</a:t>
            </a:r>
            <a:endParaRPr lang="en-US" sz="1800" dirty="0"/>
          </a:p>
          <a:p>
            <a:pPr indent="0" marL="0">
              <a:lnSpc>
                <a:spcPct val="100000"/>
              </a:lnSpc>
              <a:spcAft>
                <a:spcPts val="800"/>
              </a:spcAft>
              <a:buNone/>
            </a:pPr>
            <a:r>
              <a:rPr lang="en-US" sz="18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Photo, Activity 2: “Students in Primary Seven at Zanaki Primary School” by World Bank Photo Collection, CC BY-NC-ND 2.0, via Flickr (https://www.flickr.com/photos/10816734@N03/33423887921)</a:t>
            </a:r>
            <a:endParaRPr lang="en-US" sz="1800" dirty="0"/>
          </a:p>
          <a:p>
            <a:pPr indent="0" marL="0">
              <a:lnSpc>
                <a:spcPct val="100000"/>
              </a:lnSpc>
              <a:spcAft>
                <a:spcPts val="800"/>
              </a:spcAft>
              <a:buNone/>
            </a:pPr>
            <a:r>
              <a:rPr lang="en-US" sz="18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Photo, Activity 3: “Irrigated rice fields in Sefula, Zambia. Photo by Kate Longley, 2013.” by WorldFish, CC BY-NC-ND 2.0, via Flickr (https://www.flickr.com/photos/61545321@N06/8608804590)</a:t>
            </a:r>
            <a:endParaRPr lang="en-US" sz="1800" dirty="0"/>
          </a:p>
          <a:p>
            <a:pPr indent="0" marL="0">
              <a:lnSpc>
                <a:spcPct val="100000"/>
              </a:lnSpc>
              <a:spcAft>
                <a:spcPts val="800"/>
              </a:spcAft>
              <a:buNone/>
            </a:pPr>
            <a:r>
              <a:rPr lang="en-US" sz="18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Photo, Activity 4: “Isatu gets a vaccination for her 5 week old son” by World Bank Photo Collection, CC BY-NC-ND 2.0, via Flickr (https://www.flickr.com/photos/10816734@N03/26372818523)</a:t>
            </a:r>
            <a:endParaRPr lang="en-US" sz="1800" dirty="0"/>
          </a:p>
          <a:p>
            <a:pPr indent="0" marL="0">
              <a:lnSpc>
                <a:spcPct val="100000"/>
              </a:lnSpc>
              <a:spcAft>
                <a:spcPts val="800"/>
              </a:spcAft>
              <a:buNone/>
            </a:pPr>
            <a:r>
              <a:rPr lang="en-US" sz="18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Photo, Activity 5: “Medical Readiness and Training Exercise 15-3” by US Army Africa, CC BY 2.0, via Flickr (https://www.flickr.com/photos/36281822@N08/16958932197)</a:t>
            </a:r>
            <a:endParaRPr lang="en-US" sz="1800" dirty="0"/>
          </a:p>
          <a:p>
            <a:pPr indent="0" marL="0">
              <a:lnSpc>
                <a:spcPct val="100000"/>
              </a:lnSpc>
              <a:spcAft>
                <a:spcPts val="800"/>
              </a:spcAft>
              <a:buNone/>
            </a:pPr>
            <a:r>
              <a:rPr lang="en-US" sz="18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Diagrams and animations: drawn for this lesson (DGCAST Geography Department).</a:t>
            </a:r>
            <a:endParaRPr lang="en-US" sz="1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45</Slides>
  <Notes>45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45</vt:i4>
      </vt:variant>
    </vt:vector>
  </HeadingPairs>
  <TitlesOfParts>
    <vt:vector size="4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  <vt:lpstr>Slide 29</vt:lpstr>
      <vt:lpstr>Slide 30</vt:lpstr>
      <vt:lpstr>Slide 31</vt:lpstr>
      <vt:lpstr>Slide 32</vt:lpstr>
      <vt:lpstr>Slide 33</vt:lpstr>
      <vt:lpstr>Slide 34</vt:lpstr>
      <vt:lpstr>Slide 35</vt:lpstr>
      <vt:lpstr>Slide 36</vt:lpstr>
      <vt:lpstr>Slide 37</vt:lpstr>
      <vt:lpstr>Slide 38</vt:lpstr>
      <vt:lpstr>Slide 39</vt:lpstr>
      <vt:lpstr>Slide 40</vt:lpstr>
      <vt:lpstr>Slide 41</vt:lpstr>
      <vt:lpstr>Slide 42</vt:lpstr>
      <vt:lpstr>Slide 43</vt:lpstr>
      <vt:lpstr>Slide 44</vt:lpstr>
      <vt:lpstr>Slide 45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2026-09-26T18:49:33Z</dcterms:created>
  <dcterms:modified xsi:type="dcterms:W3CDTF">2026-09-26T18:49:33Z</dcterms:modified>
</cp:coreProperties>
</file>