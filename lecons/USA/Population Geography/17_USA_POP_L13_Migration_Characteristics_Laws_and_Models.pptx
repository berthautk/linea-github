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13: Migration: Characteristics, Laws and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Change over Space (Migration), and the sub-topic is Migration Laws. The key notions we shall use today are: migration, selectivity, chain migration, brain drain, Zipf's inverse distance law, gravity model, Stouffer's intervening opportunities. At the end, you should be able to do this: learners are able to explain who migrates and to use the migration models to predict flows between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12: The Demographic Transition Model. The question was: Define migration.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Migration is the movement of people from one place to another to settle there, temporarily or permanently.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define migration. Number 2: explain the selectivity of migration. Number 3: explain Zipf's inverse distance law. Number 4: explain and apply the gravity model. Number 5: explain and apply Stouffer's model of intervening opportunities.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Push factors drive people out; pull factors attract them. Young adults move more than old people. Douala is the largest town of Cameroon.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Ibrahim has two cousins from a village near Pitoa who have just finished secondary school. Ali moved to Ngaoundéré to attend university because it is near and the bus ticket is cheap. Fatima, who is very ambitious, went all the way to Douala to look for a well-paid job in a big company, a much longer and costlier journey. Ibrahim asks: "Who usually migrates, and why do some people choose a nearby town while others go very far?"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Ibrahim does not know the characteristics of migrants and the laws that explain their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Ali and Fatima both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migrated: they moved to a new place to settle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did Fatima choose far-away Douala?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a very big city with many more opportunities.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compare distance and opportunities before deciding where to study or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and predict migration flows, which are needed to plan transport, housing and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who migrates?.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age group migrates most?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Young adults of about 18 to 35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migrants and distance.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According to Zipf, what happens to the number of migrants as distance increases?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decreases.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gravity model.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does Douala attract migrants from far away?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Its very large population gives it a strong "pull".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worked example.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City Y has 1,000,000 people, City Z 2,000,000, and they are 200 km apart. Calculate the interaction (k = 1).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1,000,000 × 2,000,000 ÷ 200² = 50,000,000.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intervening opportunities.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may a migrant from Garoua stop in Ngaoundéré instead of going to Douala?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Ngaoundéré offers an intervening opportunity on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Migration.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Selectivity of migration and Laws of migration.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Intervening opportunity.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Volume of Migration. Migration and its volume are explained as follows. Copy the point on Meaning: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Volume of Migration. Copy the point on Volume of migration: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(Differentials) of Migration. Migrants are selected by the following characteristics. Copy the point on Age on the left, then draw the diagram on the right: the selectivity of migration.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(Differentials) of Migration. Copy the point on Sex: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(Differentials) of Migration. Copy the point on Skills and education: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(Differentials) of Migration. Copy the point on Marital status and group: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Zipf's Law and the Gravity Model. Distance and size explain migration in the following models. Copy the point on Zipf's inverse distance law on the left, then draw the diagram on the right: zipf's law.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The gravity model on the left, then draw the diagram on the right: the gravity model.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Stouffer's Intervening Opportunities Model. Stouffer's model explains migration as follows. Copy the point on Principle on the left, then draw the diagram on the right: stouffer's model.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Stouffer's Intervening Opportunities Model. Copy the point on Formula and example: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Calculations Based on the Models. The models are applied as in the following examples. Copy the point on Gravity model on the left, then draw the diagram on the right: a gravity calculation.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Stouffer's model on the left, then draw the diagram on the right: a Stouffer calculation.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characteristics of migrants.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are mostly young adults, often single, and skilled people migrate more (brain drain) (any two).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State the main difference between the gravity model and Stouffer's model.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gravity model uses population and distance; Stouffer uses the opportunities at the destination and on the way.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distance; number 2, squared; number 3, intervening.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spatial interaction.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14: Spatial Interaction.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13: MIGRATION: CHARACTERISTICS, LAWS AND MODELS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Migration: Characteristics, Laws and Models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Change over Space (Migration)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Migration Laws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13: Migration: Characteristics, Laws and Models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Migration, selectivity, chain migration, brain drain, Zipf's inverse distance law, gravity model, Stouffer's intervening opportunities.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characteristics (differentials) of migration: age, sex, skills, marital status, ethnic group; laws and models: Zipf, gravity model, Stouffer; calculations.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who migrates and to use the migration models to predict flows between towns.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12: The Demographic Transition Model):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Migration is the movement of people from one place to another to settle there, temporarily or permanently.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migration.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selectivity of migration.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Zipf's inverse distance law.</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and apply the gravity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and apply Stouffer's model of intervening opportunities.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Push factors drive people out; pull factors attract them.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Young adults move more than old people.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Douala is the largest town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Ibrahim has two cousins from a village near Pitoa who have just finished secondary school.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Ali moved to Ngaoundéré to attend university because it is near and the bus ticket is cheap.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Fatima, who is very ambitious, went all the way to Douala to look for a well-paid job in a big company, a much longer and costlier journey.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Ibrahim asks: "Who usually migrates, and why do some people choose a nearby town while others go very far?"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Ibrahim does not know the characteristics of migrants and the laws that explain their choices.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Ali and Fatima both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migrated: they moved to a new place to settle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Fatima choose far-away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very big city with many more opportunities.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distance and opportunities before deciding where to study or 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and predict migration flows, which are needed to plan transport, housing and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op2_selectivity.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Who migrates?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age group migrates most?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Young adults of about 18 to 35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ZIPF</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zipf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Migrants and distance.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ZIPF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According to Zipf, what happens to the number of migrants as distance increases?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ZIPF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decreases.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GRAVITY MODEL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gravit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gravity model.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GRAVITY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Douala attract migrants from far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GRAVITY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very large population gives it a strong "pull".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CALCULATION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pop2_gravity_calc.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worked example.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CALCULATION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City Y has 1,000,000 people, City Z 2,000,000, and they are 200 km apart. Calculate the interaction (k = 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CALCULATION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1,000,000 × 2,000,000 ÷ 200² = 50,000,000.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STOUFFER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pop2_stouffer_calc.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Intervening opportunities.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STOUFFER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may a migrant from Garoua stop in Ngaoundéré instead of going to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STOUFFER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Ngaoundéré offers an intervening opportunity on the 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Change over Space (Migration)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Migration Laws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Migration: Characteristics, Laws and Models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movement of people from an origin to a destination with the intention of settling there, temporarily or permanently.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Selectivity of 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fact that people with certain characteristics (age, sex, skills) migrate more than others.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Laws of 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general rules that describe and predict the volume and direction of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Intervening opportunity: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opportunity found between the origin and the destination that reduces the flow to the destination.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Volume of Migration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Migration and its volume are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Migration is a change of residence from one place to another, inside a country or across a border. Short trips, such as visits or commuting, are not migration because people do not change their home.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Volume of Migration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Volume of 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volume is the number of people who move between two places in a given period. It is large when the differences in jobs and wages between places are great and when the obstacles, such as distance and borders, are small.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(Differentials) of Migration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Migrants are selected by the following characteristics: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Age: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Young adults of 18 to 35 years migrate most, for studies and first jobs. They also have few family responsibilities.</a:t>
            </a:r>
            <a:endParaRPr lang="en-US" sz="3600" dirty="0"/>
          </a:p>
        </p:txBody>
      </p:sp>
      <p:pic>
        <p:nvPicPr>
          <p:cNvPr id="5" name="Image 0" descr="/home/claude/f4/img/v2/pop2_selectivity.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selectivity of migration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(Differentials) of Migration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Men often migrate for manual work, as South Asian workers in the Gulf countries. Many women migrate as professionals, like Filipino nurses in the United Kingdom and Canada.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(Differentials) of Migration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Skills and education: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Doctors and engineers leave poor countries for rich ones, which is called brain drain. Unskilled workers fill jobs in farming and building.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(Differentials) of Migration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Marital status and group: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Single people move more easily than married people with children. People also follow members of their own community, which is called chain migration, like the Turks in Germany.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Laws and Theories of Migration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Zipf's Law and the Gravity Model</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Distance and size explain migration in the following models:</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Zipf's inverse distance law: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The number of migrants between two places is inversely proportional to the distance between them: M ∝ 1 ÷ d. Many people move short distances, and few move far.</a:t>
            </a:r>
            <a:endParaRPr lang="en-US" sz="3000" dirty="0"/>
          </a:p>
        </p:txBody>
      </p:sp>
      <p:pic>
        <p:nvPicPr>
          <p:cNvPr id="6" name="Image 0" descr="/home/claude/f4/img/v2/zipf_big.png">    </p:cNvPr>
          <p:cNvPicPr>
            <a:picLocks noChangeAspect="1"/>
          </p:cNvPicPr>
          <p:nvPr/>
        </p:nvPicPr>
        <p:blipFill>
          <a:blip r:embed="rId1"/>
          <a:stretch>
            <a:fillRect/>
          </a:stretch>
        </p:blipFill>
        <p:spPr>
          <a:xfrm>
            <a:off x="6537960" y="2721454"/>
            <a:ext cx="5470855" cy="2393499"/>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Zipf's law</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Laws and Theories of Migration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Zipf's Law and the Gravity Model</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The gravity model: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Migration between two places is proportional to the product of their populations and inversely proportional to the square of the distance: M = k × Pi × Pj ÷ d². Large cities therefore exert a strong pull, even from far away, as Douala does on the whole country.</a:t>
            </a:r>
            <a:endParaRPr lang="en-US" sz="2800" dirty="0"/>
          </a:p>
        </p:txBody>
      </p:sp>
      <p:pic>
        <p:nvPicPr>
          <p:cNvPr id="6" name="Image 0" descr="/home/claude/f4/img/v2/gravity_bi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gravity model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Laws and Theories of Migration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Stouffer's Intervening Opportunities Model</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Stouffer's model explains migration as follows:</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Principle: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The number of migrants depends less on distance than on the opportunities found on the way. An opportunity between the origin and the destination can stop the migrant before he arrives.</a:t>
            </a:r>
            <a:endParaRPr lang="en-US" sz="3000" dirty="0"/>
          </a:p>
        </p:txBody>
      </p:sp>
      <p:pic>
        <p:nvPicPr>
          <p:cNvPr id="6" name="Image 0" descr="/home/claude/f4/img/v2/stouffer_bi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Stouffer's model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Laws and Theories of Migration</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Stouffer's Intervening Opportunities Model</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Formula and 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simplified form, M = k × Oj ÷ Oint, where Oj is the opportunities at the destination and Oint the opportunities on the way. For example, a migrant from Garoua may settle in Ngaoundéré or Yaoundé instead of continuing to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Calculations Based on the Models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models are applied as in the following examples: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Gravity model: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City A has 500,000 people and City B 100,000, and they are 150 km apart, with k = 1. The interaction is 500,000 × 100,000 ÷ 150² ≈ 2,222,222, an index used to compare pairs of towns and not a number of people.</a:t>
            </a:r>
            <a:endParaRPr lang="en-US" sz="3200" dirty="0"/>
          </a:p>
        </p:txBody>
      </p:sp>
      <p:pic>
        <p:nvPicPr>
          <p:cNvPr id="5" name="Image 0" descr="/home/claude/f4/img/v2/pop2_gravity_calc.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gravity calculation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Calculations Based on the Models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Stouffer's model: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Douala offers 50,000 jobs and the towns on the way offer 20,000, so the ratio is 50,000 ÷ 20,000 = 2.5. A ratio above 1 shows that the final destination pulls more strongly than the towns on the way.</a:t>
            </a:r>
            <a:endParaRPr lang="en-US" sz="3400" dirty="0"/>
          </a:p>
        </p:txBody>
      </p:sp>
      <p:pic>
        <p:nvPicPr>
          <p:cNvPr id="5" name="Image 0" descr="/home/claude/f4/img/v2/pop2_stouffer_calc.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Stouffer calculation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migrants.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mostly young adults, often single, and skilled people migrate more (brain drain) (any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the main difference between the gravity model and Stouffer's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gravity model uses population and distance; Stouffer uses the opportunities at the destination and on the 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Zipf's law says that migration decreases with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the gravity model, distance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Stouffer speaks of ______ opportunities.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spatial interaction.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Spatial Interaction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migration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Distance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distance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Gravity model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modèle gravitaire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Intervening opportunity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L'opportunité intermédiaire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Brain drain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fuite des cerveaux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Chain migration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migration en chaîne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Change over Space (Migration)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13: Migration: Characteristics, Laws and Models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migration. Explain the selectivity of migration. Explain Zipf's inverse distance law. Explain and apply the gravity model. Explain and apply Stouffer's model of intervening opportunities.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who migrates and to use the migration models to predict flows between towns.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Meaning and Volume of Migration; Characteristics (Differentials) of Migration; Zipf's Law and the Gravity Model; Stouffer's Intervening Opportunities Model; Calculations Based on the Models.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spatial interaction.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who in the class wants to study far from home.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falling curve.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two circles and a line.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calculate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the route Garoua–Douala.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Population Geography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United Nations, World Population Prospects 2024.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2026-09-29T12:18:48Z</dcterms:created>
  <dcterms:modified xsi:type="dcterms:W3CDTF">2026-09-29T12:18:48Z</dcterms:modified>
</cp:coreProperties>
</file>