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slideMasters/slideMaster61.xml" ContentType="application/vnd.openxmlformats-officedocument.presentationml.slideMaster+xml"/>
  <Override PartName="/ppt/slides/slide61.xml" ContentType="application/vnd.openxmlformats-officedocument.presentationml.slide+xml"/>
  <Override PartName="/ppt/slideMasters/slideMaster62.xml" ContentType="application/vnd.openxmlformats-officedocument.presentationml.slideMaster+xml"/>
  <Override PartName="/ppt/slides/slide62.xml" ContentType="application/vnd.openxmlformats-officedocument.presentationml.slide+xml"/>
  <Override PartName="/ppt/slideMasters/slideMaster63.xml" ContentType="application/vnd.openxmlformats-officedocument.presentationml.slideMaster+xml"/>
  <Override PartName="/ppt/slides/slide63.xml" ContentType="application/vnd.openxmlformats-officedocument.presentationml.slide+xml"/>
  <Override PartName="/ppt/slideMasters/slideMaster64.xml" ContentType="application/vnd.openxmlformats-officedocument.presentationml.slideMaster+xml"/>
  <Override PartName="/ppt/slides/slide64.xml" ContentType="application/vnd.openxmlformats-officedocument.presentationml.slide+xml"/>
  <Override PartName="/ppt/slideMasters/slideMaster65.xml" ContentType="application/vnd.openxmlformats-officedocument.presentationml.slideMaster+xml"/>
  <Override PartName="/ppt/slides/slide65.xml" ContentType="application/vnd.openxmlformats-officedocument.presentationml.slide+xml"/>
  <Override PartName="/ppt/slideMasters/slideMaster66.xml" ContentType="application/vnd.openxmlformats-officedocument.presentationml.slideMaster+xml"/>
  <Override PartName="/ppt/slides/slide66.xml" ContentType="application/vnd.openxmlformats-officedocument.presentationml.slide+xml"/>
  <Override PartName="/ppt/slideMasters/slideMaster67.xml" ContentType="application/vnd.openxmlformats-officedocument.presentationml.slideMaster+xml"/>
  <Override PartName="/ppt/slides/slide67.xml" ContentType="application/vnd.openxmlformats-officedocument.presentationml.slide+xml"/>
  <Override PartName="/ppt/slideMasters/slideMaster68.xml" ContentType="application/vnd.openxmlformats-officedocument.presentationml.slideMaster+xml"/>
  <Override PartName="/ppt/slides/slide68.xml" ContentType="application/vnd.openxmlformats-officedocument.presentationml.slide+xml"/>
  <Override PartName="/ppt/slideMasters/slideMaster69.xml" ContentType="application/vnd.openxmlformats-officedocument.presentationml.slideMaster+xml"/>
  <Override PartName="/ppt/slides/slide69.xml" ContentType="application/vnd.openxmlformats-officedocument.presentationml.slide+xml"/>
  <Override PartName="/ppt/slideMasters/slideMaster70.xml" ContentType="application/vnd.openxmlformats-officedocument.presentationml.slideMaster+xml"/>
  <Override PartName="/ppt/slides/slide70.xml" ContentType="application/vnd.openxmlformats-officedocument.presentationml.slide+xml"/>
  <Override PartName="/ppt/slideMasters/slideMaster71.xml" ContentType="application/vnd.openxmlformats-officedocument.presentationml.slideMaster+xml"/>
  <Override PartName="/ppt/slides/slide71.xml" ContentType="application/vnd.openxmlformats-officedocument.presentationml.slide+xml"/>
  <Override PartName="/ppt/slideMasters/slideMaster72.xml" ContentType="application/vnd.openxmlformats-officedocument.presentationml.slideMaster+xml"/>
  <Override PartName="/ppt/slides/slide72.xml" ContentType="application/vnd.openxmlformats-officedocument.presentationml.slide+xml"/>
  <Override PartName="/ppt/slideMasters/slideMaster73.xml" ContentType="application/vnd.openxmlformats-officedocument.presentationml.slideMaster+xml"/>
  <Override PartName="/ppt/slides/slide73.xml" ContentType="application/vnd.openxmlformats-officedocument.presentationml.slide+xml"/>
  <Override PartName="/ppt/slideMasters/slideMaster74.xml" ContentType="application/vnd.openxmlformats-officedocument.presentationml.slideMaster+xml"/>
  <Override PartName="/ppt/slides/slide74.xml" ContentType="application/vnd.openxmlformats-officedocument.presentationml.slide+xml"/>
  <Override PartName="/ppt/slideMasters/slideMaster75.xml" ContentType="application/vnd.openxmlformats-officedocument.presentationml.slideMaster+xml"/>
  <Override PartName="/ppt/slides/slide7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Lst>
  <p:notesMasterIdLst>
    <p:notesMasterId r:id="rId7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70" Type="http://schemas.openxmlformats.org/officeDocument/2006/relationships/slide" Target="slides/slide69.xml"/><Relationship Id="rId71" Type="http://schemas.openxmlformats.org/officeDocument/2006/relationships/slide" Target="slides/slide70.xml"/><Relationship Id="rId72" Type="http://schemas.openxmlformats.org/officeDocument/2006/relationships/slide" Target="slides/slide71.xml"/><Relationship Id="rId73" Type="http://schemas.openxmlformats.org/officeDocument/2006/relationships/slide" Target="slides/slide72.xml"/><Relationship Id="rId74" Type="http://schemas.openxmlformats.org/officeDocument/2006/relationships/slide" Target="slides/slide73.xml"/><Relationship Id="rId75" Type="http://schemas.openxmlformats.org/officeDocument/2006/relationships/slide" Target="slides/slide74.xml"/><Relationship Id="rId76" Type="http://schemas.openxmlformats.org/officeDocument/2006/relationships/slide" Target="slides/slide75.xml"/><Relationship Id="rId77" Type="http://schemas.openxmlformats.org/officeDocument/2006/relationships/notesMaster" Target="notesMasters/notesMaster1.xml"/><Relationship Id="rId78" Type="http://schemas.openxmlformats.org/officeDocument/2006/relationships/presProps" Target="presProps.xml"/><Relationship Id="rId79" Type="http://schemas.openxmlformats.org/officeDocument/2006/relationships/viewProps" Target="viewProps.xml"/><Relationship Id="rId80" Type="http://schemas.openxmlformats.org/officeDocument/2006/relationships/theme" Target="theme/theme1.xml"/><Relationship Id="rId8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_rels/notesSlide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2.xml"/>
		</Relationships>
</file>

<file path=ppt/notesSlides/_rels/notesSlide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3.xml"/>
		</Relationships>
</file>

<file path=ppt/notesSlides/_rels/notesSlide6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4.xml"/>
		</Relationships>
</file>

<file path=ppt/notesSlides/_rels/notesSlide6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5.xml"/>
		</Relationships>
</file>

<file path=ppt/notesSlides/_rels/notesSlide6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6.xml"/>
		</Relationships>
</file>

<file path=ppt/notesSlides/_rels/notesSlide6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7.xml"/>
		</Relationships>
</file>

<file path=ppt/notesSlides/_rels/notesSlide6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8.xml"/>
		</Relationships>
</file>

<file path=ppt/notesSlides/_rels/notesSlide6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9.xml"/>
		</Relationships>
</file>

<file path=ppt/notesSlides/_rels/notesSlide7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0.xml"/>
		</Relationships>
</file>

<file path=ppt/notesSlides/_rels/notesSlide7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1.xml"/>
		</Relationships>
</file>

<file path=ppt/notesSlides/_rels/notesSlide7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2.xml"/>
		</Relationships>
</file>

<file path=ppt/notesSlides/_rels/notesSlide7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3.xml"/>
		</Relationships>
</file>

<file path=ppt/notesSlides/_rels/notesSlide7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4.xml"/>
		</Relationships>
</file>

<file path=ppt/notesSlides/_rels/notesSlide7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Lesson 15: Types of Migration.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Upper Sixth Arts. It belongs to Module 4: Understanding and managing population dynamics across the world in general and Cameroon in particular. We shall need 2 periods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Population Change over Space (Migration), and the sub-topic is Migration Types. The key notions we shall use today are: voluntary migration, forced migration, internal migration, rural exodus, counter-urbanisation, commuting, economic migrant, refugee, internally displaced person (IDP), remittance. At the end, you should be able to do this: learners are able to classify migrations with examples and analyse their consequences at the origin and the destination.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Lesson 14: Spatial Interaction. The question was: Define an internally displaced person.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An internally displaced person (IDP) is someone forced to flee their home who stays inside their own country.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your time to copy this part; we will continue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five things. Number 1: distinguish voluntary and forced migration. Number 2: describe the types of internal migration with examples. Number 3: describe economic and political international migration. Number 4: distinguish refugees and IDPs. Number 5: analyse the consequences of migration at the origin and the destination.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Migration is selective. Push factors drive people out of villages. Complementarity creates flows between places.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your time to copy this part; we will continue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In your quarter of Garoua, a trader came from Bafoussam to expand his business; the young man who helps him came from a village near Tcholliré to earn money for his family; and a family from the Far North, who lost their home because of insecurity, rents the house opposite yours. You also hear of young Cameroonians who risk everything to reach Europe. You ask: "All these people are migrants, but what types of migration are these, and what are their consequences?"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The learner cannot classify the types of migration and their consequences.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What is the movement of the young man from Tcholliré called?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Rural-urban migration (rural exodus).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How is the Far North family different from him?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They were forced to flee (forced migration), while he chose to move (voluntary migration).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welcome displaced people and refugees with respect, and support development projects that give young people opportunities at home.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lesson helps us to understand the many forms of migration in Cameroon and to face their consequences.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diagram: types of migration.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Is fleeing a flood voluntary or forced migration?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Forced migration.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picture: types of internal migration.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What type of migration is a daily trip from a suburb to the town centre for work?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Commuting.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picture: herders and their cattle.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Why do herders move south in the dry season?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To find pasture and water: rural-rural migration.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4. Look carefully at this picture: migrants at sea.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4: Give one advantage of emigration for the country of origin.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Remittances sent home.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5. Look carefully at this picture: iDP or refugee?.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5: What is the difference between an IDP and a refugee?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An IDP stays in his country; a refugee crosses an international border.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the definitions. The key terms of this lesson are defined as follows. On this slide we have Voluntary migration.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the definitions. On this slide we have Forced migration and Refugee.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the definitions. On this slide we have Internally displaced person (IDP) and Remittances.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Voluntary versus Forced Migration. Migration is either voluntary or forced as follows. Copy the point on Voluntary migration on the left, then draw the diagram on the right: the types of migration.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Copy the point on Forced migration on the left, then draw the diagram on the right: refugees.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Rural-Urban Migration. Rural-urban migration is presented as follows. Copy the point on Meaning and examples on the left, then draw the diagram on the right: types of internal migration.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Rural-Urban Migration. Copy the point on Push and pull factors: write the key term first, then its explanation.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Rural-Urban Migration. Copy the point on Consequences at the source: write the key term first, then its explanation.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Rural-Urban Migration. Copy the point on Consequences at the destination: write the key term first, then its explanation.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Rural-Rural Migration. Rural-rural migration is presented as follows. Copy the point on Meaning and examples on the left, then draw the diagram on the right: herders.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Rural-Rural Migration. Copy the point on Push and pull factors: write the key term first, then its explanation.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Rural-Rural Migration. Copy the point on Consequences: write the key term first, then its explanation.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Urban-Rural and Inter-Urban Migration. Urban-rural and inter-urban migration are presented as follows. Copy the point on Urban-rural migration (counter-urbanisation): write the key term first, then its explanation.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Urban-Rural and Inter-Urban Migration. Copy the point on Inter-urban migration: write the key term first, then its explanation.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Intra-Urban Migration and Commuting. Movements inside towns are presented as follows. Copy the point on Intra-urban migration: write the key term first, then its explanation.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Intra-Urban Migration and Commuting. Copy the point on Commuting: write the key term first, then its explanation.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Economic Migrants. Economic migration is presented as follows. Copy the point on Meaning and examples on the left, then draw the diagram on the right: migrants at sea.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Economic Migrants. Copy the point on Push and pull factors: write the key term first, then its explanation.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Economic Migrants. Copy the point on Consequences at the source: write the key term first, then its explanation.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Economic Migrants. Copy the point on Consequences at the destination: write the key term first, then its explanation.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Political Migrants. Political migration is presented as follows. Copy the point on Meaning and examples: write the key term first, then its explanation.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Political Migrants. Copy the point on Consequences: write the key term first, then its explanation.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Forced Migration: Refugees and IDPs. Forced migrants are refugees or internally displaced persons, as follows. Copy the point on Refugees on the left, then draw the diagram on the right: refugees and IDPs.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Forced Migration: Refugees and IDPs. Copy the point on Internally displaced persons (IDPs): write the key term first, then its explanation.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Forced Migration: Refugees and IDPs. Copy the point on Protection and consequences: write the key term first, then its explanation.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Interregional Movements. Interregional movements are presented as follows. Copy the point on Meaning and example on the left, then draw the diagram on the right: migrations in Cameroon.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Interregional Movements. Copy the point on Consequences: write the key term first, then its explanation.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Distinguish between rural-urban migration and commuting.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rural-urban migration is a permanent move from village to town; commuting is a daily return trip without change of residence.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Give one positive and one negative consequence of rural exodus for villages.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positive: remittances; negative: loss of young workers and fall in food production.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your time to copy this part; we will continue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exodus; number 2, IDP (internally displaced person); number 3, remittances.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Define carrying capacity.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Lesson 16: Carrying Capacity.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UPPER SIXTH ARTS</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LESSON 15: TYPES OF MIGRATION</a:t>
            </a:r>
            <a:endParaRPr lang="en-US" sz="16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GBHS 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jp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jp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jp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jp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2.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2.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slideLayout" Target="../slideLayouts/slideLayout2.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slideLayout" Target="../slideLayouts/slideLayout2.xml"/><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image-50-1.png"/><Relationship Id="rId2" Type="http://schemas.openxmlformats.org/officeDocument/2006/relationships/slideLayout" Target="../slideLayouts/slideLayout2.xml"/><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image-51-1.png"/><Relationship Id="rId2" Type="http://schemas.openxmlformats.org/officeDocument/2006/relationships/slideLayout" Target="../slideLayouts/slideLayout2.xml"/><Relationship Id="rId3"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image" Target="../media/image-52-1.jpg"/><Relationship Id="rId2" Type="http://schemas.openxmlformats.org/officeDocument/2006/relationships/slideLayout" Target="../slideLayouts/slideLayout2.xml"/><Relationship Id="rId3"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image" Target="../media/image-53-1.png"/><Relationship Id="rId2" Type="http://schemas.openxmlformats.org/officeDocument/2006/relationships/slideLayout" Target="../slideLayouts/slideLayout2.xml"/><Relationship Id="rId3"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image" Target="../media/image-54-1.png"/><Relationship Id="rId2" Type="http://schemas.openxmlformats.org/officeDocument/2006/relationships/slideLayout" Target="../slideLayouts/slideLayout2.xml"/><Relationship Id="rId3"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image" Target="../media/image-55-1.png"/><Relationship Id="rId2" Type="http://schemas.openxmlformats.org/officeDocument/2006/relationships/slideLayout" Target="../slideLayouts/slideLayout2.xml"/><Relationship Id="rId3"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image" Target="../media/image-56-1.png"/><Relationship Id="rId2" Type="http://schemas.openxmlformats.org/officeDocument/2006/relationships/slideLayout" Target="../slideLayouts/slideLayout2.xml"/><Relationship Id="rId3"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image" Target="../media/image-57-1.png"/><Relationship Id="rId2" Type="http://schemas.openxmlformats.org/officeDocument/2006/relationships/slideLayout" Target="../slideLayouts/slideLayout2.xml"/><Relationship Id="rId3"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image" Target="../media/image-58-1.png"/><Relationship Id="rId2" Type="http://schemas.openxmlformats.org/officeDocument/2006/relationships/slideLayout" Target="../slideLayouts/slideLayout2.xml"/><Relationship Id="rId3"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image" Target="../media/image-59-1.png"/><Relationship Id="rId2" Type="http://schemas.openxmlformats.org/officeDocument/2006/relationships/slideLayout" Target="../slideLayouts/slideLayout2.xml"/><Relationship Id="rId3"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image" Target="../media/image-60-1.png"/><Relationship Id="rId2" Type="http://schemas.openxmlformats.org/officeDocument/2006/relationships/slideLayout" Target="../slideLayouts/slideLayout2.xml"/><Relationship Id="rId3"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image" Target="../media/image-61-1.png"/><Relationship Id="rId2" Type="http://schemas.openxmlformats.org/officeDocument/2006/relationships/slideLayout" Target="../slideLayouts/slideLayout2.xml"/><Relationship Id="rId3"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image" Target="../media/image-62-1.png"/><Relationship Id="rId2" Type="http://schemas.openxmlformats.org/officeDocument/2006/relationships/slideLayout" Target="../slideLayouts/slideLayout2.xml"/><Relationship Id="rId3"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image" Target="../media/image-63-1.png"/><Relationship Id="rId2" Type="http://schemas.openxmlformats.org/officeDocument/2006/relationships/slideLayout" Target="../slideLayouts/slideLayout2.xml"/><Relationship Id="rId3"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image" Target="../media/image-64-1.png"/><Relationship Id="rId2" Type="http://schemas.openxmlformats.org/officeDocument/2006/relationships/slideLayout" Target="../slideLayouts/slideLayout2.xml"/><Relationship Id="rId3"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image" Target="../media/image-65-1.png"/><Relationship Id="rId2" Type="http://schemas.openxmlformats.org/officeDocument/2006/relationships/slideLayout" Target="../slideLayouts/slideLayout2.xml"/><Relationship Id="rId3"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image" Target="../media/image-66-1.png"/><Relationship Id="rId2" Type="http://schemas.openxmlformats.org/officeDocument/2006/relationships/slideLayout" Target="../slideLayouts/slideLayout2.xml"/><Relationship Id="rId3"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image" Target="../media/image-67-1.png"/><Relationship Id="rId2" Type="http://schemas.openxmlformats.org/officeDocument/2006/relationships/slideLayout" Target="../slideLayouts/slideLayout2.xml"/><Relationship Id="rId3"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image" Target="../media/image-68-1.png"/><Relationship Id="rId2" Type="http://schemas.openxmlformats.org/officeDocument/2006/relationships/slideLayout" Target="../slideLayouts/slideLayout2.xml"/><Relationship Id="rId3"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image" Target="../media/image-69-1.png"/><Relationship Id="rId2" Type="http://schemas.openxmlformats.org/officeDocument/2006/relationships/slideLayout" Target="../slideLayouts/slideLayout2.xml"/><Relationship Id="rId3"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image" Target="../media/image-70-1.png"/><Relationship Id="rId2" Type="http://schemas.openxmlformats.org/officeDocument/2006/relationships/slideLayout" Target="../slideLayouts/slideLayout2.xml"/><Relationship Id="rId3"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image" Target="../media/image-74-1.png"/><Relationship Id="rId2" Type="http://schemas.openxmlformats.org/officeDocument/2006/relationships/slideLayout" Target="../slideLayouts/slideLayout2.xml"/><Relationship Id="rId3"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image" Target="../media/image-75-1.png"/><Relationship Id="rId2" Type="http://schemas.openxmlformats.org/officeDocument/2006/relationships/slideLayout" Target="../slideLayouts/slideLayout2.xml"/><Relationship Id="rId3" Type="http://schemas.openxmlformats.org/officeDocument/2006/relationships/notesSlide" Target="../notesSlides/notesSlide7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UPPER SIXTH ARTS</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Lesson 15</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Types of Migration</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Upper Sixth Arts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Module 4: Understanding and managing population dynamics across the world in general and Cameroon in particular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2 periods (2 × 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Population Change over Space (Migration)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Migration Types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Lesson 15: Types of Migration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Voluntary migration, forced migration, internal migration, rural exodus, counter-urbanisation, commuting, economic migrant, refugee, internally displaced person (IDP), remittance.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Voluntary and forced migration; internal migration (rural-urban, rural-rural, urban-rural, inter-urban, intra-urban, commuting, interregional); international migration (economic and political migrants); refugees and IDPs; consequences.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classify migrations with examples and analyse their consequences at the origin and the destination.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(Lesson 14: Spatial Interaction):</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Define an internally displaced person.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An internally displaced person (IDP) is someone forced to flee their home who stays inside their own country.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Distinguish voluntary and forced migration.</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Describe the types of internal migration with examples.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 (continued)</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Describe economic and political international migration.</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Distinguish refugees and IDPs.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Analyse the consequences of migration at the origin and the destination.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Migration is selective.</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Push factors drive people out of villages.</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Complementarity creates flows between places.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1691640" y="1783080"/>
            <a:ext cx="101800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In your quarter of Garoua, a trader came from Bafoussam to expand his business; the young man who helps him came from a village near Tcholliré to earn money for his family; and a family from the Far North, who lost their home because of insecurity, rents the house opposite yours.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 (continued)</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You also hear of young Cameroonians who risk everything to reach Europe.</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You ask: "All these people are migrants, but what types of migration are these, and what are their consequences?"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learner cannot classify the types of migration and their consequences.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movement of the young man from Tcholliré called?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Rural-urban migration (rural exodus).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How is the Far North family different from him?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were forced to flee (forced migration), while he chose to move (voluntary migration).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Welcome displaced people and refugees with respect, and support development projects that give young people opportunities at home.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lesson helps us to understand the many forms of migration in Cameroon and to face their consequences.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VOLUNTARY AND FORCED</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migration_types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Types of migration.</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VOLUNTARY AND FORCED</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Is fleeing a flood voluntary or forced migration?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VOLUNTARY AND FORCED</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Forced migration.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INTERNAL MIGRATION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pop2_internal_types.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Types of internal migration.</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INTERNAL MIGRATION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type of migration is a daily trip from a suburb to the town centre for 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INTERNAL MIGRATION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Commuting.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INTERNAL MIGRATION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usa_herders.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Herders and their cattle.</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INTERNAL MIGRATION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do herders move south in the dry season?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INTERNAL MIGRATION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To find pasture and water: rural-rural migration.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INTERNATIONAL MIGRATION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a:t>
            </a:r>
            <a:endParaRPr lang="en-US" sz="3600" dirty="0"/>
          </a:p>
        </p:txBody>
      </p:sp>
      <p:pic>
        <p:nvPicPr>
          <p:cNvPr id="4" name="Image 0" descr="/home/claude/f4/img/v2/usa_boat.jpg">    </p:cNvPr>
          <p:cNvPicPr>
            <a:picLocks noChangeAspect="1"/>
          </p:cNvPicPr>
          <p:nvPr/>
        </p:nvPicPr>
        <p:blipFill>
          <a:blip r:embed="rId1"/>
          <a:stretch>
            <a:fillRect/>
          </a:stretch>
        </p:blipFill>
        <p:spPr>
          <a:xfrm>
            <a:off x="2250221" y="1783080"/>
            <a:ext cx="7691253"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Migrants at sea.</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INTERNATIONAL MIGRATION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one advantage of emigration for the country of origin.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INTERNATIONAL MIGRATION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Remittances sent home.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4. REFUGEES AND IDPs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a:t>
            </a:r>
            <a:endParaRPr lang="en-US" sz="3600" dirty="0"/>
          </a:p>
        </p:txBody>
      </p:sp>
      <p:pic>
        <p:nvPicPr>
          <p:cNvPr id="4" name="Image 0" descr="/home/claude/f4/img/v2/pop2_idp_refugee.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IDP or refugee?</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4. REFUGEES AND IDPs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difference between an IDP and a refugee?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4. REFUGEES AND IDPs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An IDP stays in his country; a refugee crosses an international border.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Topic: Population Change over Space (Migration)</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Sub-topic: Migration Types</a:t>
            </a:r>
            <a:endParaRPr lang="en-US" sz="4000" dirty="0"/>
          </a:p>
          <a:p>
            <a:pPr algn="l"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15: Types of Migration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DEFINITIONS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key terms of this lesson are defined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Voluntary migration: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a movement freely chosen by the migrant, usually for economic or social reasons.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DEFINITIONS (continued)</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Forced migration: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a movement imposed by violence, conflict, disasters or persecution.</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Refugee: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a person forced to flee who crosses an international border and is protected by international law.</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DEFINITIONS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Internally displaced person (IDP):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a person forced to flee who remains inside his or her own country.</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Remittances: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are money sent home by migrants.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Voluntary versus Forced Migration</a:t>
            </a:r>
            <a:endParaRPr lang="en-US" sz="3600" dirty="0"/>
          </a:p>
        </p:txBody>
      </p:sp>
      <p:sp>
        <p:nvSpPr>
          <p:cNvPr id="4" name="Text 2"/>
          <p:cNvSpPr/>
          <p:nvPr/>
        </p:nvSpPr>
        <p:spPr>
          <a:xfrm>
            <a:off x="365760" y="1783080"/>
            <a:ext cx="6035040" cy="4617720"/>
          </a:xfrm>
          <a:prstGeom prst="rect">
            <a:avLst/>
          </a:prstGeom>
          <a:noFill/>
          <a:ln/>
        </p:spPr>
        <p:txBody>
          <a:bodyPr wrap="square" lIns="0" tIns="0" rIns="0" bIns="0" rtlCol="0" anchor="t"/>
          <a:lstStyle/>
          <a:p>
            <a:pPr algn="l" indent="0" marL="0">
              <a:spcAft>
                <a:spcPts val="800"/>
              </a:spcAft>
              <a:buNone/>
            </a:pPr>
            <a:r>
              <a:rPr lang="en-US" sz="3200" i="1" dirty="0">
                <a:solidFill>
                  <a:srgbClr val="111111"/>
                </a:solidFill>
                <a:latin typeface="Times New Roman" pitchFamily="34" charset="0"/>
                <a:ea typeface="Times New Roman" pitchFamily="34" charset="-122"/>
                <a:cs typeface="Times New Roman" pitchFamily="34" charset="-120"/>
              </a:rPr>
              <a:t>Migration is either voluntary or forced as follows:</a:t>
            </a:r>
            <a:endParaRPr lang="en-US" sz="3200" dirty="0"/>
          </a:p>
          <a:p>
            <a:pPr algn="l" indent="0" marL="0">
              <a:spcAft>
                <a:spcPts val="800"/>
              </a:spcAft>
              <a:buNone/>
            </a:pPr>
            <a:r>
              <a:rPr lang="en-US" sz="3200" b="1" dirty="0">
                <a:solidFill>
                  <a:srgbClr val="111111"/>
                </a:solidFill>
                <a:latin typeface="Times New Roman" pitchFamily="34" charset="0"/>
                <a:ea typeface="Times New Roman" pitchFamily="34" charset="-122"/>
                <a:cs typeface="Times New Roman" pitchFamily="34" charset="-120"/>
              </a:rPr>
              <a:t>Voluntary migration: </a:t>
            </a:r>
            <a:pPr algn="l" indent="0" marL="0">
              <a:spcAft>
                <a:spcPts val="800"/>
              </a:spcAft>
              <a:buNone/>
            </a:pPr>
            <a:r>
              <a:rPr lang="en-US" sz="3200" dirty="0">
                <a:solidFill>
                  <a:srgbClr val="111111"/>
                </a:solidFill>
                <a:latin typeface="Times New Roman" pitchFamily="34" charset="0"/>
                <a:ea typeface="Times New Roman" pitchFamily="34" charset="-122"/>
                <a:cs typeface="Times New Roman" pitchFamily="34" charset="-120"/>
              </a:rPr>
              <a:t>The migrant chooses freely to leave, usually for a job, studies or family reasons. For example, a Cameroonian computer scientist who accepts a well-paid job in Germany migrates by choice.</a:t>
            </a:r>
            <a:endParaRPr lang="en-US" sz="3200" dirty="0"/>
          </a:p>
        </p:txBody>
      </p:sp>
      <p:pic>
        <p:nvPicPr>
          <p:cNvPr id="5" name="Image 0" descr="/home/claude/f4/img/v2/migration_types_big.png">    </p:cNvPr>
          <p:cNvPicPr>
            <a:picLocks noChangeAspect="1"/>
          </p:cNvPicPr>
          <p:nvPr/>
        </p:nvPicPr>
        <p:blipFill>
          <a:blip r:embed="rId1"/>
          <a:stretch>
            <a:fillRect/>
          </a:stretch>
        </p:blipFill>
        <p:spPr>
          <a:xfrm>
            <a:off x="6537960" y="2849678"/>
            <a:ext cx="5470855" cy="2137053"/>
          </a:xfrm>
          <a:prstGeom prst="rect">
            <a:avLst/>
          </a:prstGeom>
        </p:spPr>
      </p:pic>
      <p:sp>
        <p:nvSpPr>
          <p:cNvPr id="6" name="Text 3"/>
          <p:cNvSpPr/>
          <p:nvPr/>
        </p:nvSpPr>
        <p:spPr>
          <a:xfrm>
            <a:off x="6537960" y="6089904"/>
            <a:ext cx="547085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the types of migration</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Voluntary versus Forced Migration</a:t>
            </a:r>
            <a:endParaRPr lang="en-US" sz="3600" dirty="0"/>
          </a:p>
        </p:txBody>
      </p:sp>
      <p:sp>
        <p:nvSpPr>
          <p:cNvPr id="4" name="Text 2"/>
          <p:cNvSpPr/>
          <p:nvPr/>
        </p:nvSpPr>
        <p:spPr>
          <a:xfrm>
            <a:off x="365760" y="1783080"/>
            <a:ext cx="6035040" cy="4617720"/>
          </a:xfrm>
          <a:prstGeom prst="rect">
            <a:avLst/>
          </a:prstGeom>
          <a:noFill/>
          <a:ln/>
        </p:spPr>
        <p:txBody>
          <a:bodyPr wrap="square" lIns="0" tIns="0" rIns="0" bIns="0" rtlCol="0" anchor="t"/>
          <a:lstStyle/>
          <a:p>
            <a:pPr algn="l" indent="0" marL="0">
              <a:spcAft>
                <a:spcPts val="800"/>
              </a:spcAft>
              <a:buNone/>
            </a:pPr>
            <a:r>
              <a:rPr lang="en-US" sz="3600" b="1" dirty="0">
                <a:solidFill>
                  <a:srgbClr val="111111"/>
                </a:solidFill>
                <a:latin typeface="Times New Roman" pitchFamily="34" charset="0"/>
                <a:ea typeface="Times New Roman" pitchFamily="34" charset="-122"/>
                <a:cs typeface="Times New Roman" pitchFamily="34" charset="-120"/>
              </a:rPr>
              <a:t>Forced migration: </a:t>
            </a:r>
            <a:pPr algn="l" indent="0" marL="0">
              <a:spcAft>
                <a:spcPts val="800"/>
              </a:spcAft>
              <a:buNone/>
            </a:pPr>
            <a:r>
              <a:rPr lang="en-US" sz="3600" dirty="0">
                <a:solidFill>
                  <a:srgbClr val="111111"/>
                </a:solidFill>
                <a:latin typeface="Times New Roman" pitchFamily="34" charset="0"/>
                <a:ea typeface="Times New Roman" pitchFamily="34" charset="-122"/>
                <a:cs typeface="Times New Roman" pitchFamily="34" charset="-120"/>
              </a:rPr>
              <a:t>The migrant has no real choice because his life or property is threatened. For example, a family that flees its village because of fighting or a flood is forced to move.</a:t>
            </a:r>
            <a:endParaRPr lang="en-US" sz="3600" dirty="0"/>
          </a:p>
        </p:txBody>
      </p:sp>
      <p:pic>
        <p:nvPicPr>
          <p:cNvPr id="5" name="Image 0" descr="/home/claude/f4/img/v2/usa_refugee.jpg">    </p:cNvPr>
          <p:cNvPicPr>
            <a:picLocks noChangeAspect="1"/>
          </p:cNvPicPr>
          <p:nvPr/>
        </p:nvPicPr>
        <p:blipFill>
          <a:blip r:embed="rId1"/>
          <a:stretch>
            <a:fillRect/>
          </a:stretch>
        </p:blipFill>
        <p:spPr>
          <a:xfrm>
            <a:off x="6537960" y="2400897"/>
            <a:ext cx="5470855" cy="3034615"/>
          </a:xfrm>
          <a:prstGeom prst="rect">
            <a:avLst/>
          </a:prstGeom>
        </p:spPr>
      </p:pic>
      <p:sp>
        <p:nvSpPr>
          <p:cNvPr id="6" name="Text 3"/>
          <p:cNvSpPr/>
          <p:nvPr/>
        </p:nvSpPr>
        <p:spPr>
          <a:xfrm>
            <a:off x="6537960" y="6089904"/>
            <a:ext cx="547085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refugees</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Internal Migrations</a:t>
            </a:r>
            <a:endParaRPr lang="en-US" sz="3600" dirty="0"/>
          </a:p>
        </p:txBody>
      </p:sp>
      <p:sp>
        <p:nvSpPr>
          <p:cNvPr id="4" name="Text 2"/>
          <p:cNvSpPr/>
          <p:nvPr/>
        </p:nvSpPr>
        <p:spPr>
          <a:xfrm>
            <a:off x="365760" y="1737360"/>
            <a:ext cx="6035040" cy="457200"/>
          </a:xfrm>
          <a:prstGeom prst="rect">
            <a:avLst/>
          </a:prstGeom>
          <a:noFill/>
          <a:ln/>
        </p:spPr>
        <p:txBody>
          <a:bodyPr wrap="square" lIns="0" tIns="0" rIns="0" bIns="0" rtlCol="0" anchor="ctr">
            <a:normAutofit/>
          </a:bodyPr>
          <a:lstStyle/>
          <a:p>
            <a:pPr algn="l" indent="0" marL="0">
              <a:buNone/>
            </a:pPr>
            <a:r>
              <a:rPr lang="en-US" sz="3000" b="1" dirty="0">
                <a:solidFill>
                  <a:srgbClr val="990011"/>
                </a:solidFill>
                <a:latin typeface="Times New Roman" pitchFamily="34" charset="0"/>
                <a:ea typeface="Times New Roman" pitchFamily="34" charset="-122"/>
                <a:cs typeface="Times New Roman" pitchFamily="34" charset="-120"/>
              </a:rPr>
              <a:t>A) Rural-Urban Migration</a:t>
            </a:r>
            <a:endParaRPr lang="en-US" sz="3000" dirty="0"/>
          </a:p>
        </p:txBody>
      </p:sp>
      <p:sp>
        <p:nvSpPr>
          <p:cNvPr id="5" name="Text 3"/>
          <p:cNvSpPr/>
          <p:nvPr/>
        </p:nvSpPr>
        <p:spPr>
          <a:xfrm>
            <a:off x="365760" y="2240280"/>
            <a:ext cx="6035040" cy="4160520"/>
          </a:xfrm>
          <a:prstGeom prst="rect">
            <a:avLst/>
          </a:prstGeom>
          <a:noFill/>
          <a:ln/>
        </p:spPr>
        <p:txBody>
          <a:bodyPr wrap="square" lIns="0" tIns="0" rIns="0" bIns="0" rtlCol="0" anchor="t"/>
          <a:lstStyle/>
          <a:p>
            <a:pPr algn="l" indent="0" marL="0">
              <a:spcAft>
                <a:spcPts val="800"/>
              </a:spcAft>
              <a:buNone/>
            </a:pPr>
            <a:r>
              <a:rPr lang="en-US" sz="2800" i="1" dirty="0">
                <a:solidFill>
                  <a:srgbClr val="111111"/>
                </a:solidFill>
                <a:latin typeface="Times New Roman" pitchFamily="34" charset="0"/>
                <a:ea typeface="Times New Roman" pitchFamily="34" charset="-122"/>
                <a:cs typeface="Times New Roman" pitchFamily="34" charset="-120"/>
              </a:rPr>
              <a:t>Rural-urban migration is presented as follows:</a:t>
            </a:r>
            <a:endParaRPr lang="en-US" sz="2800" dirty="0"/>
          </a:p>
          <a:p>
            <a:pPr algn="l" indent="0" marL="0">
              <a:spcAft>
                <a:spcPts val="800"/>
              </a:spcAft>
              <a:buNone/>
            </a:pPr>
            <a:r>
              <a:rPr lang="en-US" sz="2800" b="1" dirty="0">
                <a:solidFill>
                  <a:srgbClr val="111111"/>
                </a:solidFill>
                <a:latin typeface="Times New Roman" pitchFamily="34" charset="0"/>
                <a:ea typeface="Times New Roman" pitchFamily="34" charset="-122"/>
                <a:cs typeface="Times New Roman" pitchFamily="34" charset="-120"/>
              </a:rPr>
              <a:t>Meaning and examples: </a:t>
            </a:r>
            <a:pPr algn="l" indent="0" marL="0">
              <a:spcAft>
                <a:spcPts val="800"/>
              </a:spcAft>
              <a:buNone/>
            </a:pPr>
            <a:r>
              <a:rPr lang="en-US" sz="2800" dirty="0">
                <a:solidFill>
                  <a:srgbClr val="111111"/>
                </a:solidFill>
                <a:latin typeface="Times New Roman" pitchFamily="34" charset="0"/>
                <a:ea typeface="Times New Roman" pitchFamily="34" charset="-122"/>
                <a:cs typeface="Times New Roman" pitchFamily="34" charset="-120"/>
              </a:rPr>
              <a:t>It is the mass movement of people from villages to towns, also called rural exodus. Examples are the movements from the Adamawa to Douala and from northern Nigeria to Lagos.</a:t>
            </a:r>
            <a:endParaRPr lang="en-US" sz="2800" dirty="0"/>
          </a:p>
        </p:txBody>
      </p:sp>
      <p:pic>
        <p:nvPicPr>
          <p:cNvPr id="6" name="Image 0" descr="/home/claude/f4/img/v2/pop2_internal_types.png">    </p:cNvPr>
          <p:cNvPicPr>
            <a:picLocks noChangeAspect="1"/>
          </p:cNvPicPr>
          <p:nvPr/>
        </p:nvPicPr>
        <p:blipFill>
          <a:blip r:embed="rId1"/>
          <a:stretch>
            <a:fillRect/>
          </a:stretch>
        </p:blipFill>
        <p:spPr>
          <a:xfrm>
            <a:off x="6537960" y="2849678"/>
            <a:ext cx="5470855" cy="2137053"/>
          </a:xfrm>
          <a:prstGeom prst="rect">
            <a:avLst/>
          </a:prstGeom>
        </p:spPr>
      </p:pic>
      <p:sp>
        <p:nvSpPr>
          <p:cNvPr id="7" name="Text 4"/>
          <p:cNvSpPr/>
          <p:nvPr/>
        </p:nvSpPr>
        <p:spPr>
          <a:xfrm>
            <a:off x="6537960" y="6089904"/>
            <a:ext cx="547085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types of internal migration</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Internal Migrations</a:t>
            </a:r>
            <a:endParaRPr lang="en-US" sz="3600" dirty="0"/>
          </a:p>
        </p:txBody>
      </p:sp>
      <p:sp>
        <p:nvSpPr>
          <p:cNvPr id="5" name="Text 2"/>
          <p:cNvSpPr/>
          <p:nvPr/>
        </p:nvSpPr>
        <p:spPr>
          <a:xfrm>
            <a:off x="4069080" y="1737360"/>
            <a:ext cx="7802575" cy="457200"/>
          </a:xfrm>
          <a:prstGeom prst="rect">
            <a:avLst/>
          </a:prstGeom>
          <a:noFill/>
          <a:ln/>
        </p:spPr>
        <p:txBody>
          <a:bodyPr wrap="square" lIns="0" tIns="0" rIns="0" bIns="0" rtlCol="0" anchor="ctr"/>
          <a:lstStyle/>
          <a:p>
            <a:pPr algn="l" indent="0" marL="0">
              <a:buNone/>
            </a:pPr>
            <a:r>
              <a:rPr lang="en-US" sz="3200" b="1" dirty="0">
                <a:solidFill>
                  <a:srgbClr val="990011"/>
                </a:solidFill>
                <a:latin typeface="Times New Roman" pitchFamily="34" charset="0"/>
                <a:ea typeface="Times New Roman" pitchFamily="34" charset="-122"/>
                <a:cs typeface="Times New Roman" pitchFamily="34" charset="-120"/>
              </a:rPr>
              <a:t>A) Rural-Urban Migration</a:t>
            </a:r>
            <a:endParaRPr lang="en-US" sz="3200" dirty="0"/>
          </a:p>
        </p:txBody>
      </p:sp>
      <p:sp>
        <p:nvSpPr>
          <p:cNvPr id="6" name="Text 3"/>
          <p:cNvSpPr/>
          <p:nvPr/>
        </p:nvSpPr>
        <p:spPr>
          <a:xfrm>
            <a:off x="4069080" y="2240280"/>
            <a:ext cx="7802575" cy="42062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Push and pull factors: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Villages lack jobs, electricity, schools and hospitals, and harvests are poor. Towns attract with jobs, higher wages, services and the attraction of city life.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Internal Migrations</a:t>
            </a:r>
            <a:endParaRPr lang="en-US" sz="3600" dirty="0"/>
          </a:p>
        </p:txBody>
      </p:sp>
      <p:sp>
        <p:nvSpPr>
          <p:cNvPr id="5" name="Text 2"/>
          <p:cNvSpPr/>
          <p:nvPr/>
        </p:nvSpPr>
        <p:spPr>
          <a:xfrm>
            <a:off x="5349240" y="1737360"/>
            <a:ext cx="6522415" cy="457200"/>
          </a:xfrm>
          <a:prstGeom prst="rect">
            <a:avLst/>
          </a:prstGeom>
          <a:noFill/>
          <a:ln/>
        </p:spPr>
        <p:txBody>
          <a:bodyPr wrap="square" lIns="0" tIns="0" rIns="0" bIns="0" rtlCol="0" anchor="ctr"/>
          <a:lstStyle/>
          <a:p>
            <a:pPr algn="l" indent="0" marL="0">
              <a:buNone/>
            </a:pPr>
            <a:r>
              <a:rPr lang="en-US" sz="3200" b="1" dirty="0">
                <a:solidFill>
                  <a:srgbClr val="990011"/>
                </a:solidFill>
                <a:latin typeface="Times New Roman" pitchFamily="34" charset="0"/>
                <a:ea typeface="Times New Roman" pitchFamily="34" charset="-122"/>
                <a:cs typeface="Times New Roman" pitchFamily="34" charset="-120"/>
              </a:rPr>
              <a:t>A) Rural-Urban Migration</a:t>
            </a:r>
            <a:endParaRPr lang="en-US" sz="3200" dirty="0"/>
          </a:p>
        </p:txBody>
      </p:sp>
      <p:sp>
        <p:nvSpPr>
          <p:cNvPr id="6" name="Text 3"/>
          <p:cNvSpPr/>
          <p:nvPr/>
        </p:nvSpPr>
        <p:spPr>
          <a:xfrm>
            <a:off x="5349240" y="2240280"/>
            <a:ext cx="6522415" cy="42062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Consequences at the source: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Villages lose their young workers, and food production falls. However, they receive remittances that build houses and pay school fees.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Internal Migrations</a:t>
            </a:r>
            <a:endParaRPr lang="en-US" sz="3600" dirty="0"/>
          </a:p>
        </p:txBody>
      </p:sp>
      <p:sp>
        <p:nvSpPr>
          <p:cNvPr id="5" name="Text 2"/>
          <p:cNvSpPr/>
          <p:nvPr/>
        </p:nvSpPr>
        <p:spPr>
          <a:xfrm>
            <a:off x="5349240" y="1737360"/>
            <a:ext cx="6522415" cy="457200"/>
          </a:xfrm>
          <a:prstGeom prst="rect">
            <a:avLst/>
          </a:prstGeom>
          <a:noFill/>
          <a:ln/>
        </p:spPr>
        <p:txBody>
          <a:bodyPr wrap="square" lIns="0" tIns="0" rIns="0" bIns="0" rtlCol="0" anchor="ctr"/>
          <a:lstStyle/>
          <a:p>
            <a:pPr algn="l" indent="0" marL="0">
              <a:buNone/>
            </a:pPr>
            <a:r>
              <a:rPr lang="en-US" sz="3200" b="1" dirty="0">
                <a:solidFill>
                  <a:srgbClr val="990011"/>
                </a:solidFill>
                <a:latin typeface="Times New Roman" pitchFamily="34" charset="0"/>
                <a:ea typeface="Times New Roman" pitchFamily="34" charset="-122"/>
                <a:cs typeface="Times New Roman" pitchFamily="34" charset="-120"/>
              </a:rPr>
              <a:t>A) Rural-Urban Migration</a:t>
            </a:r>
            <a:endParaRPr lang="en-US" sz="3200" dirty="0"/>
          </a:p>
        </p:txBody>
      </p:sp>
      <p:sp>
        <p:nvSpPr>
          <p:cNvPr id="6" name="Text 3"/>
          <p:cNvSpPr/>
          <p:nvPr/>
        </p:nvSpPr>
        <p:spPr>
          <a:xfrm>
            <a:off x="5349240" y="2240280"/>
            <a:ext cx="6522415" cy="42062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Consequences at the destination: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Towns receive cheap labour for industries and services. However, they suffer from slums, unemployment and crime.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Internal Migrations</a:t>
            </a:r>
            <a:endParaRPr lang="en-US" sz="3600" dirty="0"/>
          </a:p>
        </p:txBody>
      </p:sp>
      <p:sp>
        <p:nvSpPr>
          <p:cNvPr id="4" name="Text 2"/>
          <p:cNvSpPr/>
          <p:nvPr/>
        </p:nvSpPr>
        <p:spPr>
          <a:xfrm>
            <a:off x="365760" y="1737360"/>
            <a:ext cx="6035040" cy="457200"/>
          </a:xfrm>
          <a:prstGeom prst="rect">
            <a:avLst/>
          </a:prstGeom>
          <a:noFill/>
          <a:ln/>
        </p:spPr>
        <p:txBody>
          <a:bodyPr wrap="square" lIns="0" tIns="0" rIns="0" bIns="0" rtlCol="0" anchor="ctr">
            <a:normAutofit/>
          </a:bodyPr>
          <a:lstStyle/>
          <a:p>
            <a:pPr algn="l" indent="0" marL="0">
              <a:buNone/>
            </a:pPr>
            <a:r>
              <a:rPr lang="en-US" sz="3000" b="1" dirty="0">
                <a:solidFill>
                  <a:srgbClr val="990011"/>
                </a:solidFill>
                <a:latin typeface="Times New Roman" pitchFamily="34" charset="0"/>
                <a:ea typeface="Times New Roman" pitchFamily="34" charset="-122"/>
                <a:cs typeface="Times New Roman" pitchFamily="34" charset="-120"/>
              </a:rPr>
              <a:t>B) Rural-Rural Migration</a:t>
            </a:r>
            <a:endParaRPr lang="en-US" sz="3000" dirty="0"/>
          </a:p>
        </p:txBody>
      </p:sp>
      <p:sp>
        <p:nvSpPr>
          <p:cNvPr id="5" name="Text 3"/>
          <p:cNvSpPr/>
          <p:nvPr/>
        </p:nvSpPr>
        <p:spPr>
          <a:xfrm>
            <a:off x="365760" y="2240280"/>
            <a:ext cx="6035040" cy="4160520"/>
          </a:xfrm>
          <a:prstGeom prst="rect">
            <a:avLst/>
          </a:prstGeom>
          <a:noFill/>
          <a:ln/>
        </p:spPr>
        <p:txBody>
          <a:bodyPr wrap="square" lIns="0" tIns="0" rIns="0" bIns="0" rtlCol="0" anchor="t"/>
          <a:lstStyle/>
          <a:p>
            <a:pPr algn="l" indent="0" marL="0">
              <a:spcAft>
                <a:spcPts val="800"/>
              </a:spcAft>
              <a:buNone/>
            </a:pPr>
            <a:r>
              <a:rPr lang="en-US" sz="2800" i="1" dirty="0">
                <a:solidFill>
                  <a:srgbClr val="111111"/>
                </a:solidFill>
                <a:latin typeface="Times New Roman" pitchFamily="34" charset="0"/>
                <a:ea typeface="Times New Roman" pitchFamily="34" charset="-122"/>
                <a:cs typeface="Times New Roman" pitchFamily="34" charset="-120"/>
              </a:rPr>
              <a:t>Rural-rural migration is presented as follows:</a:t>
            </a:r>
            <a:endParaRPr lang="en-US" sz="2800" dirty="0"/>
          </a:p>
          <a:p>
            <a:pPr algn="l" indent="0" marL="0">
              <a:spcAft>
                <a:spcPts val="800"/>
              </a:spcAft>
              <a:buNone/>
            </a:pPr>
            <a:r>
              <a:rPr lang="en-US" sz="2800" b="1" dirty="0">
                <a:solidFill>
                  <a:srgbClr val="111111"/>
                </a:solidFill>
                <a:latin typeface="Times New Roman" pitchFamily="34" charset="0"/>
                <a:ea typeface="Times New Roman" pitchFamily="34" charset="-122"/>
                <a:cs typeface="Times New Roman" pitchFamily="34" charset="-120"/>
              </a:rPr>
              <a:t>Meaning and examples: </a:t>
            </a:r>
            <a:pPr algn="l" indent="0" marL="0">
              <a:spcAft>
                <a:spcPts val="800"/>
              </a:spcAft>
              <a:buNone/>
            </a:pPr>
            <a:r>
              <a:rPr lang="en-US" sz="2800" dirty="0">
                <a:solidFill>
                  <a:srgbClr val="111111"/>
                </a:solidFill>
                <a:latin typeface="Times New Roman" pitchFamily="34" charset="0"/>
                <a:ea typeface="Times New Roman" pitchFamily="34" charset="-122"/>
                <a:cs typeface="Times New Roman" pitchFamily="34" charset="-120"/>
              </a:rPr>
              <a:t>It is the movement from one rural area to another. Herders move from the dry plains near Kousseri to pastures further south, and farmers move to fertile land such as the Benue valley.</a:t>
            </a:r>
            <a:endParaRPr lang="en-US" sz="2800" dirty="0"/>
          </a:p>
        </p:txBody>
      </p:sp>
      <p:pic>
        <p:nvPicPr>
          <p:cNvPr id="6" name="Image 0" descr="/home/claude/f4/img/v2/usa_herders.jpg">    </p:cNvPr>
          <p:cNvPicPr>
            <a:picLocks noChangeAspect="1"/>
          </p:cNvPicPr>
          <p:nvPr/>
        </p:nvPicPr>
        <p:blipFill>
          <a:blip r:embed="rId1"/>
          <a:stretch>
            <a:fillRect/>
          </a:stretch>
        </p:blipFill>
        <p:spPr>
          <a:xfrm>
            <a:off x="6537960" y="2400897"/>
            <a:ext cx="5470855" cy="3034615"/>
          </a:xfrm>
          <a:prstGeom prst="rect">
            <a:avLst/>
          </a:prstGeom>
        </p:spPr>
      </p:pic>
      <p:sp>
        <p:nvSpPr>
          <p:cNvPr id="7" name="Text 4"/>
          <p:cNvSpPr/>
          <p:nvPr/>
        </p:nvSpPr>
        <p:spPr>
          <a:xfrm>
            <a:off x="6537960" y="6089904"/>
            <a:ext cx="547085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herders</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Internal Migrations</a:t>
            </a:r>
            <a:endParaRPr lang="en-US" sz="3600" dirty="0"/>
          </a:p>
        </p:txBody>
      </p:sp>
      <p:sp>
        <p:nvSpPr>
          <p:cNvPr id="5" name="Text 2"/>
          <p:cNvSpPr/>
          <p:nvPr/>
        </p:nvSpPr>
        <p:spPr>
          <a:xfrm>
            <a:off x="5349240" y="1737360"/>
            <a:ext cx="6522415" cy="457200"/>
          </a:xfrm>
          <a:prstGeom prst="rect">
            <a:avLst/>
          </a:prstGeom>
          <a:noFill/>
          <a:ln/>
        </p:spPr>
        <p:txBody>
          <a:bodyPr wrap="square" lIns="0" tIns="0" rIns="0" bIns="0" rtlCol="0" anchor="ctr"/>
          <a:lstStyle/>
          <a:p>
            <a:pPr algn="l" indent="0" marL="0">
              <a:buNone/>
            </a:pPr>
            <a:r>
              <a:rPr lang="en-US" sz="3200" b="1" dirty="0">
                <a:solidFill>
                  <a:srgbClr val="990011"/>
                </a:solidFill>
                <a:latin typeface="Times New Roman" pitchFamily="34" charset="0"/>
                <a:ea typeface="Times New Roman" pitchFamily="34" charset="-122"/>
                <a:cs typeface="Times New Roman" pitchFamily="34" charset="-120"/>
              </a:rPr>
              <a:t>B) Rural-Rural Migration</a:t>
            </a:r>
            <a:endParaRPr lang="en-US" sz="3200" dirty="0"/>
          </a:p>
        </p:txBody>
      </p:sp>
      <p:sp>
        <p:nvSpPr>
          <p:cNvPr id="6" name="Text 3"/>
          <p:cNvSpPr/>
          <p:nvPr/>
        </p:nvSpPr>
        <p:spPr>
          <a:xfrm>
            <a:off x="5349240" y="2240280"/>
            <a:ext cx="6522415" cy="42062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Push and pull factors: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Drought, overgrazing and land shortage push people out. Fertile land, pastures and water attract them.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Internal Migrations</a:t>
            </a:r>
            <a:endParaRPr lang="en-US" sz="3600" dirty="0"/>
          </a:p>
        </p:txBody>
      </p:sp>
      <p:sp>
        <p:nvSpPr>
          <p:cNvPr id="5" name="Text 2"/>
          <p:cNvSpPr/>
          <p:nvPr/>
        </p:nvSpPr>
        <p:spPr>
          <a:xfrm>
            <a:off x="4069080" y="1737360"/>
            <a:ext cx="7802575" cy="457200"/>
          </a:xfrm>
          <a:prstGeom prst="rect">
            <a:avLst/>
          </a:prstGeom>
          <a:noFill/>
          <a:ln/>
        </p:spPr>
        <p:txBody>
          <a:bodyPr wrap="square" lIns="0" tIns="0" rIns="0" bIns="0" rtlCol="0" anchor="ctr"/>
          <a:lstStyle/>
          <a:p>
            <a:pPr algn="l" indent="0" marL="0">
              <a:buNone/>
            </a:pPr>
            <a:r>
              <a:rPr lang="en-US" sz="3200" b="1" dirty="0">
                <a:solidFill>
                  <a:srgbClr val="990011"/>
                </a:solidFill>
                <a:latin typeface="Times New Roman" pitchFamily="34" charset="0"/>
                <a:ea typeface="Times New Roman" pitchFamily="34" charset="-122"/>
                <a:cs typeface="Times New Roman" pitchFamily="34" charset="-120"/>
              </a:rPr>
              <a:t>B) Rural-Rural Migration</a:t>
            </a:r>
            <a:endParaRPr lang="en-US" sz="3200" dirty="0"/>
          </a:p>
        </p:txBody>
      </p:sp>
      <p:sp>
        <p:nvSpPr>
          <p:cNvPr id="6" name="Text 3"/>
          <p:cNvSpPr/>
          <p:nvPr/>
        </p:nvSpPr>
        <p:spPr>
          <a:xfrm>
            <a:off x="4069080" y="2240280"/>
            <a:ext cx="7802575" cy="42062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Consequences: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Food production increases in the new areas, and the source area is relieved. However, conflicts between farmers and herders and deforestation may follow.</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Internal Migrations</a:t>
            </a:r>
            <a:endParaRPr lang="en-US" sz="3600" dirty="0"/>
          </a:p>
        </p:txBody>
      </p:sp>
      <p:sp>
        <p:nvSpPr>
          <p:cNvPr id="5" name="Text 2"/>
          <p:cNvSpPr/>
          <p:nvPr/>
        </p:nvSpPr>
        <p:spPr>
          <a:xfrm>
            <a:off x="1691640" y="1737360"/>
            <a:ext cx="10180015" cy="457200"/>
          </a:xfrm>
          <a:prstGeom prst="rect">
            <a:avLst/>
          </a:prstGeom>
          <a:noFill/>
          <a:ln/>
        </p:spPr>
        <p:txBody>
          <a:bodyPr wrap="square" lIns="0" tIns="0" rIns="0" bIns="0" rtlCol="0" anchor="ctr"/>
          <a:lstStyle/>
          <a:p>
            <a:pPr algn="l" indent="0" marL="0">
              <a:buNone/>
            </a:pPr>
            <a:r>
              <a:rPr lang="en-US" sz="3200" b="1" dirty="0">
                <a:solidFill>
                  <a:srgbClr val="990011"/>
                </a:solidFill>
                <a:latin typeface="Times New Roman" pitchFamily="34" charset="0"/>
                <a:ea typeface="Times New Roman" pitchFamily="34" charset="-122"/>
                <a:cs typeface="Times New Roman" pitchFamily="34" charset="-120"/>
              </a:rPr>
              <a:t>C) Urban-Rural and Inter-Urban Migration</a:t>
            </a:r>
            <a:endParaRPr lang="en-US" sz="3200" dirty="0"/>
          </a:p>
        </p:txBody>
      </p:sp>
      <p:sp>
        <p:nvSpPr>
          <p:cNvPr id="6" name="Text 3"/>
          <p:cNvSpPr/>
          <p:nvPr/>
        </p:nvSpPr>
        <p:spPr>
          <a:xfrm>
            <a:off x="1691640" y="2240280"/>
            <a:ext cx="10180015" cy="4206240"/>
          </a:xfrm>
          <a:prstGeom prst="rect">
            <a:avLst/>
          </a:prstGeom>
          <a:noFill/>
          <a:ln/>
        </p:spPr>
        <p:txBody>
          <a:bodyPr wrap="square" lIns="0" tIns="0" rIns="0" bIns="0" rtlCol="0" anchor="t"/>
          <a:lstStyle/>
          <a:p>
            <a:pPr algn="l" indent="0" marL="0">
              <a:spcAft>
                <a:spcPts val="800"/>
              </a:spcAft>
              <a:buNone/>
            </a:pPr>
            <a:r>
              <a:rPr lang="en-US" sz="3600" i="1" dirty="0">
                <a:solidFill>
                  <a:srgbClr val="111111"/>
                </a:solidFill>
                <a:latin typeface="Times New Roman" pitchFamily="34" charset="0"/>
                <a:ea typeface="Times New Roman" pitchFamily="34" charset="-122"/>
                <a:cs typeface="Times New Roman" pitchFamily="34" charset="-120"/>
              </a:rPr>
              <a:t>Urban-rural and inter-urban migration are presented as follows:</a:t>
            </a:r>
            <a:endParaRPr lang="en-US" sz="3600" dirty="0"/>
          </a:p>
          <a:p>
            <a:pPr algn="l" indent="0" marL="0">
              <a:spcAft>
                <a:spcPts val="800"/>
              </a:spcAft>
              <a:buNone/>
            </a:pPr>
            <a:r>
              <a:rPr lang="en-US" sz="3600" b="1" dirty="0">
                <a:solidFill>
                  <a:srgbClr val="111111"/>
                </a:solidFill>
                <a:latin typeface="Times New Roman" pitchFamily="34" charset="0"/>
                <a:ea typeface="Times New Roman" pitchFamily="34" charset="-122"/>
                <a:cs typeface="Times New Roman" pitchFamily="34" charset="-120"/>
              </a:rPr>
              <a:t>Urban-rural migration (counter-urbanisation): </a:t>
            </a:r>
            <a:pPr algn="l" indent="0" marL="0">
              <a:spcAft>
                <a:spcPts val="800"/>
              </a:spcAft>
              <a:buNone/>
            </a:pPr>
            <a:r>
              <a:rPr lang="en-US" sz="3600" dirty="0">
                <a:solidFill>
                  <a:srgbClr val="111111"/>
                </a:solidFill>
                <a:latin typeface="Times New Roman" pitchFamily="34" charset="0"/>
                <a:ea typeface="Times New Roman" pitchFamily="34" charset="-122"/>
                <a:cs typeface="Times New Roman" pitchFamily="34" charset="-120"/>
              </a:rPr>
              <a:t>People leave the town for the countryside, for example a retired civil servant who leaves Yaoundé for his village. He brings money and new ideas, but may raise land prices.</a:t>
            </a:r>
            <a:endParaRPr lang="en-US" sz="3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Internal Migrations</a:t>
            </a:r>
            <a:endParaRPr lang="en-US" sz="3600" dirty="0"/>
          </a:p>
        </p:txBody>
      </p:sp>
      <p:sp>
        <p:nvSpPr>
          <p:cNvPr id="5" name="Text 2"/>
          <p:cNvSpPr/>
          <p:nvPr/>
        </p:nvSpPr>
        <p:spPr>
          <a:xfrm>
            <a:off x="5349240" y="1737360"/>
            <a:ext cx="6522415" cy="457200"/>
          </a:xfrm>
          <a:prstGeom prst="rect">
            <a:avLst/>
          </a:prstGeom>
          <a:noFill/>
          <a:ln/>
        </p:spPr>
        <p:txBody>
          <a:bodyPr wrap="square" lIns="0" tIns="0" rIns="0" bIns="0" rtlCol="0" anchor="ctr"/>
          <a:lstStyle/>
          <a:p>
            <a:pPr algn="l" indent="0" marL="0">
              <a:buNone/>
            </a:pPr>
            <a:r>
              <a:rPr lang="en-US" sz="2500" b="1" dirty="0">
                <a:solidFill>
                  <a:srgbClr val="990011"/>
                </a:solidFill>
                <a:latin typeface="Times New Roman" pitchFamily="34" charset="0"/>
                <a:ea typeface="Times New Roman" pitchFamily="34" charset="-122"/>
                <a:cs typeface="Times New Roman" pitchFamily="34" charset="-120"/>
              </a:rPr>
              <a:t>C) Urban-Rural and Inter-Urban Migration</a:t>
            </a:r>
            <a:endParaRPr lang="en-US" sz="2500" dirty="0"/>
          </a:p>
        </p:txBody>
      </p:sp>
      <p:sp>
        <p:nvSpPr>
          <p:cNvPr id="6" name="Text 3"/>
          <p:cNvSpPr/>
          <p:nvPr/>
        </p:nvSpPr>
        <p:spPr>
          <a:xfrm>
            <a:off x="5349240" y="2240280"/>
            <a:ext cx="6522415" cy="42062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Inter-urban migration: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People move from one town to another, often for work or promotion. For example, a bank employee is transferred from Bafoussam to Garoua.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Internal Migrations</a:t>
            </a:r>
            <a:endParaRPr lang="en-US" sz="3600" dirty="0"/>
          </a:p>
        </p:txBody>
      </p:sp>
      <p:sp>
        <p:nvSpPr>
          <p:cNvPr id="5" name="Text 2"/>
          <p:cNvSpPr/>
          <p:nvPr/>
        </p:nvSpPr>
        <p:spPr>
          <a:xfrm>
            <a:off x="1691640" y="1737360"/>
            <a:ext cx="10180015" cy="457200"/>
          </a:xfrm>
          <a:prstGeom prst="rect">
            <a:avLst/>
          </a:prstGeom>
          <a:noFill/>
          <a:ln/>
        </p:spPr>
        <p:txBody>
          <a:bodyPr wrap="square" lIns="0" tIns="0" rIns="0" bIns="0" rtlCol="0" anchor="ctr"/>
          <a:lstStyle/>
          <a:p>
            <a:pPr algn="l" indent="0" marL="0">
              <a:buNone/>
            </a:pPr>
            <a:r>
              <a:rPr lang="en-US" sz="3200" b="1" dirty="0">
                <a:solidFill>
                  <a:srgbClr val="990011"/>
                </a:solidFill>
                <a:latin typeface="Times New Roman" pitchFamily="34" charset="0"/>
                <a:ea typeface="Times New Roman" pitchFamily="34" charset="-122"/>
                <a:cs typeface="Times New Roman" pitchFamily="34" charset="-120"/>
              </a:rPr>
              <a:t>D) Intra-Urban Migration and Commuting</a:t>
            </a:r>
            <a:endParaRPr lang="en-US" sz="3200" dirty="0"/>
          </a:p>
        </p:txBody>
      </p:sp>
      <p:sp>
        <p:nvSpPr>
          <p:cNvPr id="6" name="Text 3"/>
          <p:cNvSpPr/>
          <p:nvPr/>
        </p:nvSpPr>
        <p:spPr>
          <a:xfrm>
            <a:off x="1691640" y="2240280"/>
            <a:ext cx="10180015" cy="4206240"/>
          </a:xfrm>
          <a:prstGeom prst="rect">
            <a:avLst/>
          </a:prstGeom>
          <a:noFill/>
          <a:ln/>
        </p:spPr>
        <p:txBody>
          <a:bodyPr wrap="square" lIns="0" tIns="0" rIns="0" bIns="0" rtlCol="0" anchor="t"/>
          <a:lstStyle/>
          <a:p>
            <a:pPr algn="l" indent="0" marL="0">
              <a:spcAft>
                <a:spcPts val="800"/>
              </a:spcAft>
              <a:buNone/>
            </a:pPr>
            <a:r>
              <a:rPr lang="en-US" sz="3600" i="1" dirty="0">
                <a:solidFill>
                  <a:srgbClr val="111111"/>
                </a:solidFill>
                <a:latin typeface="Times New Roman" pitchFamily="34" charset="0"/>
                <a:ea typeface="Times New Roman" pitchFamily="34" charset="-122"/>
                <a:cs typeface="Times New Roman" pitchFamily="34" charset="-120"/>
              </a:rPr>
              <a:t>Movements inside towns are presented as follows:</a:t>
            </a:r>
            <a:endParaRPr lang="en-US" sz="3600" dirty="0"/>
          </a:p>
          <a:p>
            <a:pPr algn="l" indent="0" marL="0">
              <a:spcAft>
                <a:spcPts val="800"/>
              </a:spcAft>
              <a:buNone/>
            </a:pPr>
            <a:r>
              <a:rPr lang="en-US" sz="3600" b="1" dirty="0">
                <a:solidFill>
                  <a:srgbClr val="111111"/>
                </a:solidFill>
                <a:latin typeface="Times New Roman" pitchFamily="34" charset="0"/>
                <a:ea typeface="Times New Roman" pitchFamily="34" charset="-122"/>
                <a:cs typeface="Times New Roman" pitchFamily="34" charset="-120"/>
              </a:rPr>
              <a:t>Intra-urban migration: </a:t>
            </a:r>
            <a:pPr algn="l" indent="0" marL="0">
              <a:spcAft>
                <a:spcPts val="800"/>
              </a:spcAft>
              <a:buNone/>
            </a:pPr>
            <a:r>
              <a:rPr lang="en-US" sz="3600" dirty="0">
                <a:solidFill>
                  <a:srgbClr val="111111"/>
                </a:solidFill>
                <a:latin typeface="Times New Roman" pitchFamily="34" charset="0"/>
                <a:ea typeface="Times New Roman" pitchFamily="34" charset="-122"/>
                <a:cs typeface="Times New Roman" pitchFamily="34" charset="-120"/>
              </a:rPr>
              <a:t>People move from one quarter to another in the same town. For example, a family moves from a rented flat in central Garoua to its own house in a new suburb, which makes the town spread outwards.</a:t>
            </a:r>
            <a:endParaRPr lang="en-US" sz="3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Internal Migrations</a:t>
            </a:r>
            <a:endParaRPr lang="en-US" sz="3600" dirty="0"/>
          </a:p>
        </p:txBody>
      </p:sp>
      <p:sp>
        <p:nvSpPr>
          <p:cNvPr id="5" name="Text 2"/>
          <p:cNvSpPr/>
          <p:nvPr/>
        </p:nvSpPr>
        <p:spPr>
          <a:xfrm>
            <a:off x="4069080" y="1737360"/>
            <a:ext cx="7802575" cy="457200"/>
          </a:xfrm>
          <a:prstGeom prst="rect">
            <a:avLst/>
          </a:prstGeom>
          <a:noFill/>
          <a:ln/>
        </p:spPr>
        <p:txBody>
          <a:bodyPr wrap="square" lIns="0" tIns="0" rIns="0" bIns="0" rtlCol="0" anchor="ctr"/>
          <a:lstStyle/>
          <a:p>
            <a:pPr algn="l" indent="0" marL="0">
              <a:buNone/>
            </a:pPr>
            <a:r>
              <a:rPr lang="en-US" sz="3200" b="1" dirty="0">
                <a:solidFill>
                  <a:srgbClr val="990011"/>
                </a:solidFill>
                <a:latin typeface="Times New Roman" pitchFamily="34" charset="0"/>
                <a:ea typeface="Times New Roman" pitchFamily="34" charset="-122"/>
                <a:cs typeface="Times New Roman" pitchFamily="34" charset="-120"/>
              </a:rPr>
              <a:t>D) Intra-Urban Migration and Commuting</a:t>
            </a:r>
            <a:endParaRPr lang="en-US" sz="3200" dirty="0"/>
          </a:p>
        </p:txBody>
      </p:sp>
      <p:sp>
        <p:nvSpPr>
          <p:cNvPr id="6" name="Text 3"/>
          <p:cNvSpPr/>
          <p:nvPr/>
        </p:nvSpPr>
        <p:spPr>
          <a:xfrm>
            <a:off x="4069080" y="2240280"/>
            <a:ext cx="7802575" cy="42062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Commuting: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People travel every day between home and work without changing residence, like a teacher who lives in a suburb of Maroua. Commuting causes traffic jams in the morning and evening.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External (International) Migration</a:t>
            </a:r>
            <a:endParaRPr lang="en-US" sz="3600" dirty="0"/>
          </a:p>
        </p:txBody>
      </p:sp>
      <p:sp>
        <p:nvSpPr>
          <p:cNvPr id="4" name="Text 2"/>
          <p:cNvSpPr/>
          <p:nvPr/>
        </p:nvSpPr>
        <p:spPr>
          <a:xfrm>
            <a:off x="365760" y="1737360"/>
            <a:ext cx="6035040" cy="457200"/>
          </a:xfrm>
          <a:prstGeom prst="rect">
            <a:avLst/>
          </a:prstGeom>
          <a:noFill/>
          <a:ln/>
        </p:spPr>
        <p:txBody>
          <a:bodyPr wrap="square" lIns="0" tIns="0" rIns="0" bIns="0" rtlCol="0" anchor="ctr">
            <a:normAutofit/>
          </a:bodyPr>
          <a:lstStyle/>
          <a:p>
            <a:pPr algn="l" indent="0" marL="0">
              <a:buNone/>
            </a:pPr>
            <a:r>
              <a:rPr lang="en-US" sz="3000" b="1" dirty="0">
                <a:solidFill>
                  <a:srgbClr val="990011"/>
                </a:solidFill>
                <a:latin typeface="Times New Roman" pitchFamily="34" charset="0"/>
                <a:ea typeface="Times New Roman" pitchFamily="34" charset="-122"/>
                <a:cs typeface="Times New Roman" pitchFamily="34" charset="-120"/>
              </a:rPr>
              <a:t>A) Economic Migrants</a:t>
            </a:r>
            <a:endParaRPr lang="en-US" sz="3000" dirty="0"/>
          </a:p>
        </p:txBody>
      </p:sp>
      <p:sp>
        <p:nvSpPr>
          <p:cNvPr id="5" name="Text 3"/>
          <p:cNvSpPr/>
          <p:nvPr/>
        </p:nvSpPr>
        <p:spPr>
          <a:xfrm>
            <a:off x="365760" y="2240280"/>
            <a:ext cx="6035040" cy="4160520"/>
          </a:xfrm>
          <a:prstGeom prst="rect">
            <a:avLst/>
          </a:prstGeom>
          <a:noFill/>
          <a:ln/>
        </p:spPr>
        <p:txBody>
          <a:bodyPr wrap="square" lIns="0" tIns="0" rIns="0" bIns="0" rtlCol="0" anchor="t"/>
          <a:lstStyle/>
          <a:p>
            <a:pPr algn="l" indent="0" marL="0">
              <a:spcAft>
                <a:spcPts val="800"/>
              </a:spcAft>
              <a:buNone/>
            </a:pPr>
            <a:r>
              <a:rPr lang="en-US" sz="3200" i="1" dirty="0">
                <a:solidFill>
                  <a:srgbClr val="111111"/>
                </a:solidFill>
                <a:latin typeface="Times New Roman" pitchFamily="34" charset="0"/>
                <a:ea typeface="Times New Roman" pitchFamily="34" charset="-122"/>
                <a:cs typeface="Times New Roman" pitchFamily="34" charset="-120"/>
              </a:rPr>
              <a:t>Economic migration is presented as follows:</a:t>
            </a:r>
            <a:endParaRPr lang="en-US" sz="3200" dirty="0"/>
          </a:p>
          <a:p>
            <a:pPr algn="l" indent="0" marL="0">
              <a:spcAft>
                <a:spcPts val="800"/>
              </a:spcAft>
              <a:buNone/>
            </a:pPr>
            <a:r>
              <a:rPr lang="en-US" sz="3200" b="1" dirty="0">
                <a:solidFill>
                  <a:srgbClr val="111111"/>
                </a:solidFill>
                <a:latin typeface="Times New Roman" pitchFamily="34" charset="0"/>
                <a:ea typeface="Times New Roman" pitchFamily="34" charset="-122"/>
                <a:cs typeface="Times New Roman" pitchFamily="34" charset="-120"/>
              </a:rPr>
              <a:t>Meaning and examples: </a:t>
            </a:r>
            <a:pPr algn="l" indent="0" marL="0">
              <a:spcAft>
                <a:spcPts val="800"/>
              </a:spcAft>
              <a:buNone/>
            </a:pPr>
            <a:r>
              <a:rPr lang="en-US" sz="3200" dirty="0">
                <a:solidFill>
                  <a:srgbClr val="111111"/>
                </a:solidFill>
                <a:latin typeface="Times New Roman" pitchFamily="34" charset="0"/>
                <a:ea typeface="Times New Roman" pitchFamily="34" charset="-122"/>
                <a:cs typeface="Times New Roman" pitchFamily="34" charset="-120"/>
              </a:rPr>
              <a:t>Economic migrants cross borders for work and better living conditions. Examples are Filipino nurses in the United Kingdom and Malian and Senegalese workers in France.</a:t>
            </a:r>
            <a:endParaRPr lang="en-US" sz="3200" dirty="0"/>
          </a:p>
        </p:txBody>
      </p:sp>
      <p:pic>
        <p:nvPicPr>
          <p:cNvPr id="6" name="Image 0" descr="/home/claude/f4/img/v2/usa_boat.jpg">    </p:cNvPr>
          <p:cNvPicPr>
            <a:picLocks noChangeAspect="1"/>
          </p:cNvPicPr>
          <p:nvPr/>
        </p:nvPicPr>
        <p:blipFill>
          <a:blip r:embed="rId1"/>
          <a:stretch>
            <a:fillRect/>
          </a:stretch>
        </p:blipFill>
        <p:spPr>
          <a:xfrm>
            <a:off x="6537960" y="2399472"/>
            <a:ext cx="5470855" cy="3037464"/>
          </a:xfrm>
          <a:prstGeom prst="rect">
            <a:avLst/>
          </a:prstGeom>
        </p:spPr>
      </p:pic>
      <p:sp>
        <p:nvSpPr>
          <p:cNvPr id="7" name="Text 4"/>
          <p:cNvSpPr/>
          <p:nvPr/>
        </p:nvSpPr>
        <p:spPr>
          <a:xfrm>
            <a:off x="6537960" y="6089904"/>
            <a:ext cx="547085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migrants at sea</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External (International) Migration</a:t>
            </a:r>
            <a:endParaRPr lang="en-US" sz="3600" dirty="0"/>
          </a:p>
        </p:txBody>
      </p:sp>
      <p:sp>
        <p:nvSpPr>
          <p:cNvPr id="5" name="Text 2"/>
          <p:cNvSpPr/>
          <p:nvPr/>
        </p:nvSpPr>
        <p:spPr>
          <a:xfrm>
            <a:off x="4069080" y="1737360"/>
            <a:ext cx="7802575" cy="457200"/>
          </a:xfrm>
          <a:prstGeom prst="rect">
            <a:avLst/>
          </a:prstGeom>
          <a:noFill/>
          <a:ln/>
        </p:spPr>
        <p:txBody>
          <a:bodyPr wrap="square" lIns="0" tIns="0" rIns="0" bIns="0" rtlCol="0" anchor="ctr"/>
          <a:lstStyle/>
          <a:p>
            <a:pPr algn="l" indent="0" marL="0">
              <a:buNone/>
            </a:pPr>
            <a:r>
              <a:rPr lang="en-US" sz="3200" b="1" dirty="0">
                <a:solidFill>
                  <a:srgbClr val="990011"/>
                </a:solidFill>
                <a:latin typeface="Times New Roman" pitchFamily="34" charset="0"/>
                <a:ea typeface="Times New Roman" pitchFamily="34" charset="-122"/>
                <a:cs typeface="Times New Roman" pitchFamily="34" charset="-120"/>
              </a:rPr>
              <a:t>A) Economic Migrants</a:t>
            </a:r>
            <a:endParaRPr lang="en-US" sz="3200" dirty="0"/>
          </a:p>
        </p:txBody>
      </p:sp>
      <p:sp>
        <p:nvSpPr>
          <p:cNvPr id="6" name="Text 3"/>
          <p:cNvSpPr/>
          <p:nvPr/>
        </p:nvSpPr>
        <p:spPr>
          <a:xfrm>
            <a:off x="4069080" y="2240280"/>
            <a:ext cx="7802575" cy="42062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Push and pull factors: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Unemployment, low wages and poverty push people out of their countries. High wages, jobs and better services attract them to rich countries.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53</a:t>
            </a:fld>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External (International) Migration</a:t>
            </a:r>
            <a:endParaRPr lang="en-US" sz="3600" dirty="0"/>
          </a:p>
        </p:txBody>
      </p:sp>
      <p:sp>
        <p:nvSpPr>
          <p:cNvPr id="5" name="Text 2"/>
          <p:cNvSpPr/>
          <p:nvPr/>
        </p:nvSpPr>
        <p:spPr>
          <a:xfrm>
            <a:off x="4069080" y="1737360"/>
            <a:ext cx="7802575" cy="457200"/>
          </a:xfrm>
          <a:prstGeom prst="rect">
            <a:avLst/>
          </a:prstGeom>
          <a:noFill/>
          <a:ln/>
        </p:spPr>
        <p:txBody>
          <a:bodyPr wrap="square" lIns="0" tIns="0" rIns="0" bIns="0" rtlCol="0" anchor="ctr"/>
          <a:lstStyle/>
          <a:p>
            <a:pPr algn="l" indent="0" marL="0">
              <a:buNone/>
            </a:pPr>
            <a:r>
              <a:rPr lang="en-US" sz="3200" b="1" dirty="0">
                <a:solidFill>
                  <a:srgbClr val="990011"/>
                </a:solidFill>
                <a:latin typeface="Times New Roman" pitchFamily="34" charset="0"/>
                <a:ea typeface="Times New Roman" pitchFamily="34" charset="-122"/>
                <a:cs typeface="Times New Roman" pitchFamily="34" charset="-120"/>
              </a:rPr>
              <a:t>A) Economic Migrants</a:t>
            </a:r>
            <a:endParaRPr lang="en-US" sz="3200" dirty="0"/>
          </a:p>
        </p:txBody>
      </p:sp>
      <p:sp>
        <p:nvSpPr>
          <p:cNvPr id="6" name="Text 3"/>
          <p:cNvSpPr/>
          <p:nvPr/>
        </p:nvSpPr>
        <p:spPr>
          <a:xfrm>
            <a:off x="4069080" y="2240280"/>
            <a:ext cx="7802575" cy="42062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Consequences at the source: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country of origin loses skilled workers, which is called brain drain. However, it receives remittances that support families and investment.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54</a:t>
            </a:fld>
            <a:endParaRPr lang="en-US"/>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External (International) Migration</a:t>
            </a:r>
            <a:endParaRPr lang="en-US" sz="3600" dirty="0"/>
          </a:p>
        </p:txBody>
      </p:sp>
      <p:sp>
        <p:nvSpPr>
          <p:cNvPr id="5" name="Text 2"/>
          <p:cNvSpPr/>
          <p:nvPr/>
        </p:nvSpPr>
        <p:spPr>
          <a:xfrm>
            <a:off x="4069080" y="1737360"/>
            <a:ext cx="7802575" cy="457200"/>
          </a:xfrm>
          <a:prstGeom prst="rect">
            <a:avLst/>
          </a:prstGeom>
          <a:noFill/>
          <a:ln/>
        </p:spPr>
        <p:txBody>
          <a:bodyPr wrap="square" lIns="0" tIns="0" rIns="0" bIns="0" rtlCol="0" anchor="ctr"/>
          <a:lstStyle/>
          <a:p>
            <a:pPr algn="l" indent="0" marL="0">
              <a:buNone/>
            </a:pPr>
            <a:r>
              <a:rPr lang="en-US" sz="3200" b="1" dirty="0">
                <a:solidFill>
                  <a:srgbClr val="990011"/>
                </a:solidFill>
                <a:latin typeface="Times New Roman" pitchFamily="34" charset="0"/>
                <a:ea typeface="Times New Roman" pitchFamily="34" charset="-122"/>
                <a:cs typeface="Times New Roman" pitchFamily="34" charset="-120"/>
              </a:rPr>
              <a:t>A) Economic Migrants</a:t>
            </a:r>
            <a:endParaRPr lang="en-US" sz="3200" dirty="0"/>
          </a:p>
        </p:txBody>
      </p:sp>
      <p:sp>
        <p:nvSpPr>
          <p:cNvPr id="6" name="Text 3"/>
          <p:cNvSpPr/>
          <p:nvPr/>
        </p:nvSpPr>
        <p:spPr>
          <a:xfrm>
            <a:off x="4069080" y="2240280"/>
            <a:ext cx="7802575" cy="42062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Consequences at the destination: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host country fills labour shortages and gains young workers. However, it may face pressure on services and social tensions.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55</a:t>
            </a:fld>
            <a:endParaRPr lang="en-US"/>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External (International) Migration</a:t>
            </a:r>
            <a:endParaRPr lang="en-US" sz="3600" dirty="0"/>
          </a:p>
        </p:txBody>
      </p:sp>
      <p:sp>
        <p:nvSpPr>
          <p:cNvPr id="5" name="Text 2"/>
          <p:cNvSpPr/>
          <p:nvPr/>
        </p:nvSpPr>
        <p:spPr>
          <a:xfrm>
            <a:off x="1691640" y="1737360"/>
            <a:ext cx="10180015" cy="457200"/>
          </a:xfrm>
          <a:prstGeom prst="rect">
            <a:avLst/>
          </a:prstGeom>
          <a:noFill/>
          <a:ln/>
        </p:spPr>
        <p:txBody>
          <a:bodyPr wrap="square" lIns="0" tIns="0" rIns="0" bIns="0" rtlCol="0" anchor="ctr"/>
          <a:lstStyle/>
          <a:p>
            <a:pPr algn="l" indent="0" marL="0">
              <a:buNone/>
            </a:pPr>
            <a:r>
              <a:rPr lang="en-US" sz="3200" b="1" dirty="0">
                <a:solidFill>
                  <a:srgbClr val="990011"/>
                </a:solidFill>
                <a:latin typeface="Times New Roman" pitchFamily="34" charset="0"/>
                <a:ea typeface="Times New Roman" pitchFamily="34" charset="-122"/>
                <a:cs typeface="Times New Roman" pitchFamily="34" charset="-120"/>
              </a:rPr>
              <a:t>B) Political Migrants</a:t>
            </a:r>
            <a:endParaRPr lang="en-US" sz="3200" dirty="0"/>
          </a:p>
        </p:txBody>
      </p:sp>
      <p:sp>
        <p:nvSpPr>
          <p:cNvPr id="6" name="Text 3"/>
          <p:cNvSpPr/>
          <p:nvPr/>
        </p:nvSpPr>
        <p:spPr>
          <a:xfrm>
            <a:off x="1691640" y="2240280"/>
            <a:ext cx="10180015" cy="42062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Political migration is presented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Meaning and examples: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Political migrants flee war and persecution across borders. Examples are Syrians in Turkey and Europe and Central Africans in eastern Cameroon.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56</a:t>
            </a:fld>
            <a:endParaRPr lang="en-US"/>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External (International) Migration</a:t>
            </a:r>
            <a:endParaRPr lang="en-US" sz="3600" dirty="0"/>
          </a:p>
        </p:txBody>
      </p:sp>
      <p:sp>
        <p:nvSpPr>
          <p:cNvPr id="5" name="Text 2"/>
          <p:cNvSpPr/>
          <p:nvPr/>
        </p:nvSpPr>
        <p:spPr>
          <a:xfrm>
            <a:off x="4069080" y="1737360"/>
            <a:ext cx="7802575" cy="457200"/>
          </a:xfrm>
          <a:prstGeom prst="rect">
            <a:avLst/>
          </a:prstGeom>
          <a:noFill/>
          <a:ln/>
        </p:spPr>
        <p:txBody>
          <a:bodyPr wrap="square" lIns="0" tIns="0" rIns="0" bIns="0" rtlCol="0" anchor="ctr"/>
          <a:lstStyle/>
          <a:p>
            <a:pPr algn="l" indent="0" marL="0">
              <a:buNone/>
            </a:pPr>
            <a:r>
              <a:rPr lang="en-US" sz="3200" b="1" dirty="0">
                <a:solidFill>
                  <a:srgbClr val="990011"/>
                </a:solidFill>
                <a:latin typeface="Times New Roman" pitchFamily="34" charset="0"/>
                <a:ea typeface="Times New Roman" pitchFamily="34" charset="-122"/>
                <a:cs typeface="Times New Roman" pitchFamily="34" charset="-120"/>
              </a:rPr>
              <a:t>B) Political Migrants</a:t>
            </a:r>
            <a:endParaRPr lang="en-US" sz="3200" dirty="0"/>
          </a:p>
        </p:txBody>
      </p:sp>
      <p:sp>
        <p:nvSpPr>
          <p:cNvPr id="6" name="Text 3"/>
          <p:cNvSpPr/>
          <p:nvPr/>
        </p:nvSpPr>
        <p:spPr>
          <a:xfrm>
            <a:off x="4069080" y="2240280"/>
            <a:ext cx="7802575" cy="42062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Consequences: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country of origin loses its population and its economy collapses. Host countries bear high costs for camps and services, but receive humanitarian aid.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57</a:t>
            </a:fld>
            <a:endParaRPr lang="en-US"/>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4. Forced Migration: Refugees and IDPs</a:t>
            </a:r>
            <a:endParaRPr lang="en-US" sz="3600" dirty="0"/>
          </a:p>
        </p:txBody>
      </p:sp>
      <p:sp>
        <p:nvSpPr>
          <p:cNvPr id="4" name="Text 2"/>
          <p:cNvSpPr/>
          <p:nvPr/>
        </p:nvSpPr>
        <p:spPr>
          <a:xfrm>
            <a:off x="365760" y="1783080"/>
            <a:ext cx="6035040" cy="4617720"/>
          </a:xfrm>
          <a:prstGeom prst="rect">
            <a:avLst/>
          </a:prstGeom>
          <a:noFill/>
          <a:ln/>
        </p:spPr>
        <p:txBody>
          <a:bodyPr wrap="square" lIns="0" tIns="0" rIns="0" bIns="0" rtlCol="0" anchor="t"/>
          <a:lstStyle/>
          <a:p>
            <a:pPr algn="l" indent="0" marL="0">
              <a:spcAft>
                <a:spcPts val="800"/>
              </a:spcAft>
              <a:buNone/>
            </a:pPr>
            <a:r>
              <a:rPr lang="en-US" sz="3200" i="1" dirty="0">
                <a:solidFill>
                  <a:srgbClr val="111111"/>
                </a:solidFill>
                <a:latin typeface="Times New Roman" pitchFamily="34" charset="0"/>
                <a:ea typeface="Times New Roman" pitchFamily="34" charset="-122"/>
                <a:cs typeface="Times New Roman" pitchFamily="34" charset="-120"/>
              </a:rPr>
              <a:t>Forced migrants are refugees or internally displaced persons, as follows:</a:t>
            </a:r>
            <a:endParaRPr lang="en-US" sz="3200" dirty="0"/>
          </a:p>
          <a:p>
            <a:pPr algn="l" indent="0" marL="0">
              <a:spcAft>
                <a:spcPts val="800"/>
              </a:spcAft>
              <a:buNone/>
            </a:pPr>
            <a:r>
              <a:rPr lang="en-US" sz="3200" b="1" dirty="0">
                <a:solidFill>
                  <a:srgbClr val="111111"/>
                </a:solidFill>
                <a:latin typeface="Times New Roman" pitchFamily="34" charset="0"/>
                <a:ea typeface="Times New Roman" pitchFamily="34" charset="-122"/>
                <a:cs typeface="Times New Roman" pitchFamily="34" charset="-120"/>
              </a:rPr>
              <a:t>Refugees: </a:t>
            </a:r>
            <a:pPr algn="l" indent="0" marL="0">
              <a:spcAft>
                <a:spcPts val="800"/>
              </a:spcAft>
              <a:buNone/>
            </a:pPr>
            <a:r>
              <a:rPr lang="en-US" sz="3200" dirty="0">
                <a:solidFill>
                  <a:srgbClr val="111111"/>
                </a:solidFill>
                <a:latin typeface="Times New Roman" pitchFamily="34" charset="0"/>
                <a:ea typeface="Times New Roman" pitchFamily="34" charset="-122"/>
                <a:cs typeface="Times New Roman" pitchFamily="34" charset="-120"/>
              </a:rPr>
              <a:t>Refugees have crossed an international border to escape danger. For example, Nigerians who fled Boko Haram live in the Minawao camp in the Far North of Cameroon.</a:t>
            </a:r>
            <a:endParaRPr lang="en-US" sz="3200" dirty="0"/>
          </a:p>
        </p:txBody>
      </p:sp>
      <p:pic>
        <p:nvPicPr>
          <p:cNvPr id="5" name="Image 0" descr="/home/claude/f4/img/v2/pop2_idp_refugee.png">    </p:cNvPr>
          <p:cNvPicPr>
            <a:picLocks noChangeAspect="1"/>
          </p:cNvPicPr>
          <p:nvPr/>
        </p:nvPicPr>
        <p:blipFill>
          <a:blip r:embed="rId1"/>
          <a:stretch>
            <a:fillRect/>
          </a:stretch>
        </p:blipFill>
        <p:spPr>
          <a:xfrm>
            <a:off x="6537960" y="2849678"/>
            <a:ext cx="5470855" cy="2137053"/>
          </a:xfrm>
          <a:prstGeom prst="rect">
            <a:avLst/>
          </a:prstGeom>
        </p:spPr>
      </p:pic>
      <p:sp>
        <p:nvSpPr>
          <p:cNvPr id="6" name="Text 3"/>
          <p:cNvSpPr/>
          <p:nvPr/>
        </p:nvSpPr>
        <p:spPr>
          <a:xfrm>
            <a:off x="6537960" y="6089904"/>
            <a:ext cx="547085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refugees and IDPs</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58</a:t>
            </a:fld>
            <a:endParaRPr lang="en-US"/>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4. Forced Migration: Refugees and IDPs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Internally displaced persons (IDPs):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IDPs have fled their homes but remain in their own country. For example, villagers of the Mayo-Sava who fled to Mora for safety are IDPs.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59</a:t>
            </a:fld>
            <a:endParaRPr lang="en-US"/>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4. Forced Migration: Refugees and IDPs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Protection and consequences: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Refugees are protected by the UNHCR and international law, while IDPs depend mainly on their own government. Both groups lose their homes, jobs and schooling and put pressure on the host areas.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60</a:t>
            </a:fld>
            <a:endParaRPr lang="en-US"/>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5. Interregional Movements</a:t>
            </a:r>
            <a:endParaRPr lang="en-US" sz="3600" dirty="0"/>
          </a:p>
        </p:txBody>
      </p:sp>
      <p:sp>
        <p:nvSpPr>
          <p:cNvPr id="4" name="Text 2"/>
          <p:cNvSpPr/>
          <p:nvPr/>
        </p:nvSpPr>
        <p:spPr>
          <a:xfrm>
            <a:off x="365760" y="1783080"/>
            <a:ext cx="6035040" cy="4617720"/>
          </a:xfrm>
          <a:prstGeom prst="rect">
            <a:avLst/>
          </a:prstGeom>
          <a:noFill/>
          <a:ln/>
        </p:spPr>
        <p:txBody>
          <a:bodyPr wrap="square" lIns="0" tIns="0" rIns="0" bIns="0" rtlCol="0" anchor="t"/>
          <a:lstStyle/>
          <a:p>
            <a:pPr algn="l" indent="0" marL="0">
              <a:spcAft>
                <a:spcPts val="800"/>
              </a:spcAft>
              <a:buNone/>
            </a:pPr>
            <a:r>
              <a:rPr lang="en-US" sz="3200" i="1" dirty="0">
                <a:solidFill>
                  <a:srgbClr val="111111"/>
                </a:solidFill>
                <a:latin typeface="Times New Roman" pitchFamily="34" charset="0"/>
                <a:ea typeface="Times New Roman" pitchFamily="34" charset="-122"/>
                <a:cs typeface="Times New Roman" pitchFamily="34" charset="-120"/>
              </a:rPr>
              <a:t>Interregional movements are presented as follows:</a:t>
            </a:r>
            <a:endParaRPr lang="en-US" sz="3200" dirty="0"/>
          </a:p>
          <a:p>
            <a:pPr algn="l" indent="0" marL="0">
              <a:spcAft>
                <a:spcPts val="800"/>
              </a:spcAft>
              <a:buNone/>
            </a:pPr>
            <a:r>
              <a:rPr lang="en-US" sz="3200" b="1" dirty="0">
                <a:solidFill>
                  <a:srgbClr val="111111"/>
                </a:solidFill>
                <a:latin typeface="Times New Roman" pitchFamily="34" charset="0"/>
                <a:ea typeface="Times New Roman" pitchFamily="34" charset="-122"/>
                <a:cs typeface="Times New Roman" pitchFamily="34" charset="-120"/>
              </a:rPr>
              <a:t>Meaning and example: </a:t>
            </a:r>
            <a:pPr algn="l" indent="0" marL="0">
              <a:spcAft>
                <a:spcPts val="800"/>
              </a:spcAft>
              <a:buNone/>
            </a:pPr>
            <a:r>
              <a:rPr lang="en-US" sz="3200" dirty="0">
                <a:solidFill>
                  <a:srgbClr val="111111"/>
                </a:solidFill>
                <a:latin typeface="Times New Roman" pitchFamily="34" charset="0"/>
                <a:ea typeface="Times New Roman" pitchFamily="34" charset="-122"/>
                <a:cs typeface="Times New Roman" pitchFamily="34" charset="-120"/>
              </a:rPr>
              <a:t>They are movements between the large regions of a country. Since 2016, many people have left the North-West and South-West for the Littoral, the West and the Centre because of the crisis.</a:t>
            </a:r>
            <a:endParaRPr lang="en-US" sz="3200" dirty="0"/>
          </a:p>
        </p:txBody>
      </p:sp>
      <p:pic>
        <p:nvPicPr>
          <p:cNvPr id="5" name="Image 0" descr="/home/claude/f4/img/v2/cmr_migration_big.png">    </p:cNvPr>
          <p:cNvPicPr>
            <a:picLocks noChangeAspect="1"/>
          </p:cNvPicPr>
          <p:nvPr/>
        </p:nvPicPr>
        <p:blipFill>
          <a:blip r:embed="rId1"/>
          <a:stretch>
            <a:fillRect/>
          </a:stretch>
        </p:blipFill>
        <p:spPr>
          <a:xfrm>
            <a:off x="6537960" y="2550490"/>
            <a:ext cx="5470855" cy="2735428"/>
          </a:xfrm>
          <a:prstGeom prst="rect">
            <a:avLst/>
          </a:prstGeom>
        </p:spPr>
      </p:pic>
      <p:sp>
        <p:nvSpPr>
          <p:cNvPr id="6" name="Text 3"/>
          <p:cNvSpPr/>
          <p:nvPr/>
        </p:nvSpPr>
        <p:spPr>
          <a:xfrm>
            <a:off x="6537960" y="6089904"/>
            <a:ext cx="547085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migrations in Cameroon</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61</a:t>
            </a:fld>
            <a:endParaRPr lang="en-US"/>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5. Interregional Movements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Consequences: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regions of departure lose workers, schools close and farms are abandoned. The receiving towns, such as Douala and Yaoundé, face pressure on housing, jobs and schools.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62</a:t>
            </a:fld>
            <a:endParaRPr lang="en-US"/>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Distinguish between rural-urban migration and commuting.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63</a:t>
            </a:fld>
            <a:endParaRPr lang="en-US"/>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Rural-urban migration is a permanent move from village to town; commuting is a daily return trip without change of residence.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64</a:t>
            </a:fld>
            <a:endParaRPr lang="en-US"/>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one positive and one negative consequence of rural exodus for villages.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65</a:t>
            </a:fld>
            <a:endParaRPr lang="en-US"/>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Positive: remittances; negative: loss of young workers and fall in food production.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66</a:t>
            </a:fld>
            <a:endParaRPr lang="en-US"/>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6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Movement from villages to towns is called rural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A person who flees but stays in his country is an ______.</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67</a:t>
            </a:fld>
            <a:endParaRPr lang="en-US"/>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name="Slide 6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Money sent home by migrants is called ______.</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68</a:t>
            </a:fld>
            <a:endParaRPr lang="en-US"/>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name="Slide 6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Define carrying capacity.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69</a:t>
            </a:fld>
            <a:endParaRPr lang="en-US"/>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name="Slide 7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16: Carrying Capacity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70</a:t>
            </a:fld>
            <a:endParaRPr lang="en-US"/>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name="Slide 7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72"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Rural exodus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L'exode rural</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Brain drain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fuite des cerveaux</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Refugee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réfugié</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Internally displaced person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personne déplacée interne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Commuting</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Les migrations pendulaires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Remittances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Les transferts de fonds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71</a:t>
            </a:fld>
            <a:endParaRPr lang="en-US"/>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name="Slide 7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7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Population Change over Space (Migration)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Lesson 15: Types of Migration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Distinguish voluntary and forced migration. Describe the types of internal migration with examples. Describe economic and political international migration. Distinguish refugees and IDPs. Analyse the consequences of migration at the origin and the destination.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classify migrations with examples and analyse their consequences at the origin and the destination.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72</a:t>
            </a:fld>
            <a:endParaRPr lang="en-US"/>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name="Slide 7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7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DEFINITIONS; Voluntary versus Forced Migration; Rural-Urban Migration; Rural-Rural Migration; Urban-Rural and Inter-Urban Migration; Intra-Urban Migration and Commuting; Economic Migrants; Political Migrants; Forced Migration: Refugees and IDPs; Interregional Movements.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Define carrying capacity.</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73</a:t>
            </a:fld>
            <a:endParaRPr lang="en-US"/>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name="Slide 7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8 min | Recall, situation, action 10 min | 5 activities 30 min | Board summary (copying) 30 min | Evaluation, remediation 10 min | Homework, next lesson 5 min | Logbook 7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draw the three branches.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ask learners how they come to school.</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describe transhumance in the North.</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4): discuss migrants to Europe.</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5): draw a border on the board.</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74</a:t>
            </a:fld>
            <a:endParaRPr lang="en-US"/>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name="Slide 7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Geography Syllabus for Sixth Forms (Lower and Upper Sixth), MINESEC, 2019 — Module 4 (Population Geography).</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Teacher's course notes: Mr KAMDEM E., Population Geography (USA), GBHS Garoua, 2026.</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United Nations, World Population Prospects 2024.</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3: “Young cattle herders in Sénégal (West Africa)” by gbaku, CC BY-SA 2.0, via Flickr (https://www.flickr.com/photos/72105154@N00/525185172)</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4: “A sailor from HMS BULWARK hands out water to rescued individuals on a ” by Royal Navy Media Archive, CC BY-NC 2.0, via Flickr (https://www.flickr.com/photos/69974959@N03/17374754690)</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board summary (Forced migration): “Secretary-General Visits Refugee Camps in Chad” by United Nations Photo, CC BY-NC-ND 2.0, via Flickr (https://www.flickr.com/photos/35483578@N03/6140060599)</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75</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75</Slides>
  <Notes>75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75</vt:i4>
      </vt:variant>
    </vt:vector>
  </HeadingPairs>
  <TitlesOfParts>
    <vt:vector size="7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lpstr>Slide 66</vt:lpstr>
      <vt:lpstr>Slide 67</vt:lpstr>
      <vt:lpstr>Slide 68</vt:lpstr>
      <vt:lpstr>Slide 69</vt:lpstr>
      <vt:lpstr>Slide 70</vt:lpstr>
      <vt:lpstr>Slide 71</vt:lpstr>
      <vt:lpstr>Slide 72</vt:lpstr>
      <vt:lpstr>Slide 73</vt:lpstr>
      <vt:lpstr>Slide 74</vt:lpstr>
      <vt:lpstr>Slide 75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2026-09-29T11:38:38Z</dcterms:created>
  <dcterms:modified xsi:type="dcterms:W3CDTF">2026-09-29T11:38:38Z</dcterms:modified>
</cp:coreProperties>
</file>