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Types of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Space (Migration), and the sub-topic is Migration Types. The key notions we shall use today are: voluntary migration, forced migration, internal migration, rural exodus, counter-urbanisation, commuting, economic migrant, refugee, internally displaced person (IDP), remittance. At the end, you should be able to do this: learners are able to classify migrations with examples and analyse their consequences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Spatial Interaction. The question was: Define an internally displaced person.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internally displaced person (IDP) is someone forced to flee their home who stays inside their own country.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voluntary and forced migration. Number 2: describe the types of internal migration with examples. Number 3: describe economic and political international migration. Number 4: distinguish refugees and IDPs. Number 5: analyse the consequences of migration at the origin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Migration is selective. Push factors drive people out of villages. Complementarity creates flows between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your quarter of Garoua, a trader came from Bafoussam to expand his business; the young man who helps him came from a village near Tcholliré to earn money for his family; and a family from the Far North, who lost their home because of insecurity, rents the house opposite yours. You also hear of young Cameroonians who risk everything to reach Europe. You ask: "All these people are migrants, but what types of migration are these, and what are their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cannot classify the types of migration and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the young man from Tcholliré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Rural-urban migration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Far North family different from him?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forced to flee (forced migration), while he chose to move (voluntary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displaced people and refugees with respect, and support development projects that give young people opportunities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many forms of migration in Cameroon and to face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types of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fleeing a flood voluntary or forced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Forced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types of internal migration.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type of migration is a daily trip from a suburb to the town centre for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Commuting.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herders and their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herders move south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pasture and water: rural-rural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advantage of emigration for the country of origin.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Remittances sent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iDP or refugee?.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an IDP and a refugee?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IDP stays in his country; a refugee crosses an international border.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Voluntary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Forced migration and Refugee.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Internally displaced person (IDP) and Remittances.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Voluntary versus Forced Migration. Migration is either voluntary or forced as follows. Copy the point on Voluntary migration on the left, then draw the diagram on the right: the types of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Forced migration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Rural-Urban Migration. Rural-urban migration is presented as follows. Copy the point on Meaning and examples on the left, then draw the diagram on the right: types of internal migration.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Copy the point on Push and pull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Copy the point on Consequences at the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Rural-Urban Migration. Copy the point on Consequences at the destination: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Rural-Rural Migration. Rural-rural migration is presented as follows. Copy the point on Meaning and examples on the left, then draw the diagram on the right: herders.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Rural-Rural Migration. Copy the point on Push and pull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Rural-Rural Migration.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Urban-Rural and Inter-Urban Migration. Urban-rural and inter-urban migration are presented as follows. Copy the point on Urban-rural migration (counter-urbanisation):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Urban-Rural and Inter-Urban Migration. Copy the point on Inter-urban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Intra-Urban Migration and Commuting. Movements inside towns are presented as follows. Copy the point on Intra-urban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Intra-Urban Migration and Commuting. Copy the point on Commuting: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Migrants. Economic migration is presented as follows. Copy the point on Meaning and examples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Copy the point on Push and pull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Copy the point on Consequences at the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Migrants. Copy the point on Consequences at the destination: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Political Migrants. Political migration is presented as follows. Copy the point on Meaning and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Political Migrants.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Forced Migration: Refugees and IDPs. Forced migrants are refugees or internally displaced persons, as follows. Copy the point on Refugees on the left, then draw the diagram on the right: refugees and IDPs.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Forced Migration: Refugees and IDPs. Copy the point on Internally displaced persons (IDPs):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Forced Migration: Refugees and IDPs. Copy the point on Protection and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Interregional Movements. Interregional movements are presented as follows. Copy the point on Meaning and example on the left, then draw the diagram on the right: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Movements.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rural-urban migration and commuting.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is a permanent move from village to town; commuting is a daily return trip without change of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positive and one negative consequence of rural exodus for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positive: remittances; negative: loss of young workers and fall in food production.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IDP (internally displaced person);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carrying capacity.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Carrying Capacity.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TYPES OF MIGRATION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Types of Migration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Space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Migration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Types of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migration, forced migration, internal migration, rural exodus, counter-urbanisation, commuting, economic migrant, refugee, internally displaced person (IDP), remittance.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Voluntary and forced migration; internal migration (rural-urban, rural-rural, urban-rural, inter-urban, intra-urban, commuting, interregional); international migration (economic and political migrants); refugees and IDPs;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Spatial Interaction):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internally displaced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internally displaced person (IDP) is someone forced to flee their home who stays inside their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voluntary and forced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internal migration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economic and political international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refugees and IDPs.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consequences of migration at the origin and the destination.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selective.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Push factors drive people out of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Complementarity creates flows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your quarter of Garoua, a trader came from Bafoussam to expand his business; the young man who helps him came from a village near Tcholliré to earn money for his family; and a family from the Far North, who lost their home because of insecurity, rents the house opposite yours.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hear of young Cameroonians who risk everything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"All these people are migrants, but what types of migration are these, and what are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cannot classify the types of migration and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the young man from Tcholliré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Far North family different from him?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forced to flee (forced migration), while he chose to move (voluntary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displaced people and refugees with respect, and support development projects that give young people opportunities at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many forms of migration in Cameroon and to face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gration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fleeing a flood voluntary or 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VOLUNTARY AND FORCED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Forced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internal_ty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internal migration.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migration is a daily trip from a suburb to the town centre for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and their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herders move south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pasture and water: rural-rural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emigration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Remittances sent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idp_refuge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IDP or refugee?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an IDP and a refugee?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REFUGEES AND IDPs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IDP stays in his country; a refugee crosses an international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Space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Migration Types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Types of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freely chosen by the migrant, usually for economic or social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imposed by violence, conflict, disasters or persecution.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Refugee: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crosses an international border and is protected by international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 (IDP):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person forced to flee who remains inside his or her own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versus Forced Migration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Migration is either voluntary or forced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Voluntary migration: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migrant chooses freely to leave, usually for a job, studies or family reasons. For example, a Cameroonian computer scientist who accepts a well-paid job in Germany migrates by choice.</a:t>
            </a:r>
            <a:endParaRPr lang="en-US" sz="3200" dirty="0"/>
          </a:p>
        </p:txBody>
      </p:sp>
      <p:pic>
        <p:nvPicPr>
          <p:cNvPr id="5" name="Image 0" descr="/home/claude/f4/img/v2/migration_typ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Voluntary versus Forced Migration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Forced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migrant has no real choice because his life or property is threatened. For example, a family that flees its village because of fighting or a flood is forced to move.</a:t>
            </a:r>
            <a:endParaRPr lang="en-US" sz="3600" dirty="0"/>
          </a:p>
        </p:txBody>
      </p:sp>
      <p:pic>
        <p:nvPicPr>
          <p:cNvPr id="5"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Rural-Urban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Rural-urban migration is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and examples: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the mass movement of people from villages to towns, also called rural exodus. Examples are the movements from the Adamawa to Douala and from northern Nigeria to Lagos.</a:t>
            </a:r>
            <a:endParaRPr lang="en-US" sz="2800" dirty="0"/>
          </a:p>
        </p:txBody>
      </p:sp>
      <p:pic>
        <p:nvPicPr>
          <p:cNvPr id="6" name="Image 0" descr="/home/claude/f4/img/v2/pop2_internal_typ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internal migration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Rural-Urban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lack jobs, electricity, schools and hospitals, and harvests are poor. Towns attract with jobs, higher wages, services and the attraction of city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Rural-Urban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lose their young workers, and food production falls. However, they receive remittances that build houses and pay school fees.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Rural-Urban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receive cheap labour for industries and services. However, they suffer from slums, unemployment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Rural-Rural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Rural-rural migration is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and examples: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the movement from one rural area to another. Herders move from the dry plains near Kousseri to pastures further south, and farmers move to fertile land such as the Benue valley.</a:t>
            </a:r>
            <a:endParaRPr lang="en-US" sz="2800" dirty="0"/>
          </a:p>
        </p:txBody>
      </p:sp>
      <p:pic>
        <p:nvPicPr>
          <p:cNvPr id="6" name="Image 0" descr="/home/claude/f4/img/v2/usa_herder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Rural-Rural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overgrazing and land shortage push people out. Fertile land, pastures and water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Rural-Rural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production increases in the new areas, and the source area is relieved. However, conflicts between farmers and herders and deforestation may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Urban-Rural and Inter-Urban Migration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Urban-rural and inter-urban migration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Urban-rural migration (counter-urbanisation):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leave the town for the countryside, for example a retired civil servant who leaves Yaoundé for his village. He brings money and new ideas, but may raise land prices.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C) Urban-Rural and Inter-Urban Migration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one town to another, often for work or promotion. For example, a bank employee is transferred from Bafoussam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Intra-Urban Migration and Commuting</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Movements inside towns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Intra-urban migration: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move from one quarter to another in the same town. For example, a family moves from a rented flat in central Garoua to its own house in a new suburb, which makes the town spread outwards.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Internal Migrations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Intra-Urban Migration and Commuting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every day between home and work without changing residence, like a teacher who lives in a suburb of Maroua. Commuting causes traffic jams in the morning and evening.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Economic Migrants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Economic migration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and examples: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Economic migrants cross borders for work and better living conditions. Examples are Filipino nurses in the United Kingdom and Malian and Senegalese workers in France.</a:t>
            </a:r>
            <a:endParaRPr lang="en-US" sz="3200" dirty="0"/>
          </a:p>
        </p:txBody>
      </p:sp>
      <p:pic>
        <p:nvPicPr>
          <p:cNvPr id="6" name="Image 0" descr="/home/claude/f4/img/v2/usa_boat.jpg">    </p:cNvPr>
          <p:cNvPicPr>
            <a:picLocks noChangeAspect="1"/>
          </p:cNvPicPr>
          <p:nvPr/>
        </p:nvPicPr>
        <p:blipFill>
          <a:blip r:embed="rId1"/>
          <a:stretch>
            <a:fillRect/>
          </a:stretch>
        </p:blipFill>
        <p:spPr>
          <a:xfrm>
            <a:off x="6537960" y="2399472"/>
            <a:ext cx="5470855" cy="3037464"/>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Migrants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low wages and poverty push people out of their countries. High wages, jobs and better services attract them to rich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Migrants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of origin loses skilled workers, which is called brain drain. However, it receives remittances that support families and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Migrants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host country fills labour shortages and gains young workers. However, it may face pressure on services and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Political Migrants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Political migration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Political migrants flee war and persecution across borders. Examples are Syrians in Turkey and Europe and Central Africans in eastern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External (International) Migration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Political Migrants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of origin loses its population and its economy collapses. Host countries bear high costs for camps and services, but receive humanitarian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Forced migrants are refugees or internally displaced persons,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Refugees: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Refugees have crossed an international border to escape danger. For example, Nigerians who fled Boko Haram live in the Minawao camp in the Far North of Cameroon.</a:t>
            </a:r>
            <a:endParaRPr lang="en-US" sz="3200" dirty="0"/>
          </a:p>
        </p:txBody>
      </p:sp>
      <p:pic>
        <p:nvPicPr>
          <p:cNvPr id="5" name="Image 0" descr="/home/claude/f4/img/v2/pop2_idp_refuge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 and IDPs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Internally displaced persons (IDPs):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IDPs have fled their homes but remain in their own country. For example, villagers of the Mayo-Sava who fled to Mora for safety are IDPs.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Forced Migration: Refugees and IDPs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and 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Refugees are protected by the UNHCR and international law, while IDPs depend mainly on their own government. Both groups lose their homes, jobs and schooling and put pressure on the host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Interregional Movements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Interregional movements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and example: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movements between the large regions of a country. Since 2016, many people have left the North-West and South-West for the Littoral, the West and the Centre because of the crisis.</a:t>
            </a:r>
            <a:endParaRPr lang="en-US" sz="3200" dirty="0"/>
          </a:p>
        </p:txBody>
      </p:sp>
      <p:pic>
        <p:nvPicPr>
          <p:cNvPr id="5" name="Image 0" descr="/home/claude/f4/img/v2/cmr_migration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Interregional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regions of departure lose workers, schools close and farms are abandoned. The receiving towns, such as Douala and Yaoundé, face pressure on housing,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rural-urban migration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is a permanent move from village to town; commuting is a daily return trip without change of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and one negative consequence of rural exodus for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remittances; negative: loss of young workers and fall in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flees but stays in his country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Refugee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réfugié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Internally 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 interne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migrations pendulaires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Space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Types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voluntary and forced migration. Describe the types of internal migration with examples. Describe economic and political international migration. Distinguish refugees and IDPs. Analyse the consequences of migration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migrations with examples and analyse their consequences at the origin and the destination.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Voluntary versus Forced Migration; Rural-Urban Migration; Rural-Rural Migration; Urban-Rural and Inter-Urban Migration; Intra-Urban Migration and Commuting; Economic Migrants; Political Migrants; Forced Migration: Refugees and IDPs; Interregional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branches.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they come to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transhumance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migrants to Europe.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border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(Forced migration):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2026-09-29T12:18:48Z</dcterms:created>
  <dcterms:modified xsi:type="dcterms:W3CDTF">2026-09-29T12:18:48Z</dcterms:modified>
</cp:coreProperties>
</file>