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notesMasterIdLst>
    <p:notesMasterId r:id="rId9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notesMaster" Target="notesMasters/notesMaster1.xml"/><Relationship Id="rId95" Type="http://schemas.openxmlformats.org/officeDocument/2006/relationships/presProps" Target="presProps.xml"/><Relationship Id="rId96" Type="http://schemas.openxmlformats.org/officeDocument/2006/relationships/viewProps" Target="viewProps.xml"/><Relationship Id="rId97" Type="http://schemas.openxmlformats.org/officeDocument/2006/relationships/theme" Target="theme/theme1.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Types of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Types. The key notions we shall use today are: voluntary migration, forced migration, internal migration, rural exodus, counter-urbanisation, commuting, economic migrant, refugee, internally displaced person (IDP), remittance. At the end, you should be able to do this: learners are able to classify migrations with examples and analyse their consequences at the origin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Spatial Interaction. The question was: Define an internally displaced person.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internally displaced person (IDP) is someone forced to flee their home who stays inside their own country.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voluntary and forced migration. Number 2: describe the types of internal migration with examples. Number 3: describe economic and political international migration. Number 4: distinguish refugees and IDPs. Number 5: analyse the consequences of migration at the origin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selective. Push factors drive people out of villages. Complementarity creates flows between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your quarter of Garoua, a trader came from Bafoussam to expand his business; the young man who helps him came from a village near Tcholliré to earn money for his family; and a family from the Far North, who lost their home because of insecurity, rents the house opposite yours. You also hear of young Cameroonians who risk everything to reach Europe. You ask: "All these people are migrants, but what types of migration are these, and what are their consequences?"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cannot classify the types of migration and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movement of the young man from Tcholliré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Rural-urban migration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Far North family different from him?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forced to flee (forced migration), while he chose to move (voluntary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displaced people and refugees with respect, and support development projects that give young people opportunities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many forms of migration in Cameroon and to face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fleeing a flood voluntary or forced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Forced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types of internal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type of migration is a daily trip from a suburb to the town centre for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herders and their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herders move south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pasture and water: rural-rural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migrants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advantage of emigration for the country of origin.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Remittances sent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iDP or refugee?.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an IDP and a refugee?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IDP stays in his country; a refugee crosses an international border.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Voluntary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Forced migration and Refugee.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Internally displaced person (IDP) and Remittances.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Voluntary versus Forced Migration. Migration is either voluntary or forced as follows. Copy the point on Voluntary migration on the left, then draw the diagram on the right: the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Forced migration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Rural-Urban Migration: Meaning and Causes. Rural-urban migration is presented as follows. Copy the point on Meaning on the left, then draw the diagram on the right: types of internal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Meaning and Causes. Copy the point on Lack of jobs and services in villages: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Meaning and Causes. Copy the point on Jobs and wages in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Meaning and Causes. Copy the point on The attraction of city life: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Rural-Urban Migration: Consequences. Rural-urban migration has the following consequences. Copy the point on Loss of young workers in villages: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Consequences. Copy the point on Remittances to villages: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Consequences. Copy the point on Cheap labour in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Consequences. Copy the point on Slums and unemployment in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Rural-Rural Migration: Meaning and Causes. Rural-rural migration is presented as follows. Copy the point on Meaning on the left, then draw the diagram on the right: herders.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Rural-Rural Migration: Meaning and Causes. Copy the point on Drought and overgrazing: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Rural-Rural Migration: Meaning and Causes. Copy the point on Land shortage: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Rural-Rural Migration: Consequences. Rural-rural migration has the following consequences. Copy the point on More food production: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Rural-Rural Migration: Consequences. Copy the point on Relief of the source area: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Rural-Rural Migration: Consequences. Copy the point on Conflicts and deforestation: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Urban-Rural and Inter-Urban Migration. Urban-rural and inter-urban migration are presented as follows. Copy the point on Urban-rural migration (counter-urbanisation):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Urban-Rural and Inter-Urban Migration. Copy the point on Inter-urban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Intra-Urban Migration and Commuting. Movements inside towns are presented as follows. Copy the point on Intra-urban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Intra-Urban Migration and Commuting. Copy the point on Commuting: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Migrants: Meaning and Causes. Economic migration is presented as follows. Copy the point on Meaning on the left, then draw the diagram on the right: migrants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Migrants: Meaning and Causes. Copy the point on Unemployment and low wages: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Migrants: Meaning and Causes. Copy the point on High wages and better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Migrants: Consequences. Economic migration has the following consequences. Copy the point on Brain drain: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Migrants: Consequences. Copy the point on Remittances: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Migrants: Consequences. Copy the point on Labour for the host country: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Migrants: Consequences. Copy the point on Pressure in the host country: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Political Migrants. Political migration is presented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Migrants. Copy the point on Loss for the country of origin: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Migrants. Copy the point on Costs for host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Migrants. Copy the point on Humanitarian aid: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Refugees and IDPs. Forced migrants are refugees or internally displaced persons, as follows. Copy the point on Refugees on the left, then draw the diagram on the right: refugees and IDPs.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Refugees and IDPs. Copy the point on Internally displaced persons (IDPs):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Refugees and IDPs. Copy the point on Protection: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Forced migration has the following consequences. Copy the point on Loss of homes and livelihoods: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Interrupted schooling: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Pressure on host areas: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Interregional Movements. Interregional movements are presented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migrations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Movements. Copy the point on Consequences for the regions of departure: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Movements. Copy the point on Consequences for the receiving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rural-urban migration and commuting.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is a permanent move from village to town; commuting is a daily return trip without change of residence.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positive and one negative consequence of rural exodus for villages.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remittances; negative: loss of young workers and fall in food production.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IDP (internally displaced person); number 3,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carrying capacity.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Carrying Capacity.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TYPES OF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Types of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migration, forced migration, internal migration, rural exodus, counter-urbanisation, commuting, economic migrant, refugee, internally displaced person (IDP), remittance.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and forced migration; internal migration (rural-urban, rural-rural, urban-rural, inter-urban, intra-urban, commuting, interregional); international migration (economic and political migrants); refugees and IDPs;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migrations with examples and analyse their consequences at the origin and the destination.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Spatial Interaction):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internally displaced person (IDP) is someone forced to flee their home who stays inside their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voluntary and forced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internal migration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economic and political international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refugees and IDPs.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consequences of migration at the origin and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selective.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Push factors drive people out of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Complementarity creates flows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your quarter of Garoua, a trader came from Bafoussam to expand his business; the young man who helps him came from a village near Tcholliré to earn money for his family; and a family from the Far North, who lost their home because of insecurity, rents the house opposite yours.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hear of young Cameroonians who risk everything to reach Europe.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"All these people are migrants, but what types of migration are these, and what are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cannot classify the types of migration and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movement of the young man from Tcholliré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Far North family different from him?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forced to flee (forced migration), while he chose to move (voluntary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displaced people and refugees with respect, and support development projects that give young people opportunities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many forms of migration in Cameroon and to face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fleeing a flood voluntary or 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internal_ty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internal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migration is a daily trip from a suburb to the town centre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and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south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pasture and water: rural-rural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emigration for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Remittances sent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idp_refuge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IDP or refugee?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an IDP and a refugee?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IDP stays in his country; a refugee crosses an international border.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Types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Voluntary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freely chosen by the migrant, usually for economic or social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imposed by violence, conflict, disasters or persecution.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Refugee: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forced to flee who crosses an international border and is protected by international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 (IDP):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forced to flee who remains inside his or her own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Remittances: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versus Forced Migration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Migration is either voluntary or forced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Voluntary migration: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migrant chooses freely to leave, usually for a job, studies or family reasons. For example, a Cameroonian computer scientist who accepts a well-paid job in Germany migrates by choice.</a:t>
            </a:r>
            <a:endParaRPr lang="en-US" sz="3200" dirty="0"/>
          </a:p>
        </p:txBody>
      </p:sp>
      <p:pic>
        <p:nvPicPr>
          <p:cNvPr id="5" name="Image 0" descr="/home/claude/f4/img/v2/migration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types of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versus Forced Migration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migrant has no real choice because his life or property is threatened. For example, a family that flees its village because of fighting or a flood is forced to move.</a:t>
            </a:r>
            <a:endParaRPr lang="en-US" sz="3600" dirty="0"/>
          </a:p>
        </p:txBody>
      </p:sp>
      <p:pic>
        <p:nvPicPr>
          <p:cNvPr id="5"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Rural-Urban Migration: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Rural-urban migration is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the mass movement of people from villages to towns, also called rural exodus. Examples are the movements from the Adamawa to Douala and from northern Nigeria to Lagos.</a:t>
            </a:r>
            <a:endParaRPr lang="en-US" sz="3200" dirty="0"/>
          </a:p>
        </p:txBody>
      </p:sp>
      <p:pic>
        <p:nvPicPr>
          <p:cNvPr id="6" name="Image 0" descr="/home/claude/f4/img/v2/pop2_internal_type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internal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Rural-Urban Migration: Meaning and Causes</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jobs and services in villages: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jobs, electricity, schools and hospitals, and harvests are often poor. Young people therefore leave to look for a better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Rural-Urban Migration: Meaning and Causes</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wages in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offer jobs in industry, trade and services, with higher wages than farming. These jobs attract young people from the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Rural-Urban Migration: Meaning and Causes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attraction of city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offer electricity, entertainment, secondary schools and universities. Young people are attracted by this modern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Rural-Urban Migration: Consequences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Rural-urban migration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young workers in villages: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lose their young and active people, and food production falls. Only children and old people remain to work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Rural-Urban Migration: Consequences</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Remittances to villages: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send money home to their families. This money builds houses and pays school fees in the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Rural-Urban Migration: Consequences</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labour in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receive many workers for industries, building sites and services. This labour helps the urban economy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Rural-Urban Migration: Consequences</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Slums and unemployment in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cannot provide enough houses and jobs for all the migrants. Slums, unemployment and crime therefore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Rural-Rural Migration: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Rural-rural migration is presented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is the movement from one rural area to another. Herders move from the dry plains near Kousseri to pastures further south, and farmers move to fertile land such as the Benue valley.</a:t>
            </a:r>
            <a:endParaRPr lang="en-US" sz="3000" dirty="0"/>
          </a:p>
        </p:txBody>
      </p:sp>
      <p:pic>
        <p:nvPicPr>
          <p:cNvPr id="6" name="Image 0" descr="/home/claude/f4/img/v2/usa_herder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C) Rural-Rural Migration: Meaning and Causes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and 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drought and overgrazing destroy pastures and crops. Herders and farmers must leave to find water and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C) Rural-Rural Migration: Meaning and Causes</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crowded areas such as the Mandara Mountains, there is not enough land for all families. Farmers therefore move to areas with free and fertile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Rural-Rural Migration: Consequences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Rural-rural migration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cultivate new land in the receiving areas. Food production therefore increases, as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D) Rural-Rural Migration: Consequences</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of the source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departure of some families reduces the pressure on land in the source area. The remaining farmers have more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Rural-Rural Migration: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Conflicts and 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and farmers may fight over land and water in the receiving areas. New farms also cause the clearing of forests and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Urban-Rural and Inter-Urban Migration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Urban-rural and inter-urban migration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Urban-rural migration (counter-urbanisation):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leave the town for the countryside, for example retired civil servants who leave Yaoundé for their villages. They bring money and new ideas, but may raise land prices.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E) Urban-Rural and Inter-Urban Migration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one town to another, often for work or promotion. For example, a bank employee is transferred from Bafoussam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F) Intra-Urban Migration and Commuting</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Movements inside towns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Intra-urban 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move from one quarter to another in the same town. For example, a family moves from a rented flat in central Garoua to its own house in a new suburb, which makes the town spread outwards.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F) Intra-Urban Migration and Commuting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every day between home and work without changing residence, like a teacher who lives in a suburb of Maroua. Commuting causes traffic jams in the morning and evening.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Economic Migrants: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Economic migration is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Economic migrants cross borders for work and better living conditions. Examples are Filipino nurses in the United Kingdom and Malian and Senegalese workers in France.</a:t>
            </a:r>
            <a:endParaRPr lang="en-US" sz="3200" dirty="0"/>
          </a:p>
        </p:txBody>
      </p:sp>
      <p:pic>
        <p:nvPicPr>
          <p:cNvPr id="6" name="Image 0" descr="/home/claude/f4/img/v2/usa_boat.jpg">    </p:cNvPr>
          <p:cNvPicPr>
            <a:picLocks noChangeAspect="1"/>
          </p:cNvPicPr>
          <p:nvPr/>
        </p:nvPicPr>
        <p:blipFill>
          <a:blip r:embed="rId1"/>
          <a:stretch>
            <a:fillRect/>
          </a:stretch>
        </p:blipFill>
        <p:spPr>
          <a:xfrm>
            <a:off x="6537960" y="2399472"/>
            <a:ext cx="5470855" cy="3037464"/>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Economic Migrants: Meaning and Causes</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and low wages: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in poor countries cannot find work, or earn very little. They therefore leave to find jobs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Economic Migrants: Meaning and Causes</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wages and better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offer jobs, high wages, good schools and hospitals. These advantages attract migrants from poorer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Economic Migrants: Consequences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Economic migration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Brain drain: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country of origin loses doctors, engineers and teachers. This weakens its health, education and economic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Migrants: Consequences</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Remittances: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send money home to their families. This money supports families and investment in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Migrants: Consequences</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for the host country: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host country fills labour shortages and gains young workers. Migrants pay taxes and help the economy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Migrants: Consequences</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in the host country: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arrivals may put pressure on housing, schools and health services. They can also cause social tensions.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Political Migrants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Political migration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Political migrants flee war and persecution across borders. Examples are Syrians in Turkey and Europe and Central Africans in eastern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Political Migrants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for the country of 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country of origin loses part of its population, especially its young people. Its farms and economy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Political Migrants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Costs for host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Host countries must provide camps, water, food, schools and health care. This puts heavy pressure on their budgets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Political Migrants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Humanitarian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International organisations such as the UNHCR send aid to the host areas. This aid also brings some jobs and services to the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Refugees and IDPs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Forced migrants are refugees or internally displaced persons,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Refugees: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Refugees have crossed an international border to escape danger. For example, Nigerians who fled Boko Haram live in the Minawao camp in the Far North of Cameroon.</a:t>
            </a:r>
            <a:endParaRPr lang="en-US" sz="3000" dirty="0"/>
          </a:p>
        </p:txBody>
      </p:sp>
      <p:pic>
        <p:nvPicPr>
          <p:cNvPr id="6" name="Image 0" descr="/home/claude/f4/img/v2/pop2_idp_refuge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 and IDPs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Refugees and IDPs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persons (IDPs):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IDPs have fled their homes but remain in their own country. For example, villagers of the Mayo-Sava who fled to Mora for safety are IDPs.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Refugees and IDPs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are protected by the UNHCR and international law. IDPs depend mainly on their own government, which often lacks the means to help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Forced migration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homes and livelihoods: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and IDPs lose their houses, farms, animals and jobs. They depend on aid to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Interrupted schooling: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displaced children stop going to school for months or years. Their future chances of employment are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host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arrival of many people puts pressure on water, food, land and health services. Tensions may arise between the displaced and the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Interregional Movements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Interregional movements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movements between the large regions of a country. They redistribute the population from poor or unsafe regions to richer or safer 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Interregional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Since 2016, many people have left the North-West and South-West for the Littoral, the West and the Centre because of the crisis. Others have left the Far North because of Boko Haram attacks.</a:t>
            </a:r>
            <a:endParaRPr lang="en-US" sz="3600" dirty="0"/>
          </a:p>
        </p:txBody>
      </p:sp>
      <p:pic>
        <p:nvPicPr>
          <p:cNvPr id="5" name="Image 0" descr="/home/claude/f4/img/v2/cmr_migration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Interregional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for the regions of departure: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regions of departure lose their workers, and many schools close. Farms are abandoned and production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Interregional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for the receiving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Receiving towns such as Douala and Yaoundé grow faster. They face pressure on housing,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rural-urban migration and 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is a permanent move from village to town; commuting is a daily return trip without change of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of rural exodus for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remittances; negative: loss of young workers and fall in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called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flees but stays in his country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Internally 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 interne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migrations pendulaires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Types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voluntary and forced migration. Describe the types of internal migration with examples. Describe economic and political international migration. Distinguish refugees and IDPs. Analyse the consequences of migration at the origin and the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migrations with examples and analyse their consequences at the origin and the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Voluntary versus Forced Migration; Rural-Urban Migration: Meaning and Causes; Rural-Urban Migration: Consequences; Rural-Rural Migration: Meaning and Causes; Rural-Rural Migration: Consequences; Urban-Rural and Inter-Urban Migration; Intra-Urban Migration and Commuting; Economic Migrants: Meaning and Causes; Economic Migrants: Consequences; Political Migrants; Refugees and IDPs; Consequences; Interregional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branches.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they come to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transhumance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migrants to Europe.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border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(Forced migration):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92</Slides>
  <Notes>92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92</vt:i4>
      </vt:variant>
    </vt:vector>
  </HeadingPairs>
  <TitlesOfParts>
    <vt:vector size="9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2026-10-06T05:44:07Z</dcterms:created>
  <dcterms:modified xsi:type="dcterms:W3CDTF">2026-10-06T05:44:07Z</dcterms:modified>
</cp:coreProperties>
</file>