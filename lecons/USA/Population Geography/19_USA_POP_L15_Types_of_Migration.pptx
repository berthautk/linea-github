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Types of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Space (Migration), and the sub-topic is Migration Types. The key notions we shall use today are: voluntary migration, forced migration, internal migration, rural exodus, counter-urbanisation, commuting, economic migrant, refugee, internally displaced person (IDP), remittance. At the end, you should be able to do this: learners are able to classify migrations with examples and analyse their consequences at the origin and the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Spatial Interaction. The question was: Define an internally displaced person.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 internally displaced person (IDP) is someone forced to flee their home who stays inside their own country.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distinguish voluntary and forced migration. Number 2: describe the types of internal migration with examples. Number 3: describe economic and political international migration. Number 4: distinguish refugees and IDPs. Number 5: analyse the consequences of migration at the origin and the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Migration is selective. Push factors drive people out of villages. Complementarity creates flows between places.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your quarter of Garoua, a trader came from Bafoussam to expand his business; the young man who helps him came from a village near Tcholliré to earn money for his family; and a family from the Far North, who lost their home because of insecurity, rents the house opposite yours. You also hear of young Cameroonians who risk everything to reach Europe. You ask: "All these people are migrants, but what types of migration are these, and what are their consequences?"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cannot classify the types of migration and their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movement of the young man from Tcholliré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Rural-urban migration (rural exodus).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is the Far North family different from him?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were forced to flee (forced migration), while he chose to move (voluntary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welcome displaced people and refugees with respect, and support development projects that give young people opportunities at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many forms of migration in Cameroon and to face their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types of migration.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fleeing a flood voluntary or forced migration?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Forced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types of internal migration.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type of migration is a daily trip from a suburb to the town centre for work?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Commuting.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herders and their cattle.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herders move south in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find pasture and water: rural-rural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migrants at sea.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advantage of emigration for the country of origin.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Remittances sent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iDP or refugee?.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difference between an IDP and a refugee?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IDP stays in his country; a refugee crosses an international border.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Voluntary migration.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Forced migration and Refugee.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Internally displaced person (IDP) and Remittances.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Voluntary and Forced Migration. Voluntary and forced migration are presented as follows. Copy the point on Voluntary migration on the left, then draw the diagram on the right: types of migration.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Forced migration on the left, then draw the diagram on the right: forced migration.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Rural-Urban and Rural-Rural Migration. Rural-urban and rural-rural migration are presented as follows. Copy the point on Rural-urban migration (rural exodus) on the left, then draw the diagram on the right: types of internal migration.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Rural-Urban and Rural-Rural Migration. On this slide we have Causes and Consequences.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Rural-Urban and Rural-Rural Migration.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Rural-rural migration on the left, then draw the diagram on the right: herders and cattle.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Rural-Urban and Rural-Rural Migration. On this slide we have Its consequences.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Other Internal Movements. The other types of internal migration are the following. On this slide we have Urban-rural migration (counter-urbanisation).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Other Internal Movements. On this slide we have Inter-urban migration and Intra-urban migration.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Other Internal Movements. On this slide we have Commuting.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Interregional movements on the left, then draw the diagram on the right: migration flows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International Migration. International migration takes the following forms. Copy the point on Economic migrants on the left, then draw the diagram on the right: migrants at sea.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International Migration. On this slide we have Consequences of economic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Political migrants on the left, then draw the diagram on the right: refugees.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International Migration. On this slide we have Consequences of political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Forced Migration: Refugees and IDPs. Refugees and internally displaced persons are presented as follows. Copy the point on Refugees on the left, then draw the diagram on the right: iDP or refugee.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Forced Migration: Refugees and IDPs. On this slide we have Internally displaced persons and Protection.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rural-urban migration and commuting.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rural-urban migration is a permanent move from village to town; commuting is a daily return trip without change of residence.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positive and one negative consequence of rural exodus for villages.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positive: remittances; negative: loss of young workers and fall in food production.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exodus; number 2, IDP (internally displaced person); number 3, remittances.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carrying capacity.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Carrying Capacity.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15: TYPES OF MIGRATION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Types of Migration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Space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Migration Types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Types of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Voluntary migration, forced migration, internal migration, rural exodus, counter-urbanisation, commuting, economic migrant, refugee, internally displaced person (IDP), remittance.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Voluntary and forced migration; internal migration (rural-urban, rural-rural, urban-rural, inter-urban, intra-urban, commuting, interregional); international migration (economic and political migrants); refugees and IDPs;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migrations with examples and analyse their consequences at the origin and the destination.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Spatial Interaction):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internally displaced person.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internally displaced person (IDP) is someone forced to flee their home who stays inside their own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voluntary and forced migration.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of internal migration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economic and political international migration.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refugees and IDPs.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Analyse the consequences of migration at the origin and the destination.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Migration is selective.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Push factors drive people out of villages.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Complementarity creates flows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your quarter of Garoua, a trader came from Bafoussam to expand his business; the young man who helps him came from a village near Tcholliré to earn money for his family; and a family from the Far North, who lost their home because of insecurity, rents the house opposite yours.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also hear of young Cameroonians who risk everything to reach Europe.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"All these people are migrants, but what types of migration are these, and what are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cannot classify the types of migration and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movement of the young man from Tcholliré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Far North family different from him?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were forced to flee (forced migration), while he chose to move (voluntary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Welcome displaced people and refugees with respect, and support development projects that give young people opportunities at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many forms of migration in Cameroon and to face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VOLUNTARY AND FORCED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igration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migration.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VOLUNTARY AND FORCED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fleeing a flood voluntary or forced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VOLUNTARY AND FORCED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Forced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internal_typ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internal migration.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migration is a daily trip from a suburb to the town centre for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Commuting.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herder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Herders and their cattle.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herders move south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pasture and water: rural-rural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INTERNATIONAL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boat.jpg">    </p:cNvPr>
          <p:cNvPicPr>
            <a:picLocks noChangeAspect="1"/>
          </p:cNvPicPr>
          <p:nvPr/>
        </p:nvPicPr>
        <p:blipFill>
          <a:blip r:embed="rId1"/>
          <a:stretch>
            <a:fillRect/>
          </a:stretch>
        </p:blipFill>
        <p:spPr>
          <a:xfrm>
            <a:off x="2250221" y="1783080"/>
            <a:ext cx="76912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Migrants at sea.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INTERNATIONAL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of emigration for the country of origin.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INTERNATIONAL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Remittances sent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REFUGEES AND IDPs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op2_idp_refuge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IDP or refugee?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REFUGEES AND IDPs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an IDP and a refugee?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REFUGEES AND IDPs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IDP stays in his country; a refugee crosses an international border.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Space (Migration)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Migration Types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Types of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Voluntary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movement freely chosen by the migrant, usually for economic or social reasons.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Forced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movement imposed by violence, conflict, disasters or persecution.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Refugee: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person forced to flee who crosses an international border and is protected by international law.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Internally displaced person (IDP):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person forced to flee who remains inside his or her own country.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Remittances: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money sent home by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Voluntary and Forced Migration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Voluntary and forced migration are presented as follows: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Voluntary migration: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A Cameroonian computer scientist who accepts a well-paid job in Germany migrates by choice.</a:t>
            </a:r>
            <a:endParaRPr lang="en-US" sz="3400" dirty="0"/>
          </a:p>
        </p:txBody>
      </p:sp>
      <p:pic>
        <p:nvPicPr>
          <p:cNvPr id="5" name="Image 0" descr="/home/claude/f4/img/v2/migration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migration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Voluntary and Forced Migration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Forced migration: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family that flees its village because of fighting or a flood has no real choice.</a:t>
            </a:r>
            <a:endParaRPr lang="en-US" sz="3600" dirty="0"/>
          </a:p>
        </p:txBody>
      </p:sp>
      <p:pic>
        <p:nvPicPr>
          <p:cNvPr id="5" name="Image 0" descr="/home/claude/f4/img/v2/usa_refuge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forced migration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Rural-Urban and Rural-Rural Migration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Rural-urban and rural-rural migration are presented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Rural-urban migration (rural exodus):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is the mass movement from villages to towns, e.g. from the Adamawa to Douala, or from northern Nigeria to Lagos.</a:t>
            </a:r>
            <a:endParaRPr lang="en-US" sz="2800" dirty="0"/>
          </a:p>
        </p:txBody>
      </p:sp>
      <p:pic>
        <p:nvPicPr>
          <p:cNvPr id="6" name="Image 0" descr="/home/claude/f4/img/v2/pop2_internal_types.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internal migration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Rural-Urban and Rural-Rural Migration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lack jobs and services, while towns offer jobs, higher wages, schools and the "bright lights".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lose young workers and food production falls, but receive remittances.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A) Rural-Urban and Rural-Rural Migration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get slums, unemployment and crime, but also cheap labour.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Rural-Urban and Rural-Rural Migration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Rural-rural migration: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Herders move from the dry plains near Kousseri to pastures further south, and farmers move to fertile land.</a:t>
            </a:r>
            <a:endParaRPr lang="en-US" sz="3600" dirty="0"/>
          </a:p>
        </p:txBody>
      </p:sp>
      <p:pic>
        <p:nvPicPr>
          <p:cNvPr id="6" name="Image 0" descr="/home/claude/f4/img/v2/usa_herders.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herders and cattle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A) Rural-Urban and Rural-Rural Migration</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Its 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production increases in the new areas, but farmer-herder conflicts and deforestation may follow.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Other Internal Movements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800" i="1" dirty="0">
                <a:solidFill>
                  <a:srgbClr val="111111"/>
                </a:solidFill>
                <a:latin typeface="Times New Roman" pitchFamily="34" charset="0"/>
                <a:ea typeface="Times New Roman" pitchFamily="34" charset="-122"/>
                <a:cs typeface="Times New Roman" pitchFamily="34" charset="-120"/>
              </a:rPr>
              <a:t>The other types of internal migration are the following:</a:t>
            </a:r>
            <a:endParaRPr lang="en-US" sz="3800" dirty="0"/>
          </a:p>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Urban-rural migration (counter-urbanisation):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A retired civil servant leaves Yaoundé for his village; he brings money and ideas but may raise land prices.</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Other Internal Movements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Inter-urban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bank employee is transferred from Bafoussam to Garoua.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Intra-urban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family moves from a rented flat in central Garoua to its own house in a new suburb.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B) Other Internal Movements (continued)</a:t>
            </a:r>
            <a:endParaRPr lang="en-US" sz="26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Commuting: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travel every day between home and work without changing residence, as a teacher from a suburb of Maroua.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Other Internal Movements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Interregional movements: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Since 2016, many people have left the North-West and South-West for the Littoral and the Centre because of the crisis.</a:t>
            </a:r>
            <a:endParaRPr lang="en-US" sz="3600" dirty="0"/>
          </a:p>
        </p:txBody>
      </p:sp>
      <p:pic>
        <p:nvPicPr>
          <p:cNvPr id="6" name="Image 0" descr="/home/claude/f4/img/v2/cmr_migration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migration flows in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International Migration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International migration takes the following forms: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Economic migrants: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cross borders for work and better living conditions, like Filipino nurses in the UK or Malian and Senegalese workers in France.</a:t>
            </a:r>
            <a:endParaRPr lang="en-US" sz="3200" dirty="0"/>
          </a:p>
        </p:txBody>
      </p:sp>
      <p:pic>
        <p:nvPicPr>
          <p:cNvPr id="5" name="Image 0" descr="/home/claude/f4/img/v2/usa_boat.jpg">    </p:cNvPr>
          <p:cNvPicPr>
            <a:picLocks noChangeAspect="1"/>
          </p:cNvPicPr>
          <p:nvPr/>
        </p:nvPicPr>
        <p:blipFill>
          <a:blip r:embed="rId1"/>
          <a:stretch>
            <a:fillRect/>
          </a:stretch>
        </p:blipFill>
        <p:spPr>
          <a:xfrm>
            <a:off x="5349240" y="2069478"/>
            <a:ext cx="6659575" cy="369745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migrants at sea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International Migration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of economic migration: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country of origin loses skilled workers but receives remittances.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host country fills labour shortages but may face social tensions.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International Migration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Political migrants: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flee war and persecution, like Syrians in Turkey and Europe, or Central Africans in eastern Cameroon.</a:t>
            </a:r>
            <a:endParaRPr lang="en-US" sz="3600" dirty="0"/>
          </a:p>
        </p:txBody>
      </p:sp>
      <p:pic>
        <p:nvPicPr>
          <p:cNvPr id="5" name="Image 0" descr="/home/claude/f4/img/v2/usa_refuge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refugees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International Migration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of political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country of origin collapses economically, while host countries bear high costs but receive humanitarian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Forced Migration: Refugees and IDPs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Refugees and internally displaced persons are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Refugees: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Nigerians who fled Boko Haram live in the Minawao camp in the Far North of Cameroon.</a:t>
            </a:r>
            <a:endParaRPr lang="en-US" sz="3600" dirty="0"/>
          </a:p>
        </p:txBody>
      </p:sp>
      <p:pic>
        <p:nvPicPr>
          <p:cNvPr id="5" name="Image 0" descr="/home/claude/f4/img/v2/pop2_idp_refugee.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IDP or refugee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Forced Migration: Refugees and IDPs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Internally displaced persons: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Villagers of Mayo-Sava who fled to Mora for safety are IDPs because they have not left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Refugees are protected by the UNHCR and international law, while IDPs depend mainly on their own government.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rural-urban migration and commuting.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is a permanent move from village to town; commuting is a daily return trip without change of residence.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and one negative consequence of rural exodus for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remittances; negative: loss of young workers and fall in food production.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from villages to towns is called rural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person who flees but stays in his country is 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Money sent home by migrants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 exodus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L'exode 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Brain drain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fuite des cerveaux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Refugee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réfugié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Internally displaced person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personne déplacée interne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Commuting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migrations pendulaires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Remittances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transferts de fonds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Space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Types of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voluntary and forced migration. Describe the types of internal migration with examples. Describe economic and political international migration. Distinguish refugees and IDPs. Analyse the consequences of migration at the origin and the destination.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migrations with examples and analyse their consequences at the origin and the destination.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Voluntary and Forced Migration; Rural-Urban and Rural-Rural Migration; Other Internal Movements; International Migration; Forced Migration: Refugees and IDPs.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carrying capacity.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three branches.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learners how they come to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transhumance in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migrants to Europe.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 border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“Young cattle herders in Sénégal (West Africa)” by gbaku, CC BY-SA 2.0, via Flickr (https://www.flickr.com/photos/72105154@N00/525185172)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 sailor from HMS BULWARK hands out water to rescued individuals on a ” by Royal Navy Media Archive, CC BY-NC 2.0, via Flickr (https://www.flickr.com/photos/69974959@N03/17374754690)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(Forced migration): “Secretary-General Visits Refugee Camps in Chad” by United Nations Photo, CC BY-NC-ND 2.0, via Flickr (https://www.flickr.com/photos/35483578@N03/6140060599)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2026-09-29T03:13:02Z</dcterms:created>
  <dcterms:modified xsi:type="dcterms:W3CDTF">2026-09-29T03:13:02Z</dcterms:modified>
</cp:coreProperties>
</file>