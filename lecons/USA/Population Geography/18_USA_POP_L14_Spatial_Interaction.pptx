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Spatial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Change over Space (Migration), and the sub-topic is Migration Laws. The key notions we shall use today are: spatial interaction, network, complementarity, transferability, intervening opportunity, distance decay, Ullman. At the end, you should be able to do this: learners are able to explain the flows of people, goods and information between places using the factors of spatial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Migration: Characteristics, Laws and Models. The question was: Define spatial interaction.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Spatial interaction is the movement of people, goods, services and information between places.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spatial interaction. Number 2: distinguish tangible and intangible flows. Number 3: explain complementarity and transferability. Number 4: explain intervening opportunity and distance decay.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Migration decreases with distance. Big towns attract more people. The gravity model uses population and distance.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Aïssatou sells fresh tomatoes at the Central Market of Garoua. Every few days she travels to buy new stock. She knows that there are big tomato farms near Maroua, but she almost always goes to Pitoa, which is closer: the trip is faster and cheaper, and she can be back at her stall the same day. She asks: "What makes places exchange goods and people, and why do I prefer Pitoa to Maroua?"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Aïssatou does not know the factors of spatial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must she travel to buy tomatoes?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Garoua needs tomatoes and Pitoa has a surplus: this is complementarity.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she prefer Pitoa to Maroua?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nearer and cheaper: interaction decreases with distance (distance decay).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improve roads and communication links to increase useful exchanges between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trade, transport and communication between towns and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mobile money.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Is a mobile money transfer a tangible or an intangible flow?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intangible flow (information and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cotton harvest.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cotton move from the North to factories in Douala?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North has a surplus of cotton and the factories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lorry on the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onions sent from Garoua to Maroua by road and not by air?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Road transport is cheaper for heavy, low-value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nearer opportunity.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a new university in Ngaoundéré change the flow of students to Yaoundé?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reduces it, because it is a nearer intervening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interaction and distance.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you visit a friend in your quarter more often than one in Kribi?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Distance increases time, effort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Spatial interaction.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Complementarity, Transferability and Distance decay.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Spatial Interaction. Spatial interaction is explained as follows. Copy the point on Tangible flows on the left, then draw the diagram on the right: a lorry.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Intangible flows on the left, then draw the diagram on the right: mobile money.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Spatial Interaction. Copy the point on Networks: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Spatial Interaction. Copy the point on Measurement: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Spatial Interaction. According to Edward Ullman, spatial interaction depends on the following factors. Copy the point on Complementarity on the left, then draw the diagram on the right: ullman's factors.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Transferability on the left, then draw the diagram on the right: the cotton harvest.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Spatial Interaction. Copy the point on Intervening opportunity: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Distance decay on the left, then draw the diagram on the right: distance decay.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complementarity with an example.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one place has a surplus that another needs, e.g. cotton from the North sent to textile factories in Douala.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distance decay?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decrease of interaction between places as distance increases.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interaction; number 2, transferability; number 3, decay.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an internally displaced person.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Types of Migration.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14: SPATIAL INTERACTION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Spatial Interaction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over Space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Migration Laws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Spatial Interaction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Spatial interaction, network, complementarity, transferability, intervening opportunity, distance decay, Ullman.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spatial interaction (tangible and intangible flows, networks, measurement); Ullman's factors: complementarity, transferability, intervening opportunity, distance decay.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flows of people, goods and information between places using the factors of spatial interaction.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Migration: Characteristics, Laws and Models):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spatial interaction.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Spatial interaction is the movement of people, goods, services and information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spatial interaction.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tangible and intangible flows.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complementarity and transferability.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intervening opportunity and distance decay.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Migration decreases with distance.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Big towns attract more people.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gravity model uses population and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Aïssatou sells fresh tomatoes at the Central Market of Garoua.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few days she travels to buy new stock.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knows that there are big tomato farms near Maroua, but she almost always goes to Pitoa, which is closer: the trip is faster and cheaper, and she can be back at her stall the same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asks: "What makes places exchange goods and people, and why do I prefer Pitoa to Maroua?"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Aïssatou does not know the factors of spatial interaction.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must she travel to buy tomatoes?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needs tomatoes and Pitoa has a surplus: this is complementarity.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she prefer Pitoa to Maroua?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nearer and cheaper: interaction decreases with distance (distance decay).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Improve roads and communication links to increase useful exchanges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trade, transport and communication between towns and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obile_mone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Mobile money.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a mobile money transfer a tangible or an intangible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intangible flow (information and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COMPLEMENTARITY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otton_harvest.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Cotton harvest.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COMPLEMENTARITY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cotton move from the North to factories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COMPLEMENTARITY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 has a surplus of cotton and the factories need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TRANSFERABILITY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lorry on the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TRANSFERABILITY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onions sent from Garoua to Maroua by road and not by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TRANSFERABILITY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transport is cheaper for heavy, low-value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INTERVENING OPPORTUNITY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touff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nearer opportunity.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INTERVENING OPPORTUNITY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a new university in Ngaoundéré change the flow of students to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INTERVENING OPPORTUNITY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reduces it, because it is a nearer intervening opportunity.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DISTANCE DECAY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zipf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Interaction and distance.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DISTANCE DECAY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you visit a friend in your quarter more often than one in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DISTANCE DECAY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Distance increases time, effort and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Change over Space (Migration)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Migration Laws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Spatial Interaction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Spatial interaction: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people, goods, services and information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Complementarity: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situation where one place has a surplus of what another place needs.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Transferability: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ease and cost of moving goods or people between two places.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Distance decay: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decrease of interaction as distance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Spatial Interaction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Spatial interaction is explained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Tangible flows: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movements of people and goods that can be seen and counted. For example, lorries carry cotton from Garoua to the port of Douala.</a:t>
            </a:r>
            <a:endParaRPr lang="en-US" sz="3600" dirty="0"/>
          </a:p>
        </p:txBody>
      </p:sp>
      <p:pic>
        <p:nvPicPr>
          <p:cNvPr id="5" name="Image 0" descr="/home/claude/f4/img/v2/usa_truck.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lorry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Spatial Interaction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Intangible flows: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movements of information, money and services. For example, people make phone calls and send mobile money between Garoua and Douala.</a:t>
            </a:r>
            <a:endParaRPr lang="en-US" sz="3600" dirty="0"/>
          </a:p>
        </p:txBody>
      </p:sp>
      <p:pic>
        <p:nvPicPr>
          <p:cNvPr id="5" name="Image 0" descr="/home/claude/f4/img/v2/f2t_mobile_money.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mobile money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Spatial Interaction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Networks: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Flows use networks such as roads, railways, telephone lines, television and the internet. The denser the network, the stronger the interaction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Spatial Interaction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volume of interaction between two places can be estimated with the gravity formula: I = Pi × Pj ÷ d². Large towns close to each other interact the most.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Spatial Interaction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According to Edward Ullman, spatial interaction depends on the following factors: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Complementarity: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Interaction occurs when one area has a surplus of something that another area needs. For example, the cotton of the North supplies the textile factories of the South.</a:t>
            </a:r>
            <a:endParaRPr lang="en-US" sz="3200" dirty="0"/>
          </a:p>
        </p:txBody>
      </p:sp>
      <p:pic>
        <p:nvPicPr>
          <p:cNvPr id="5" name="Image 0" descr="/home/claude/f4/img/v2/pop2_ullman4.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Ullman's factors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Spatial Interaction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Transferability: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Goods and people must be cheap and easy to move between the two places. Good roads allow onions to go from Garoua to Maroua by lorry, while a bad road reduces the trade.</a:t>
            </a:r>
            <a:endParaRPr lang="en-US" sz="3600" dirty="0"/>
          </a:p>
        </p:txBody>
      </p:sp>
      <p:pic>
        <p:nvPicPr>
          <p:cNvPr id="5" name="Image 0" descr="/home/claude/f4/img/v2/f2t_cotton_harvest.jpg">    </p:cNvPr>
          <p:cNvPicPr>
            <a:picLocks noChangeAspect="1"/>
          </p:cNvPicPr>
          <p:nvPr/>
        </p:nvPicPr>
        <p:blipFill>
          <a:blip r:embed="rId1"/>
          <a:stretch>
            <a:fillRect/>
          </a:stretch>
        </p:blipFill>
        <p:spPr>
          <a:xfrm>
            <a:off x="6537960" y="2399413"/>
            <a:ext cx="5470855" cy="3037581"/>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cotton harvest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Spatial Interaction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Intervening opportunity: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nearer or cheaper place can replace a distant one. For example, the university of Ngaoundéré or of Garoua keeps northern students from travelling to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Spatial Interaction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Distance decay: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Interaction falls as distance rises, because travel costs more time and money. People therefore visit friends in their own quarter more often than friends in Kribi.</a:t>
            </a:r>
            <a:endParaRPr lang="en-US" sz="3600" dirty="0"/>
          </a:p>
        </p:txBody>
      </p:sp>
      <p:pic>
        <p:nvPicPr>
          <p:cNvPr id="5" name="Image 0" descr="/home/claude/f4/img/v2/zipf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distance decay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complementarity with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place has a surplus that another needs, e.g. cotton from the North sent to textile factories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distance decay?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decrease of interaction between places as distance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movement of goods, people and information is spatial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ease of moving goods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Interaction falls with distance: distance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internally displaced person.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Types of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Spatial interaction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L'interaction spatiale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Complementarity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complémentarité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Transferability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transférabilité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Distance decay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L'atténuation par la 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Goods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marchandises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Network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Change over Space (Migration)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Spatial Interaction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spatial interaction. Distinguish tangible and intangible flows. Explain complementarity and transferability. Explain intervening opportunity and distance decay.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flows of people, goods and information between places using the factors of spatial interaction.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of Spatial Interaction; Factors of Spatial Interaction.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internally displaced person.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flows between Garoua and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an arrow from Garoua to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transport costs.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route Garoua–Ngaoundéré–Yaoundé.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where their friends live.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“Scenes from Rwanda” by International Monetary Fund, CC BY-NC-ND 2.0, via Flickr (https://www.flickr.com/photos/38851430@N07/52660758172)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“Cotton harvest” by CIFOR, CC BY-NC-ND 2.0, via Flickr (https://www.flickr.com/photos/45423546@N07/35706862552)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“Traveling by truck” by World Bank Photo Collection, CC BY-NC-ND 2.0, via Flickr (https://www.flickr.com/photos/10816734@N03/2628517227)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2026-10-06T05:44:07Z</dcterms:created>
  <dcterms:modified xsi:type="dcterms:W3CDTF">2026-10-06T05:44:07Z</dcterms:modified>
</cp:coreProperties>
</file>