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notesMasterIdLst>
    <p:notesMasterId r:id="rId6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notesMaster" Target="notesMasters/notesMaster1.xml"/><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heme" Target="theme/theme1.xml"/><Relationship Id="rId7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11: The Modern Demographic Explosion and Population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Change over Time (Population Growth), and the sub-topic is Population Growth. The key notions we shall use today are: demographic explosion, Green Revolution, pro-natalist policy, anti-natalist policy, one-child policy, migration laws, points-based system. At the end, you should be able to do this: learners are able to explain the causes and consequences of rapid population growth and to evaluate population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10: Factors of Population Growth. The question was: Define a pro-natalist policy.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pro-natalist policy is a government policy that encourages people to have more children.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five things. Number 1: define the demographic explosion. Number 2: explain its causes. Number 3: explain its positive and negative consequences. Number 4: describe pro-natalist and anti-natalist policies with examples. Number 5: describe restrictive and selective migration laws.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Demographic factors include births, deaths and migration. China had a one-child policy. Cameroon grows by about 2.6 % a year.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Ibrahim lives on the edge of Garoua, on the road to Figuil. When he was small, his quarter had a few houses among trees and farms. Today almost all the trees have been cut to build homes, the queue at the well is much longer, and his father complains that the price of firewood has doubled because it comes from further away. Ibrahim asks: "Why is everything so crowded, and what can a government do when the population grows too fast?"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Ibrahim does not understand the causes and consequences of rapid population growth and how it can be managed.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happening to the population of Garoua?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growing very fast: a demographic explosion.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can a government do?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Adopt population policies, such as family planning and education.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save water and wood, and support education and family health programmes in your community.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pressure of rapid growth on resources and the policies used by governments to manage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high fertility and falling mortality.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two causes of the demographic explosion.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Better medicine, sanitation and food supply, while births stay high (any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consequences of rapid growth.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one positive and one negative consequence of rapid growth.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Positive: a large labour force; negative: pressure on water and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charcoal and firewood for sale.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firewood becoming expensive around Garoua?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Trees near the town have been cut, so wood comes from further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population policies.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France have a pro-natalist policy?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Because its birth rate is low and its population is ageing.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family policy poster in China.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negative consequence of the one-child policy.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Too many boys compared with girls, and a rapidly ageing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Demographic explosion and Pro-natalist policy.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Anti-natalist policy.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The causes of the demographic explosion are the following. Copy the point on Scale on the left, then draw the diagram on the right: the billions of people.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Improved medical care on the left, then draw the diagram on the right: vaccination.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On this slide we have Improved sanitation and More food.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On this slide we have High birth rates.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Consequences. The consequences of the demographic explosion are the following. On this slide we have Positive consequences.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Pressure on resources on the left, then draw the diagram on the right: firewood and charcoal.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Consequences. On this slide we have Environmental damage and Unemployment.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Overcrowding on the left, then draw the diagram on the right: consequences of rapid growth.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Pro-Natalist Policies. Pro-natalist policies are presented as follows. Copy the point on Aim on the left, then draw the diagram on the right: population policies.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Pro-Natalist Policies. On this slide we have Example of France.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Pro-Natalist Policies. On this slide we have Other examples.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Anti-Natalist Policies: the Chinese Experience. The Chinese anti-natalist policy is presented as follows. On this slide we have Aim.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The one-child policy on the left, then draw the diagram on the right: a family policy poster.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Anti-Natalist Policies: the Chinese Experience. On this slide we have Incentives and penalties and Results.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Anti-Natalist Policies: the Chinese Experience. Copy this carefully.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Migration Laws. Migration laws are used as follows. On this slide we have Restrictive policies.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Migration Laws. On this slide we have Selective policies and Aim.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causes of the modern demographic explosion.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better medicine and sanitation, more food (Green Revolution), high birth rates in developing countries (any two).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would Japan adopt a pro-natalist policy and Niger an anti-natalist policy?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japan has low births and an ageing population; Niger has very high births and rapid growth.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pro-natalist; number 2, 2015; number 3, points-based.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five stages of the demographic transition model.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12: The Demographic Transition Model.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11: THE MODERN DEMOGRAPHIC EXPLOSION AND POPULATION POLICIES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Modern Demographic Explosion and Population Policies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Change over Time (Population Growth)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Growth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11: The Modern Demographic Explosion and Population Policies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Demographic explosion, Green Revolution, pro-natalist policy, anti-natalist policy, one-child policy, migration laws, points-based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modern demographic explosion: causes and consequences; management of growth: pro-natalist policies, anti-natalist policies (the Chinese experience) and migration laws.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causes and consequences of rapid population growth and to evaluate population policies.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10: Factors of Population Growth):</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 pro-natalist policy.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pro-natalist policy is a government policy that encourages people to have more children.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demographic explosion.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its causes.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its positive and negative consequences.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pro-natalist and anti-natalist policies with examples.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restrictive and selective migration laws.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Demographic factors include births, deaths and migration.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China had a one-child policy.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grows by about 2.6 % a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Ibrahim lives on the edge of Garoua, on the road to Figuil.</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he was small, his quarter had a few houses among trees and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Today almost all the trees have been cut to build homes, the queue at the well is much longer, and his father complains that the price of firewood has doubled because it comes from further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Ibrahim asks: "Why is everything so crowded, and what can a government do when the population grows too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Ibrahim does not understand the causes and consequences of rapid population growth and how it can be managed.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happening to the population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growing very fast: a demographic explosion.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a government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Adopt population policies, such as family planning and education.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Save water and wood, and support education and family health programmes in your community.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pressure of rapid growth on resources and the policies used by governments to manage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growth_facto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High fertility and falling mortality.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the demographic explosion.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Better medicine, sanitation and food supply, while births stay high (any two).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CONSEQUENCES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op2_explosion.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Consequences of rapid growth.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positive and one negative consequence of rapid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Positive: a large labour force; negative: pressure on water and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CONSEQUENCES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charcoa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Charcoal and firewood for sale.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firewood becoming expensive around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near the town have been cut, so wood comes from further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POLICIES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polici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Population policies.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POLICIES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France have a pro-natalist policy?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POLICIES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Because its birth rate is low and its population is ageing.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POLICIES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onechi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family policy poster in China.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POLICIES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negative consequence of the one-child policy.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POLICIES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Too many boys compared with girls, and a rapidly ageing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Population Change over Time (Population Growth)</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Population Growth</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11: The Modern Demographic Explosion and Population Policies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Demographic explosion: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very rapid and unprecedented growth of the world population in the 20th and 21st centuries.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Pro-natalist policy: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policy that encourages people to have more children.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Anti-natalist policy: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policy that discourages large families in order to slow down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Modern Demographic Explosion</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Causes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causes of the demographic explosion are the following:</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Scale: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 world population rose from about 1.6 billion in 1900 to more than 8 billion today.</a:t>
            </a:r>
            <a:endParaRPr lang="en-US" sz="3200" dirty="0"/>
          </a:p>
        </p:txBody>
      </p:sp>
      <p:pic>
        <p:nvPicPr>
          <p:cNvPr id="6" name="Image 0" descr="/home/claude/f4/img/v2/pop2_milestones.png">    </p:cNvPr>
          <p:cNvPicPr>
            <a:picLocks noChangeAspect="1"/>
          </p:cNvPicPr>
          <p:nvPr/>
        </p:nvPicPr>
        <p:blipFill>
          <a:blip r:embed="rId1"/>
          <a:stretch>
            <a:fillRect/>
          </a:stretch>
        </p:blipFill>
        <p:spPr>
          <a:xfrm>
            <a:off x="5349240" y="2461422"/>
            <a:ext cx="6659575" cy="2913564"/>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billions of people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Modern Demographic Explosion</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Causes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Improved medical care: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Vaccines, antibiotics and better surgery reduced deaths from diseases.</a:t>
            </a:r>
            <a:endParaRPr lang="en-US" sz="3600" dirty="0"/>
          </a:p>
        </p:txBody>
      </p:sp>
      <p:pic>
        <p:nvPicPr>
          <p:cNvPr id="6" name="Image 0" descr="/home/claude/f4/img/v2/usa_vaccine.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vaccination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Modern Demographic Explosion</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Causes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Improved sanitation: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Clean water and sewers reduced cholera and typhoid.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More food: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Green Revolution (new seeds, fertilisers, irrigation) fed a much larger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Modern Demographic Explosion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Causes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High birth rates: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developing countries, births remain high because of traditions, limited family planning and the value of children.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Modern Demographic Explosion</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Consequences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consequences of the demographic explosion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Positive consequences: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large labour force for industries and services.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Bigger markets that stimulate the economy.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Modern Demographic Explosion</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Consequences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Pressure on resources: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Water, food, housing and energy run short, as firewood around Garoua.</a:t>
            </a:r>
            <a:endParaRPr lang="en-US" sz="3600" dirty="0"/>
          </a:p>
        </p:txBody>
      </p:sp>
      <p:pic>
        <p:nvPicPr>
          <p:cNvPr id="6" name="Image 0" descr="/home/claude/f4/img/v2/f2t_charcoal.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firewood and charcoal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Modern Demographic Explosion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Consequences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Environmental damage: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Deforestation, pollution and loss of biodiversity increase.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Unemployment: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economy does not create jobs fast enough for all the young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Modern Demographic Explosion</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Consequences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Overcrowding: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Schools, hospitals and public transport are overloaded.</a:t>
            </a:r>
            <a:endParaRPr lang="en-US" sz="3600" dirty="0"/>
          </a:p>
        </p:txBody>
      </p:sp>
      <p:pic>
        <p:nvPicPr>
          <p:cNvPr id="6" name="Image 0" descr="/home/claude/f4/img/v2/pop2_explosion.png">    </p:cNvPr>
          <p:cNvPicPr>
            <a:picLocks noChangeAspect="1"/>
          </p:cNvPicPr>
          <p:nvPr/>
        </p:nvPicPr>
        <p:blipFill>
          <a:blip r:embed="rId1"/>
          <a:stretch>
            <a:fillRect/>
          </a:stretch>
        </p:blipFill>
        <p:spPr>
          <a:xfrm>
            <a:off x="5349240" y="2617506"/>
            <a:ext cx="6659575" cy="2601397"/>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consequences of rapid growth</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Managing Population Growth</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Pro-Natalist Policies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Pro-natalist policies are presented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Aim: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encourage births in countries with low fertility and ageing populations.</a:t>
            </a:r>
            <a:endParaRPr lang="en-US" sz="3600" dirty="0"/>
          </a:p>
        </p:txBody>
      </p:sp>
      <p:pic>
        <p:nvPicPr>
          <p:cNvPr id="6" name="Image 0" descr="/home/claude/f4/img/v2/policies_big.png">    </p:cNvPr>
          <p:cNvPicPr>
            <a:picLocks noChangeAspect="1"/>
          </p:cNvPicPr>
          <p:nvPr/>
        </p:nvPicPr>
        <p:blipFill>
          <a:blip r:embed="rId1"/>
          <a:stretch>
            <a:fillRect/>
          </a:stretch>
        </p:blipFill>
        <p:spPr>
          <a:xfrm>
            <a:off x="5349240" y="2617506"/>
            <a:ext cx="6659575" cy="2601397"/>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population policies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Managing Population Growth</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Pro-Natalist Policies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of France: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offers paid parental leave, cheap childcare and family allowances, which are larger from the third child.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Managing Population Growth</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800" b="1" dirty="0">
                <a:solidFill>
                  <a:srgbClr val="990011"/>
                </a:solidFill>
                <a:latin typeface="Times New Roman" pitchFamily="34" charset="0"/>
                <a:ea typeface="Times New Roman" pitchFamily="34" charset="-122"/>
                <a:cs typeface="Times New Roman" pitchFamily="34" charset="-120"/>
              </a:rPr>
              <a:t>A) Pro-Natalist Policies (continued)</a:t>
            </a:r>
            <a:endParaRPr lang="en-US" sz="28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Other examples: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Russia, Singapore and South Korea give money and other advantages to parents.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Managing Population Growth</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2500" b="1" dirty="0">
                <a:solidFill>
                  <a:srgbClr val="990011"/>
                </a:solidFill>
                <a:latin typeface="Times New Roman" pitchFamily="34" charset="0"/>
                <a:ea typeface="Times New Roman" pitchFamily="34" charset="-122"/>
                <a:cs typeface="Times New Roman" pitchFamily="34" charset="-120"/>
              </a:rPr>
              <a:t>B) Anti-Natalist Policies: the Chinese Experience</a:t>
            </a:r>
            <a:endParaRPr lang="en-US" sz="25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Chinese anti-natalist policy is presented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Anti-natalist policies slow down growth in countries where population grows too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Managing Population Growth</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Anti-Natalist Policies: the Chinese Experience</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The one-child policy: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From about 1980 to 2015, most Chinese couples were allowed only one child.</a:t>
            </a:r>
            <a:endParaRPr lang="en-US" sz="3600" dirty="0"/>
          </a:p>
        </p:txBody>
      </p:sp>
      <p:pic>
        <p:nvPicPr>
          <p:cNvPr id="6" name="Image 0" descr="/home/claude/f4/img/v2/usa_onechild.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family policy poster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Managing Population Growth</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2900" b="1" dirty="0">
                <a:solidFill>
                  <a:srgbClr val="990011"/>
                </a:solidFill>
                <a:latin typeface="Times New Roman" pitchFamily="34" charset="0"/>
                <a:ea typeface="Times New Roman" pitchFamily="34" charset="-122"/>
                <a:cs typeface="Times New Roman" pitchFamily="34" charset="-120"/>
              </a:rPr>
              <a:t>B) Anti-Natalist Policies: the Chinese Experience</a:t>
            </a:r>
            <a:endParaRPr lang="en-US" sz="29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Incentives and penalties: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Obedient families received better housing and free education, while others paid fines and faced social pressure.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Results: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Growth slowed down sharply.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Managing Population Growth</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1600" b="1" dirty="0">
                <a:solidFill>
                  <a:srgbClr val="990011"/>
                </a:solidFill>
                <a:latin typeface="Times New Roman" pitchFamily="34" charset="0"/>
                <a:ea typeface="Times New Roman" pitchFamily="34" charset="-122"/>
                <a:cs typeface="Times New Roman" pitchFamily="34" charset="-120"/>
              </a:rPr>
              <a:t>B) Anti-Natalist Policies: the Chinese Experience (continued)</a:t>
            </a:r>
            <a:endParaRPr lang="en-US" sz="16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Many more boys than girls were born.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population aged rapidly.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China now allows three children per couple.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Managing Population Growth</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Migration Laws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Migration laws are used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Restrictive policies: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countries limit immigration with strict visas, quotas and border controls, as in the USA and many European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Managing Population Growth</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Migration Laws (continued)</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Selective policies: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Canada and Australia attract skilled workers with a points-based system (education, skills, languages).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Migration laws help to fill labour shortages or to protect jobs and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the modern demographic explosion.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Better medicine and sanitation, more food (Green Revolution), high birth rates in developing countries (any two).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would Japan adopt a pro-natalist policy and Niger an anti-natalist policy?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Japan has low births and an ageing population; Niger has very high births and rapid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policy that encourages births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China's one-child policy lasted until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Canada selects immigrants with a ______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five stages of the demographic transition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12: The Demographic Transition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Demographic explosion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L'explosion démographique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Pro-natalist policy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politique nataliste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Anti-natalist policy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politique antinataliste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Family planning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planification familiale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Firewood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bois de chauffe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Quota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quota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Change over Time (Population Growth)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11: The Modern Demographic Explosion and Population Policies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demographic explosion. Explain its causes. Explain its positive and negative consequences. Describe pro-natalist and anti-natalist policies with examples. Describe restrictive and selective migration laws.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causes and consequences of rapid population growth and to evaluate population policies.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Causes; Consequences; Pro-Natalist Policies; Anti-Natalist Policies: the Chinese Experience; Migration Laws.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five stages of the demographic transition model.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the causes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two columns.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the price of firewood.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write the policies in a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explain the policy.</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Population Geography (USA),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United Nations, World Population Prospects 2024.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“Charcoal, made from tree branches” by World Bank Photo Collection, CC BY-NC-ND 2.0, via Flickr (https://www.flickr.com/photos/10816734@N03/25644159775)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“propaganda posters, one child policy” by kattebelletje, CC BY-NC 2.0, via Flickr (https://www.flickr.com/photos/97249369@N00/3349125321)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(Improved medical care): “Isatu gets a vaccination for her 5 week old son” by World Bank Photo Collection, CC BY-NC-ND 2.0, via Flickr (https://www.flickr.com/photos/10816734@N03/26372818523)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67</Slides>
  <Notes>67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67</vt:i4>
      </vt:variant>
    </vt:vector>
  </HeadingPairs>
  <TitlesOfParts>
    <vt:vector size="7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2026-09-28T21:55:14Z</dcterms:created>
  <dcterms:modified xsi:type="dcterms:W3CDTF">2026-09-28T21:55:14Z</dcterms:modified>
</cp:coreProperties>
</file>