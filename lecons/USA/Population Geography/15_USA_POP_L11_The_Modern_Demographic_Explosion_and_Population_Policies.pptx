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Lst>
  <p:notesMasterIdLst>
    <p:notesMasterId r:id="rId7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notesMaster" Target="notesMasters/notesMaster1.xml"/><Relationship Id="rId71" Type="http://schemas.openxmlformats.org/officeDocument/2006/relationships/presProps" Target="presProps.xml"/><Relationship Id="rId72" Type="http://schemas.openxmlformats.org/officeDocument/2006/relationships/viewProps" Target="viewProps.xml"/><Relationship Id="rId73" Type="http://schemas.openxmlformats.org/officeDocument/2006/relationships/theme" Target="theme/theme1.xml"/><Relationship Id="rId7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11: The Modern Demographic Explosion and Population Policies.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4: Understanding and managing population dynamics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Population Change over Time (Population Growth), and the sub-topic is Population Growth. The key notions we shall use today are: demographic explosion, Green Revolution, pro-natalist policy, anti-natalist policy, one-child policy, migration laws, points-based system. At the end, you should be able to do this: learners are able to explain the causes and consequences of rapid population growth and to evaluate population policies.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10: Factors of Population Growth. The question was: Define a pro-natalist policy.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A pro-natalist policy is a government policy that encourages people to have more children.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five things. Number 1: define the demographic explosion. Number 2: explain its causes. Number 3: explain its positive and negative consequences. Number 4: describe pro-natalist and anti-natalist policies with examples. Number 5: describe restrictive and selective migration laws.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Demographic factors include births, deaths and migration. China had a one-child policy. Cameroon grows by about 2.6 % a year.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Ibrahim lives on the edge of Garoua, on the road to Figuil. When he was small, his quarter had a few houses among trees and farms. Today almost all the trees have been cut to build homes, the queue at the well is much longer, and his father complains that the price of firewood has doubled because it comes from further away. Ibrahim asks: "Why is everything so crowded, and what can a government do when the population grows too fast?"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Ibrahim does not understand the causes and consequences of rapid population growth and how it can be managed.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is happening to the population of Garoua?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It is growing very fast: a demographic explosion.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can a government do?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Adopt population policies, such as family planning and education.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save water and wood, and support education and family health programmes in your community.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the pressure of rapid growth on resources and the policies used by governments to manage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high fertility and falling mortality.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Give two causes of the demographic explosion.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Better medicine, sanitation and food supply, while births stay high (any two).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consequences of rapid growth.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Give one positive and one negative consequence of rapid growth.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Positive: a large labour force; negative: pressure on water and land.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charcoal and firewood for sale.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Why is firewood becoming expensive around Garoua?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Trees near the town have been cut, so wood comes from further away.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population policies.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Why does France have a pro-natalist policy?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Because its birth rate is low and its population is ageing.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family policy poster in China.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one negative consequence of the one-child policy.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Too many boys compared with girls, and a rapidly ageing population.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Demographic explosion and Pro-natalist policy.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Anti-natalist policy and Migration law.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Causes. The demographic explosion has the following causes. Copy the point on Improved medical care on the left, then draw the diagram on the right: vaccination.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Causes. Copy the point on Improved sanitation: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Causes. Copy the point on More food: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Causes. Copy the point on High birth rates: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Consequences. The demographic explosion has the following consequences. Copy the point on A large labour force and market: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Pressure on resources on the left, then draw the diagram on the right: charcoal.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Consequences. Copy the point on Environmental damage: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Unemployment and overcrowding on the left, then draw the diagram on the right: the consequences of the explosion.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Pro-Natal Policies. Pro-natal policies are applied as follows. Copy the point on Aim on the left, then draw the diagram on the right: population policies.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Pro-Natal Policies. Copy the point on Example of France: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Pro-Natal Policies. Copy the point on Other examples: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Anti-Natal Policies: the Chinese Experience. The Chinese anti-natal policy was applied as follows. Copy the point on The one-child policy on the left, then draw the diagram on the right: the one-child policy.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Anti-Natal Policies: the Chinese Experience. Copy the point on Incentives and penalties: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Anti-Natal Policies: the Chinese Experience. Copy the point on Positive results: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Anti-Natal Policies: the Chinese Experience. Copy the point on Negative results: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Migration Laws: the US and Canadian Cases. Migration laws are applied in the following ways. Copy the point on Restrictive laws, the United States: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Migration Laws: the US and Canadian Cases. Copy the point on Relaxed and selective laws, Canada: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Migration Laws: the US and Canadian Cases. Copy the point on Aim of migration laws: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two causes of the modern demographic explosion.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better medicine and sanitation, more food (Green Revolution), high birth rates in developing countries (any two).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Why would Japan adopt a pro-natalist policy and Niger an anti-natalist policy?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japan has low births and an ageing population; Niger has very high births and rapid growth.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pro-natalist; number 2, 2015; number 3, points-based.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Name the five stages of the demographic transition model.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12: The Demographic Transition Model.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LESSON 11: THE MODERN DEMOGRAPHIC EXPLOSION AND POPULATION POLICIES</a:t>
            </a:r>
            <a:endParaRPr lang="en-US" sz="12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jp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jp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jp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jp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2.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2.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slideLayout" Target="../slideLayouts/slideLayout2.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slideLayout" Target="../slideLayouts/slideLayout2.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slideLayout" Target="../slideLayouts/slideLayout2.xml"/><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image-63-1.png"/><Relationship Id="rId2" Type="http://schemas.openxmlformats.org/officeDocument/2006/relationships/slideLayout" Target="../slideLayouts/slideLayout2.xml"/><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image" Target="../media/image-67-1.png"/><Relationship Id="rId2" Type="http://schemas.openxmlformats.org/officeDocument/2006/relationships/slideLayout" Target="../slideLayouts/slideLayout2.xml"/><Relationship Id="rId3"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image" Target="../media/image-68-1.png"/><Relationship Id="rId2" Type="http://schemas.openxmlformats.org/officeDocument/2006/relationships/slideLayout" Target="../slideLayouts/slideLayout2.xml"/><Relationship Id="rId3" Type="http://schemas.openxmlformats.org/officeDocument/2006/relationships/notesSlide" Target="../notesSlides/notesSlide6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11</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 Modern Demographic Explosion and Population Policies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4: Understanding and managing population dynamics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Population Change over Time (Population Growth)</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Population Growth</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11: The Modern Demographic Explosion and Population Policies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Demographic explosion, Green Revolution, pro-natalist policy, anti-natalist policy, one-child policy, migration laws, points-based system.</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modern demographic explosion: causes and consequences; management of growth: pro-natalist policies, anti-natalist policies (the Chinese experience) and migration laws.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the causes and consequences of rapid population growth and to evaluate population policies.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10: Factors of Population Growth):</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a pro-natalist policy.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pro-natalist policy is a government policy that encourages people to have more children.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the demographic explosion.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its causes.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its positive and negative consequences.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pro-natalist and anti-natalist policies with examples.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restrictive and selective migration laws.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Demographic factors include births, deaths and migration.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China had a one-child policy.</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Cameroon grows by about 2.6 % a year.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Ibrahim lives on the edge of Garoua, on the road to Figuil.</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When he was small, his quarter had a few houses among trees and farms.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Today almost all the trees have been cut to build homes, the queue at the well is much longer, and his father complains that the price of firewood has doubled because it comes from further away.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Ibrahim asks: "Why is everything so crowded, and what can a government do when the population grows too fast?"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Ibrahim does not understand the causes and consequences of rapid population growth and how it can be managed.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happening to the population of 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growing very fast: a demographic explosion.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can a government do?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Adopt population policies, such as family planning and education.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Save water and wood, and support education and family health programmes in your community.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the pressure of rapid growth on resources and the policies used by governments to manage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CAUSES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growth_factor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High fertility and falling mortality.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CAUSES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causes of the demographic explosion.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CAUSES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Better medicine, sanitation and food supply, while births stay high (any two).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CONSEQUENCES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pop2_explosion.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Consequences of rapid growth.</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CONSEQUENCES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positive and one negative consequence of rapid growth.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CONSEQUENCES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Positive: a large labour force; negative: pressure on water and 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CONSEQUENCES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2t_charcoal.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Charcoal and firewood for sale.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CONSEQUENCES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firewood becoming expensive around 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CONSEQUENCES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Trees near the town have been cut, so wood comes from further away.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POLICIES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polici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Population policies.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POLICIES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France have a pro-natalist policy?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POLICIES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Because its birth rate is low and its population is ageing.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POLICIES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usa_onechild.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family policy poster in China.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POLICIES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negative consequence of the one-child policy.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POLICIES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Too many boys compared with girls, and a rapidly ageing 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Population Change over Time (Population Growth)</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Population Growth</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11: The Modern Demographic Explosion and Population Policies</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Demographic explosion: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very rapid and unprecedented growth of the world population in the 20th and 21st centuries.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Pro-natalist policy: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policy that encourages people to have more children.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Anti-natalist policy: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policy that discourages large families in order to slow down growth.</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Migration law: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law that controls who may enter, live and work in a country.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Modern Demographic Explosion</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Causes</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000" i="1" dirty="0">
                <a:solidFill>
                  <a:srgbClr val="111111"/>
                </a:solidFill>
                <a:latin typeface="Times New Roman" pitchFamily="34" charset="0"/>
                <a:ea typeface="Times New Roman" pitchFamily="34" charset="-122"/>
                <a:cs typeface="Times New Roman" pitchFamily="34" charset="-120"/>
              </a:rPr>
              <a:t>The demographic explosion has the following causes:</a:t>
            </a:r>
            <a:endParaRPr lang="en-US" sz="3000" dirty="0"/>
          </a:p>
          <a:p>
            <a:pPr algn="l" indent="0" marL="0">
              <a:spcAft>
                <a:spcPts val="800"/>
              </a:spcAft>
              <a:buNone/>
            </a:pPr>
            <a:r>
              <a:rPr lang="en-US" sz="3000" b="1" dirty="0">
                <a:solidFill>
                  <a:srgbClr val="111111"/>
                </a:solidFill>
                <a:latin typeface="Times New Roman" pitchFamily="34" charset="0"/>
                <a:ea typeface="Times New Roman" pitchFamily="34" charset="-122"/>
                <a:cs typeface="Times New Roman" pitchFamily="34" charset="-120"/>
              </a:rPr>
              <a:t>Improved medical care: </a:t>
            </a:r>
            <a:pPr algn="l" indent="0" marL="0">
              <a:spcAft>
                <a:spcPts val="800"/>
              </a:spcAft>
              <a:buNone/>
            </a:pPr>
            <a:r>
              <a:rPr lang="en-US" sz="3000" dirty="0">
                <a:solidFill>
                  <a:srgbClr val="111111"/>
                </a:solidFill>
                <a:latin typeface="Times New Roman" pitchFamily="34" charset="0"/>
                <a:ea typeface="Times New Roman" pitchFamily="34" charset="-122"/>
                <a:cs typeface="Times New Roman" pitchFamily="34" charset="-120"/>
              </a:rPr>
              <a:t>Vaccines, antibiotics and better surgery reduced deaths from diseases. As a result, the world population rose from about 1.6 billion in 1900 to more than 8 billion today.</a:t>
            </a:r>
            <a:endParaRPr lang="en-US" sz="3000" dirty="0"/>
          </a:p>
        </p:txBody>
      </p:sp>
      <p:pic>
        <p:nvPicPr>
          <p:cNvPr id="6" name="Image 0" descr="/home/claude/f4/img/v2/usa_vaccine.jpg">    </p:cNvPr>
          <p:cNvPicPr>
            <a:picLocks noChangeAspect="1"/>
          </p:cNvPicPr>
          <p:nvPr/>
        </p:nvPicPr>
        <p:blipFill>
          <a:blip r:embed="rId1"/>
          <a:stretch>
            <a:fillRect/>
          </a:stretch>
        </p:blipFill>
        <p:spPr>
          <a:xfrm>
            <a:off x="6537960" y="2400897"/>
            <a:ext cx="5470855" cy="3034615"/>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vaccination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Modern Demographic Explosion</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Causes</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Improved sanitation: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Clean water and sewers reduced diseases such as cholera and typhoid. Fewer children died, so more reached adulthood and had children.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Modern Demographic Explosion</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Causes</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More food: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Green Revolution, with new seeds, fertilisers and irrigation, greatly increased food production. It fed a much larger population and reduced famines.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Modern Demographic Explosion</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Causes</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High birth rates: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developing countries, births remain high because of traditions, limited family planning and the value of children. The gap between births and deaths creates the explosion.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Modern Demographic Explosion</a:t>
            </a:r>
            <a:endParaRPr lang="en-US" sz="3600" dirty="0"/>
          </a:p>
        </p:txBody>
      </p:sp>
      <p:sp>
        <p:nvSpPr>
          <p:cNvPr id="5" name="Text 2"/>
          <p:cNvSpPr/>
          <p:nvPr/>
        </p:nvSpPr>
        <p:spPr>
          <a:xfrm>
            <a:off x="1691640" y="1737360"/>
            <a:ext cx="101800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Consequences</a:t>
            </a:r>
            <a:endParaRPr lang="en-US" sz="3200" dirty="0"/>
          </a:p>
        </p:txBody>
      </p:sp>
      <p:sp>
        <p:nvSpPr>
          <p:cNvPr id="6" name="Text 3"/>
          <p:cNvSpPr/>
          <p:nvPr/>
        </p:nvSpPr>
        <p:spPr>
          <a:xfrm>
            <a:off x="1691640" y="2240280"/>
            <a:ext cx="1018001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demographic explosion has the following consequences: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 large labour force and market: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growing population provides many workers for industries and services. It also creates bigger markets that stimulate the economy.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Modern Demographic Explosion</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Consequences</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Pressure on resources: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Water, food, housing and energy run short. Around Garoua, for example, the demand for firewood is destroying the savanna.</a:t>
            </a:r>
            <a:endParaRPr lang="en-US" sz="3600" dirty="0"/>
          </a:p>
        </p:txBody>
      </p:sp>
      <p:pic>
        <p:nvPicPr>
          <p:cNvPr id="6" name="Image 0" descr="/home/claude/f4/img/v2/f2t_charcoal.jpg">    </p:cNvPr>
          <p:cNvPicPr>
            <a:picLocks noChangeAspect="1"/>
          </p:cNvPicPr>
          <p:nvPr/>
        </p:nvPicPr>
        <p:blipFill>
          <a:blip r:embed="rId1"/>
          <a:stretch>
            <a:fillRect/>
          </a:stretch>
        </p:blipFill>
        <p:spPr>
          <a:xfrm>
            <a:off x="6537960" y="2400897"/>
            <a:ext cx="5470855" cy="3034615"/>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charcoal</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Modern Demographic Explosion</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Consequences</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Environmental damage: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Forests are cleared for farms and towns, and pollution increases. Many plants and animals lose their habitats.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Modern Demographic Explosion</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Consequences</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Unemployment and overcrowding: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economy does not create jobs fast enough for all the young people. Schools, hospitals and public transport are overloaded.</a:t>
            </a:r>
            <a:endParaRPr lang="en-US" sz="3600" dirty="0"/>
          </a:p>
        </p:txBody>
      </p:sp>
      <p:pic>
        <p:nvPicPr>
          <p:cNvPr id="6" name="Image 0" descr="/home/claude/f4/img/v2/pop2_explosion.png">    </p:cNvPr>
          <p:cNvPicPr>
            <a:picLocks noChangeAspect="1"/>
          </p:cNvPicPr>
          <p:nvPr/>
        </p:nvPicPr>
        <p:blipFill>
          <a:blip r:embed="rId1"/>
          <a:stretch>
            <a:fillRect/>
          </a:stretch>
        </p:blipFill>
        <p:spPr>
          <a:xfrm>
            <a:off x="6537960" y="2849678"/>
            <a:ext cx="5470855" cy="2137053"/>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consequences of the explosion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Managing Population Growth</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Pro-Natal Policies</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Pro-natal policies are applied as follows: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Aim: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They encourage births in countries with low fertility and ageing populations. They try to avoid a decline of the population and a shortage of workers.</a:t>
            </a:r>
            <a:endParaRPr lang="en-US" sz="3200" dirty="0"/>
          </a:p>
        </p:txBody>
      </p:sp>
      <p:pic>
        <p:nvPicPr>
          <p:cNvPr id="6" name="Image 0" descr="/home/claude/f4/img/v2/policies_big.png">    </p:cNvPr>
          <p:cNvPicPr>
            <a:picLocks noChangeAspect="1"/>
          </p:cNvPicPr>
          <p:nvPr/>
        </p:nvPicPr>
        <p:blipFill>
          <a:blip r:embed="rId1"/>
          <a:stretch>
            <a:fillRect/>
          </a:stretch>
        </p:blipFill>
        <p:spPr>
          <a:xfrm>
            <a:off x="6537960" y="2849678"/>
            <a:ext cx="5470855" cy="2137053"/>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population policies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Managing Population Growth</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Pro-Natal Policies</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Example of France: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France offers paid parental leave, cheap childcare and family allowances, which are larger from the third child. It has one of the highest fertility rates in Europe.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Managing Population Growth</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Pro-Natal Policies</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Other examples: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Russia, Singapore and South Korea give money, housing and other advantages to parents. Results are often limited, because the cost of raising children remains high.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Managing Population Growth</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Anti-Natal Policies: the Chinese Experience</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The Chinese anti-natal policy was applied as follows: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The one-child policy: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From about 1980 to 2015, most Chinese couples were allowed only one child. Its aim was to slow down growth so that the economy could develop.</a:t>
            </a:r>
            <a:endParaRPr lang="en-US" sz="3200" dirty="0"/>
          </a:p>
        </p:txBody>
      </p:sp>
      <p:pic>
        <p:nvPicPr>
          <p:cNvPr id="6" name="Image 0" descr="/home/claude/f4/img/v2/usa_onechild.jpg">    </p:cNvPr>
          <p:cNvPicPr>
            <a:picLocks noChangeAspect="1"/>
          </p:cNvPicPr>
          <p:nvPr/>
        </p:nvPicPr>
        <p:blipFill>
          <a:blip r:embed="rId1"/>
          <a:stretch>
            <a:fillRect/>
          </a:stretch>
        </p:blipFill>
        <p:spPr>
          <a:xfrm>
            <a:off x="6537960" y="2400897"/>
            <a:ext cx="5470855" cy="3034615"/>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one-child policy</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Managing Population Growth</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2600" b="1" dirty="0">
                <a:solidFill>
                  <a:srgbClr val="990011"/>
                </a:solidFill>
                <a:latin typeface="Times New Roman" pitchFamily="34" charset="0"/>
                <a:ea typeface="Times New Roman" pitchFamily="34" charset="-122"/>
                <a:cs typeface="Times New Roman" pitchFamily="34" charset="-120"/>
              </a:rPr>
              <a:t>B) Anti-Natal Policies: the Chinese Experience</a:t>
            </a:r>
            <a:endParaRPr lang="en-US" sz="26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Incentives and penalties: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Families who obeyed received better housing, free education and health care for their child. Those who had more children paid heavy fines and faced social pressure.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Managing Population Growth</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2600" b="1" dirty="0">
                <a:solidFill>
                  <a:srgbClr val="990011"/>
                </a:solidFill>
                <a:latin typeface="Times New Roman" pitchFamily="34" charset="0"/>
                <a:ea typeface="Times New Roman" pitchFamily="34" charset="-122"/>
                <a:cs typeface="Times New Roman" pitchFamily="34" charset="-120"/>
              </a:rPr>
              <a:t>B) Anti-Natal Policies: the Chinese Experience</a:t>
            </a:r>
            <a:endParaRPr lang="en-US" sz="26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Positive results: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Growth slowed down sharply, and according to the Chinese government about 400 million births were avoided. This helped China to raise living standards.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Managing Population Growth</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2200" b="1" dirty="0">
                <a:solidFill>
                  <a:srgbClr val="990011"/>
                </a:solidFill>
                <a:latin typeface="Times New Roman" pitchFamily="34" charset="0"/>
                <a:ea typeface="Times New Roman" pitchFamily="34" charset="-122"/>
                <a:cs typeface="Times New Roman" pitchFamily="34" charset="-120"/>
              </a:rPr>
              <a:t>B) Anti-Natal Policies: the Chinese Experience</a:t>
            </a:r>
            <a:endParaRPr lang="en-US" sz="2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Negative results: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Many more boys than girls were born, and the population aged rapidly. China therefore allowed two children in 2016 and three in 2021.</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Managing Population Growth</a:t>
            </a:r>
            <a:endParaRPr lang="en-US" sz="3600" dirty="0"/>
          </a:p>
        </p:txBody>
      </p:sp>
      <p:sp>
        <p:nvSpPr>
          <p:cNvPr id="5" name="Text 2"/>
          <p:cNvSpPr/>
          <p:nvPr/>
        </p:nvSpPr>
        <p:spPr>
          <a:xfrm>
            <a:off x="1691640" y="1737360"/>
            <a:ext cx="101800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C) Migration Laws: the US and Canadian Cases</a:t>
            </a:r>
            <a:endParaRPr lang="en-US" sz="3200" dirty="0"/>
          </a:p>
        </p:txBody>
      </p:sp>
      <p:sp>
        <p:nvSpPr>
          <p:cNvPr id="6" name="Text 3"/>
          <p:cNvSpPr/>
          <p:nvPr/>
        </p:nvSpPr>
        <p:spPr>
          <a:xfrm>
            <a:off x="1691640" y="2240280"/>
            <a:ext cx="10180015" cy="420624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Migration laws are applied in the following ways: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Restrictive laws, the United States: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USA limits immigration with strict visas, quotas by country and strong border controls. Most legal immigrants enter through family links or employers, and a lottery offers some green cards.</a:t>
            </a:r>
            <a:endParaRPr lang="en-US" sz="3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Managing Population Growth</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C) Migration Laws: the US and Canadian Cases</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Relaxed and selective laws, Canada: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Canada welcomes many immigrants, about 1 % of its population each year, to fill labour shortages. A points-based system selects them by education, skills, age and languages.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Managing Population Growth</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2700" b="1" dirty="0">
                <a:solidFill>
                  <a:srgbClr val="990011"/>
                </a:solidFill>
                <a:latin typeface="Times New Roman" pitchFamily="34" charset="0"/>
                <a:ea typeface="Times New Roman" pitchFamily="34" charset="-122"/>
                <a:cs typeface="Times New Roman" pitchFamily="34" charset="-120"/>
              </a:rPr>
              <a:t>C) Migration Laws: the US and Canadian Cases</a:t>
            </a:r>
            <a:endParaRPr lang="en-US" sz="27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Aim of migration laws: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Relaxed laws help to fill labour shortages and slow the ageing of the population. Restrictive laws aim to protect jobs, services and security.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causes of the modern demographic explosion.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Better medicine and sanitation, more food (Green Revolution), high birth rates in developing countries (any two).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would Japan adopt a pro-natalist policy and Niger an anti-natalist policy?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Japan has low births and an ageing population; Niger has very high births and rapid growth.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policy that encourages births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China's one-child policy lasted until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Canada selects immigrants with a ______ system.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five stages of the demographic transition model.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12: The Demographic Transition Model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65"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Demographic explosion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L'explosion démographique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Pro-natalist policy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politique nataliste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Anti-natalist policy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politique antinataliste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Family planning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planification familiale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Firewood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bois de chauffe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Quota</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quota</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64</a:t>
            </a:fld>
            <a:endParaRPr 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66"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Population Change over Time (Population Growth)</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11: The Modern Demographic Explosion and Population Policies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the demographic explosion. Explain its causes. Explain its positive and negative consequences. Describe pro-natalist and anti-natalist policies with examples. Describe restrictive and selective migration laws.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the causes and consequences of rapid population growth and to evaluate population policies.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65</a:t>
            </a:fld>
            <a:endParaRPr lang="en-US"/>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67"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Causes; Consequences; Pro-Natal Policies; Anti-Natal Policies: the Chinese Experience; Migration Laws: the US and Canadian Cases.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Name the five stages of the demographic transition model.</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66</a:t>
            </a:fld>
            <a:endParaRPr lang="en-US"/>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list the causes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draw the two columns.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discuss the price of firewood.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write the policies in a table.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explain the policy.</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67</a:t>
            </a:fld>
            <a:endParaRPr lang="en-US"/>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 Sixth Forms (Lower and Upper Sixth), MINESEC, 2019 — Module 4 (Population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course notes: Mr KAMDEM E., Population Geography (USA), GBHS Garoua, 2026.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United Nations, World Population Prospects 2024.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“Charcoal, made from tree branches” by World Bank Photo Collection, CC BY-NC-ND 2.0, via Flickr (https://www.flickr.com/photos/10816734@N03/25644159775)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“propaganda posters, one child policy” by kattebelletje, CC BY-NC 2.0, via Flickr (https://www.flickr.com/photos/97249369@N00/3349125321)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(Improved medical care): “Isatu gets a vaccination for her 5 week old son” by World Bank Photo Collection, CC BY-NC-ND 2.0, via Flickr (https://www.flickr.com/photos/10816734@N03/26372818523)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68</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68</Slides>
  <Notes>68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68</vt:i4>
      </vt:variant>
    </vt:vector>
  </HeadingPairs>
  <TitlesOfParts>
    <vt:vector size="7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2026-09-29T12:18:47Z</dcterms:created>
  <dcterms:modified xsi:type="dcterms:W3CDTF">2026-09-29T12:18:47Z</dcterms:modified>
</cp:coreProperties>
</file>