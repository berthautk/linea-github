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slideMasters/slideMaster45.xml" ContentType="application/vnd.openxmlformats-officedocument.presentationml.slideMaster+xml"/>
  <Override PartName="/ppt/slides/slide4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</p:sldIdLst>
  <p:notesMasterIdLst>
    <p:notesMasterId r:id="rId4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notesMaster" Target="notesMasters/notesMaster1.xml"/><Relationship Id="rId48" Type="http://schemas.openxmlformats.org/officeDocument/2006/relationships/presProps" Target="presProps.xml"/><Relationship Id="rId49" Type="http://schemas.openxmlformats.org/officeDocument/2006/relationships/viewProps" Target="viewProps.xml"/><Relationship Id="rId50" Type="http://schemas.openxmlformats.org/officeDocument/2006/relationships/theme" Target="theme/theme1.xml"/><Relationship Id="rId5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_rels/notesSlide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Good morning, class. Today we study Lesson 3: Spatial Population Distribution and its Factors.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Read the situation slowly, twice.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Without the projector: find them on an atlas.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Without the projector: list harsh environments.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Without the projector: mention the Nile and the Ganges.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Without the projector: list jobs in towns.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Without the projector: compare Bamenda and the southern forest.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Learners copy the board summary now. Give them enough time for each slide.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Answers: 1. ecumene 2. East 3. 500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homework prepares the next lesson.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Say the English word; learners give the French word, then the reverse.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6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9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0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1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3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4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201168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6656832"/>
            <a:ext cx="12191695" cy="201168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pic>
        <p:nvPicPr>
          <p:cNvPr id="4" name="Image 0" descr="/home/claude/pw1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09590" y="457200"/>
            <a:ext cx="1371600" cy="137160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731520" y="1965960"/>
            <a:ext cx="1072591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1C3F6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DIVINE GRACE COLLEGE OF ARTS, SCIENCE AND TECHNOLOGY</a:t>
            </a:r>
            <a:endParaRPr lang="en-US" sz="2000" dirty="0"/>
          </a:p>
        </p:txBody>
      </p:sp>
      <p:sp>
        <p:nvSpPr>
          <p:cNvPr id="6" name="Text 3"/>
          <p:cNvSpPr txBox="1"/>
          <p:nvPr/>
        </p:nvSpPr>
        <p:spPr>
          <a:xfrm>
            <a:off x="914400" y="2606040"/>
            <a:ext cx="1036015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(DGCAST) — GAROUA   |   GEOGRAPHY DEPARTMENT</a:t>
            </a:r>
            <a:endParaRPr lang="en-US" sz="1500" dirty="0"/>
          </a:p>
        </p:txBody>
      </p:sp>
      <p:sp>
        <p:nvSpPr>
          <p:cNvPr id="7" name="Text 4"/>
          <p:cNvSpPr txBox="1"/>
          <p:nvPr/>
        </p:nvSpPr>
        <p:spPr>
          <a:xfrm>
            <a:off x="914400" y="3200400"/>
            <a:ext cx="103601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UPPER SIXTH ARTS  —  POPULATION GEOGRAPHY  —  LESSON 3</a:t>
            </a:r>
            <a:endParaRPr lang="en-US" sz="3400" dirty="0"/>
          </a:p>
        </p:txBody>
      </p:sp>
      <p:sp>
        <p:nvSpPr>
          <p:cNvPr id="8" name="Text 5"/>
          <p:cNvSpPr txBox="1"/>
          <p:nvPr/>
        </p:nvSpPr>
        <p:spPr>
          <a:xfrm>
            <a:off x="914400" y="3931920"/>
            <a:ext cx="103601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B886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Spatial Population Distribution and its Factors</a:t>
            </a:r>
            <a:endParaRPr lang="en-US" sz="2100" dirty="0"/>
          </a:p>
        </p:txBody>
      </p:sp>
      <p:sp>
        <p:nvSpPr>
          <p:cNvPr id="9" name="Text 6"/>
          <p:cNvSpPr txBox="1"/>
          <p:nvPr/>
        </p:nvSpPr>
        <p:spPr>
          <a:xfrm>
            <a:off x="914400" y="5394960"/>
            <a:ext cx="1036015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EMMANUEL</a:t>
            </a:r>
            <a:endParaRPr lang="en-US" sz="1600" dirty="0"/>
          </a:p>
          <a:p>
            <a:pPr algn="ctr" indent="0" marL="0">
              <a:buNone/>
            </a:pPr>
            <a:r>
              <a:rPr lang="en-US" sz="16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Teacher — PLEG</a:t>
            </a:r>
            <a:endParaRPr lang="en-US" sz="1600" dirty="0"/>
          </a:p>
          <a:p>
            <a:pPr algn="ctr" indent="0" marL="0">
              <a:buNone/>
            </a:pPr>
            <a:r>
              <a:rPr lang="en-US" sz="16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Academic Year 2026 / 2027</a:t>
            </a:r>
            <a:endParaRPr lang="en-US" sz="16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CLASS INFO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Class, Chapter &amp; Duration</a:t>
            </a:r>
            <a:endParaRPr lang="en-US" sz="3000" dirty="0"/>
          </a:p>
        </p:txBody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783080"/>
          <a:ext cx="11274552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8897112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Class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Upper Sixth Arts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Chapter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Module 4: Understanding and managing population dynamics across the world in general and Cameroon in particular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Duration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 periods (2 × 50 minutes)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IDENTIFICATION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Lesson Identification</a:t>
            </a:r>
            <a:endParaRPr lang="en-US" sz="30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783080"/>
          <a:ext cx="11274552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8897112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Topic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Population Numbers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Sub-topic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Population Density and Distribution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Lesson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Lesson 3: Spatial Population Distribution and its Factors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Notions / Concepts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Ecumene, anecumene, habitable space, densely populated, sparsely populated, physical factors, human factors.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Syllabus focus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Variations at different scales; habitable and uninhabitable space; dense and sparse regions; physical, economic, social, historical and political factors.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Competence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Learners are able to describe world population distribution and explain its factors.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OBJECTIVES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4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Learning Objectives</a:t>
            </a:r>
            <a:endParaRPr lang="en-US" sz="30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2200" b="1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By the end of the lesson, the learner should be able to:</a:t>
            </a:r>
            <a:endParaRPr lang="en-US" sz="2200" dirty="0"/>
          </a:p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22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Describe the dense and sparse regions of the world.</a:t>
            </a:r>
            <a:endParaRPr lang="en-US" sz="2200" dirty="0"/>
          </a:p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22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Explain the physical factors of distribution.</a:t>
            </a:r>
            <a:endParaRPr lang="en-US" sz="2200" dirty="0"/>
          </a:p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22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Explain the human factors of distribution.</a:t>
            </a:r>
            <a:endParaRPr lang="en-US" sz="2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RECALL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5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Recall</a:t>
            </a:r>
            <a:endParaRPr lang="en-US" sz="30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Char char="•"/>
            </a:pPr>
            <a:r>
              <a:rPr lang="en-US" sz="24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Density is people per km².</a:t>
            </a:r>
            <a:endParaRPr lang="en-US" sz="2400" dirty="0"/>
          </a:p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Char char="•"/>
            </a:pPr>
            <a:r>
              <a:rPr lang="en-US" sz="24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Climate and relief vary across the world.</a:t>
            </a:r>
            <a:endParaRPr lang="en-US" sz="24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REAL-LIFE SITUATION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6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Real-Life Situation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Most of Egypt's 110 million people live on less than 5 % of its land, along the Nile. In Cameroon, the cool Western Highlands are more crowded than the hot, wet southern forest.</a:t>
            </a:r>
            <a:endParaRPr lang="en-US" sz="4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REAL-LIFE SITUATION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7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Situation — Question 1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What is the problem in the situation?</a:t>
            </a:r>
            <a:endParaRPr lang="en-US" sz="4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REAL-LIFE SITUATION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8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People crowd into some places and avoid others.</a:t>
            </a:r>
            <a:endParaRPr lang="en-US" sz="4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REAL-LIFE SITUATION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9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Situation — Question 2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Why do Egyptians live along the Nile?</a:t>
            </a:r>
            <a:endParaRPr lang="en-US" sz="4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REAL-LIFE SITUATION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10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It gives water and fertile soil in a desert.</a:t>
            </a:r>
            <a:endParaRPr lang="en-US" sz="4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REAL-LIFE SITUATION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11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Situation — Question 3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Why are the Western Highlands crowded?</a:t>
            </a:r>
            <a:endParaRPr lang="en-US" sz="4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REAL-LIFE SITUATION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12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Possible 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Cool climate, fertile volcanic soils and fewer diseases.</a:t>
            </a:r>
            <a:endParaRPr lang="en-US" sz="40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JUSTIFICATION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13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Justification of the Lesson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This lesson helps us to explain why people live where they do.</a:t>
            </a:r>
            <a:endParaRPr lang="en-US" sz="40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I. WORLD PATTERN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14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1</a:t>
            </a:r>
            <a:endParaRPr lang="en-US" sz="3600" dirty="0"/>
          </a:p>
        </p:txBody>
      </p:sp>
      <p:pic>
        <p:nvPicPr>
          <p:cNvPr id="13" name="Image 0" descr="/home/claude/f4/img/v2/world_density_bi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568196" y="1691640"/>
            <a:ext cx="9052560" cy="4526280"/>
          </a:xfrm>
          <a:prstGeom prst="rect">
            <a:avLst/>
          </a:prstGeom>
        </p:spPr>
      </p:pic>
      <p:sp>
        <p:nvSpPr>
          <p:cNvPr id="14" name="Text 11"/>
          <p:cNvSpPr txBox="1"/>
          <p:nvPr/>
        </p:nvSpPr>
        <p:spPr>
          <a:xfrm>
            <a:off x="457200" y="6245352"/>
            <a:ext cx="112745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555555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Dense and sparse areas of the world.</a:t>
            </a:r>
            <a:endParaRPr lang="en-US" sz="14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I. WORLD PATTERN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15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1: Question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Name three densely populated regions of the world.</a:t>
            </a:r>
            <a:endParaRPr lang="en-US" sz="40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I. WORLD PATTERN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16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East Asia, South Asia and Europe (also NE USA, West Africa, Nile valley).</a:t>
            </a:r>
            <a:endParaRPr lang="en-US" sz="40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II. PHYSICAL FACTORS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17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2</a:t>
            </a:r>
            <a:endParaRPr lang="en-US" sz="3600" dirty="0"/>
          </a:p>
        </p:txBody>
      </p:sp>
      <p:pic>
        <p:nvPicPr>
          <p:cNvPr id="13" name="Image 0" descr="/home/claude/f4/img/v2/lsa_tundra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018433" y="1691640"/>
            <a:ext cx="8152085" cy="4526280"/>
          </a:xfrm>
          <a:prstGeom prst="rect">
            <a:avLst/>
          </a:prstGeom>
        </p:spPr>
      </p:pic>
      <p:sp>
        <p:nvSpPr>
          <p:cNvPr id="14" name="Text 11"/>
          <p:cNvSpPr txBox="1"/>
          <p:nvPr/>
        </p:nvSpPr>
        <p:spPr>
          <a:xfrm>
            <a:off x="457200" y="6245352"/>
            <a:ext cx="112745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555555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The cold, empty tundra.</a:t>
            </a:r>
            <a:endParaRPr lang="en-US" sz="14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II. PHYSICAL FACTORS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18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2: Question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Why are cold regions sparsely populated?</a:t>
            </a:r>
            <a:endParaRPr lang="en-US" sz="40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II. PHYSICAL FACTORS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19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Long winters, frozen soils and short growing seasons.</a:t>
            </a:r>
            <a:endParaRPr lang="en-US" sz="40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II. PHYSICAL FACTORS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20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3</a:t>
            </a:r>
            <a:endParaRPr lang="en-US" sz="3600" dirty="0"/>
          </a:p>
        </p:txBody>
      </p:sp>
      <p:pic>
        <p:nvPicPr>
          <p:cNvPr id="13" name="Image 0" descr="/home/claude/f4/img/v2/f4_ricefield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014449" y="1691640"/>
            <a:ext cx="8160054" cy="4526280"/>
          </a:xfrm>
          <a:prstGeom prst="rect">
            <a:avLst/>
          </a:prstGeom>
        </p:spPr>
      </p:pic>
      <p:sp>
        <p:nvSpPr>
          <p:cNvPr id="14" name="Text 11"/>
          <p:cNvSpPr txBox="1"/>
          <p:nvPr/>
        </p:nvSpPr>
        <p:spPr>
          <a:xfrm>
            <a:off x="457200" y="6245352"/>
            <a:ext cx="112745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555555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Rice fields on a fertile plain.</a:t>
            </a:r>
            <a:endParaRPr lang="en-US" sz="14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II. PHYSICAL FACTORS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21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3: Question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Why are river plains and deltas often crowded?</a:t>
            </a:r>
            <a:endParaRPr lang="en-US" sz="40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II. PHYSICAL FACTORS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22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Flat land, fertile soils and water for farming.</a:t>
            </a:r>
            <a:endParaRPr lang="en-US" sz="40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III. HUMAN FACTORS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23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4</a:t>
            </a:r>
            <a:endParaRPr lang="en-US" sz="3600" dirty="0"/>
          </a:p>
        </p:txBody>
      </p:sp>
      <p:pic>
        <p:nvPicPr>
          <p:cNvPr id="13" name="Image 0" descr="/home/claude/f4/img/v2/lsa_douala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014449" y="1691640"/>
            <a:ext cx="8160054" cy="4526280"/>
          </a:xfrm>
          <a:prstGeom prst="rect">
            <a:avLst/>
          </a:prstGeom>
        </p:spPr>
      </p:pic>
      <p:sp>
        <p:nvSpPr>
          <p:cNvPr id="14" name="Text 11"/>
          <p:cNvSpPr txBox="1"/>
          <p:nvPr/>
        </p:nvSpPr>
        <p:spPr>
          <a:xfrm>
            <a:off x="457200" y="6245352"/>
            <a:ext cx="112745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555555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Douala, a port and industrial city.</a:t>
            </a:r>
            <a:endParaRPr lang="en-US" sz="14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III. HUMAN FACTORS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24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4: Question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Give two economic reasons why people crowd into Douala.</a:t>
            </a:r>
            <a:endParaRPr lang="en-US" sz="40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III. HUMAN FACTORS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25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Jobs in the port and factories, and trade.</a:t>
            </a:r>
            <a:endParaRPr lang="en-US" sz="40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III. HUMAN FACTORS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26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5</a:t>
            </a:r>
            <a:endParaRPr lang="en-US" sz="3600" dirty="0"/>
          </a:p>
        </p:txBody>
      </p:sp>
      <p:pic>
        <p:nvPicPr>
          <p:cNvPr id="13" name="Image 0" descr="/home/claude/f4/img/v2/f2t_tea_highlands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55994" y="1691640"/>
            <a:ext cx="10276964" cy="4526280"/>
          </a:xfrm>
          <a:prstGeom prst="rect">
            <a:avLst/>
          </a:prstGeom>
        </p:spPr>
      </p:pic>
      <p:sp>
        <p:nvSpPr>
          <p:cNvPr id="14" name="Text 11"/>
          <p:cNvSpPr txBox="1"/>
          <p:nvPr/>
        </p:nvSpPr>
        <p:spPr>
          <a:xfrm>
            <a:off x="457200" y="6245352"/>
            <a:ext cx="112745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555555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Farms on cool, fertile highlands.</a:t>
            </a:r>
            <a:endParaRPr lang="en-US" sz="14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III. HUMAN FACTORS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27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5: Question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Why is relief not always a barrier to settlement in the tropics?</a:t>
            </a:r>
            <a:endParaRPr lang="en-US" sz="40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III. HUMAN FACTORS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28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Highlands are cooler, healthier and fertile, so they attract people.</a:t>
            </a:r>
            <a:endParaRPr lang="en-US" sz="40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 SUMMARY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29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Spatial Population Distribution and its Factors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3200" b="1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Topic: Population Numbers</a:t>
            </a:r>
            <a:endParaRPr lang="en-US" sz="3200" dirty="0"/>
          </a:p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3200" b="1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Sub-topic: Population Density and Distribution</a:t>
            </a:r>
            <a:endParaRPr lang="en-US" sz="3200" dirty="0"/>
          </a:p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32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Lesson 3: Spatial Population Distribution and its Factors</a:t>
            </a:r>
            <a:endParaRPr lang="en-US" sz="32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 SUMMARY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30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I. Definitions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Ecumene: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It is the part of the Earth that is permanently inhabited.</a:t>
            </a:r>
            <a:endParaRPr lang="en-US" sz="40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Anecumene: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It is the part of the Earth that is uninhabited or almost empty.</a:t>
            </a:r>
            <a:endParaRPr lang="en-US" sz="40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Densely populated area: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It is an area with many people per km².</a:t>
            </a:r>
            <a:endParaRPr lang="en-US" sz="40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 SUMMARY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31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II. Distribution at Different Scales (1/2)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A. World: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About 90 % of people live in the northern hemisphere and most live below 500 m. East Asia, South Asia and Europe are the most crowded.</a:t>
            </a:r>
            <a:endParaRPr lang="en-US" sz="40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B. Sparse regions: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Deserts, polar lands, high mountains and dense forests have few people. They form the anecumene.</a:t>
            </a:r>
            <a:endParaRPr lang="en-US" sz="40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 SUMMARY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32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II. Distribution at Different Scales (2/2)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C. Cameroon: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The West, North-West, Littoral and Far North plains are dense. The East and South are sparse.</a:t>
            </a:r>
            <a:endParaRPr lang="en-US" sz="40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 SUMMARY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33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III. Factors of Distribution (1/2)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A. Physical factors: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Climate, relief, soils, water and vegetation attract or repel people. In the tropics, cool highlands can be more crowded than hot lowlands.</a:t>
            </a:r>
            <a:endParaRPr lang="en-US" sz="40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B. Economic factors: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Jobs in mining, industry, trade and ports attract people. Good transport links increase density.</a:t>
            </a:r>
            <a:endParaRPr lang="en-US" sz="40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 SUMMARY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34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III. Factors of Distribution (2/2)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C. Social, historical and political factors: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Past slave raids and wars emptied some areas. Government policies, like new towns or resettlement, move people.</a:t>
            </a:r>
            <a:endParaRPr lang="en-US" sz="40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FORMATIVE EVALUATION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35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Formative Evaluation 1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Name two dense and two sparse regions of the world.</a:t>
            </a:r>
            <a:endParaRPr lang="en-US" sz="40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FORMATIVE EVALUATION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36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Expected 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Dense: East Asia, Europe. Sparse: Sahara, Siberia.</a:t>
            </a:r>
            <a:endParaRPr lang="en-US" sz="40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FORMATIVE EVALUATION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37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Formative Evaluation 2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Why can highlands be crowded in the tropics?</a:t>
            </a:r>
            <a:endParaRPr lang="en-US" sz="4000" dirty="0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FORMATIVE EVALUATION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38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Expected 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They are cooler, healthier and often fertile.</a:t>
            </a:r>
            <a:endParaRPr lang="en-US" sz="4000" dirty="0"/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REMEDIATION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39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Remediation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3600" b="1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Fill in the blanks:</a:t>
            </a:r>
            <a:endParaRPr lang="en-US" sz="3600" dirty="0"/>
          </a:p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36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The inhabited part of the Earth is the ______.</a:t>
            </a:r>
            <a:endParaRPr lang="en-US" sz="3600" dirty="0"/>
          </a:p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36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The least dense region of Cameroon is the ______.</a:t>
            </a:r>
            <a:endParaRPr lang="en-US" sz="3600" dirty="0"/>
          </a:p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36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Most people live below ______ m.</a:t>
            </a:r>
            <a:endParaRPr lang="en-US" sz="3600" dirty="0"/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HOMEWORK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40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Homework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Explain why the Far North plains are crowded while the East Region is sparse.</a:t>
            </a:r>
            <a:endParaRPr lang="en-US" sz="4000" dirty="0"/>
          </a:p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This prepares Practical Work 2: Population and Altitude.</a:t>
            </a:r>
            <a:endParaRPr lang="en-US" sz="4000" dirty="0"/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BILINGUAL GAME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41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Bilingual Game (Jeu Bilingue)</a:t>
            </a:r>
            <a:endParaRPr lang="en-US" sz="3000" dirty="0"/>
          </a:p>
        </p:txBody>
      </p:sp>
      <p:graphicFrame>
        <p:nvGraphicFramePr>
          <p:cNvPr id="4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011680" y="1783080"/>
          <a:ext cx="8138160" cy="914400"/>
        </p:xfrm>
        <a:graphic>
          <a:graphicData uri="http://schemas.openxmlformats.org/drawingml/2006/table">
            <a:tbl>
              <a:tblPr/>
              <a:tblGrid>
                <a:gridCol w="4069080"/>
                <a:gridCol w="4069080"/>
              </a:tblGrid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English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9001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Français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90011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Inhabited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Habité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Empty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Vide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Factor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 facteur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Delta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 delta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Highlands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Les hautes terres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Port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 port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LOGBOOK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42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Official Logbook (1/2)</a:t>
            </a:r>
            <a:endParaRPr lang="en-US" sz="3000" dirty="0"/>
          </a:p>
        </p:txBody>
      </p:sp>
      <p:graphicFrame>
        <p:nvGraphicFramePr>
          <p:cNvPr id="4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783080"/>
          <a:ext cx="11274552" cy="914400"/>
        </p:xfrm>
        <a:graphic>
          <a:graphicData uri="http://schemas.openxmlformats.org/drawingml/2006/table">
            <a:tbl>
              <a:tblPr/>
              <a:tblGrid>
                <a:gridCol w="2926080"/>
                <a:gridCol w="8348472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Module / Topic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Population Numbers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Lesson Title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Lesson 3: Spatial Population Distribution and its Factors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Expected Learning Outcomes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Describe the dense and sparse regions of the world. Explain the physical factors of distribution. Explain the human factors of distribution.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Competence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Learners are able to describe world population distribution and explain its factors.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LOGBOOK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43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Official Logbook (2/2)</a:t>
            </a:r>
            <a:endParaRPr lang="en-US" sz="3000" dirty="0"/>
          </a:p>
        </p:txBody>
      </p:sp>
      <p:graphicFrame>
        <p:nvGraphicFramePr>
          <p:cNvPr id="4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783080"/>
          <a:ext cx="11274552" cy="914400"/>
        </p:xfrm>
        <a:graphic>
          <a:graphicData uri="http://schemas.openxmlformats.org/drawingml/2006/table">
            <a:tbl>
              <a:tblPr/>
              <a:tblGrid>
                <a:gridCol w="2926080"/>
                <a:gridCol w="8348472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Matter Taught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I. Definitions: Ecumene, Anecumene, Densely populated area; II. Distribution at Different Scales: World, Sparse regions, Cameroon; III. Factors of Distribution: Physical factors, Economic factors, Social, historical and political factors.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Evaluation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Formative evaluation (3 questions) and remediation exercise.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Homework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Explain why the Far North plains are crowded while the East Region is sparse.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Enrolment / Present / Absent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____ / ____ / ____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Achievement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 be completed by the teacher after the lesson.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TEACHER'S NOTE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44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Teacher's Note</a:t>
            </a:r>
            <a:endParaRPr lang="en-US" sz="30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20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Timing: Set-up, recall 8 min | Situation 8 min | 5 activities 30 min | Board summary (copying) 30 min | Evaluation, remediation 10 min | Homework, logbook 9 min | Spare 5 min</a:t>
            </a:r>
            <a:endParaRPr lang="en-US" sz="2000" dirty="0"/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REFERENCES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45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References</a:t>
            </a:r>
            <a:endParaRPr lang="en-US" sz="30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18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National Geography Syllabus, Sixth Forms (Lower &amp; Upper Sixth), MINESEC/IGE/IP-SS, August 2019 — Module 4 (Population Geography).</a:t>
            </a:r>
            <a:endParaRPr lang="en-US" sz="1800" dirty="0"/>
          </a:p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18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Photo, Activity 2: “Fall Tundra Landscape” by Andrea Pokrzywinski, CC BY 2.0, via Flickr (https://www.flickr.com/photos/65781065@N00/2891717078)</a:t>
            </a:r>
            <a:endParaRPr lang="en-US" sz="1800" dirty="0"/>
          </a:p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18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Photo, Activity 3: “A woman harvesting rice, Barotse floodplain, Zambia. Photo by Georgina” by WorldFish, CC BY-NC-ND 2.0, via Flickr (https://www.flickr.com/photos/61545321@N06/7848727138)</a:t>
            </a:r>
            <a:endParaRPr lang="en-US" sz="1800" dirty="0"/>
          </a:p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18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Photo, Activity 4: “Douala” by christing-O-, CC BY 2.0, via Flickr (https://www.flickr.com/photos/76187282@N00/7227535754)</a:t>
            </a:r>
            <a:endParaRPr lang="en-US" sz="1800" dirty="0"/>
          </a:p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18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Photo, Activity 5: “Carlo in the tea” by luigig, CC BY 2.0, via Flickr (https://www.flickr.com/photos/51035803402@N01/3175986747)</a:t>
            </a:r>
            <a:endParaRPr lang="en-US" sz="1800" dirty="0"/>
          </a:p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18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Diagrams and animations: drawn for this lesson (DGCAST Geography Department).</a:t>
            </a:r>
            <a:endParaRPr lang="en-US" sz="1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45</Slides>
  <Notes>45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45</vt:i4>
      </vt:variant>
    </vt:vector>
  </HeadingPairs>
  <TitlesOfParts>
    <vt:vector size="4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2026-09-26T18:49:33Z</dcterms:created>
  <dcterms:modified xsi:type="dcterms:W3CDTF">2026-09-26T18:49:33Z</dcterms:modified>
</cp:coreProperties>
</file>