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Modifications of Population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differential growth, replacement level, ageing, urbanisation, internal migration, international migration, push factor, pull factor, brain drain, remittances. At the end, you should be able to do this: learners are able to explain how different growth rates and migration change the distribution of population and to propose solutions to the problems caused.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Population Distribution and Altitude. The question was: Name one push factor of rural-urban migration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Lack of jobs, poor roads and services, poor harvests or insecurity in rural areas (any 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explain the effects of high population growth on distribution. Number 2: explain the effects of low or declining growth. Number 3: describe regional differences in growth within a country. Number 4: explain how internal and international migration redistribute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are attracted by jobs and services. War pushes people out of an area. Density is very uneven in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village of Mayo-Oulo, many young men have left for Garoua, Douala and Yaoundé; only old people and children remain to cultivate the fields. At the same time, new neighbourhoods and informal settlements spread around Garoua, and some young people even try to reach Europe. The village chief asks: "How do population growth and migration change where people live, and what are the consequences?"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chief does not understand how growth and migration change the distribution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young men leave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look for jobs, schools and better living conditions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grows fast, with new neighbourhoods and informal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rural development (roads, schools, water) to reduce excessive rural exodus.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towns grow and villages empty, and to plan for these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growth rates by continent.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continent has the highest growth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Africa (about 2.4 %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high growth and low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problem of a country with very low growth, like Japan.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shortage of workers or high spending on pensions.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push and pull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pull factor of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schools, hospitals, water or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informal settlement.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effect of rural exodus on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Slums, unemployment, traffic jams and pressure on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migrants at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brain drain?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emigration of skilled and educated people to richer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Differential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Replacement level, Push factor and Pull factor.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Brain drain.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High Growth Rates. High growth rates change the distribution of population in the following ways. Copy the point on A growing share of the world population on the left, then draw the diagram on the right: growth rates.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Urban overcrowding on the left, then draw the diagram on the right: a slum.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High Growth Rates. Copy the point on Pressure on resources: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High Growth Rates. Copy the point on Damage to the environment: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Low or Declining Growth Rates. Low or declining growth rates have the following effects. Copy the point on A falling share of the world population on the left, then draw the diagram on the right: effects of growth rates.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Low or Declining Growth Rates. Copy the point on A shrinking workforce: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Low or Declining Growth Rates. Copy the point on Heavy old-age dependency: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Low or Declining Growth Rates. Copy the point on Empty villages: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Regional Differences within Countries. Growth differs between regions of the same country as follows. Copy the point on Rural decline: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Urban growth on the left, then draw the diagram on the right: douala.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Internal Migration. Internal migration redistributes population as follows. Copy the point on Rural exodus on the left, then draw the diagram on the right: push and pull factors.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Push factors in villages on the left, then draw the diagram on the right: a moto-taxi.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Internal Migration. Copy the point on Pull factors in towns: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of Cameroon on the left, then draw the diagram on the right: migrations in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Internal Migration. Internal migration has the following consequences on distribution. Copy the point on Rapid urban growth: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Internal Migration. Copy the point on Ageing villages: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International Migration. International migration redistributes population as follows. Copy the point on Movement between countries on the left, then draw the diagram on the right: migrants at sea.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International Migration. Copy the point on Push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International Migration. Copy the point on Pull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International Migration. International migration has the following effects. Copy the point on Labour for host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International Migration. Copy the point on Pressure in host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International Migration. Copy the point on Brain drain: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International Migration. Copy the point on Remittances: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effects of rapid population growth on towns.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housing shortages and slums, unemployment, pressure on water, schools and transport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international migration for the country of origin.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remittances; disadvantage: loss of skilled workers (brain drain).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exodus; number 2, push; number 3, remittances.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three main age groups of a population.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Population Structure.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MODIFICATIONS OF POPULATION DISTRIBUTION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Modifications of Population Distribution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Modifications of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Differential growth, replacement level, ageing, urbanisation, internal migration, international migration, push factor, pull factor, brain drain, remittances.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Effects of differential population growth rates on distribution (high growth, low growth, regional differences); migration as a factor of redistribution (internal and international).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different growth rates and migration change the distribution of population and to propose solutions to the problems caused.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Population Distribution and Altitude):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push factor of rural-urban migration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jobs, poor roads and services, poor harvests or insecurity in rural areas (any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high population growth on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low or declining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regional differences in growth within a country.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internal and international migration redistribute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are attracted by jobs and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 pushes people out of an area.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Density is very uneven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village of Mayo-Oulo, many young men have left for Garoua, Douala and Yaoundé; only old people and children remain to cultivate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same time, new neighbourhoods and informal settlements spread around Garoua, and some young people even try to reach Europe.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chief asks: "How do population growth and migration change where people live, and what are the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chief does not understand how growth and migration change the distribution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young men leave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look for jobs, schools and better living conditions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grows fast, with new neighbourhoods and informal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rural development (roads, schools, water) to reduce excessive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towns grow and villages empty, and to plan for these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owth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rates by continent.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continent has the highest growth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(about 2.4 %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growth_effect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High growth and low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of a country with very low growth, like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shortage of workers or high spending on pensions.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op2_push_pull.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Push and pull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pull factor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schools, hospitals, water or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informal settlement.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effect of rural exodus on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unemployment, traffic jams and pressure 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boat.jpg">    </p:cNvPr>
          <p:cNvPicPr>
            <a:picLocks noChangeAspect="1"/>
          </p:cNvPicPr>
          <p:nvPr/>
        </p:nvPicPr>
        <p:blipFill>
          <a:blip r:embed="rId1"/>
          <a:stretch>
            <a:fillRect/>
          </a:stretch>
        </p:blipFill>
        <p:spPr>
          <a:xfrm>
            <a:off x="2250221" y="1783080"/>
            <a:ext cx="76912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Migrants at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brain drain?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emigration of skilled and educated people to richer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Modifications of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Differential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in population growth rates between countries or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Replacement level: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fertility (about 2.1 children per woman) needed for a population to replace itself.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factor: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condition that forces people to leave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Pull factor: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condition that attracts people to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Brain drain: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emigration of skilled and educated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High Growth Rates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High growth rates change the distribution of population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 growing share of the world population: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Countries with high birth rates and falling death rates, such as Niger, Nigeria and Ethiopia, grow fast. Their share of the world population therefore increases.</a:t>
            </a:r>
            <a:endParaRPr lang="en-US" sz="2800" dirty="0"/>
          </a:p>
        </p:txBody>
      </p:sp>
      <p:pic>
        <p:nvPicPr>
          <p:cNvPr id="6" name="Image 0" descr="/home/claude/f4/img/v2/growth_rates_big.png">    </p:cNvPr>
          <p:cNvPicPr>
            <a:picLocks noChangeAspect="1"/>
          </p:cNvPicPr>
          <p:nvPr/>
        </p:nvPicPr>
        <p:blipFill>
          <a:blip r:embed="rId1"/>
          <a:stretch>
            <a:fillRect/>
          </a:stretch>
        </p:blipFill>
        <p:spPr>
          <a:xfrm>
            <a:off x="6537960" y="2721454"/>
            <a:ext cx="5470855" cy="239349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growth rates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High Growth Rates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Urban overcrowding: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Much of the new population moves to towns, which grow very fast. Housing shortages and slums appear, and roads, water and schools are overloaded.</a:t>
            </a:r>
            <a:endParaRPr lang="en-US" sz="3600" dirty="0"/>
          </a:p>
        </p:txBody>
      </p:sp>
      <p:pic>
        <p:nvPicPr>
          <p:cNvPr id="6" name="Image 0" descr="/home/claude/f4/img/v2/usa_slum.jpg">    </p:cNvPr>
          <p:cNvPicPr>
            <a:picLocks noChangeAspect="1"/>
          </p:cNvPicPr>
          <p:nvPr/>
        </p:nvPicPr>
        <p:blipFill>
          <a:blip r:embed="rId1"/>
          <a:stretch>
            <a:fillRect/>
          </a:stretch>
        </p:blipFill>
        <p:spPr>
          <a:xfrm>
            <a:off x="6537960" y="2399413"/>
            <a:ext cx="5470855" cy="303758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slum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High Growth Rates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on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demand for food, water, land and health care becomes greater than what is available. People then move to new farming areas or to towns in search of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High Growth Rates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Damage to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cleared to create new farms and settlements. Pollution and waste also increase in crowded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Low or Declining Growth Rates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Low or declining growth rates have the following effects: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 falling share of the world population: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In Japan, Germany and Italy, fertility is below the replacement level and people live longer. These countries grow slowly or lose population, so their share of the world population decreases.</a:t>
            </a:r>
            <a:endParaRPr lang="en-US" sz="2800" dirty="0"/>
          </a:p>
        </p:txBody>
      </p:sp>
      <p:pic>
        <p:nvPicPr>
          <p:cNvPr id="6" name="Image 0" descr="/home/claude/f4/img/v2/pop2_growth_effects.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effects of growth rates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Low or Declining Growth Rates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shrinking workforce: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young people reach working age each year. Industries lack workers, which slows economic growth and attracts immigrants.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Low or Declining Growth Rates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Heavy old-age dependency: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growing number of old people must be supported by fewer workers. Governments struggle to pay pensions and health care.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Low or Declining Growth Rates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Empty villages: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rural areas, villages and schools close as young people leave and old people die. Population becomes concentrated in a few large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Regional Differences within Countries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Growth differs between regions of the same country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Rural decline: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Rural areas grow slowly or lose population as young people leave, as in many villages of the West and North of Cameroon. Labour shortages then reduce farm output and local development.</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Population Growth Rates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Regional Differences within Countries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Urban growth: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Towns such as Douala, Yaoundé and Garoua grow fast through natural increase and migration. They need more housing, transport, water and jobs.</a:t>
            </a:r>
            <a:endParaRPr lang="en-US" sz="3600" dirty="0"/>
          </a:p>
        </p:txBody>
      </p:sp>
      <p:pic>
        <p:nvPicPr>
          <p:cNvPr id="6" name="Image 0" descr="/home/claude/f4/img/v2/lsa_douala.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Douala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Internal Migration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Internal migration redistributes population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Rural exodus: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Internal migration is movement within a country, mostly from villages to towns, called rural exodus. It moves people from rural to urban areas and from poor to rich regions.</a:t>
            </a:r>
            <a:endParaRPr lang="en-US" sz="3200" dirty="0"/>
          </a:p>
        </p:txBody>
      </p:sp>
      <p:pic>
        <p:nvPicPr>
          <p:cNvPr id="6" name="Image 0" descr="/home/claude/f4/img/v2/pop2_push_pull.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push and pull factors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Internal Migration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Push factors in villages: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Lack of jobs, poor roads and services, poor harvests and insecurity drive people out of villages. These areas therefore lose population.</a:t>
            </a:r>
            <a:endParaRPr lang="en-US" sz="3600" dirty="0"/>
          </a:p>
        </p:txBody>
      </p:sp>
      <p:pic>
        <p:nvPicPr>
          <p:cNvPr id="6" name="Image 0" descr="/home/claude/f4/img/v2/f2t_moto_taxi.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moto-taxi</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Internal Migration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Pull factors in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attract migrants with jobs, better pay, schools, hospitals, water and electricity. Their population grows much faster than that of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Internal Migration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Example of Cameroon: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People move from the West, the North-West and the Far North to Douala and Yaoundé. The crises in the Far North, North-West and South-West have also pushed people towards safer towns.</a:t>
            </a:r>
            <a:endParaRPr lang="en-US" sz="3400" dirty="0"/>
          </a:p>
        </p:txBody>
      </p:sp>
      <p:pic>
        <p:nvPicPr>
          <p:cNvPr id="6" name="Image 0" descr="/home/claude/f4/img/v2/cmr_migration_big.png">    </p:cNvPr>
          <p:cNvPicPr>
            <a:picLocks noChangeAspect="1"/>
          </p:cNvPicPr>
          <p:nvPr/>
        </p:nvPicPr>
        <p:blipFill>
          <a:blip r:embed="rId1"/>
          <a:stretch>
            <a:fillRect/>
          </a:stretch>
        </p:blipFill>
        <p:spPr>
          <a:xfrm>
            <a:off x="6537960" y="2550490"/>
            <a:ext cx="5470855" cy="2735428"/>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migrations in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Consequences of Internal Migration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Internal migration has the following consequences on distribution: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Rapid urban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grow quickly as migrants arrive. Slums, traffic jams and unemployment appear because housing and jobs do not grow as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B) Consequences of Internal Migration</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Ageing villages: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lose their young workers and are left mainly with children and old people. Farm output falls because fewer people work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International Migration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International migration redistributes population as follows: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Movement between countries: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International migration is movement from one country to another, for example from sub-Saharan Africa to Europe or North America. It increases the population of receiving countries and reduces that of sending countries.</a:t>
            </a:r>
            <a:endParaRPr lang="en-US" sz="2600" dirty="0"/>
          </a:p>
        </p:txBody>
      </p:sp>
      <p:pic>
        <p:nvPicPr>
          <p:cNvPr id="6" name="Image 0" descr="/home/claude/f4/img/v2/usa_boat.jpg">    </p:cNvPr>
          <p:cNvPicPr>
            <a:picLocks noChangeAspect="1"/>
          </p:cNvPicPr>
          <p:nvPr/>
        </p:nvPicPr>
        <p:blipFill>
          <a:blip r:embed="rId1"/>
          <a:stretch>
            <a:fillRect/>
          </a:stretch>
        </p:blipFill>
        <p:spPr>
          <a:xfrm>
            <a:off x="6537960" y="2399472"/>
            <a:ext cx="5470855" cy="3037464"/>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migrants at sea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International Migration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 poverty, unemployment and environmental problems force people to leave their countries. The populations of Syria and of many Sahel countries have been reduced in this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International Migration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Stable economies, higher wages and better living conditions attract migrants. The USA, Canada and Western Europe therefore receive large numbers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Effects of International Migration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International migration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for host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Migrants fill labour shortages in farms, building sites, hospitals and services. They contribute to the economic growth of the host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Effects of International Migration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in host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arrivals may put pressure on housing, schools and health services. They can also cause social tensions with the local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D) Effects of International Migration</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Brain drain: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of origin lose doctors, engineers and teachers who leave for better pay. This weakens their health and education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Population Redistribution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D) Effects of International Migration</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Remittances: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Migrants send money home to their families. These remittances pay for food, school fees, houses and small businesses in the countries of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rapid population growth on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Housing shortages and slums, unemployment, pressure on water, schools and transport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international migration for the country of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remittances; disadvantage: loss of skilled workers (brain drain).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people from villages to towns is called rural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Lack of jobs in villages is a ______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sent home by migrants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three main age groups of a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Population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exodus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Push 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 répulsif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Pull 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 attractif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Brain 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 des cerveaux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Remittances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transferts de fonds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bidonville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Modifications of Population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effects of high population growth on distribution. Explain the effects of low or declining growth. Describe regional differences in growth within a country. Explain how internal and international migration redistribute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different growth rates and migration change the distribution of population and to propose solutions to the problems caused.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High Growth Rates; Low or Declining Growth Rates; Regional Differences within Countries; Internal Migration; Consequences of Internal Migration; International Migration; Effects of International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three main age groups of a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growth rates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Niger and Japan.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two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crowded neighbourhood.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talk about doctors who work abroad.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 sailor from HMS BULWARK hands out water to rescued individuals on a ” by Royal Navy Media Archive, CC BY-NC 2.0, via Flickr (https://www.flickr.com/photos/69974959@N03/17374754690)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(Urban growth):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(Push factors in villages): “Cameroon - UN Women's Gender Road Project” by UN Women Gallery, CC BY-NC-ND 2.0, via Flickr (https://www.flickr.com/photos/51431730@N04/47586053052)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2026-10-06T05:44:21Z</dcterms:created>
  <dcterms:modified xsi:type="dcterms:W3CDTF">2026-10-06T05:44:21Z</dcterms:modified>
</cp:coreProperties>
</file>