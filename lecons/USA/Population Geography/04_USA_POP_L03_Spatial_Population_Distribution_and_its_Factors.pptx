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notesMasterIdLst>
    <p:notesMasterId r:id="rId7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notesMaster" Target="notesMasters/notesMaster1.xml"/><Relationship Id="rId73" Type="http://schemas.openxmlformats.org/officeDocument/2006/relationships/presProps" Target="presProps.xml"/><Relationship Id="rId74" Type="http://schemas.openxmlformats.org/officeDocument/2006/relationships/viewProps" Target="viewProps.xml"/><Relationship Id="rId75" Type="http://schemas.openxmlformats.org/officeDocument/2006/relationships/theme" Target="theme/theme1.xml"/><Relationship Id="rId7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Spatial Population Distribution and its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Numbers, and the sub-topic is Population Density and Distribution. The key notions we shall use today are: ecumene, non-ecumene, densely populated area, sparsely populated area, physical factors, economic factors, political factors. At the end, you should be able to do this: learners are able to explain why some areas of the world and of Cameroon are densely populated while others are almost empty.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1: Techniques of Mapping Population Distribution and Density. The question was: Name two regions of the world that are densely populated.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South and East Asia, Western Europe, the north-east of the USA and the Nile valley (any two).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distinguish between ecumene and non-ecumene with examples. Number 2: identify the densely and sparsely populated regions of the world. Number 3: explain the physical factors of population distribution. Number 4: explain the economic, social, political and historical factors. Number 5: explain why some harsh areas have large populations.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About 90 % of people live in the northern hemisphere. The dot map shows clusters of people. The Littoral Region is much denser than the East Region.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a geography club meeting, Aïssatou compares two places: the Mbouda area in the West, with small farms everywhere and villages close together on fertile volcanic soils, and the forest of Lomié in the East, with only a few villages along the road. She then sees on television the huge city of Dubai in the middle of a desert. She asks: "Why do so many people live in some places and so few in others, and how can a city grow in a desert?"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Aïssatou does not understand the factors that make some areas dense and others sparse.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 Mbouda area densely populated?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has fertile volcanic soils, a cool climate and enough rain for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can Dubai grow in a desert?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Thanks to oil wealth and technology such as desalination and air conditioning.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physical and human advantages of each area to develop it, and protect the environment of crowded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causes of the uneven distribution of people and to plan the use of land and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dense and empty areas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one area of the non-ecumene.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Antarctica, the Sahara, Greenland or the heart of Siberia.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sand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deserts like the Sahara sparsely populated?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lack water, and their soils are poor.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rice fields on a fertile plain.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fertile river plains like the Ganges plain attract many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have water and fertile alluvial soils for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douala, the economic capital.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Douala attract many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has the port, industries, trade and many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refugee camp.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war change the distribution of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People flee from war zones, which become empty, and crowd into camps and safe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Ecumene.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Non-ecumene (anecumene) and Climatic extremes.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Habitable and Uninhabitable Space. The Earth is divided into habitable and uninhabitable space as follows. Copy the point on The ecumene on the left, then draw the diagram on the right: ecumene and non-ecumene.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non-ecumene on the left, then draw the diagram on the right: the tundra.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Habitable and Uninhabitable Space. Copy the point on A changing limit: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Densely and Sparsely Populated Regions. The world has the following densely and sparsely populated regions. Copy the point on Densely populated regions: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Densely and Sparsely Populated Regions. Copy the point on Sparsely populated regions: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 of Cameroon on the left, then draw the diagram on the right: density in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Physical (Environmental) Factors. Population distribution is influenced by the following physical factors. Copy the point on Climate on the left, then draw the diagram on the right: a desert.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Relief and latitude on the left, then draw the diagram on the right: the Bamenda Highlands.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Physical (Environmental) Factors. Copy the point on Water supply: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Soils on the left, then draw the diagram on the right: a fertile plain.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Economic and Social Factors. Population distribution is influenced by the following economic and social factors. Copy the point on Economic activities on the left, then draw the diagram on the right: douala.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Industrial development on the left, then draw the diagram on the right: a car factory.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Economic and Social Factors. Copy the point on Social services and culture: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Historical and Political Influences. Population distribution is influenced by the following historical and political factors. Copy the point on Political stability and insecurity on the left, then draw the diagram on the right: refugees.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Historical and Political Influences. Copy the point on Government policies: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Historical and Political Influences. Copy the point on Historical development: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Not All Areas of Climatic Extremes Have Low Densities. Some harsh areas have large populations for the following reasons. Copy the point on Technology and wealth on the left, then draw the diagram on the right: a desalination plant.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Not All Areas of Climatic Extremes Have Low Densities. Copy the point on Religion: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Not All Areas of Climatic Extremes Have Low Densities. Copy the point on Mining: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between ecumene and non-ecumene with one example each.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ecumene is permanently inhabited, e.g. Western Europe; the non-ecumene is uninhabited or temporarily used, e.g. Antarctica.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why tropical highlands like the Bamenda Highlands are densely populated.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are cooler and healthier than the lowlands and have fertile volcanic soils and enough rain.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ecumene; number 2, desalination; number 3, industry (steel).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State how population density changes as altitude increases.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2: Population Distribution and Altitude.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3: SPATIAL POPULATION DISTRIBUTION AND ITS FACTORS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Spatial Population Distribution and its Factors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Numbers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Density and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Spatial Population Distribution and its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Ecumene, non-ecumene, densely populated area, sparsely populated area, physical factors, economic factors, political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Variations of distribution at different scales: ecumene and non-ecumene, dense and sparse regions; physical, economic, social, political and historical factors; areas with extreme climates and high populations.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some areas of the world and of Cameroon are densely populated while others are almost empty.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1: Techniques of Mapping Population Distribution and Density):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regions of the world that are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South and East Asia, Western Europe, the north-east of the USA and the Nile valley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between ecumene and non-ecumene with examples.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densely and sparsely populated regions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physical factors of population distribution.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economic, social, political and historical factors.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some harsh areas have large populations.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About 90 % of people live in the northern hemisphere.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dot map shows clusters of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Littoral Region is much denser than the East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a geography club meeting, Aïssatou compares two places: the Mbouda area in the West, with small farms everywhere and villages close together on fertile volcanic soils, and the forest of Lomié in the East, with only a few villages along the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then sees on television the huge city of Dubai in the middle of a desert.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asks: "Why do so many people live in some places and so few in others, and how can a city grow in a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Aïssatou does not understand the factors that make some areas dense and others sparse.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Mbouda area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fertile volcanic soils, a cool climate and enough rain for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Dubai grow in a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Thanks to oil wealth and technology such as desalination and air conditioning.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physical and human advantages of each area to develop it, and protect the environment of crowded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causes of the uneven distribution of people and to plan the use of land and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ECUMENE AND NON-ECUMENE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op2_ecumene.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Dense and empty areas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ECUMENE AND NON-ECUMENE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area of the non-ecumene.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ECUMENE AND NON-ECUMENE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Antarctica, the Sahara, Greenland or the heart of Siberia.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er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sand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deserts like the Sahara sparsely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lack water, and their soils are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rice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Rice fields on a fertile plain.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fertile river plains like the Ganges plain attract many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water and fertile alluvial soils for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ECONOMIC AND SOCIAL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 the economic capital.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ECONOMIC AND SOCIAL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Douala attract many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ECONOMIC AND SOCIAL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the port, industries, trade and many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POLITICAL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refug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refugee camp.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POLITICAL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war change the distribution of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POLITICAL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flee from war zones, which become empty, and crowd into camps and safe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Numbers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Density and Distribution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Spatial Population Distribution and its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Ecumene: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part of the Earth that is permanently inhabited because conditions are favourable to human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Non-ecumene (anecumene):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part of the Earth that is uninhabited or only temporarily used because conditions are too harsh.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Climatic extremes: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very harsh conditions of temperature or rainfall, such as great cold, great heat or drought.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Variations at Different Spatial Scales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Habitable and Uninhabitable Space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Earth is divided into habitable and uninhabitable space as follows: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The ecumene: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The ecumene covers areas with a moderate climate, fertile soils and water, such as Western Europe, South-East Asia and the Nile valley. It covers only about a third of the land.</a:t>
            </a:r>
            <a:endParaRPr lang="en-US" sz="3000" dirty="0"/>
          </a:p>
        </p:txBody>
      </p:sp>
      <p:pic>
        <p:nvPicPr>
          <p:cNvPr id="6" name="Image 0" descr="/home/claude/f4/img/v2/pop2_ecumene.png">    </p:cNvPr>
          <p:cNvPicPr>
            <a:picLocks noChangeAspect="1"/>
          </p:cNvPicPr>
          <p:nvPr/>
        </p:nvPicPr>
        <p:blipFill>
          <a:blip r:embed="rId1"/>
          <a:stretch>
            <a:fillRect/>
          </a:stretch>
        </p:blipFill>
        <p:spPr>
          <a:xfrm>
            <a:off x="6537960" y="2550490"/>
            <a:ext cx="5470855" cy="2735428"/>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ecumene and non-ecumene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Variations at Different Spatial Scales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Habitable and Uninhabitable Space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non-ecumene: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non-ecumene covers areas that are too cold, too dry or too high, such as Antarctica, the Sahara and Greenland. People only visit them for research, mining, herding or tourism.</a:t>
            </a:r>
            <a:endParaRPr lang="en-US" sz="3600" dirty="0"/>
          </a:p>
        </p:txBody>
      </p:sp>
      <p:pic>
        <p:nvPicPr>
          <p:cNvPr id="6" name="Image 0" descr="/home/claude/f4/img/v2/lsa_tundra.jpg">    </p:cNvPr>
          <p:cNvPicPr>
            <a:picLocks noChangeAspect="1"/>
          </p:cNvPicPr>
          <p:nvPr/>
        </p:nvPicPr>
        <p:blipFill>
          <a:blip r:embed="rId1"/>
          <a:stretch>
            <a:fillRect/>
          </a:stretch>
        </p:blipFill>
        <p:spPr>
          <a:xfrm>
            <a:off x="6537960" y="2399413"/>
            <a:ext cx="5470855" cy="3037581"/>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tundra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Variations at Different Spatial Scales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800" b="1" dirty="0">
                <a:solidFill>
                  <a:srgbClr val="990011"/>
                </a:solidFill>
                <a:latin typeface="Times New Roman" pitchFamily="34" charset="0"/>
                <a:ea typeface="Times New Roman" pitchFamily="34" charset="-122"/>
                <a:cs typeface="Times New Roman" pitchFamily="34" charset="-120"/>
              </a:rPr>
              <a:t>A) Habitable and Uninhabitable Space</a:t>
            </a:r>
            <a:endParaRPr lang="en-US" sz="28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changing limit: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limit of the ecumene moves with technology. Irrigation, air conditioning and oil wealth have created towns in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Variations at Different Spatial Scales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Densely and Sparsely Populated Regions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world has the following densely and sparsely populated regions: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Densely populated regions: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South and East Asia (India, China, Bangladesh), with fertile plains and a monsoon climate, are the most crowded. Western Europe, the north-east of the USA, the Nile valley and the West African coasts are also dense.</a:t>
            </a:r>
            <a:endParaRPr lang="en-US" sz="34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Variations at Different Spatial Scales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Densely and Sparsely Populated Regions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Sparsely populated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deserts such as the Sahara, high mountains such as the Himalayas and cold lands such as Greenland and Siberia are almost empty. Dense rainforests such as the Amazon are also thinly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Variations at Different Spatial Scales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Densely and Sparsely Populated Regions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Example of Cameroon: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West, the Littoral and the Mandara Mountains are densely populated. The forests of the East and the Faro area are sparsely populated.</a:t>
            </a:r>
            <a:endParaRPr lang="en-US" sz="3600" dirty="0"/>
          </a:p>
        </p:txBody>
      </p:sp>
      <p:pic>
        <p:nvPicPr>
          <p:cNvPr id="6" name="Image 0" descr="/home/claude/f4/img/v2/choropleth_big.png">    </p:cNvPr>
          <p:cNvPicPr>
            <a:picLocks noChangeAspect="1"/>
          </p:cNvPicPr>
          <p:nvPr/>
        </p:nvPicPr>
        <p:blipFill>
          <a:blip r:embed="rId1"/>
          <a:stretch>
            <a:fillRect/>
          </a:stretch>
        </p:blipFill>
        <p:spPr>
          <a:xfrm>
            <a:off x="6537960" y="2550490"/>
            <a:ext cx="5470855" cy="2735428"/>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density in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Variation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Physical (Environmental) Factors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Population distribution is influenced by the following physical factors: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Moderate climates attract people, while very cold areas such as Antarctica and very dry areas such as the Sahara repel them. Very hot and humid areas can also be unhealthy.</a:t>
            </a:r>
            <a:endParaRPr lang="en-US" sz="2800" dirty="0"/>
          </a:p>
        </p:txBody>
      </p:sp>
      <p:pic>
        <p:nvPicPr>
          <p:cNvPr id="6" name="Image 0" descr="/home/claude/f4/img/v2/f2t_erg.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desert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Variation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Physical (Environmental) Factors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Relief and latitude: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In temperate regions, steep, cold mountains such as the Alps are less populated than lowlands. In the tropics, the effect is the opposite: cool, healthy highlands such as the Ethiopian and Bamenda Highlands are densely populated.</a:t>
            </a:r>
            <a:endParaRPr lang="en-US" sz="3200" dirty="0"/>
          </a:p>
        </p:txBody>
      </p:sp>
      <p:pic>
        <p:nvPicPr>
          <p:cNvPr id="6" name="Image 0" descr="/home/claude/f4/img/v2/usa_bamenda.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Bamenda Highlands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Variation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Physical (Environmental) Factors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supply: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lakes and coasts attract people for drinking, farming and transport, as in the Ganges valley and the Logone floodplain. Dry areas without water remain empty.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Variation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Physical (Environmental) Factors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Soils: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Fertile alluvial and volcanic soils support dense farming populations, as in the Ganges plain and the Mungo area. Poor, leached soils support few people.</a:t>
            </a:r>
            <a:endParaRPr lang="en-US" sz="3600" dirty="0"/>
          </a:p>
        </p:txBody>
      </p:sp>
      <p:pic>
        <p:nvPicPr>
          <p:cNvPr id="6" name="Image 0" descr="/home/claude/f4/img/v2/f4_ricefield.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fertile plain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Variation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Economic and Social Factors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Population distribution is influenced by the following economic and social factors: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Economic activities: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Cities with jobs in trade, industry and services attract people, like Lagos, Douala and Yaoundé. Rich farming areas also support dense populations.</a:t>
            </a:r>
            <a:endParaRPr lang="en-US" sz="2800" dirty="0"/>
          </a:p>
        </p:txBody>
      </p:sp>
      <p:pic>
        <p:nvPicPr>
          <p:cNvPr id="6" name="Image 0" descr="/home/claude/f4/img/v2/lsa_douala.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Douala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Variation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Economic and Social Factors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Industrial development: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Mining and industry created dense regions such as the Ruhr in Germany. When industries decline, towns lose population, as Detroit in the USA did.</a:t>
            </a:r>
            <a:endParaRPr lang="en-US" sz="3600" dirty="0"/>
          </a:p>
        </p:txBody>
      </p:sp>
      <p:pic>
        <p:nvPicPr>
          <p:cNvPr id="6" name="Image 0" descr="/home/claude/f4/img/v2/usa_carfactory.jpg">    </p:cNvPr>
          <p:cNvPicPr>
            <a:picLocks noChangeAspect="1"/>
          </p:cNvPicPr>
          <p:nvPr/>
        </p:nvPicPr>
        <p:blipFill>
          <a:blip r:embed="rId1"/>
          <a:stretch>
            <a:fillRect/>
          </a:stretch>
        </p:blipFill>
        <p:spPr>
          <a:xfrm>
            <a:off x="6537960" y="2399413"/>
            <a:ext cx="5470855" cy="3037581"/>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car factory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Variation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Economic and Social Factors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services and 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attract people because they offer schools, universities, hospitals, water and electricity. People also settle near their families, their ethnic group or holy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Variation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Historical and Political Influences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600" i="1" dirty="0">
                <a:solidFill>
                  <a:srgbClr val="111111"/>
                </a:solidFill>
                <a:latin typeface="Times New Roman" pitchFamily="34" charset="0"/>
                <a:ea typeface="Times New Roman" pitchFamily="34" charset="-122"/>
                <a:cs typeface="Times New Roman" pitchFamily="34" charset="-120"/>
              </a:rPr>
              <a:t>Population distribution is influenced by the following historical and political factors:</a:t>
            </a:r>
            <a:endParaRPr lang="en-US" sz="2600" dirty="0"/>
          </a:p>
          <a:p>
            <a:pPr algn="l" indent="0" marL="0">
              <a:spcAft>
                <a:spcPts val="800"/>
              </a:spcAft>
              <a:buNone/>
            </a:pPr>
            <a:r>
              <a:rPr lang="en-US" sz="2600" b="1" dirty="0">
                <a:solidFill>
                  <a:srgbClr val="111111"/>
                </a:solidFill>
                <a:latin typeface="Times New Roman" pitchFamily="34" charset="0"/>
                <a:ea typeface="Times New Roman" pitchFamily="34" charset="-122"/>
                <a:cs typeface="Times New Roman" pitchFamily="34" charset="-120"/>
              </a:rPr>
              <a:t>Political stability and insecurity: </a:t>
            </a:r>
            <a:pPr algn="l" indent="0" marL="0">
              <a:spcAft>
                <a:spcPts val="800"/>
              </a:spcAft>
              <a:buNone/>
            </a:pPr>
            <a:r>
              <a:rPr lang="en-US" sz="2600" dirty="0">
                <a:solidFill>
                  <a:srgbClr val="111111"/>
                </a:solidFill>
                <a:latin typeface="Times New Roman" pitchFamily="34" charset="0"/>
                <a:ea typeface="Times New Roman" pitchFamily="34" charset="-122"/>
                <a:cs typeface="Times New Roman" pitchFamily="34" charset="-120"/>
              </a:rPr>
              <a:t>Peaceful countries attract people, while war empties areas, as in Syria. In Cameroon, insecurity has pushed many people out of parts of the Far North, the North-West and the South-West.</a:t>
            </a:r>
            <a:endParaRPr lang="en-US" sz="2600" dirty="0"/>
          </a:p>
        </p:txBody>
      </p:sp>
      <p:pic>
        <p:nvPicPr>
          <p:cNvPr id="6" name="Image 0" descr="/home/claude/f4/img/v2/usa_refugee.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refugees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Variation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Historical and Political Influences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Government policies: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Governments can move people through new towns, land settlement schemes and resettlement projects. For example, the Nord-Est Bénoué project settled farmers from the Far North in the Benue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Variation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Historical and Political Influences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Historical 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Areas settled for thousands of years, like the Nile valley and the Ganges plain, still have very high densities. Old refuges from slave raids, like the Mandara Mountains, also remain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Not All Areas of Climatic Extremes Have Low Densities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Some harsh areas have large populations for the following reasons: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Technology and wealth: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Dubai grew in a hot desert thanks to oil wealth, desalination plants and air conditioning. Technology allows people to overcome the harsh climate, but at a high cost.</a:t>
            </a:r>
            <a:endParaRPr lang="en-US" sz="3000" dirty="0"/>
          </a:p>
        </p:txBody>
      </p:sp>
      <p:pic>
        <p:nvPicPr>
          <p:cNvPr id="5" name="Image 0" descr="/home/claude/f4/img/v2/f2t_desalination.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desalination plant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Not All Areas of Climatic Extremes Have Low Densities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Mecca in Saudi Arabia has a large population and receives millions of pilgrims despite its hot desert climate. Religious importance outweighs the harsh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Not All Areas of Climatic Extremes Have Low Densities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Mining towns grow in harsh places because of valuable resources, such as the gold and iron towns of the Sahara and of Siberia. People accept the hard conditions for high wages.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between ecumene and non-ecumene with one example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ecumene is permanently inhabited, e.g. Western Europe; the non-ecumene is uninhabited or temporarily used, e.g. Antarctica.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tropical highlands like the Bamenda Highlands are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cooler and healthier than the lowlands and have fertile volcanic soils and enough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permanently inhabited part of the Earth is called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Dubai grew in a desert thanks to oil and ______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Ruhr in Germany became dense because of coal and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how population density changes as altitude increases.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Population Distribution and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Ecumene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L'écoumène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Densely populated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Densément peuplé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Fertile 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 fertile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Political stability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stabilité politique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Desalination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dessalement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Numbers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Spatial Population Distribution and its Factors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between ecumene and non-ecumene with examples. Identify the densely and sparsely populated regions of the world. Explain the physical factors of population distribution. Explain the economic, social, political and historical factors. Explain why some harsh areas have large populations.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some areas of the world and of Cameroon are densely populated while others are almost empty.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Habitable and Uninhabitable Space; Densely and Sparsely Populated Regions; Physical (Environmental) Factors; Economic and Social Factors; Historical and Political Influences; Not All Areas of Climatic Extremes Have Low Densities.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how population density changes as altitude increases.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dense and empty areas in two columns.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far north of Chad.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Benue floodplain.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the jobs of a big city.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talk about the refugee camp of Minawao.</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“Desert trekking in Merzouga” by Antonio Cinotti , CC BY-NC-ND 2.0, via Flickr (https://www.flickr.com/photos/46378751@N02/15331399979)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 woman harvesting rice, Barotse floodplain, Zambia. Photo by Georgina” by WorldFish, CC BY-NC-ND 2.0, via Flickr (https://www.flickr.com/photos/61545321@N06/7848727138)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“Secretary-General Visits Refugee Camps in Chad” by United Nations Photo, CC BY-NC-ND 2.0, via Flickr (https://www.flickr.com/photos/35483578@N03/6140060599)</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(The non-ecumene): “Fall Tundra Landscape” by Andrea Pokrzywinski, CC BY 2.0, via Flickr (https://www.flickr.com/photos/65781065@N00/2891717078)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(Relief and latitude): “Bamenda, Cameroon” by jbdodane, CC BY-NC 2.0, via Flickr (https://www.flickr.com/photos/27998473@N02/11293877215)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(Industrial development): “rover 200 framing line” by spencer_cooper, CC BY-ND 2.0, via Flickr (https://www.flickr.com/photos/80889122@N06/7481166880)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(Technology and wealth): “Desalinization plant at Guantanamo Bay, Cuba” by U.S. Navy Seabee Museum, CC BY 2.0, via Flickr (https://www.flickr.com/photos/60248384@N05/6847412393)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70</Slides>
  <Notes>70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70</vt:i4>
      </vt:variant>
    </vt:vector>
  </HeadingPairs>
  <TitlesOfParts>
    <vt:vector size="7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2026-09-29T11:34:35Z</dcterms:created>
  <dcterms:modified xsi:type="dcterms:W3CDTF">2026-09-29T11:34:35Z</dcterms:modified>
</cp:coreProperties>
</file>