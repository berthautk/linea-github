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Lst>
  <p:notesMasterIdLst>
    <p:notesMasterId r:id="rId6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notesMaster" Target="notesMasters/notesMaster1.xml"/><Relationship Id="rId65" Type="http://schemas.openxmlformats.org/officeDocument/2006/relationships/presProps" Target="presProps.xml"/><Relationship Id="rId66" Type="http://schemas.openxmlformats.org/officeDocument/2006/relationships/viewProps" Target="viewProps.xml"/><Relationship Id="rId67" Type="http://schemas.openxmlformats.org/officeDocument/2006/relationships/theme" Target="theme/theme1.xml"/><Relationship Id="rId6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Practical Work 1: Techniques of Mapping Population Distribution and Density.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4: Understanding and managing population dynamics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Population Numbers, and the sub-topic is Population Density and Distribution. The key notions we shall use today are: choropleth map, isopleth map, dot map, proportional symbols, Lorenz curve, population density lapse rate. At the end, you should be able to do this: learners are able to choose, draw and read the main maps and graphs of population distribution and density.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 Population Distribution and Density. The question was: Name two types of maps that show population density.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choropleth map and the dot map (also the isopleth map and the proportional symbol map).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choropleth, isopleth, dot and proportional symbol maps. Number 2: explain how the Lorenz curve and the density lapse rate show unevenness. Number 3: assess the advantages and disadvantages of each technique.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Population density is the number of people per km². The Littoral Region is denser than the East Region. A map key explains the colours and symbols of a map.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For the regional council, a student must show on one map that the Littoral and the West are crowded while the East is almost empty. He also wants to show that most people of Cameroon live on a small part of the land. He asks his teacher: "Which maps and graphs should I use, and what are their strengths and weaknesses?"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student does not know which techniques to use to map population distribution and density.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map uses shades of one colour by region?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choropleth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graph shows that people live on a small part of the land?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Lorenz curve.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choose the right map or graph for each set of population data and always add a title, a key and a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practical work helps us to present population data clearly on maps and graphs, a skill used in examinations and in planning.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a choropleth map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do the darker shades show on this map?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Higher population densities.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a dot map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does each dot represent on a dot map?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fixed number of people, for example 10,000.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proportional circles.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is the circle of Yaoundé bigger than that of Garoua?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Its population is larger, and the area of the circle is proportional to the population.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a Lorenz curve for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What does the gap between the curve and the diagonal show?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degree of unevenness: the bigger the gap, the more uneven the 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density and distance from the city centre.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does density change as we move away from the city centre?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falls steadily.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Choropleth map and Isopleth map.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Dot map and Lorenz curve.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Density lapse rate.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Techniques of Mapping Population Distribution and Density. Population is mapped with the following techniques. Copy the point on Choropleth map on the left, then draw the diagram on the right: a choropleth map.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Isopleth map on the left, then draw the diagram on the right: an isopleth map.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Dot map on the left, then draw the diagram on the right: a dot map.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Proportional symbols on the left, then draw the diagram on the right: proportional circles.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Showing Uneven Distribution. The unevenness of distribution is shown with the following methods. Copy the point on Constructing the Lorenz curve on the left, then draw the diagram on the right: a Lorenz curve.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Showing Uneven Distribution. Copy the point on Reading the Lorenz curve: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The density lapse rate on the left, then draw the diagram on the right: a density lapse rate.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Assessment of the Techniques. The techniques have the following advantages and disadvantages. Copy the point on Choropleth map: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Assessment of the Techniques. Copy the point on Isopleth map: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Assessment of the Techniques. Copy the point on Dot map and proportional symbols: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Assessment of the Techniques. Copy the point on Lorenz curve and lapse rate: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one advantage and one disadvantage of the dot map.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advantage: it shows the real pattern of population; disadvantage: dots merge in dense areas.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What does a Lorenz curve far from the diagonal show?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very uneven distribution of the population.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choropleth; number 2, isopleths; number 3, Lorenz.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Name two regions of the world that are densely populated.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 Spatial Population Distribution and its Factors.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PRACTICAL WORK 1: TECHNIQUES OF MAPPING POPULATION DISTRIBUTION AND DENSITY</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2.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2.xml"/><Relationship Id="rId3" Type="http://schemas.openxmlformats.org/officeDocument/2006/relationships/notesSlide" Target="../notesSlides/notesSlide6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Practical Work 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Techniques of Mapping Population Distribution and Density</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4: Understanding and managing population dynamics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Numbers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Density and Distribution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Practical Work 1: Techniques of Mapping Population Distribution and Density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Choropleth map, isopleth map, dot map, proportional symbols, Lorenz curve, population density lapse rate.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Techniques of mapping distribution and density (choropleth, isopleth, dot map, proportional symbols); other methods showing unevenness (Lorenz curve, density lapse rate); assessment of these methods.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choose, draw and read the main maps and graphs of population distribution and density.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 Population Distribution and Density):</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types of maps that show population density.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choropleth map and the dot map (also the isopleth map and the proportional symbol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choropleth, isopleth, dot and proportional symbol maps.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how the Lorenz curve and the density lapse rate show unevenness.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Assess the advantages and disadvantages of each technique.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Population density is the number of people per km².</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Littoral Region is denser than the East Region.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 map key explains the colours and symbols of a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 the regional council, a student must show on one map that the Littoral and the West are crowded while the East is almost empty.</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 also wants to show that most people of Cameroon live on a small part of the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 asks his teacher: "Which maps and graphs should I use, and what are their strengths and weaknesses?"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student does not know which techniques to use to map population distribution and density.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map uses shades of one colour by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choropleth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graph shows that people live on a small part of the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Lorenz curve.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Choose the right map or graph for each set of population data and always add a title, a key and a source.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practical work helps us to present population data clearly on maps and graphs, a skill used in examinations and in planning.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CHOROPLETH MAP</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choropleth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choropleth map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CHOROPLETH MAP</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the darker shades show on this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CHOROPLETH MAP</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Higher population densities.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DOT MAP</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dot_map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dot map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DOT MAP</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each dot represent on a dot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DOT MAP</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fixed number of people, for example 10,000.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PROPORTIONAL SYMBOLS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prop_circl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Proportional circles.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PROPORTIONAL SYMBOLS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circle of Yaoundé bigger than that of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PROPORTIONAL SYMBOLS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Its population is larger, and the area of the circle is proportional to the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LORENZ CURVE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orenz_cmr_big.png">    </p:cNvPr>
          <p:cNvPicPr>
            <a:picLocks noChangeAspect="1"/>
          </p:cNvPicPr>
          <p:nvPr/>
        </p:nvPicPr>
        <p:blipFill>
          <a:blip r:embed="rId1"/>
          <a:stretch>
            <a:fillRect/>
          </a:stretch>
        </p:blipFill>
        <p:spPr>
          <a:xfrm>
            <a:off x="1383850" y="1783080"/>
            <a:ext cx="94239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Lorenz curve for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LORENZ CURVE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the gap between the curve and the diagonal show?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LORENZ CURVE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degree of unevenness: the bigger the gap, the more uneven the distribution.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DENSITY LAPSE RATE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apse_exampl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Density and distance from the city centre.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DENSITY LAPSE RATE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density change as we move away from the city centre?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DENSITY LAPSE RATE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falls steadily.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Population Numbers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Population Density and Distribution</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Practical Work 1: Techniques of Mapping Population Distribution and Density</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Choropleth map: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map that shows densities with shades of colour for each administrative area.</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Isopleth map: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map with lines (isopleths) joining places of equal density.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Dot map: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map on which each dot stands for a fixed number of people.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Lorenz curve: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graph comparing the cumulative percentage of population with the cumulative percentage of area to show unevenness.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Density lapse rate: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rate at which population density falls with distance from a centre such as a city or the coast.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Techniques of Mapping Population Distribution and Density</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Population is mapped with the following techniques: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Choropleth map: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Each administrative area is shaded according to its density, with darker shades for higher densities. The map of the regions of Cameroon by density is an example.</a:t>
            </a:r>
            <a:endParaRPr lang="en-US" sz="3200" dirty="0"/>
          </a:p>
        </p:txBody>
      </p:sp>
      <p:pic>
        <p:nvPicPr>
          <p:cNvPr id="5" name="Image 0" descr="/home/claude/f4/img/v2/choropleth_big.png">    </p:cNvPr>
          <p:cNvPicPr>
            <a:picLocks noChangeAspect="1"/>
          </p:cNvPicPr>
          <p:nvPr/>
        </p:nvPicPr>
        <p:blipFill>
          <a:blip r:embed="rId1"/>
          <a:stretch>
            <a:fillRect/>
          </a:stretch>
        </p:blipFill>
        <p:spPr>
          <a:xfrm>
            <a:off x="6537960" y="2550490"/>
            <a:ext cx="5470855" cy="2735428"/>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choropleth map</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Techniques of Mapping Population Distribution and Density</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Isopleth map: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Lines join places of equal density, like contour lines on a relief map. They show gradual changes across an area without following boundaries.</a:t>
            </a:r>
            <a:endParaRPr lang="en-US" sz="3600" dirty="0"/>
          </a:p>
        </p:txBody>
      </p:sp>
      <p:pic>
        <p:nvPicPr>
          <p:cNvPr id="5" name="Image 0" descr="/home/claude/f4/img/v2/pop_isopleth_big.png">    </p:cNvPr>
          <p:cNvPicPr>
            <a:picLocks noChangeAspect="1"/>
          </p:cNvPicPr>
          <p:nvPr/>
        </p:nvPicPr>
        <p:blipFill>
          <a:blip r:embed="rId1"/>
          <a:stretch>
            <a:fillRect/>
          </a:stretch>
        </p:blipFill>
        <p:spPr>
          <a:xfrm>
            <a:off x="6537960" y="2721454"/>
            <a:ext cx="5470855" cy="2393499"/>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an isopleth map</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Techniques of Mapping Population Distribution and Density</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Dot map: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Each dot represents a fixed number of people, for example 10,000, and is placed where they live. Clusters of dots show densely populated areas.</a:t>
            </a:r>
            <a:endParaRPr lang="en-US" sz="3600" dirty="0"/>
          </a:p>
        </p:txBody>
      </p:sp>
      <p:pic>
        <p:nvPicPr>
          <p:cNvPr id="5" name="Image 0" descr="/home/claude/f4/img/v2/dot_map_big.png">    </p:cNvPr>
          <p:cNvPicPr>
            <a:picLocks noChangeAspect="1"/>
          </p:cNvPicPr>
          <p:nvPr/>
        </p:nvPicPr>
        <p:blipFill>
          <a:blip r:embed="rId1"/>
          <a:stretch>
            <a:fillRect/>
          </a:stretch>
        </p:blipFill>
        <p:spPr>
          <a:xfrm>
            <a:off x="6537960" y="2550490"/>
            <a:ext cx="5470855" cy="2735428"/>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dot map</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Techniques of Mapping Population Distribution and Density</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Proportional symbols: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Circles or squares are drawn with an area proportional to the population of each town. The radius is therefore proportional to the square root of the population.</a:t>
            </a:r>
            <a:endParaRPr lang="en-US" sz="3600" dirty="0"/>
          </a:p>
        </p:txBody>
      </p:sp>
      <p:pic>
        <p:nvPicPr>
          <p:cNvPr id="5" name="Image 0" descr="/home/claude/f4/img/v2/prop_circles_big.png">    </p:cNvPr>
          <p:cNvPicPr>
            <a:picLocks noChangeAspect="1"/>
          </p:cNvPicPr>
          <p:nvPr/>
        </p:nvPicPr>
        <p:blipFill>
          <a:blip r:embed="rId1"/>
          <a:stretch>
            <a:fillRect/>
          </a:stretch>
        </p:blipFill>
        <p:spPr>
          <a:xfrm>
            <a:off x="6537960" y="2849678"/>
            <a:ext cx="5470855" cy="2137053"/>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proportional circles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Showing Uneven Distribution</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000" i="1" dirty="0">
                <a:solidFill>
                  <a:srgbClr val="111111"/>
                </a:solidFill>
                <a:latin typeface="Times New Roman" pitchFamily="34" charset="0"/>
                <a:ea typeface="Times New Roman" pitchFamily="34" charset="-122"/>
                <a:cs typeface="Times New Roman" pitchFamily="34" charset="-120"/>
              </a:rPr>
              <a:t>The unevenness of distribution is shown with the following methods:</a:t>
            </a:r>
            <a:endParaRPr lang="en-US" sz="3000" dirty="0"/>
          </a:p>
          <a:p>
            <a:pPr algn="l" indent="0" marL="0">
              <a:spcAft>
                <a:spcPts val="800"/>
              </a:spcAft>
              <a:buNone/>
            </a:pPr>
            <a:r>
              <a:rPr lang="en-US" sz="3000" b="1" dirty="0">
                <a:solidFill>
                  <a:srgbClr val="111111"/>
                </a:solidFill>
                <a:latin typeface="Times New Roman" pitchFamily="34" charset="0"/>
                <a:ea typeface="Times New Roman" pitchFamily="34" charset="-122"/>
                <a:cs typeface="Times New Roman" pitchFamily="34" charset="-120"/>
              </a:rPr>
              <a:t>Constructing the Lorenz curve: </a:t>
            </a:r>
            <a:pPr algn="l" indent="0" marL="0">
              <a:spcAft>
                <a:spcPts val="800"/>
              </a:spcAft>
              <a:buNone/>
            </a:pPr>
            <a:r>
              <a:rPr lang="en-US" sz="3000" dirty="0">
                <a:solidFill>
                  <a:srgbClr val="111111"/>
                </a:solidFill>
                <a:latin typeface="Times New Roman" pitchFamily="34" charset="0"/>
                <a:ea typeface="Times New Roman" pitchFamily="34" charset="-122"/>
                <a:cs typeface="Times New Roman" pitchFamily="34" charset="-120"/>
              </a:rPr>
              <a:t>Areas are ranked from the least to the most dense, and their percentages of population and area are added up. The cumulative % of population is then plotted against the cumulative % of area.</a:t>
            </a:r>
            <a:endParaRPr lang="en-US" sz="3000" dirty="0"/>
          </a:p>
        </p:txBody>
      </p:sp>
      <p:pic>
        <p:nvPicPr>
          <p:cNvPr id="5" name="Image 0" descr="/home/claude/f4/img/v2/lorenz_cmr_big.png">    </p:cNvPr>
          <p:cNvPicPr>
            <a:picLocks noChangeAspect="1"/>
          </p:cNvPicPr>
          <p:nvPr/>
        </p:nvPicPr>
        <p:blipFill>
          <a:blip r:embed="rId1"/>
          <a:stretch>
            <a:fillRect/>
          </a:stretch>
        </p:blipFill>
        <p:spPr>
          <a:xfrm>
            <a:off x="6537960" y="2678713"/>
            <a:ext cx="5470855" cy="2478981"/>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Lorenz curve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Showing Uneven Distribution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Reading the Lorenz curve: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diagonal line shows a perfectly even distribution. The further the curve lies from the diagonal, the more uneven the distribution.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Showing Uneven Distribution</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400" b="1" dirty="0">
                <a:solidFill>
                  <a:srgbClr val="111111"/>
                </a:solidFill>
                <a:latin typeface="Times New Roman" pitchFamily="34" charset="0"/>
                <a:ea typeface="Times New Roman" pitchFamily="34" charset="-122"/>
                <a:cs typeface="Times New Roman" pitchFamily="34" charset="-120"/>
              </a:rPr>
              <a:t>The density lapse rate: </a:t>
            </a:r>
            <a:pPr algn="l" indent="0" marL="0">
              <a:spcAft>
                <a:spcPts val="800"/>
              </a:spcAft>
              <a:buNone/>
            </a:pPr>
            <a:r>
              <a:rPr lang="en-US" sz="3400" dirty="0">
                <a:solidFill>
                  <a:srgbClr val="111111"/>
                </a:solidFill>
                <a:latin typeface="Times New Roman" pitchFamily="34" charset="0"/>
                <a:ea typeface="Times New Roman" pitchFamily="34" charset="-122"/>
                <a:cs typeface="Times New Roman" pitchFamily="34" charset="-120"/>
              </a:rPr>
              <a:t>Density is plotted against distance from a city centre or from the coast, and it usually falls quickly outwards. In Yaoundé, for example, density is very high near the centre and falls towards the outskirts.</a:t>
            </a:r>
            <a:endParaRPr lang="en-US" sz="3400" dirty="0"/>
          </a:p>
        </p:txBody>
      </p:sp>
      <p:pic>
        <p:nvPicPr>
          <p:cNvPr id="5" name="Image 0" descr="/home/claude/f4/img/v2/lapse_example_big.png">    </p:cNvPr>
          <p:cNvPicPr>
            <a:picLocks noChangeAspect="1"/>
          </p:cNvPicPr>
          <p:nvPr/>
        </p:nvPicPr>
        <p:blipFill>
          <a:blip r:embed="rId1"/>
          <a:stretch>
            <a:fillRect/>
          </a:stretch>
        </p:blipFill>
        <p:spPr>
          <a:xfrm>
            <a:off x="6537960" y="2721454"/>
            <a:ext cx="5470855" cy="2393499"/>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density lapse rate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Assessment of the Techniques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techniques have the following advantages and disadvantages: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Choropleth map: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easy to draw and read and allows areas to be compared quickly. However, it hides differences inside each area and depends on administrative boundaries.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Assessment of the Techniques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Isopleth map: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shows gradual changes across a region and is not limited by boundaries. However, it needs many data points and is harder to draw and read.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Assessment of the Techniques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Dot map and proportional symbols: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Dot maps show the real pattern and clusters of people, and proportional symbols are easy to compare at a glance. However, dots merge and symbols overlap in crowded areas, so exact numbers are hard to read.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Assessment of the Techniques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Lorenz curve and lapse rate: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measure the degree of inequality and the change of density with distance. However, they need detailed data and do not show where people live on a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advantage and one disadvantage of the dot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Advantage: it shows the real pattern of population; disadvantage: dots merge in dense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a Lorenz curve far from the diagonal show?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very uneven distribution of the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map with shades of colour for each region is a ______ map.</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Lines joining places of equal density are called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______ curve compares cumulative population with cumulative area.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regions of the world that are densely populated.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 Spatial Population Distribution and its Factors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Choropleth map</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carte choroplèthe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Dot map</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carte par points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Proportional circles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cercles proportionnels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Key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légende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Lorenz curve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courbe de Lorenz</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Unevenness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L'inégalité de répartition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Population Numbers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Practical Work 1: Techniques of Mapping Population Distribution and Density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choropleth, isopleth, dot and proportional symbol maps. Explain how the Lorenz curve and the density lapse rate show unevenness. Assess the advantages and disadvantages of each technique.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choose, draw and read the main maps and graphs of population distribution and density.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6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Techniques of Mapping Population Distribution and Density; Showing Uneven Distribution; Assessment of the Techniques.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Name two regions of the world that are densely populated.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shade a sketch map with four shades.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dots on a sketch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two circles of different sizes.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draw the diagonal and a curve.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draw the falling curve.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 Sixth Forms (Lower and Upper Sixth), MINESEC, 2019 — Module 4 (Population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course notes: Mr KAMDEM E., Population Geography (USA), GBHS Garoua, 2026.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United Nations, World Population Prospects 2024.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62</Slides>
  <Notes>62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62</vt:i4>
      </vt:variant>
    </vt:vector>
  </HeadingPairs>
  <TitlesOfParts>
    <vt:vector size="6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2026-09-29T12:18:45Z</dcterms:created>
  <dcterms:modified xsi:type="dcterms:W3CDTF">2026-09-29T12:18:45Z</dcterms:modified>
</cp:coreProperties>
</file>