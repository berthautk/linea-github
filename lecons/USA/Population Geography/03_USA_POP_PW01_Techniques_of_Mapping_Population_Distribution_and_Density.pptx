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1: Techniques of Mapping Population Distribution and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Numbers, and the sub-topic is Population Density and Distribution. The key notions we shall use today are: population mapping, dot map, choropleth map, isopleth map, proportional symbol map, Lorenz curve, density lapse rate. At the end, you should be able to do this: learners are able to map population distribution and density and assess each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Population Distribution and Density. The question was: Find the population and area of your region and calculate its density.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North Region (example): population about 2.5 million, area about 66,000 km², density ≈ 2,500,000 ÷ 66,000 ≈ 38 people per km².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and illustrate at least four methods of mapping population distribution and density. Number 2: explain how the Lorenz curve shows the unequal distribution of population. Number 3: define and interpret the population density lapse rate. Number 4: assess the advantages and disadvantages of each technique.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distribution is the way people are spread over an area. Population density = total population ÷ total area. The Littoral is the most densely populated region of Cameroon, and the East the least.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lives near the Grand Marché of Garoua, where houses and people are packed together. When she visits her cousin Bouba on the road to Maroua, she sees only a few houses scattered among the farms. For a school exhibition, she must show on one map of the North Region where people live and how crowded each place is, but she does not know how to do it. She asks her geography teacher: "How can one map show both where people live and how crowded they are?"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does not know how to show on one map where people live (distribution) and how crowded each place is (density).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Aïssatou notice between Garoua and the road to Maroua?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number of people and houses decreases as she moves away from the city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can help her to solve the problem?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Mapping techniques such as dot, choropleth, isopleth and proportional symbol maps, and graphs such as the Lorenz curve and the density lapse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choose the right technique to map population data, and read population maps critically before using them for decisions.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represent population data on maps and graphs, to read such maps in examinations and to use them for planning in our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population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Look at the map. (a) What do the small red dots show? (b) Why are the dots crowded in some places and rare in others? (c) What can we call this kind of map?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Each dot shows a fixed number of people. (b) Many people live where the dots are crowded (West, Littoral, Far North) and few where they are rare (East, South). (c) It is a dot map (dot distribution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another population map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What do the different shades on this map show? (b) Why is the Littoral darker than the East? (c) What do the numbers in each region represent?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Each region is shaded according to its density class: the darker, the denser. (b) The Littoral has many more people per km² (about 190) than the East (about 11). (c) The density of each region: this is a choropleth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a graph of the regions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(a) What does the dashed green line show? (b) Is the red curve close to it or far from it? (c) What does this tell us about how people are spread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A perfectly even distribution: x % of the land holds x % of the people. (b) It is far from it. (c) The population is very unevenly distributed: about half of the people live on the densest 20 % of the land.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density and distance from a city centre (invented figures).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(a) Where is density highest on the graph? (b) What happens to density between 5 km and 15 km from the centre? (c) Give one reason for this change.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At the city centre (CBD), about 12,000 people per km². (b) It falls from about 2,100 to about 60 people per km². (c) Land is expensive in the centre, so people live close together; on the outskirts, land is cheaper and plots are bigger.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comparison of the techniques.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(a) Which techniques show the real pattern of where people live? (b) Which technique hides differences inside each region? (c) Which technique would you choose to show the population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The dot map and the isopleth map. (b) The choropleth map. (c) The proportional symbol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mapping.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distribution and Population density.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Dot Maps. Copy the point on Dot map on the left, then draw the diagram on the right: a dot map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Dot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Choropleth (Shading) Maps. Copy the point on Choropleth map on the left, then draw the diagram on the right: a choropleth map of density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(Shading)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Choropleth (Shading)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Isopleth Maps. Copy the point on Isopleth map on the left, then draw the diagram on the right: an isopleth map of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Isopleth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Isopleth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Proportional Symbol Maps. Copy the point on Proportional symbol map on the left, then draw the diagram on the right: proportional circles for towns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Proportional Symbol Maps.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Lorenz Curve. On this slide we have Lorenz curve.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A straight diagonal line at 45°, the line of perfect equality, shows a perfectly even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lorenz curve of the regions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Lorenz Curve.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Population Density Lapse Rate. On this slide we have Population density lapse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In Garoua, density is very high around the Grand Marché and falls towards the outskirts..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a density lapse graph.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Advantages.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Population Density Lapse Rate. On this slide we have Disadvantages.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four methods of mapping population distribution and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dot map, choropleth map, isopleth map and proportional symbol map.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does a Lorenz curve far from the diagonal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very unequal distribution of population.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isopleths; number 2, equality; number 3, decreases.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why a choropleth map of the North Region might be misleading, even if the data are correct.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3: Spatial Population Distribution and its Factors.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1: TECHNIQUES OF MAPPING POPULATION DISTRIBUTION AND DENSITY</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Techniques of Mapping Population Distribution and Density</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Numbers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and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mapping, dot map, choropleth map, isopleth map, proportional symbol map, Lorenz curve, density lapse rate.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Dot and choropleth maps; the Lorenz curve; population density lapse rates; advantages and disadvantages.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Population Distribution and Density):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North Region (example): population about 2.5 million, area about 66,000 km², density ≈ 2,500,000 ÷ 66,000 ≈ 38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and illustrate at least four methods of mapping population distribution and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the Lorenz curve shows the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interpret the population density lapse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Assess the advantages and disadvantages of each technique.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distribution is the way people are spread over an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 total population ÷ total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Littoral is the most densely populated region of Cameroon, and the East the least.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lives near the Grand Marché of Garoua, where houses and people are packed together.</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she visits her cousin Bouba on the road to Maroua, she sees only a few houses scattered among the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a school exhibition, she must show on one map of the North Region where people live and how crowded each place is, but she does not know how to do it.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does not know how to show on one map where people live (distribution) and how crowded each place is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Aïssatou notice between Garoua and the road to Maroua?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number of people and houses decreases as she moves away from the city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help her to solve the problem?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Mapping techniques such as dot, choropleth, isopleth and proportional symbol maps, and graphs such as the Lorenz curve and the density lapse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right technique to map population data, and read population maps critically before using them for decisions.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represent population data on maps and graphs, to read such maps in examinations and to use them for planning in our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ot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population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the map. (a) What do the small red dots show? (b) Why are the dots crowded in some places and rare in others? (c) What can we call this kind of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A) DOT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Each dot shows a fixed number of people. (b) Many people live where the dots are crowded (West, Littoral, Far North) and few where they are rare (East, South). (c) It is a dot map (dot distribution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choropleth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Another population map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What do the different shades on this map show? (b) Why is the Littoral darker than the East? (c) What do the numbers in each region represent?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B) CHOROPLETH MAPS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Each region is shaded according to its density class: the darker, the denser. (b) The Littoral has many more people per km² (about 190) than the East (about 11). (c) The density of each region: this is a choropleth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orenz_cmr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regions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What does the dashed green line show? (b) Is the red curve close to it or far from it? (c) What does this tell us about how people are spread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A) THE LORENZ CURVE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A perfectly even distribution: x % of the land holds x % of the people. (b) It is far from it. (c) The population is very unevenly distributed: about half of the people live on the densest 20 % of the land.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apse_exampl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Density and distance from a city centre (invented figures).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Where is density highest on the graph? (b) What happens to density between 5 km and 15 km from the centre? (c) Give one reason for this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 POPULATION DENSITY LAPSE RATE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At the city centre (CBD), about 12,000 people per km². (b) It falls from about 2,100 to about 60 people per km². (c) Land is expensive in the centre, so people live close together; on the outskirts, land is cheaper and plots are bigger.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methods_compar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Comparison of the techniques.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Which techniques show the real pattern of where people live? (b) Which technique hides differences inside each region? (c) Which technique would you choose to show the population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ASSESSMENT (ADVANTAGES AND DISADVANTAGES)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The dot map and the isopleth map. (b) The choropleth map. (c) The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Numbers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Density and Distribution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Techniques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mapping: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use of maps and graphs to show where people live (distribution) and how crowded places are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number of people per unit area, usually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Dot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Dot map: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Each dot represents a fixed number of people, for example 1 dot = 10,000 people. Crowded dots show dense areas, and scattered dots show sparse areas.</a:t>
            </a:r>
            <a:endParaRPr lang="en-US" sz="3200" dirty="0"/>
          </a:p>
        </p:txBody>
      </p:sp>
      <p:pic>
        <p:nvPicPr>
          <p:cNvPr id="6" name="Image 0" descr="/home/claude/f4/img/v2/dot_map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dot map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gives a good visual impression of the real distribution.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easy to understand, and the number of people can be estimated by counting the dots.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Dot Maps (continued)</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very dense areas, the dots merge into black patches.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slow to draw, and the dots are hard to place and count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Choropleth (Shading)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Choropleth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Each administrative area is shaded according to its density class. The darker the shade, the higher the density.</a:t>
            </a:r>
            <a:endParaRPr lang="en-US" sz="3600" dirty="0"/>
          </a:p>
        </p:txBody>
      </p:sp>
      <p:pic>
        <p:nvPicPr>
          <p:cNvPr id="6" name="Image 0" descr="/home/claude/f4/img/v2/choropleth_big.png">    </p:cNvPr>
          <p:cNvPicPr>
            <a:picLocks noChangeAspect="1"/>
          </p:cNvPicPr>
          <p:nvPr/>
        </p:nvPicPr>
        <p:blipFill>
          <a:blip r:embed="rId1"/>
          <a:stretch>
            <a:fillRect/>
          </a:stretch>
        </p:blipFill>
        <p:spPr>
          <a:xfrm>
            <a:off x="5349240" y="2253310"/>
            <a:ext cx="6659575" cy="3329788"/>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choropleth map of density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Choropleth (Shading)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general patterns and allows quick comparison between areas.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uses data that are easy to obtain for administrative units.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Choropleth (Shading) Maps (continued)</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assumes that people are spread evenly inside each area, which is rarely true.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sharp changes at boundaries are misleading.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Isopleth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Isopleth map: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Lines called isopleths join places with the same population density. The spaces between the lines are shaded, darker for higher densities.</a:t>
            </a:r>
            <a:endParaRPr lang="en-US" sz="3400" dirty="0"/>
          </a:p>
        </p:txBody>
      </p:sp>
      <p:pic>
        <p:nvPicPr>
          <p:cNvPr id="6" name="Image 0" descr="/home/claude/f4/img/v2/pop_isopleth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isopleth map of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Isopleth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gradual changes in density and avoids the sharp boundaries of choropleth maps.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can represent density patterns more accurately.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Isopleth Maps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a large number of data points.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difficult to draw and to interpret.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D) Proportional Symbol Maps</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Proportional symbol map: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circle or a square is drawn for each place. Its size is proportional to the population of the place.</a:t>
            </a:r>
            <a:endParaRPr lang="en-US" sz="3600" dirty="0"/>
          </a:p>
        </p:txBody>
      </p:sp>
      <p:pic>
        <p:nvPicPr>
          <p:cNvPr id="6" name="Image 0" descr="/home/claude/f4/img/v2/prop_circles_big.png">    </p:cNvPr>
          <p:cNvPicPr>
            <a:picLocks noChangeAspect="1"/>
          </p:cNvPicPr>
          <p:nvPr/>
        </p:nvPicPr>
        <p:blipFill>
          <a:blip r:embed="rId1"/>
          <a:stretch>
            <a:fillRect/>
          </a:stretch>
        </p:blipFill>
        <p:spPr>
          <a:xfrm>
            <a:off x="5349240" y="2617506"/>
            <a:ext cx="6659575" cy="2601397"/>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proportional circles for towns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Proportional Symbol Maps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the total population of towns and cities very clearly.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can see at a glance which places have the largest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Mapping Density and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D) Proportional Symbol Maps (continued)</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Large symbols overlap in crowded areas and make the map hard to read.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does not show how people are distributed inside each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Lorenz curve: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how unevenly the population is distributed over an area. It plots the cumulative percentage of population against the cumulative percentage of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straight diagonal line at 45°, the line of perfect equality, shows a perfectly 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The Lorenz Curve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further the curve lies below the diagonal, the more unequal the distribution: in Cameroon, the densest 20 % of the land holds about half of the people.</a:t>
            </a:r>
            <a:endParaRPr lang="en-US" sz="3200" dirty="0"/>
          </a:p>
        </p:txBody>
      </p:sp>
      <p:pic>
        <p:nvPicPr>
          <p:cNvPr id="6" name="Image 0" descr="/home/claude/f4/img/v2/lorenz_cmr_big.png">    </p:cNvPr>
          <p:cNvPicPr>
            <a:picLocks noChangeAspect="1"/>
          </p:cNvPicPr>
          <p:nvPr/>
        </p:nvPicPr>
        <p:blipFill>
          <a:blip r:embed="rId1"/>
          <a:stretch>
            <a:fillRect/>
          </a:stretch>
        </p:blipFill>
        <p:spPr>
          <a:xfrm>
            <a:off x="5349240" y="2409394"/>
            <a:ext cx="6659575" cy="3017620"/>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Lorenz curve of the regions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measures inequality precisely.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allows comparison between countries or between dates.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The Lorenz Curve (continued)</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does not show where people live on a map.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needs accurate data and hides differences inside each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lapse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decrease of population density as the distance from a central point increases. The central point is usually the Central Business District (CBD) of a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100" b="1" dirty="0">
                <a:solidFill>
                  <a:srgbClr val="990011"/>
                </a:solidFill>
                <a:latin typeface="Times New Roman" pitchFamily="34" charset="0"/>
                <a:ea typeface="Times New Roman" pitchFamily="34" charset="-122"/>
                <a:cs typeface="Times New Roman" pitchFamily="34" charset="-120"/>
              </a:rPr>
              <a:t>B) The Population Density Lapse Rate (continued)</a:t>
            </a:r>
            <a:endParaRPr lang="en-US" sz="21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Garoua, density is very high around the Grand Marché and falls towards the outskirts.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4" name="Text 2"/>
          <p:cNvSpPr/>
          <p:nvPr/>
        </p:nvSpPr>
        <p:spPr>
          <a:xfrm>
            <a:off x="365760" y="1737360"/>
            <a:ext cx="51206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000" dirty="0"/>
          </a:p>
        </p:txBody>
      </p:sp>
      <p:sp>
        <p:nvSpPr>
          <p:cNvPr id="5" name="Text 3"/>
          <p:cNvSpPr/>
          <p:nvPr/>
        </p:nvSpPr>
        <p:spPr>
          <a:xfrm>
            <a:off x="365760" y="2240280"/>
            <a:ext cx="4846320" cy="41605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curve slopes downwards: density is highest at the CBD and falls quickly, then slowly, towards the edge of the city.</a:t>
            </a:r>
            <a:endParaRPr lang="en-US" sz="3600" dirty="0"/>
          </a:p>
        </p:txBody>
      </p:sp>
      <p:pic>
        <p:nvPicPr>
          <p:cNvPr id="6" name="Image 0" descr="/home/claude/f4/img/v2/lapse_example_big.png">    </p:cNvPr>
          <p:cNvPicPr>
            <a:picLocks noChangeAspect="1"/>
          </p:cNvPicPr>
          <p:nvPr/>
        </p:nvPicPr>
        <p:blipFill>
          <a:blip r:embed="rId1"/>
          <a:stretch>
            <a:fillRect/>
          </a:stretch>
        </p:blipFill>
        <p:spPr>
          <a:xfrm>
            <a:off x="5349240" y="2461422"/>
            <a:ext cx="6659575" cy="2913564"/>
          </a:xfrm>
          <a:prstGeom prst="rect">
            <a:avLst/>
          </a:prstGeom>
        </p:spPr>
      </p:pic>
      <p:sp>
        <p:nvSpPr>
          <p:cNvPr id="7" name="Text 4"/>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density lapse graph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The Population Density Lapse Rate</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shows clearly how density changes from the centre to the edge of a city.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helps planners to locate services, housing and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Showing Uneven Distribution</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The Population Density Lapse Rate (continued)</a:t>
            </a:r>
            <a:endParaRPr lang="en-US" sz="30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Disadvantages: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describes only one city at a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In real cities, density does not always fall smoothly, because of new suburbs and slums on the edge.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methods of mapping population distribution and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Dot map, choropleth map, isopleth map and proportional symbol map.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Lorenz curve far from the diagonal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very unequal distribution of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Lines joining places of equal density are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On a Lorenz curve, the straight 45° line is the line of perfect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density usually ______ with distance from the CBD.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why a choropleth map of the North Region might be misleading, even if the data are correct.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 Spatial Population Distribution and its Factors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Dot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par points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Choropleth 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 choroplèthe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Isopleth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L'isoplèthe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Proportional symbol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symbole proportionnel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Lorenz curve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courbe de Lorenz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 lapse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gradient de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Cumulé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Numbers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1: Techniques of Mapping Population Distribution and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and illustrate at least four methods of mapping population distribution and density. Explain how the Lorenz curve shows the unequal distribution of population. Define and interpret the population density lapse rate. Assess the advantages and disadvantages of each technique.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map population distribution and density and assess each method.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Dot Maps; Choropleth (Shading) Maps; Isopleth Maps; Proportional Symbol Maps; The Lorenz Curve; The Population Density Lapse Rate.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why a choropleth map of the North Region might be misleading, even if the data are correct.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sketch map of Cameroon and place dots.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shade four regions with four pencils.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plot cumulative percentages on graph paper.</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the centre of Garoua and its outskirts.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copy the table.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2026-09-28T13:58:10Z</dcterms:created>
  <dcterms:modified xsi:type="dcterms:W3CDTF">2026-09-28T13:58:10Z</dcterms:modified>
</cp:coreProperties>
</file>