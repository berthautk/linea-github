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Lst>
  <p:notesMasterIdLst>
    <p:notesMasterId r:id="rId6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notesMaster" Target="notesMasters/notesMaster1.xml"/><Relationship Id="rId70" Type="http://schemas.openxmlformats.org/officeDocument/2006/relationships/presProps" Target="presProps.xml"/><Relationship Id="rId71" Type="http://schemas.openxmlformats.org/officeDocument/2006/relationships/viewProps" Target="viewProps.xml"/><Relationship Id="rId72" Type="http://schemas.openxmlformats.org/officeDocument/2006/relationships/theme" Target="theme/theme1.xml"/><Relationship Id="rId7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Sources of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Data. The key notions we shall use today are: population geography, population, population studies, census, de facto, de jure, sample survey, vital registration, migration records. At the end, you should be able to do this: learners are able to identify the sources of population data, compare their strengths and weaknesses and describe the present state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population geography, population and population studies. Number 2: describe the static methods of collecting population data. Number 3: describe the dynamic methods of collecting population data. Number 4: name other sources of population data. Number 5: describe the current state of the world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Geography studies the relationship between people and their environment. Cameroon has ten regions with very different numbers of people. A birth certificate is delivered by the civil status office.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Garoua City Council wants to build a new community centre with a playground, a health post and a sports field. Before choosing the site, the Mayor tells his team: "We must know how many people live in each neighbourhood, how old they are and how many newcomers arrive each year." A young councillor asks: "Where can we find reliable figures on the people of our town?"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council needs reliable population data to plan a community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source counts every person of the country?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census, organised in Cameroon by BUCREP.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source shows the number of births each year?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Vital registration (the civil status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register every birth and death at the civil status office and answer census agents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where population figures come from and how reliable they are, so that we can use them to plan schools, hospitals and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static and dynamic methods.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method gives a "photograph" of the whole population on one date?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census.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counted in Garoua or in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Amadou lives in Garoua but sleeps in Douala on census night. Where is he counted with the de jure method?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Garoua, his usual residence.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newborn baby.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dynamic method records this birth?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Vital registration (the civil status register).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travellers at an airport.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migration records often unreliable in Africa?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Many people cross borders or move inside the country without being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world population today.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About how many people live on Earth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8.2 billion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geography.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and Census.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Sample survey and Vital registration.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Census. The census has the following characteristics. Copy the point on Meaning and content on the left, then draw the diagram on the right: static and dynamic sources.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Frequency on the left, then draw the diagram on the right: a crowd.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Census. Copy the point on Cost and organisation: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 Facto and De Jure Censuses. People are counted in a census by the following two methods. Copy the point on De facto method on the left, then draw the diagram on the right: de facto and de jure.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 Facto and De Jure Censuses. Copy the point on De jure method: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 Facto and De Jure Censuses. Copy the point on Problems: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Sample Surveys. Sample surveys have the following characteristics. Copy the point on Principle on the left, then draw the diagram on the right: a sample survey.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Sample Surveys. Copy the point on Sampling methods: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Sample Surveys. Copy the point on Examples: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Sample Surveys. Copy the point on Strengths and weaknesses: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Vital Registration and Migration Records. Population changes are recorded continuously by the following sources. Copy the point on Vital registration on the left, then draw the diagram on the right: a newborn baby.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Vital Registration and Migration Records. Copy the point on Reliability of vital registration: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Migration records on the left, then draw the diagram on the right: a passport.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Vital Registration and Migration Records. Copy the point on Reliability of migration records: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Current State of the World Population. The world population today has the following characteristics. Copy the point on Size on the left, then draw the diagram on the right: world population trends.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Current State of the World Population. Copy the point on Slower growth: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Contrasts on the left, then draw the diagram on the right: world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Current State of the World Population. Copy the point on Urbanisation and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between the de facto and the de jure methods of census.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de facto method counts people where they are on census night; the de jure method counts them at their usual residence.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vital registration is incomplete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births take place at home far from civil status offices, and many people do not know the importance of declaring births and deaths.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census; number 2, vital; number 3, 2005.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population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Population Distribution and Density.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SOURCES OF POPULATION DATA</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Sources of Population Data</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Sources of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geography, population, population studies, census, de facto, de jure, sample survey, vital registration, migration records.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Static methods (census, sample surveys) and dynamic methods (vital registration, migration records); other sources; current state of the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sources of population data, compare their strengths and weaknesses and describe the present state of the world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population geography, population and population studies.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static methods of collecting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dynamic methods of collecting population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other sources of population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current state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Geography studies the relationship between people and their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ten regions with very different numbers of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birth certificate is delivered by the civil status office.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Garoua City Council wants to build a new community centre with a playground, a health post and a sports field.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Before choosing the site, the Mayor tells his team: "We must know how many people live in each neighbourhood, how old they are and how many newcomers arrive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young councillor asks: "Where can we find reliable figures on the people of 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council needs reliable population data to plan a community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counts every person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census, organised in Cameroon by BUCREP.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source shows the number of births each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Vital registration (the civil status registers).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Register every birth and death at the civil status office and answer census agents honestly.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where population figures come from and how reliable they are, so that we can use them to plan schools, hospitals and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op2_static_dynamic.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Static and dynamic methods.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method gives a "photograph" of the whole population on one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facto_jur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Counted in Garoua or in 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Amadou lives in Garoua but sleeps in Douala on census night. Where is he counted with the de jure method?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STATIC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his usual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newbor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newborn baby.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dynamic method records this birth?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Vital registration (the civil status register).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pass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Travellers at an airport.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migration records often unreliable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DYNAMIC METHODS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cross borders or move inside the country without being recorded.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WORLD POPULATION TODAY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op2_trend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world population today.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WORLD POPULATION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how many people live on Earth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WORLD POPULATION TODAY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8.2 billion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Data</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Sources of Population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branch of geography that studies the distribution, composition, growth and movements of population in space and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total number of people living in a given area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complete official count of all the people of a country or region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Sample survey: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collection of data from a small part of the population chosen to represent the whole.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Vital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continuous recording of births, deaths, marriages and divorces by the civil status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Census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census has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Meaning and content: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A census counts every person of a country at the same moment, like a photograph of the population. It records the age, sex, marital status, education, occupation and residence of each person.</a:t>
            </a:r>
            <a:endParaRPr lang="en-US" sz="2800" dirty="0"/>
          </a:p>
        </p:txBody>
      </p:sp>
      <p:pic>
        <p:nvPicPr>
          <p:cNvPr id="6" name="Image 0" descr="/home/claude/f4/img/v2/pop2_static_dynamic.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static and dynamic sources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Census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Frequency: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census is normally held every ten years. Cameroon held censuses in 1976, 1987 and 2005, and the 2005 census counted 17,463,836 people.</a:t>
            </a:r>
            <a:endParaRPr lang="en-US" sz="3600" dirty="0"/>
          </a:p>
        </p:txBody>
      </p:sp>
      <p:pic>
        <p:nvPicPr>
          <p:cNvPr id="6" name="Image 0" descr="/home/claude/f4/img/v2/usa_crow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crowd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Census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Cost and organisation: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most complete source of population data but also the most expensive, so it is often delayed in developing countries. In Cameroon, it is organised by BUCREP (Bureau Central des Recensements et des Études de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De Facto and De Jure Censuses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People are counted in a census by the following two methods: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De facto method: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People are counted where they are found on census night, even if they are only visiting. For example, a Garoua trader sleeping in Douala on census night is counted in Douala.</a:t>
            </a:r>
            <a:endParaRPr lang="en-US" sz="3000" dirty="0"/>
          </a:p>
        </p:txBody>
      </p:sp>
      <p:pic>
        <p:nvPicPr>
          <p:cNvPr id="6" name="Image 0" descr="/home/claude/f4/img/v2/pop2_facto_jure.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 facto and de jure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 Facto and De Jure Censuses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 jure method: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counted at their usual place of residence, wherever they are on census night. It is used in the USA and in Cameroon, so the Garoua trader is counted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Censuses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De Facto and De Jure Censuses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 facto method can count travellers in the wrong place and inflate the population of towns. The de jure method has difficulties with homeless people and people who have two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Sample surveys have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Data are collected from a representative part of the population, and the results are extended to the whole. For example, if 30 people in a 10 % sample of 300 are married, about 300 of the 3,000 villagers are married.</a:t>
            </a:r>
            <a:endParaRPr lang="en-US" sz="3000" dirty="0"/>
          </a:p>
        </p:txBody>
      </p:sp>
      <p:pic>
        <p:nvPicPr>
          <p:cNvPr id="5" name="Image 0" descr="/home/claude/f4/img/v2/pop2_sampl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sample survey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Sampling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Random and systematic sampling are used so that every person has a fair chance of being chosen. This makes the sample representative of the whole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Cameroon, the Demographic and Health Surveys (EDS) and the household surveys of the INS (Institut National de la Statistique) are sample surveys. They give data on fertility, health and poverty between censuses.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Sample Surveys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and 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Sample surveys are cheaper and faster than a census and can ask more detailed questions. However, a badly chosen sample gives wrong results for the whole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Vital Registration and Migration Records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Population changes are recorded continuously by the following sources: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Vital registration: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civil status office records births, deaths, marriages, divorces and adoptions as they happen, like a film of the population. It shows how the population changes between censuses.</a:t>
            </a:r>
            <a:endParaRPr lang="en-US" sz="2800" dirty="0"/>
          </a:p>
        </p:txBody>
      </p:sp>
      <p:pic>
        <p:nvPicPr>
          <p:cNvPr id="5" name="Image 0" descr="/home/claude/f4/img/v2/usa_newbor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newborn baby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Vital Registration and Migration Records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Reliability of vital registration: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complete and accurate in developed countries, where every birth and death must be declared. In Cameroon, many births and deaths in villages are never declared, so the records are incomplete.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Vital Registration and Migration Records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Migration records: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Passports, visas, residence permits, border records and refugee registers show movements into and out of a country. They measure international migration.</a:t>
            </a:r>
            <a:endParaRPr lang="en-US" sz="3600" dirty="0"/>
          </a:p>
        </p:txBody>
      </p:sp>
      <p:pic>
        <p:nvPicPr>
          <p:cNvPr id="5" name="Image 0" descr="/home/claude/f4/img/v2/usa_passport.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passport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Vital Registration and Migration Records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Reliability of migration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Internal movements are rarely recorded, and many people cross African borders informally. These records therefore underestimate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world population today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world population passed 8 billion in 2022 and is about 8.2 billion today. Asia contains about 60 % of all people.</a:t>
            </a:r>
            <a:endParaRPr lang="en-US" sz="3600" dirty="0"/>
          </a:p>
        </p:txBody>
      </p:sp>
      <p:pic>
        <p:nvPicPr>
          <p:cNvPr id="5" name="Image 0" descr="/home/claude/f4/img/v2/pop2_trend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 trends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Slower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still grows by about 70 million people a year, but the growth rate is falling. It is expected to stop growing in the second half of this century.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Contrasts: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Developed countries have low birth rates and ageing populations. Developing countries, especially in Africa, have high birth rates and young populations.</a:t>
            </a:r>
            <a:endParaRPr lang="en-US" sz="3600" dirty="0"/>
          </a:p>
        </p:txBody>
      </p:sp>
      <p:pic>
        <p:nvPicPr>
          <p:cNvPr id="5" name="Image 0" descr="/home/claude/f4/img/v2/world_pop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world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Current State of the World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and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57 % of the world population lives in towns, and cities grow fastest in Asia and Africa. Migration increases the population of receiving countries such as the USA and Germany and reduces that of sending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between the de facto and the de jure methods of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 facto method counts people where they are on census night; the de jure method counts them at their usual residence.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vital registration is incomplete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births take place at home far from civil status offices, and many people do not know the importance of declaring births and deaths.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______ counts every person of a country at a given time.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Births and deaths are recorded by ______ registration.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last census of Cameroon took place in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Sample survey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 par sondage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Vital registration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L'état civil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certificate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L'acte de naissance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studies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démographie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Usual residence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résidence habituelle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Sources of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geography, population and population studies. Describe the static methods of collecting population data. Describe the dynamic methods of collecting population data. Name other sources of population data. Describe the current state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sources of population data, compare their strengths and weaknesses and describe the present state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Census; De Facto and De Jure Censuses; Sample Surveys; Vital Registration and Migration Records; The Current State of the World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population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two columns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tell the story of Amadou.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who has a birth certificate.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border post such as Kousseri.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four figures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“Newborn baby rests” by World Bank Photo Collection, CC BY-NC-ND 2.0, via Flickr (https://www.flickr.com/photos/10816734@N03/19845580540)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“London Heathrow T4 arrivals” by markhillary, CC BY 2.0, via Flickr (https://www.flickr.com/photos/56087830@N00/1568955656)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(Frequency):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67</Slides>
  <Notes>67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67</vt:i4>
      </vt:variant>
    </vt:vector>
  </HeadingPairs>
  <TitlesOfParts>
    <vt:vector size="7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2026-09-29T11:34:33Z</dcterms:created>
  <dcterms:modified xsi:type="dcterms:W3CDTF">2026-09-29T11:34:33Z</dcterms:modified>
</cp:coreProperties>
</file>