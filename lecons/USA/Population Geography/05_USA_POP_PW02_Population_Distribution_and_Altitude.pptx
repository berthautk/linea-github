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slideMasters/slideMaster48.xml" ContentType="application/vnd.openxmlformats-officedocument.presentationml.slideMaster+xml"/>
  <Override PartName="/ppt/slides/slide48.xml" ContentType="application/vnd.openxmlformats-officedocument.presentationml.slide+xml"/>
  <Override PartName="/ppt/slideMasters/slideMaster49.xml" ContentType="application/vnd.openxmlformats-officedocument.presentationml.slideMaster+xml"/>
  <Override PartName="/ppt/slides/slide49.xml" ContentType="application/vnd.openxmlformats-officedocument.presentationml.slide+xml"/>
  <Override PartName="/ppt/slideMasters/slideMaster50.xml" ContentType="application/vnd.openxmlformats-officedocument.presentationml.slideMaster+xml"/>
  <Override PartName="/ppt/slides/slide50.xml" ContentType="application/vnd.openxmlformats-officedocument.presentationml.slide+xml"/>
  <Override PartName="/ppt/slideMasters/slideMaster51.xml" ContentType="application/vnd.openxmlformats-officedocument.presentationml.slideMaster+xml"/>
  <Override PartName="/ppt/slides/slide51.xml" ContentType="application/vnd.openxmlformats-officedocument.presentationml.slide+xml"/>
  <Override PartName="/ppt/slideMasters/slideMaster52.xml" ContentType="application/vnd.openxmlformats-officedocument.presentationml.slideMaster+xml"/>
  <Override PartName="/ppt/slides/slide52.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Lst>
  <p:notesMasterIdLst>
    <p:notesMasterId r:id="rId54"/>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notesMaster" Target="notesMasters/notesMaster1.xml"/><Relationship Id="rId55" Type="http://schemas.openxmlformats.org/officeDocument/2006/relationships/presProps" Target="presProps.xml"/><Relationship Id="rId56" Type="http://schemas.openxmlformats.org/officeDocument/2006/relationships/viewProps" Target="viewProps.xml"/><Relationship Id="rId57" Type="http://schemas.openxmlformats.org/officeDocument/2006/relationships/theme" Target="theme/theme1.xml"/><Relationship Id="rId58"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_rels/notesSlide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8.xml"/>
		</Relationships>
</file>

<file path=ppt/notesSlides/_rels/notesSlide4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9.xml"/>
		</Relationships>
</file>

<file path=ppt/notesSlides/_rels/notesSlide5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0.xml"/>
		</Relationships>
</file>

<file path=ppt/notesSlides/_rels/notesSlide5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1.xml"/>
		</Relationships>
</file>

<file path=ppt/notesSlides/_rels/notesSlide5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2.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morning, class, and welcome to our geography lesson. I am your geography teacher, Mr Kamdem. Today we are starting Practical Work 2: Population Distribution and Altitude.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lesson is for Upper Sixth Arts. It belongs to Module 4: Understanding and managing population dynamics across the world in general and Cameroon in particular. We shall need 2 periods to cover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topic is Population Numbers, and the sub-topic is Population Density and Distribution. The key notions we shall use today are: altitude, altitude zone, population percentage, tropical highlands, temperate lowlands. At the end, you should be able to do this: learners are able to read and explain graphs of population by altitude.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Before we start the new lesson, let us correct the homework I gave you at the end of Lesson 3: Spatial Population Distribution and its Factors. The question was: Explain why the Far North plains are crowded while the East Region is sparse. Take out your exercise books.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a good answer. The Far North plains are crowded because of fertile black soils, flat land, old settlement history and refuge in the Mandara Mountains. The East is sparse because of dense forest, poor soils, disease and poor roads. Compare it with your own answer and correct your work in red.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plan of our lesson today. First, we shall correct the homework. Then we shall look at the objectives and recall what you already know. After that, we shall study a situation from real life and the action to take, and do the learning activities. Finally, we shall copy the board summary, do the evaluation and the remediation, and I will give you the homework.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By the end of this lesson, you should be able to do three things. Number 1: read a graph of population by altitude. Number 2: compare tropical and temperate patterns. Number 3: explain the differences.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first remember what you already know. Temperature falls with altitude. Cool highlands in the tropics can be crowded. Keep this in mind, because we shall build on it today.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Listen carefully to this situation from real life. A graph in the textbook shows that in Europe most people live below 500 m, but in Bolivia and Ethiopia many people live above 2,000 m. Learners must explain this difference. Think about it, because I am going to ask you some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1: What is the problem in the situation?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Learners must explain two different patterns.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2: Where do Europeans mostly live?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On lowlands below 500 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3: Why do many tropical people live high up?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The highlands are cooler, healthier and fertile.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From this situation, the action we are working towards in this lesson is the following: interpret graphs of population and altitude to explain settlement.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is this lesson important for you? This practical work helps us to read graphs and link population to relief and climate.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1. Look carefully at this diagram: population by altitude in temperate and tropical lands (approximate).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1: Which altitude zone has the most people in tropical lands?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The 1,000–2,000 m zone (about 32 %).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2. Look carefully at this picture: high, cold mountains.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2: Why does population fall quickly with height in temperate lands?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High areas are cold, snowy and have poor soils.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3. Look carefully at this picture: la Paz, Bolivia, a large city at about 3,600 m.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3: Why do many people live high in the Andes?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The lowlands are hot and unhealthy; the high plateaus are cooler and have mines and farms.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4. Look carefully at this diagram: altitude and density in Cameroon.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4: Why are Bamenda and Dschang densely populated?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They are cool, fertile and healthy highlands.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5. Look carefully at this picture: farms on cool highlands.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5: Give two reasons for the tropical pattern.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Cooler climate with fewer diseases, and fertile volcanic soils.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we are going to copy the board summary. Write the title and the headings neatly in your notebooks. I will give you enough time for each slide, so do not rush.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the definitions. The key terms of this lesson are defined as follows. On this slide we have Altitudinal distribution.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Analysis of the Graph. The graph of population and altitude shows two patterns. On this slide we have Temperate pattern.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Analysis of the Graph. On this slide we have Tropical pattern.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draw this illustration in your notebook: population and altitude.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Explanation. The differences are explained as follows. On this slide we have Why highlands attract people in the tropics.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Explanation. On this slide we have Why highlands repel people in temperate lands.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draw this illustration in your notebook: altitude and density in Cameroon.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1: Describe the tropical pattern of population with altitude.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many people live at 1,000–3,000 m; highlands are crowded.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2: Why are lowlands preferred in temperate lands?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they are warmer, fertile and easy to use for transport and industry.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those who need more practice, fill in the blanks in your exercise book. The answers are: number 1, 500; number 2, Andes; number 3, healthier.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your homework: Draw a bar graph of population by altitude from the table and write three sentences about it. We shall correct it at the beginning of our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next lesson will be on Lesson 4: Modifications of Population Distribution. Thank you for your attention, and see you next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play the bilingual game. I say a word in English, and you give me the French word. Then we do the reverse.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record this information in the official logbook of the class after the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complete the second page of the logbook: the matter taught, the evaluation, the homework and the attendance.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is for me, the teacher: it gives the timing of the lesson and what to do if the projector is not available.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are the references and picture credits used to prepare this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52</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image-1003-1.png"/><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LESSON">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640080" cy="658368"/>
          </a:xfrm>
          <a:prstGeom prst="rect">
            <a:avLst/>
          </a:prstGeom>
          <a:solidFill>
            <a:srgbClr val="990011"/>
          </a:solidFill>
          <a:ln w="12700">
            <a:solidFill>
              <a:srgbClr val="990011"/>
            </a:solidFill>
            <a:prstDash val="solid"/>
          </a:ln>
        </p:spPr>
      </p:sp>
      <p:sp>
        <p:nvSpPr>
          <p:cNvPr id="3" name="Text 1"/>
          <p:cNvSpPr/>
          <p:nvPr/>
        </p:nvSpPr>
        <p:spPr>
          <a:xfrm>
            <a:off x="640080" y="0"/>
            <a:ext cx="4754880" cy="658368"/>
          </a:xfrm>
          <a:prstGeom prst="homePlate">
            <a:avLst/>
          </a:prstGeom>
          <a:solidFill>
            <a:srgbClr val="990011"/>
          </a:solidFill>
          <a:ln>
            <a:solidFill>
              <a:srgbClr val="990011"/>
            </a:solid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GEOGRAPHY / UPPER SIXTH ARTS</a:t>
            </a:r>
            <a:endParaRPr lang="en-US" sz="1800" dirty="0"/>
          </a:p>
        </p:txBody>
      </p:sp>
      <p:sp>
        <p:nvSpPr>
          <p:cNvPr id="4" name="Text 2"/>
          <p:cNvSpPr/>
          <p:nvPr/>
        </p:nvSpPr>
        <p:spPr>
          <a:xfrm>
            <a:off x="5212080" y="0"/>
            <a:ext cx="6979615" cy="658368"/>
          </a:xfrm>
          <a:prstGeom prst="chevron">
            <a:avLst/>
          </a:prstGeom>
          <a:solidFill>
            <a:srgbClr val="1C3F6E"/>
          </a:solidFill>
          <a:ln>
            <a:solidFill>
              <a:srgbClr val="1C3F6E"/>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PRACTICAL WORK 2: POPULATION DISTRIBUTION AND ALTITUDE</a:t>
            </a:r>
            <a:endParaRPr lang="en-US" sz="1400" dirty="0"/>
          </a:p>
        </p:txBody>
      </p:sp>
      <p:sp>
        <p:nvSpPr>
          <p:cNvPr id="5" name="Shape 3"/>
          <p:cNvSpPr/>
          <p:nvPr/>
        </p:nvSpPr>
        <p:spPr>
          <a:xfrm>
            <a:off x="0" y="6492240"/>
            <a:ext cx="2743200" cy="365760"/>
          </a:xfrm>
          <a:prstGeom prst="rect">
            <a:avLst/>
          </a:prstGeom>
          <a:solidFill>
            <a:srgbClr val="1C3F6E"/>
          </a:solidFill>
          <a:ln w="12700">
            <a:solidFill>
              <a:srgbClr val="1C3F6E"/>
            </a:solidFill>
            <a:prstDash val="solid"/>
          </a:ln>
        </p:spPr>
      </p:sp>
      <p:sp>
        <p:nvSpPr>
          <p:cNvPr id="6"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7"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8"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GBHS GAROUA</a:t>
            </a:r>
            <a:endParaRPr lang="en-US" sz="1300" dirty="0"/>
          </a:p>
        </p:txBody>
      </p:sp>
      <p:sp>
        <p:nvSpPr>
          <p:cNvPr id="9"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0"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VER">
    <p:bg>
      <p:bgPr>
        <a:solidFill>
          <a:srgbClr val="FFFFFF"/>
        </a:solidFill>
      </p:bgPr>
    </p:bg>
    <p:spTree>
      <p:nvGrpSpPr>
        <p:cNvPr id="1" name=""/>
        <p:cNvGrpSpPr/>
        <p:nvPr/>
      </p:nvGrpSpPr>
      <p:grpSpPr>
        <a:xfrm>
          <a:off x="0" y="0"/>
          <a:ext cx="0" cy="0"/>
          <a:chOff x="0" y="0"/>
          <a:chExt cx="0" cy="0"/>
        </a:xfrm>
      </p:grpSpPr>
      <p:pic>
        <p:nvPicPr>
          <p:cNvPr id="2" name="Image 0" descr="/home/claude/f4/img/minesec_sheet.png">    </p:cNvPr>
          <p:cNvPicPr>
            <a:picLocks noChangeAspect="1"/>
          </p:cNvPicPr>
          <p:nvPr/>
        </p:nvPicPr>
        <p:blipFill>
          <a:blip r:embed="rId1"/>
          <a:stretch>
            <a:fillRect/>
          </a:stretch>
        </p:blipFill>
        <p:spPr>
          <a:xfrm>
            <a:off x="0" y="0"/>
            <a:ext cx="5888736" cy="6492240"/>
          </a:xfrm>
          <a:prstGeom prst="rect">
            <a:avLst/>
          </a:prstGeom>
        </p:spPr>
      </p:pic>
      <p:sp>
        <p:nvSpPr>
          <p:cNvPr id="3" name="Text 0"/>
          <p:cNvSpPr/>
          <p:nvPr/>
        </p:nvSpPr>
        <p:spPr>
          <a:xfrm>
            <a:off x="6126480" y="502920"/>
            <a:ext cx="5760720" cy="822960"/>
          </a:xfrm>
          <a:prstGeom prst="rect">
            <a:avLst/>
          </a:prstGeom>
          <a:noFill/>
          <a:ln/>
        </p:spPr>
        <p:txBody>
          <a:bodyPr wrap="square" lIns="0" tIns="0" rIns="0" bIns="0" rtlCol="0" anchor="ctr"/>
          <a:lstStyle/>
          <a:p>
            <a:pPr algn="ctr" indent="0" marL="0">
              <a:buNone/>
            </a:pPr>
            <a:r>
              <a:rPr lang="en-US" sz="4400" b="1" dirty="0">
                <a:solidFill>
                  <a:srgbClr val="1565C0"/>
                </a:solidFill>
                <a:latin typeface="Times New Roman" pitchFamily="34" charset="0"/>
                <a:ea typeface="Times New Roman" pitchFamily="34" charset="-122"/>
                <a:cs typeface="Times New Roman" pitchFamily="34" charset="-120"/>
              </a:rPr>
              <a:t>MINESEC</a:t>
            </a:r>
            <a:endParaRPr lang="en-US" sz="4400" dirty="0"/>
          </a:p>
        </p:txBody>
      </p:sp>
      <p:sp>
        <p:nvSpPr>
          <p:cNvPr id="4" name="Text 1"/>
          <p:cNvSpPr/>
          <p:nvPr/>
        </p:nvSpPr>
        <p:spPr>
          <a:xfrm>
            <a:off x="6126480" y="1325880"/>
            <a:ext cx="5760720" cy="457200"/>
          </a:xfrm>
          <a:prstGeom prst="rect">
            <a:avLst/>
          </a:prstGeom>
          <a:noFill/>
          <a:ln/>
        </p:spPr>
        <p:txBody>
          <a:bodyPr wrap="square" lIns="0" tIns="0" rIns="0" bIns="0" rtlCol="0" anchor="ctr"/>
          <a:lstStyle/>
          <a:p>
            <a:pPr algn="ctr" indent="0" marL="0">
              <a:buNone/>
            </a:pPr>
            <a:r>
              <a:rPr lang="en-US" sz="1800" b="1" dirty="0">
                <a:solidFill>
                  <a:srgbClr val="1C3F6E"/>
                </a:solidFill>
                <a:latin typeface="Calibri" pitchFamily="34" charset="0"/>
                <a:ea typeface="Calibri" pitchFamily="34" charset="-122"/>
                <a:cs typeface="Calibri" pitchFamily="34" charset="-120"/>
              </a:rPr>
              <a:t>GBHS GAROUA  —  GEOGRAPHY DEPARTMENT</a:t>
            </a:r>
            <a:endParaRPr lang="en-US" sz="1800" dirty="0"/>
          </a:p>
        </p:txBody>
      </p:sp>
      <p:sp>
        <p:nvSpPr>
          <p:cNvPr id="5" name="Text 2"/>
          <p:cNvSpPr/>
          <p:nvPr/>
        </p:nvSpPr>
        <p:spPr>
          <a:xfrm>
            <a:off x="6126480" y="5257800"/>
            <a:ext cx="5760720" cy="914400"/>
          </a:xfrm>
          <a:prstGeom prst="rect">
            <a:avLst/>
          </a:prstGeom>
          <a:noFill/>
          <a:ln/>
        </p:spPr>
        <p:txBody>
          <a:bodyPr wrap="square" lIns="0" tIns="0" rIns="0" bIns="0" rtlCol="0" anchor="ctr"/>
          <a:lstStyle/>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KAMDEM Emmanuel Berthaut</a:t>
            </a:r>
            <a:endParaRPr lang="en-US" sz="2000" dirty="0"/>
          </a:p>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Geography Teacher</a:t>
            </a:r>
            <a:endParaRPr lang="en-US" sz="2000" dirty="0"/>
          </a:p>
        </p:txBody>
      </p:sp>
      <p:sp>
        <p:nvSpPr>
          <p:cNvPr id="6" name="Shape 3"/>
          <p:cNvSpPr/>
          <p:nvPr/>
        </p:nvSpPr>
        <p:spPr>
          <a:xfrm>
            <a:off x="0" y="6492240"/>
            <a:ext cx="2743200" cy="365760"/>
          </a:xfrm>
          <a:prstGeom prst="rect">
            <a:avLst/>
          </a:prstGeom>
          <a:solidFill>
            <a:srgbClr val="1C3F6E"/>
          </a:solidFill>
          <a:ln w="12700">
            <a:solidFill>
              <a:srgbClr val="1C3F6E"/>
            </a:solidFill>
            <a:prstDash val="solid"/>
          </a:ln>
        </p:spPr>
      </p:sp>
      <p:sp>
        <p:nvSpPr>
          <p:cNvPr id="7"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8"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9"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GBHS GAROUA</a:t>
            </a:r>
            <a:endParaRPr lang="en-US" sz="1300" dirty="0"/>
          </a:p>
        </p:txBody>
      </p:sp>
      <p:sp>
        <p:nvSpPr>
          <p:cNvPr id="10"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1"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2.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2.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2.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2.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2.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2.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2.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2.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2.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2.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2.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2.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2.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2.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slideLayout" Target="../slideLayouts/slideLayout2.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slideLayout" Target="../slideLayouts/slideLayout2.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slideLayout" Target="../slideLayouts/slideLayout2.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jpg"/><Relationship Id="rId2" Type="http://schemas.openxmlformats.org/officeDocument/2006/relationships/slideLayout" Target="../slideLayouts/slideLayout2.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slideLayout" Target="../slideLayouts/slideLayout2.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slideLayout" Target="../slideLayouts/slideLayout2.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jpg"/><Relationship Id="rId2" Type="http://schemas.openxmlformats.org/officeDocument/2006/relationships/slideLayout" Target="../slideLayouts/slideLayout2.xml"/><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png"/><Relationship Id="rId2" Type="http://schemas.openxmlformats.org/officeDocument/2006/relationships/slideLayout" Target="../slideLayouts/slideLayout2.xml"/><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png"/><Relationship Id="rId2" Type="http://schemas.openxmlformats.org/officeDocument/2006/relationships/slideLayout" Target="../slideLayouts/slideLayout2.xml"/><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png"/><Relationship Id="rId2" Type="http://schemas.openxmlformats.org/officeDocument/2006/relationships/slideLayout" Target="../slideLayouts/slideLayout2.xml"/><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png"/><Relationship Id="rId2" Type="http://schemas.openxmlformats.org/officeDocument/2006/relationships/slideLayout" Target="../slideLayouts/slideLayout2.xml"/><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image-29-1.png"/><Relationship Id="rId2" Type="http://schemas.openxmlformats.org/officeDocument/2006/relationships/slideLayout" Target="../slideLayouts/slideLayout2.xml"/><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image-30-1.jpg"/><Relationship Id="rId2" Type="http://schemas.openxmlformats.org/officeDocument/2006/relationships/slideLayout" Target="../slideLayouts/slideLayout2.xml"/><Relationship Id="rId3"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image" Target="../media/image-31-1.png"/><Relationship Id="rId2" Type="http://schemas.openxmlformats.org/officeDocument/2006/relationships/slideLayout" Target="../slideLayouts/slideLayout2.xml"/><Relationship Id="rId3"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image" Target="../media/image-32-1.png"/><Relationship Id="rId2" Type="http://schemas.openxmlformats.org/officeDocument/2006/relationships/slideLayout" Target="../slideLayouts/slideLayout2.xml"/><Relationship Id="rId3"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image" Target="../media/image-33-1.png"/><Relationship Id="rId2" Type="http://schemas.openxmlformats.org/officeDocument/2006/relationships/slideLayout" Target="../slideLayouts/slideLayout2.xml"/><Relationship Id="rId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image" Target="../media/image-34-1.png"/><Relationship Id="rId2" Type="http://schemas.openxmlformats.org/officeDocument/2006/relationships/slideLayout" Target="../slideLayouts/slideLayout2.xml"/><Relationship Id="rId3"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image" Target="../media/image-35-1.png"/><Relationship Id="rId2" Type="http://schemas.openxmlformats.org/officeDocument/2006/relationships/slideLayout" Target="../slideLayouts/slideLayout2.xml"/><Relationship Id="rId3"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image" Target="../media/image-36-1.png"/><Relationship Id="rId2" Type="http://schemas.openxmlformats.org/officeDocument/2006/relationships/slideLayout" Target="../slideLayouts/slideLayout2.xml"/><Relationship Id="rId3"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image" Target="../media/image-37-1.png"/><Relationship Id="rId2" Type="http://schemas.openxmlformats.org/officeDocument/2006/relationships/slideLayout" Target="../slideLayouts/slideLayout2.xml"/><Relationship Id="rId3"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image" Target="../media/image-38-1.png"/><Relationship Id="rId2" Type="http://schemas.openxmlformats.org/officeDocument/2006/relationships/slideLayout" Target="../slideLayouts/slideLayout2.xml"/><Relationship Id="rId3"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image" Target="../media/image-39-1.png"/><Relationship Id="rId2" Type="http://schemas.openxmlformats.org/officeDocument/2006/relationships/slideLayout" Target="../slideLayouts/slideLayout2.xml"/><Relationship Id="rId3"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image" Target="../media/image-40-1.png"/><Relationship Id="rId2" Type="http://schemas.openxmlformats.org/officeDocument/2006/relationships/slideLayout" Target="../slideLayouts/slideLayout2.xml"/><Relationship Id="rId3"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image" Target="../media/image-41-1.png"/><Relationship Id="rId2" Type="http://schemas.openxmlformats.org/officeDocument/2006/relationships/slideLayout" Target="../slideLayouts/slideLayout2.xml"/><Relationship Id="rId3"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image" Target="../media/image-42-1.png"/><Relationship Id="rId2" Type="http://schemas.openxmlformats.org/officeDocument/2006/relationships/slideLayout" Target="../slideLayouts/slideLayout2.xml"/><Relationship Id="rId3"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image" Target="../media/image-43-1.png"/><Relationship Id="rId2" Type="http://schemas.openxmlformats.org/officeDocument/2006/relationships/slideLayout" Target="../slideLayouts/slideLayout2.xml"/><Relationship Id="rId3"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image" Target="../media/image-44-1.png"/><Relationship Id="rId2" Type="http://schemas.openxmlformats.org/officeDocument/2006/relationships/slideLayout" Target="../slideLayouts/slideLayout2.xml"/><Relationship Id="rId3"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image" Target="../media/image-45-1.png"/><Relationship Id="rId2" Type="http://schemas.openxmlformats.org/officeDocument/2006/relationships/slideLayout" Target="../slideLayouts/slideLayout2.xml"/><Relationship Id="rId3"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image" Target="../media/image-46-1.png"/><Relationship Id="rId2" Type="http://schemas.openxmlformats.org/officeDocument/2006/relationships/slideLayout" Target="../slideLayouts/slideLayout2.xml"/><Relationship Id="rId3"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image" Target="../media/image-47-1.png"/><Relationship Id="rId2" Type="http://schemas.openxmlformats.org/officeDocument/2006/relationships/slideLayout" Target="../slideLayouts/slideLayout2.xml"/><Relationship Id="rId3"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image" Target="../media/image-51-1.png"/><Relationship Id="rId2" Type="http://schemas.openxmlformats.org/officeDocument/2006/relationships/slideLayout" Target="../slideLayouts/slideLayout2.xml"/><Relationship Id="rId3"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image" Target="../media/image-52-1.png"/><Relationship Id="rId2" Type="http://schemas.openxmlformats.org/officeDocument/2006/relationships/slideLayout" Target="../slideLayouts/slideLayout2.xml"/><Relationship Id="rId3" Type="http://schemas.openxmlformats.org/officeDocument/2006/relationships/notesSlide" Target="../notesSlides/notesSlide52.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nvSpPr>
        <p:spPr>
          <a:xfrm>
            <a:off x="6126480" y="1965960"/>
            <a:ext cx="5760720" cy="1005840"/>
          </a:xfrm>
          <a:prstGeom prst="rect">
            <a:avLst/>
          </a:prstGeom>
          <a:noFill/>
          <a:ln/>
        </p:spPr>
        <p:txBody>
          <a:bodyPr wrap="square" lIns="0" tIns="0" rIns="0" bIns="0" rtlCol="0" anchor="ct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UPPER SIXTH ARTS</a:t>
            </a:r>
            <a:endParaRPr lang="en-US" sz="2600" dirty="0"/>
          </a:p>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GEOGRAPHY</a:t>
            </a:r>
            <a:endParaRPr lang="en-US" sz="2600" dirty="0"/>
          </a:p>
        </p:txBody>
      </p:sp>
      <p:sp>
        <p:nvSpPr>
          <p:cNvPr id="3" name="Text 1"/>
          <p:cNvSpPr/>
          <p:nvPr/>
        </p:nvSpPr>
        <p:spPr>
          <a:xfrm>
            <a:off x="6126480" y="3063240"/>
            <a:ext cx="5760720" cy="2103120"/>
          </a:xfrm>
          <a:prstGeom prst="rect">
            <a:avLst/>
          </a:prstGeom>
          <a:noFill/>
          <a:ln/>
        </p:spPr>
        <p:txBody>
          <a:bodyPr wrap="square" lIns="0" tIns="0" rIns="0" bIns="0" rtlCol="0" anchor="ctr">
            <a:normAutofit/>
          </a:bodyP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Practical Work 2</a:t>
            </a:r>
            <a:endParaRPr lang="en-US" sz="2600" dirty="0"/>
          </a:p>
          <a:p>
            <a:pPr algn="ctr" indent="0" marL="0">
              <a:buNone/>
            </a:pPr>
            <a:r>
              <a:rPr lang="en-US" sz="3200" b="1" dirty="0">
                <a:solidFill>
                  <a:srgbClr val="990011"/>
                </a:solidFill>
                <a:latin typeface="Times New Roman" pitchFamily="34" charset="0"/>
                <a:ea typeface="Times New Roman" pitchFamily="34" charset="-122"/>
                <a:cs typeface="Times New Roman" pitchFamily="34" charset="-120"/>
              </a:rPr>
              <a:t>Population Distribution and Altitude</a:t>
            </a:r>
            <a:endParaRPr lang="en-US" sz="26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CLASS INFO</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Class, Chapter and Duration</a:t>
            </a:r>
            <a:endParaRPr lang="en-US" sz="3600" dirty="0"/>
          </a:p>
        </p:txBody>
      </p:sp>
      <p:graphicFrame>
        <p:nvGraphicFramePr>
          <p:cNvPr id="3"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Class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Upper Sixth Arts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Chapter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Module 4: Understanding and managing population dynamics across the world in general and Cameroon in particular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Duration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2 periods (2 × 50 minutes)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IDENTIFICATION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Identification</a:t>
            </a:r>
            <a:endParaRPr lang="en-US" sz="3600" dirty="0"/>
          </a:p>
        </p:txBody>
      </p:sp>
      <p:graphicFrame>
        <p:nvGraphicFramePr>
          <p:cNvPr id="4"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Population Numbers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Sub-topic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Population Density and Distribution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Lesson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Practical Work 2: Population Distribution and Altitude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Notions / Concepts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Altitude, altitude zone, population percentage, tropical highlands, temperate lowlands.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Syllabus focus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Analyse, interpret and explain graphs showing the variation of population with altitude.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Competence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Learners are able to read and explain graphs of population by altitude.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of the 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C3F6E"/>
                </a:solidFill>
                <a:latin typeface="Times New Roman" pitchFamily="34" charset="0"/>
                <a:ea typeface="Times New Roman" pitchFamily="34" charset="-122"/>
                <a:cs typeface="Times New Roman" pitchFamily="34" charset="-120"/>
              </a:rPr>
              <a:t>Question (Lesson 3: Spatial Population Distribution and its Factors):</a:t>
            </a:r>
            <a:endParaRPr lang="en-US" sz="4000" dirty="0"/>
          </a:p>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Explain why the Far North plains are crowded while the East Region is sparse.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Possible Answer</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Far North plains are crowded because of fertile black soils, flat land, old settlement history and refuge in the Mandara Mountains. The East is sparse because of dense forest, poor soils, disease and poor roads.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LESSON PLAN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Plan</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Correction of the homework</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Objectives and recall</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Real-life situation and action to take</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Learning activities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Board summary</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Evaluation, remediation and homework</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OBJECTIVES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1463040" cy="5833872"/>
          </a:xfrm>
          <a:prstGeom prst="rect">
            <a:avLst/>
          </a:prstGeom>
        </p:spPr>
      </p:pic>
      <p:sp>
        <p:nvSpPr>
          <p:cNvPr id="4" name="Text 1"/>
          <p:cNvSpPr/>
          <p:nvPr/>
        </p:nvSpPr>
        <p:spPr>
          <a:xfrm>
            <a:off x="1691640" y="1005840"/>
            <a:ext cx="101800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Objectives</a:t>
            </a:r>
            <a:endParaRPr lang="en-US" sz="3600" dirty="0"/>
          </a:p>
        </p:txBody>
      </p:sp>
      <p:sp>
        <p:nvSpPr>
          <p:cNvPr id="5" name="Text 2"/>
          <p:cNvSpPr/>
          <p:nvPr/>
        </p:nvSpPr>
        <p:spPr>
          <a:xfrm>
            <a:off x="1691640" y="1783080"/>
            <a:ext cx="101800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By the end of this lesson, you should be able to:</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Read a graph of population by altitude.</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Compare tropical and temperate patterns.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Explain the differences.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PREVIOUS KNOWLEDGE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Previous Knowledge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Temperature falls with altitude.</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Cool highlands in the tropics can be crowded.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in Real Life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 graph in the textbook shows that in Europe most people live below 500 m, but in Bolivia and Ethiopia many people live above 2,000 m. Learners must explain this difference.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the problem in the situation?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Learners must explain two different patterns.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Where do Europeans mostly live?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On lowlands below 500 m.</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3</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Why do many tropical people live high up?</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highlands are cooler, healthier and fertile.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ACTION TO TAKE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Action to Take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Interpret graphs of population and altitude to explain settlement.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JUSTIFICATION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Justification of the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This practical work helps us to read graphs and link population to relief and climate.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READING THE GRAPH</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a:t>
            </a:r>
            <a:endParaRPr lang="en-US" sz="3600" dirty="0"/>
          </a:p>
        </p:txBody>
      </p:sp>
      <p:pic>
        <p:nvPicPr>
          <p:cNvPr id="4" name="Image 0" descr="/home/claude/f4/img/v2/altitude_pop_big.png">    </p:cNvPr>
          <p:cNvPicPr>
            <a:picLocks noChangeAspect="1"/>
          </p:cNvPicPr>
          <p:nvPr/>
        </p:nvPicPr>
        <p:blipFill>
          <a:blip r:embed="rId1"/>
          <a:stretch>
            <a:fillRect/>
          </a:stretch>
        </p:blipFill>
        <p:spPr>
          <a:xfrm>
            <a:off x="1215564" y="1783080"/>
            <a:ext cx="9760567"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Population by altitude in temperate and tropical lands (approximate).</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READING THE GRAPH</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Which altitude zone has the most people in tropical lands?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READING THE GRAPH</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1,000–2,000 m zone (about 32 %).</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TEMPERATE PATTERN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a:t>
            </a:r>
            <a:endParaRPr lang="en-US" sz="3600" dirty="0"/>
          </a:p>
        </p:txBody>
      </p:sp>
      <p:pic>
        <p:nvPicPr>
          <p:cNvPr id="4" name="Image 0" descr="/home/claude/f4/img/v2/lsa_himalaya.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High, cold mountains.</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TEMPERATE PATTERN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Why does population fall quickly with height in temperate lands?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TEMPERATE PATTERN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High areas are cold, snowy and have poor soils.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TROPICAL PATTERN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a:t>
            </a:r>
            <a:endParaRPr lang="en-US" sz="3600" dirty="0"/>
          </a:p>
        </p:txBody>
      </p:sp>
      <p:pic>
        <p:nvPicPr>
          <p:cNvPr id="4" name="Image 0" descr="/home/claude/f4/img/v2/usa_lapaz.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La Paz, Bolivia, a large city at about 3,600 m.</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TROPICAL PATTERN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Why do many people live high in the Andes?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TROPICAL PATTERN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lowlands are hot and unhealthy; the high plateaus are cooler and have mines and farms.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TROPICAL PATTERN: CAMEROON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a:t>
            </a:r>
            <a:endParaRPr lang="en-US" sz="3600" dirty="0"/>
          </a:p>
        </p:txBody>
      </p:sp>
      <p:pic>
        <p:nvPicPr>
          <p:cNvPr id="4" name="Image 0" descr="/home/claude/f4/img/v2/altitude_table_big.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Altitude and density in Cameroon.</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TROPICAL PATTERN: CAMEROON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Why are Bamenda and Dschang densely populated?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28</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TROPICAL PATTERN: CAMEROON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They are cool, fertile and healthy highlands.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29</a:t>
            </a:fld>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4. EXPLANATION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a:t>
            </a:r>
            <a:endParaRPr lang="en-US" sz="3600" dirty="0"/>
          </a:p>
        </p:txBody>
      </p:sp>
      <p:pic>
        <p:nvPicPr>
          <p:cNvPr id="4" name="Image 0" descr="/home/claude/f4/img/v2/f2t_tea_highlands.jpg">    </p:cNvPr>
          <p:cNvPicPr>
            <a:picLocks noChangeAspect="1"/>
          </p:cNvPicPr>
          <p:nvPr/>
        </p:nvPicPr>
        <p:blipFill>
          <a:blip r:embed="rId1"/>
          <a:stretch>
            <a:fillRect/>
          </a:stretch>
        </p:blipFill>
        <p:spPr>
          <a:xfrm>
            <a:off x="1248027" y="1783080"/>
            <a:ext cx="9695641"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Farms on cool highlands.</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30</a:t>
            </a:fld>
            <a:endParaRPr lang="en-US"/>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4. EXPLANATION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Give two reasons for the tropical pattern.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31</a:t>
            </a:fld>
            <a:endParaRPr lang="en-US"/>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4. EXPLANATION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Cooler climate with fewer diseases, and fertile volcanic soils.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32</a:t>
            </a:fld>
            <a:endParaRPr lang="en-US"/>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Board Summary</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Topic: Population Numbers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Sub-topic: Population Density and Distribution</a:t>
            </a:r>
            <a:endParaRPr lang="en-US" sz="4000" dirty="0"/>
          </a:p>
          <a:p>
            <a:pPr algn="l" indent="0" marL="0">
              <a:spcAft>
                <a:spcPts val="800"/>
              </a:spcAft>
              <a:buNone/>
            </a:pPr>
            <a:r>
              <a:rPr lang="en-US" sz="4000" b="1" dirty="0">
                <a:solidFill>
                  <a:srgbClr val="990011"/>
                </a:solidFill>
                <a:latin typeface="Times New Roman" pitchFamily="34" charset="0"/>
                <a:ea typeface="Times New Roman" pitchFamily="34" charset="-122"/>
                <a:cs typeface="Times New Roman" pitchFamily="34" charset="-120"/>
              </a:rPr>
              <a:t>Practical Work 2: Population Distribution and Altitude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33</a:t>
            </a:fld>
            <a:endParaRPr lang="en-US"/>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DEFINITIONS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The key terms of this lesson are defined as follows: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Altitudinal distribution: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the distribution of population according to height above sea level.</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34</a:t>
            </a:fld>
            <a:endParaRPr lang="en-US"/>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Analysis of the Graph</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The graph of population and altitude shows two patterns: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Temperate pattern: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Population decreases quickly with altitude; most people live below 500 m. High mountains such as the Alps are cold and sparsely populated.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35</a:t>
            </a:fld>
            <a:endParaRPr lang="en-US"/>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Analysis of the Graph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Tropical pattern: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Many people live at medium altitudes (1,000–2,500 m). Cities such as La Paz, Addis Ababa and Bamenda are in highlands.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36</a:t>
            </a:fld>
            <a:endParaRPr lang="en-US"/>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Analysis of the Graph</a:t>
            </a:r>
            <a:endParaRPr lang="en-US" sz="3600" dirty="0"/>
          </a:p>
        </p:txBody>
      </p:sp>
      <p:pic>
        <p:nvPicPr>
          <p:cNvPr id="4" name="Image 0" descr="/home/claude/f4/img/v2/altitude_pop_big.png">    </p:cNvPr>
          <p:cNvPicPr>
            <a:picLocks noChangeAspect="1"/>
          </p:cNvPicPr>
          <p:nvPr/>
        </p:nvPicPr>
        <p:blipFill>
          <a:blip r:embed="rId1"/>
          <a:stretch>
            <a:fillRect/>
          </a:stretch>
        </p:blipFill>
        <p:spPr>
          <a:xfrm>
            <a:off x="1215564" y="1783080"/>
            <a:ext cx="9760567"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Illustration: population and altitude</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37</a:t>
            </a:fld>
            <a:endParaRPr lang="en-US"/>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Explanation</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The differences are explained as follows: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Why highlands attract people in the tropics: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Highlands are cooler, healthier (less malaria) and have fertile volcanic soils. The lowlands are hot, humid and full of disease.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38</a:t>
            </a:fld>
            <a:endParaRPr lang="en-US"/>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Explanation (continued)</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Why highlands repel people in temperate lands: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Temperature falls with altitude and highlands become too cold for crops. Lowlands are warmer and easier for farming and transport.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39</a:t>
            </a:fld>
            <a:endParaRPr lang="en-US"/>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Explanation</a:t>
            </a:r>
            <a:endParaRPr lang="en-US" sz="3600" dirty="0"/>
          </a:p>
        </p:txBody>
      </p:sp>
      <p:pic>
        <p:nvPicPr>
          <p:cNvPr id="4" name="Image 0" descr="/home/claude/f4/img/v2/altitude_table_big.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Illustration: altitude and density in Cameroon</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40</a:t>
            </a:fld>
            <a:endParaRPr lang="en-US"/>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Describe the tropical pattern of population with altitude.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41</a:t>
            </a:fld>
            <a:endParaRPr lang="en-US"/>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Many people live at 1,000–3,000 m; highlands are crowded.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42</a:t>
            </a:fld>
            <a:endParaRPr lang="en-US"/>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Why are lowlands preferred in temperate lands?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43</a:t>
            </a:fld>
            <a:endParaRPr lang="en-US"/>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They are warmer, fertile and easy to use for transport and industry.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44</a:t>
            </a:fld>
            <a:endParaRPr lang="en-US"/>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REMEDIATION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Remediation</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Fill in the blanks: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In Europe most people live below ______ m.</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La Paz lies in the ______ Mountains.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Highlands in the tropics are cooler and ______.</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45</a:t>
            </a:fld>
            <a:endParaRPr lang="en-US"/>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Draw a bar graph of population by altitude from the table and write three sentences about it.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46</a:t>
            </a:fld>
            <a:endParaRPr lang="en-US"/>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NEXT LESSON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Next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ctr"/>
          <a:lstStyle/>
          <a:p>
            <a:pPr algn="ctr"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Our next lesson will be on:</a:t>
            </a:r>
            <a:endParaRPr lang="en-US" sz="4000" dirty="0"/>
          </a:p>
          <a:p>
            <a:pPr algn="ctr" indent="0" marL="0">
              <a:spcAft>
                <a:spcPts val="800"/>
              </a:spcAft>
              <a:buNone/>
            </a:pPr>
            <a:r>
              <a:rPr lang="en-US" sz="4000" b="1" dirty="0">
                <a:solidFill>
                  <a:srgbClr val="990011"/>
                </a:solidFill>
                <a:latin typeface="Times New Roman" pitchFamily="34" charset="0"/>
                <a:ea typeface="Times New Roman" pitchFamily="34" charset="-122"/>
                <a:cs typeface="Times New Roman" pitchFamily="34" charset="-120"/>
              </a:rPr>
              <a:t>Lesson 4: Modifications of Population Distribution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47</a:t>
            </a:fld>
            <a:endParaRPr lang="en-US"/>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BILINGUAL GAME</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Bilingual Game (Jeu Bilingue)</a:t>
            </a:r>
            <a:endParaRPr lang="en-US" sz="3600" dirty="0"/>
          </a:p>
        </p:txBody>
      </p:sp>
      <p:graphicFrame>
        <p:nvGraphicFramePr>
          <p:cNvPr id="49" name="Table 0"/>
          <p:cNvGraphicFramePr>
            <a:graphicFrameLocks noGrp="1"/>
          </p:cNvGraphicFramePr>
          <p:nvPr>
            <p:extLst>
              <p:ext uri="{D42A27DB-BD31-4B8C-83A1-F6EECF244321}">
                <p14:modId xmlns:p14="http://schemas.microsoft.com/office/powerpoint/2010/main" val="1579011935"/>
              </p:ext>
            </p:extLst>
          </p:nvPr>
        </p:nvGraphicFramePr>
        <p:xfrm>
          <a:off x="1706728" y="1783080"/>
          <a:ext cx="8778240" cy="914400"/>
        </p:xfrm>
        <a:graphic>
          <a:graphicData uri="http://schemas.openxmlformats.org/drawingml/2006/table">
            <a:tbl>
              <a:tblPr/>
              <a:tblGrid>
                <a:gridCol w="4389120"/>
                <a:gridCol w="4389120"/>
              </a:tblGrid>
              <a:tr h="0">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English</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Français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Altitude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L'altitude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Graph</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graphique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Highland</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haut plateau</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Lowland</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plaine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Malaria</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paludisme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Share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part</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48</a:t>
            </a:fld>
            <a:endParaRPr lang="en-US"/>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(1/2)</a:t>
            </a:r>
            <a:endParaRPr lang="en-US" sz="3600" dirty="0"/>
          </a:p>
        </p:txBody>
      </p:sp>
      <p:graphicFrame>
        <p:nvGraphicFramePr>
          <p:cNvPr id="50"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Module / Topic</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Population Numbers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Lesson Title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Practical Work 2: Population Distribution and Altitude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Expected Learning Outcomes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Read a graph of population by altitude. Compare tropical and temperate patterns. Explain the differences.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Competence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Learners are able to read and explain graphs of population by altitude.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49</a:t>
            </a:fld>
            <a:endParaRPr lang="en-US"/>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(2/2)</a:t>
            </a:r>
            <a:endParaRPr lang="en-US" sz="3600" dirty="0"/>
          </a:p>
        </p:txBody>
      </p:sp>
      <p:graphicFrame>
        <p:nvGraphicFramePr>
          <p:cNvPr id="51"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Matter Taught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DEFINITIONS; Analysis of the Graph; Explanation.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Evaluation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Formative evaluation and remediation exercise.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Homework</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Draw a bar graph of population by altitude from the table and write three sentences about it.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Enrolment / Present / Absent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____ / ____ / ____</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Achievement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To be completed after the lesson.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50</a:t>
            </a:fld>
            <a:endParaRPr lang="en-US"/>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TEACHER'S NOTE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Teacher's Note</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Timing: Homework correction, plan, objectives 8 min | Recall, situation, action 10 min | 5 activities 30 min | Board summary (copying) 30 min | Evaluation, remediation 10 min | Homework, next lesson 5 min | Logbook 7 min</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1): read the bars one by one.</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2): compare the Alps and the plains.</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3): find La Paz on the map.</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4): compare with Douala.</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5): write the reasons.</a:t>
            </a:r>
            <a:endParaRPr lang="en-US" sz="2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51</a:t>
            </a:fld>
            <a:endParaRPr lang="en-US"/>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name="Slide 5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REFERENCES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References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National Geography Syllabus, MINESEC/IGE/IP-SS, 2019 — Module 4 (Population Geography).</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2: “View of the Himalaya Mountain Range” by NASA Johnson, CC BY-NC 2.0, via nasa (https://www.flickr.com/photos/29988733@N04/10678470543)</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3: “La Paz” by cliff.hellis, CC BY-NC-ND 2.0, via Flickr (https://www.flickr.com/photos/30099537@N02/6348597083)</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5: “Carlo in the tea” by luigig, CC BY 2.0, via Flickr (https://www.flickr.com/photos/51035803402@N01/3175986747)</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Diagrams and animations: drawn for this lesson (Geography Department).</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52</a:t>
            </a:fld>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52</Slides>
  <Notes>52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52</vt:i4>
      </vt:variant>
    </vt:vector>
  </HeadingPairs>
  <TitlesOfParts>
    <vt:vector size="55"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lpstr>Slide 52</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2026-09-27T10:31:40Z</dcterms:created>
  <dcterms:modified xsi:type="dcterms:W3CDTF">2026-09-27T10:31:40Z</dcterms:modified>
</cp:coreProperties>
</file>