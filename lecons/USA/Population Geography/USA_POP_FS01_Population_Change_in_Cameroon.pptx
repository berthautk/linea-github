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slideMasters/slideMaster45.xml" ContentType="application/vnd.openxmlformats-officedocument.presentationml.slideMaster+xml"/>
  <Override PartName="/ppt/slides/slide45.xml" ContentType="application/vnd.openxmlformats-officedocument.presentationml.slide+xml"/>
  <Override PartName="/ppt/slideMasters/slideMaster46.xml" ContentType="application/vnd.openxmlformats-officedocument.presentationml.slideMaster+xml"/>
  <Override PartName="/ppt/slides/slide46.xml" ContentType="application/vnd.openxmlformats-officedocument.presentationml.slide+xml"/>
  <Override PartName="/ppt/slideMasters/slideMaster47.xml" ContentType="application/vnd.openxmlformats-officedocument.presentationml.slideMaster+xml"/>
  <Override PartName="/ppt/slides/slide47.xml" ContentType="application/vnd.openxmlformats-officedocument.presentationml.slide+xml"/>
  <Override PartName="/ppt/slideMasters/slideMaster48.xml" ContentType="application/vnd.openxmlformats-officedocument.presentationml.slideMaster+xml"/>
  <Override PartName="/ppt/slides/slide48.xml" ContentType="application/vnd.openxmlformats-officedocument.presentationml.slide+xml"/>
  <Override PartName="/ppt/slideMasters/slideMaster49.xml" ContentType="application/vnd.openxmlformats-officedocument.presentationml.slideMaster+xml"/>
  <Override PartName="/ppt/slides/slide49.xml" ContentType="application/vnd.openxmlformats-officedocument.presentationml.slide+xml"/>
  <Override PartName="/ppt/slideMasters/slideMaster50.xml" ContentType="application/vnd.openxmlformats-officedocument.presentationml.slideMaster+xml"/>
  <Override PartName="/ppt/slides/slide50.xml" ContentType="application/vnd.openxmlformats-officedocument.presentationml.slide+xml"/>
  <Override PartName="/ppt/slideMasters/slideMaster51.xml" ContentType="application/vnd.openxmlformats-officedocument.presentationml.slideMaster+xml"/>
  <Override PartName="/ppt/slides/slide51.xml" ContentType="application/vnd.openxmlformats-officedocument.presentationml.slide+xml"/>
  <Override PartName="/ppt/slideMasters/slideMaster52.xml" ContentType="application/vnd.openxmlformats-officedocument.presentationml.slideMaster+xml"/>
  <Override PartName="/ppt/slides/slide52.xml" ContentType="application/vnd.openxmlformats-officedocument.presentationml.slide+xml"/>
  <Override PartName="/ppt/slideMasters/slideMaster53.xml" ContentType="application/vnd.openxmlformats-officedocument.presentationml.slideMaster+xml"/>
  <Override PartName="/ppt/slides/slide53.xml" ContentType="application/vnd.openxmlformats-officedocument.presentationml.slide+xml"/>
  <Override PartName="/ppt/slideMasters/slideMaster54.xml" ContentType="application/vnd.openxmlformats-officedocument.presentationml.slideMaster+xml"/>
  <Override PartName="/ppt/slides/slide54.xml" ContentType="application/vnd.openxmlformats-officedocument.presentationml.slide+xml"/>
  <Override PartName="/ppt/slideMasters/slideMaster55.xml" ContentType="application/vnd.openxmlformats-officedocument.presentationml.slideMaster+xml"/>
  <Override PartName="/ppt/slides/slide55.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 id="309" r:id="rId55"/>
    <p:sldId id="310" r:id="rId56"/>
  </p:sldIdLst>
  <p:notesMasterIdLst>
    <p:notesMasterId r:id="rId57"/>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slide" Target="slides/slide52.xml"/><Relationship Id="rId54" Type="http://schemas.openxmlformats.org/officeDocument/2006/relationships/slide" Target="slides/slide53.xml"/><Relationship Id="rId55" Type="http://schemas.openxmlformats.org/officeDocument/2006/relationships/slide" Target="slides/slide54.xml"/><Relationship Id="rId56" Type="http://schemas.openxmlformats.org/officeDocument/2006/relationships/slide" Target="slides/slide55.xml"/><Relationship Id="rId57" Type="http://schemas.openxmlformats.org/officeDocument/2006/relationships/notesMaster" Target="notesMasters/notesMaster1.xml"/><Relationship Id="rId58" Type="http://schemas.openxmlformats.org/officeDocument/2006/relationships/presProps" Target="presProps.xml"/><Relationship Id="rId59" Type="http://schemas.openxmlformats.org/officeDocument/2006/relationships/viewProps" Target="viewProps.xml"/><Relationship Id="rId60" Type="http://schemas.openxmlformats.org/officeDocument/2006/relationships/theme" Target="theme/theme1.xml"/><Relationship Id="rId61"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_rels/notesSlide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6.xml"/>
		</Relationships>
</file>

<file path=ppt/notesSlides/_rels/notesSlide4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7.xml"/>
		</Relationships>
</file>

<file path=ppt/notesSlides/_rels/notesSlide4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8.xml"/>
		</Relationships>
</file>

<file path=ppt/notesSlides/_rels/notesSlide4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9.xml"/>
		</Relationships>
</file>

<file path=ppt/notesSlides/_rels/notesSlide5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0.xml"/>
		</Relationships>
</file>

<file path=ppt/notesSlides/_rels/notesSlide5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1.xml"/>
		</Relationships>
</file>

<file path=ppt/notesSlides/_rels/notesSlide5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2.xml"/>
		</Relationships>
</file>

<file path=ppt/notesSlides/_rels/notesSlide5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3.xml"/>
		</Relationships>
</file>

<file path=ppt/notesSlides/_rels/notesSlide5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4.xml"/>
		</Relationships>
</file>

<file path=ppt/notesSlides/_rels/notesSlide5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5.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morning, class, and welcome to our geography lesson. I am your geography teacher, Mr Kamdem. Today we are starting Further Study 1: Population Change in Cameroon.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lesson is for Upper Sixth Arts. It belongs to Module 4: Understanding and managing population dynamics across the world in general and Cameroon in particular. We shall need 2 periods to cover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topic is Geography of Cameroon, and the sub-topic is Population of Cameroon. The key notions we shall use today are: census, growth rate, age-sex pyramid, density, rural-urban migration, highland-lowland migration. At the end, you should be able to do this: learners are able to describe and explain population change, distribution and migration in Cameroon.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Before we start the new lesson, let us correct the homework I gave you at the end of Lesson 18: Theories of Population and Resources: Malthus and Boserup. The question was: Write a debate: "Population growth is a problem for Cameroon." Give two arguments for and two against. Take out your exercise books.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a good answer. For: rapid growth strains land, schools, jobs and forests (Malthus). Against: a growing population is a larger workforce and market, and pressure encourages innovation such as irrigation and terraces (Boserup). Compare it with your own answer and correct your work in red.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plan of our lesson today. First, we shall correct the homework. Then we shall look at the objectives and recall what you already know. After that, we shall study a situation from real life and the action to take, and do the learning activities. Finally, we shall copy the board summary, do the evaluation and the remediation, and I will give you the homework.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Take your time to copy this part; we will continue together.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By the end of this lesson, you should be able to do three things. Number 1: describe the growth and structure of Cameroon's population. Number 2: describe and explain its distribution. Number 3: explain the main migrations and their effects.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first remember what you already know. Cameroon is in stage 3 of the DTM. The West and Littoral are the densest regions. Keep this in mind, because we shall build on it today.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Listen carefully to this situation from real life. Cameroon had 7.7 million people in 1976 and about 29 million today. Douala and Yaoundé each have about 4 million people, while some villages in the West are losing their young people. Think about it, because I am going to ask you some questions.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1: What is the problem in the situation?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Cameroon's population grows fast and is moving to towns.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2: How much has it grown since 1976?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Nearly four times.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3: Where are people moving?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To Douala, Yaoundé and other towns.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From this situation, the action we are working towards in this lesson is the following: plan the development of Cameroon according to its population trends.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Why is this lesson important for you? This further study helps us to understand the population of our own country.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1. Look carefully at this diagram: population of Cameroon at the censuses.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1: How has Cameroon's population changed since 1976?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It grew from 7.7 million to about 29 million.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2. Look carefully at this diagram: population pyramid of Cameroon (approximate).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2: What type of pyramid does Cameroon have?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Expansive: many young people.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3. Look carefully at this diagram: density by region (approximate).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3: Give two factors of high density in the West and North-West.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Fertile volcanic soils and a cool, healthy climate.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4. Look carefully at this diagram: main migration flows (simplified).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4: Name two major migration flows in Cameroon.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Highlands to coast and towns; north to southern cities.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5. Look carefully at this picture: douala.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5: Give one effect of migration on Douala and one on villages.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Douala: slums and traffic. Villages: loss of young workers.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we are going to copy the board summary. Write the title and the headings neatly in your notebooks. I will give you enough time for each slide, so do not rush.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Population Growth and Structure. The population of Cameroon has changed as follows. On this slide we have Growth.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Population Growth and Structure. On this slide we have Structure.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draw this illustration in your notebook: growth of the population of Cameroon.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Population Distribution. The population of Cameroon is unevenly distributed. On this slide we have Densely populated areas.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Population Distribution. On this slide we have Sparsely populated areas.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draw this illustration in your notebook: population density of Cameroon.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Migration and its Effects. Migration is an important factor of change in Cameroon. On this slide we have Main flows.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Migration and its Effects. On this slide we have Effects.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draw this illustration in your notebook: migration flows in Cameroon.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1: Give two characteristics of Cameroon's population.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fast growth (about 2.6 %) and a young structure (42 % under 15).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2: Explain one major migration flow in Cameroon.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from the Western Highlands to Douala and Yaoundé, pushed by land shortage and pulled by jobs.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those who need more practice, fill in the blanks in your exercise book. The answers are: number 1, expansive; number 2, Littoral; number 3, Yaoundé.</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your homework: Draw a map of Cameroon showing dense and sparse regions and the main migration flows. We shall correct it at the beginning of our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next lesson will be on Lesson 1: Settlement: Meaning, Evolution and Early Location. Thank you for your attention, and see you next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play the bilingual game. I say a word in English, and you give me the French word. Then we do the reverse.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record this information in the official logbook of the class after the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complete the second page of the logbook: the matter taught, the evaluation, the homework and the attendance.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slide is for me, the teacher: it gives the timing of the lesson and what to do if the projector is not available.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are the references and picture credits used to prepare this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55</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image" Target="../media/image-1003-1.png"/><Relationship Id="rId2"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LESSON">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640080" cy="658368"/>
          </a:xfrm>
          <a:prstGeom prst="rect">
            <a:avLst/>
          </a:prstGeom>
          <a:solidFill>
            <a:srgbClr val="990011"/>
          </a:solidFill>
          <a:ln w="12700">
            <a:solidFill>
              <a:srgbClr val="990011"/>
            </a:solidFill>
            <a:prstDash val="solid"/>
          </a:ln>
        </p:spPr>
      </p:sp>
      <p:sp>
        <p:nvSpPr>
          <p:cNvPr id="3" name="Text 1"/>
          <p:cNvSpPr/>
          <p:nvPr/>
        </p:nvSpPr>
        <p:spPr>
          <a:xfrm>
            <a:off x="640080" y="0"/>
            <a:ext cx="4754880" cy="658368"/>
          </a:xfrm>
          <a:prstGeom prst="homePlate">
            <a:avLst/>
          </a:prstGeom>
          <a:solidFill>
            <a:srgbClr val="990011"/>
          </a:solidFill>
          <a:ln>
            <a:solidFill>
              <a:srgbClr val="990011"/>
            </a:solid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GEOGRAPHY / UPPER SIXTH ARTS</a:t>
            </a:r>
            <a:endParaRPr lang="en-US" sz="1800" dirty="0"/>
          </a:p>
        </p:txBody>
      </p:sp>
      <p:sp>
        <p:nvSpPr>
          <p:cNvPr id="4" name="Text 2"/>
          <p:cNvSpPr/>
          <p:nvPr/>
        </p:nvSpPr>
        <p:spPr>
          <a:xfrm>
            <a:off x="5212080" y="0"/>
            <a:ext cx="6979615" cy="658368"/>
          </a:xfrm>
          <a:prstGeom prst="chevron">
            <a:avLst/>
          </a:prstGeom>
          <a:solidFill>
            <a:srgbClr val="1C3F6E"/>
          </a:solidFill>
          <a:ln>
            <a:solidFill>
              <a:srgbClr val="1C3F6E"/>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FURTHER STUDY 1: POPULATION CHANGE IN CAMEROON</a:t>
            </a:r>
            <a:endParaRPr lang="en-US" sz="1400" dirty="0"/>
          </a:p>
        </p:txBody>
      </p:sp>
      <p:sp>
        <p:nvSpPr>
          <p:cNvPr id="5" name="Shape 3"/>
          <p:cNvSpPr/>
          <p:nvPr/>
        </p:nvSpPr>
        <p:spPr>
          <a:xfrm>
            <a:off x="0" y="6492240"/>
            <a:ext cx="2743200" cy="365760"/>
          </a:xfrm>
          <a:prstGeom prst="rect">
            <a:avLst/>
          </a:prstGeom>
          <a:solidFill>
            <a:srgbClr val="1C3F6E"/>
          </a:solidFill>
          <a:ln w="12700">
            <a:solidFill>
              <a:srgbClr val="1C3F6E"/>
            </a:solidFill>
            <a:prstDash val="solid"/>
          </a:ln>
        </p:spPr>
      </p:sp>
      <p:sp>
        <p:nvSpPr>
          <p:cNvPr id="6"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7"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8"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GBHS GAROUA</a:t>
            </a:r>
            <a:endParaRPr lang="en-US" sz="1300" dirty="0"/>
          </a:p>
        </p:txBody>
      </p:sp>
      <p:sp>
        <p:nvSpPr>
          <p:cNvPr id="9"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0"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VER">
    <p:bg>
      <p:bgPr>
        <a:solidFill>
          <a:srgbClr val="FFFFFF"/>
        </a:solidFill>
      </p:bgPr>
    </p:bg>
    <p:spTree>
      <p:nvGrpSpPr>
        <p:cNvPr id="1" name=""/>
        <p:cNvGrpSpPr/>
        <p:nvPr/>
      </p:nvGrpSpPr>
      <p:grpSpPr>
        <a:xfrm>
          <a:off x="0" y="0"/>
          <a:ext cx="0" cy="0"/>
          <a:chOff x="0" y="0"/>
          <a:chExt cx="0" cy="0"/>
        </a:xfrm>
      </p:grpSpPr>
      <p:pic>
        <p:nvPicPr>
          <p:cNvPr id="2" name="Image 0" descr="/home/claude/f4/img/minesec_sheet.png">    </p:cNvPr>
          <p:cNvPicPr>
            <a:picLocks noChangeAspect="1"/>
          </p:cNvPicPr>
          <p:nvPr/>
        </p:nvPicPr>
        <p:blipFill>
          <a:blip r:embed="rId1"/>
          <a:stretch>
            <a:fillRect/>
          </a:stretch>
        </p:blipFill>
        <p:spPr>
          <a:xfrm>
            <a:off x="0" y="0"/>
            <a:ext cx="5888736" cy="6492240"/>
          </a:xfrm>
          <a:prstGeom prst="rect">
            <a:avLst/>
          </a:prstGeom>
        </p:spPr>
      </p:pic>
      <p:sp>
        <p:nvSpPr>
          <p:cNvPr id="3" name="Text 0"/>
          <p:cNvSpPr/>
          <p:nvPr/>
        </p:nvSpPr>
        <p:spPr>
          <a:xfrm>
            <a:off x="6126480" y="502920"/>
            <a:ext cx="5760720" cy="822960"/>
          </a:xfrm>
          <a:prstGeom prst="rect">
            <a:avLst/>
          </a:prstGeom>
          <a:noFill/>
          <a:ln/>
        </p:spPr>
        <p:txBody>
          <a:bodyPr wrap="square" lIns="0" tIns="0" rIns="0" bIns="0" rtlCol="0" anchor="ctr"/>
          <a:lstStyle/>
          <a:p>
            <a:pPr algn="ctr" indent="0" marL="0">
              <a:buNone/>
            </a:pPr>
            <a:r>
              <a:rPr lang="en-US" sz="4400" b="1" dirty="0">
                <a:solidFill>
                  <a:srgbClr val="1565C0"/>
                </a:solidFill>
                <a:latin typeface="Times New Roman" pitchFamily="34" charset="0"/>
                <a:ea typeface="Times New Roman" pitchFamily="34" charset="-122"/>
                <a:cs typeface="Times New Roman" pitchFamily="34" charset="-120"/>
              </a:rPr>
              <a:t>MINESEC</a:t>
            </a:r>
            <a:endParaRPr lang="en-US" sz="4400" dirty="0"/>
          </a:p>
        </p:txBody>
      </p:sp>
      <p:sp>
        <p:nvSpPr>
          <p:cNvPr id="4" name="Text 1"/>
          <p:cNvSpPr/>
          <p:nvPr/>
        </p:nvSpPr>
        <p:spPr>
          <a:xfrm>
            <a:off x="6126480" y="1325880"/>
            <a:ext cx="5760720" cy="457200"/>
          </a:xfrm>
          <a:prstGeom prst="rect">
            <a:avLst/>
          </a:prstGeom>
          <a:noFill/>
          <a:ln/>
        </p:spPr>
        <p:txBody>
          <a:bodyPr wrap="square" lIns="0" tIns="0" rIns="0" bIns="0" rtlCol="0" anchor="ctr"/>
          <a:lstStyle/>
          <a:p>
            <a:pPr algn="ctr" indent="0" marL="0">
              <a:buNone/>
            </a:pPr>
            <a:r>
              <a:rPr lang="en-US" sz="1800" b="1" dirty="0">
                <a:solidFill>
                  <a:srgbClr val="1C3F6E"/>
                </a:solidFill>
                <a:latin typeface="Calibri" pitchFamily="34" charset="0"/>
                <a:ea typeface="Calibri" pitchFamily="34" charset="-122"/>
                <a:cs typeface="Calibri" pitchFamily="34" charset="-120"/>
              </a:rPr>
              <a:t>GBHS GAROUA  —  GEOGRAPHY DEPARTMENT</a:t>
            </a:r>
            <a:endParaRPr lang="en-US" sz="1800" dirty="0"/>
          </a:p>
        </p:txBody>
      </p:sp>
      <p:sp>
        <p:nvSpPr>
          <p:cNvPr id="5" name="Text 2"/>
          <p:cNvSpPr/>
          <p:nvPr/>
        </p:nvSpPr>
        <p:spPr>
          <a:xfrm>
            <a:off x="6126480" y="5257800"/>
            <a:ext cx="5760720" cy="914400"/>
          </a:xfrm>
          <a:prstGeom prst="rect">
            <a:avLst/>
          </a:prstGeom>
          <a:noFill/>
          <a:ln/>
        </p:spPr>
        <p:txBody>
          <a:bodyPr wrap="square" lIns="0" tIns="0" rIns="0" bIns="0" rtlCol="0" anchor="ctr"/>
          <a:lstStyle/>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KAMDEM Emmanuel Berthaut</a:t>
            </a:r>
            <a:endParaRPr lang="en-US" sz="2000" dirty="0"/>
          </a:p>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Geography Teacher</a:t>
            </a:r>
            <a:endParaRPr lang="en-US" sz="2000" dirty="0"/>
          </a:p>
        </p:txBody>
      </p:sp>
      <p:sp>
        <p:nvSpPr>
          <p:cNvPr id="6" name="Shape 3"/>
          <p:cNvSpPr/>
          <p:nvPr/>
        </p:nvSpPr>
        <p:spPr>
          <a:xfrm>
            <a:off x="0" y="6492240"/>
            <a:ext cx="2743200" cy="365760"/>
          </a:xfrm>
          <a:prstGeom prst="rect">
            <a:avLst/>
          </a:prstGeom>
          <a:solidFill>
            <a:srgbClr val="1C3F6E"/>
          </a:solidFill>
          <a:ln w="12700">
            <a:solidFill>
              <a:srgbClr val="1C3F6E"/>
            </a:solidFill>
            <a:prstDash val="solid"/>
          </a:ln>
        </p:spPr>
      </p:sp>
      <p:sp>
        <p:nvSpPr>
          <p:cNvPr id="7"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8"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9"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GBHS GAROUA</a:t>
            </a:r>
            <a:endParaRPr lang="en-US" sz="1300" dirty="0"/>
          </a:p>
        </p:txBody>
      </p:sp>
      <p:sp>
        <p:nvSpPr>
          <p:cNvPr id="10"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1"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2.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2.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2.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2.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2.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2.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2.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2.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2.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2.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2.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2.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slideLayout" Target="../slideLayouts/slideLayout2.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slideLayout" Target="../slideLayouts/slideLayout2.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slideLayout" Target="../slideLayouts/slideLayout2.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slideLayout" Target="../slideLayouts/slideLayout2.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slideLayout" Target="../slideLayouts/slideLayout2.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slideLayout" Target="../slideLayouts/slideLayout2.xm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slideLayout" Target="../slideLayouts/slideLayout2.xml"/><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png"/><Relationship Id="rId2" Type="http://schemas.openxmlformats.org/officeDocument/2006/relationships/slideLayout" Target="../slideLayouts/slideLayout2.xml"/><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png"/><Relationship Id="rId2" Type="http://schemas.openxmlformats.org/officeDocument/2006/relationships/slideLayout" Target="../slideLayouts/slideLayout2.xml"/><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image-25-1.png"/><Relationship Id="rId2" Type="http://schemas.openxmlformats.org/officeDocument/2006/relationships/slideLayout" Target="../slideLayouts/slideLayout2.xml"/><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image-26-1.png"/><Relationship Id="rId2" Type="http://schemas.openxmlformats.org/officeDocument/2006/relationships/slideLayout" Target="../slideLayouts/slideLayout2.xml"/><Relationship Id="rId3"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image" Target="../media/image-27-1.png"/><Relationship Id="rId2" Type="http://schemas.openxmlformats.org/officeDocument/2006/relationships/slideLayout" Target="../slideLayouts/slideLayout2.xml"/><Relationship Id="rId3"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image" Target="../media/image-28-1.png"/><Relationship Id="rId2" Type="http://schemas.openxmlformats.org/officeDocument/2006/relationships/slideLayout" Target="../slideLayouts/slideLayout2.xml"/><Relationship Id="rId3"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image" Target="../media/image-29-1.png"/><Relationship Id="rId2" Type="http://schemas.openxmlformats.org/officeDocument/2006/relationships/slideLayout" Target="../slideLayouts/slideLayout2.xml"/><Relationship Id="rId3"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image" Target="../media/image-30-1.png"/><Relationship Id="rId2" Type="http://schemas.openxmlformats.org/officeDocument/2006/relationships/slideLayout" Target="../slideLayouts/slideLayout2.xml"/><Relationship Id="rId3"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image" Target="../media/image-31-1.jpg"/><Relationship Id="rId2" Type="http://schemas.openxmlformats.org/officeDocument/2006/relationships/slideLayout" Target="../slideLayouts/slideLayout2.xml"/><Relationship Id="rId3"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image" Target="../media/image-32-1.png"/><Relationship Id="rId2" Type="http://schemas.openxmlformats.org/officeDocument/2006/relationships/slideLayout" Target="../slideLayouts/slideLayout2.xml"/><Relationship Id="rId3"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image" Target="../media/image-33-1.png"/><Relationship Id="rId2" Type="http://schemas.openxmlformats.org/officeDocument/2006/relationships/slideLayout" Target="../slideLayouts/slideLayout2.xml"/><Relationship Id="rId3"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image" Target="../media/image-34-1.png"/><Relationship Id="rId2" Type="http://schemas.openxmlformats.org/officeDocument/2006/relationships/slideLayout" Target="../slideLayouts/slideLayout2.xml"/><Relationship Id="rId3"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image" Target="../media/image-35-1.png"/><Relationship Id="rId2" Type="http://schemas.openxmlformats.org/officeDocument/2006/relationships/slideLayout" Target="../slideLayouts/slideLayout2.xml"/><Relationship Id="rId3"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image" Target="../media/image-36-1.png"/><Relationship Id="rId2" Type="http://schemas.openxmlformats.org/officeDocument/2006/relationships/slideLayout" Target="../slideLayouts/slideLayout2.xml"/><Relationship Id="rId3"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image" Target="../media/image-37-1.png"/><Relationship Id="rId2" Type="http://schemas.openxmlformats.org/officeDocument/2006/relationships/slideLayout" Target="../slideLayouts/slideLayout2.xml"/><Relationship Id="rId3"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image" Target="../media/image-38-1.png"/><Relationship Id="rId2" Type="http://schemas.openxmlformats.org/officeDocument/2006/relationships/slideLayout" Target="../slideLayouts/slideLayout2.xml"/><Relationship Id="rId3"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image" Target="../media/image-39-1.png"/><Relationship Id="rId2" Type="http://schemas.openxmlformats.org/officeDocument/2006/relationships/slideLayout" Target="../slideLayouts/slideLayout2.xml"/><Relationship Id="rId3"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image" Target="../media/image-40-1.png"/><Relationship Id="rId2" Type="http://schemas.openxmlformats.org/officeDocument/2006/relationships/slideLayout" Target="../slideLayouts/slideLayout2.xml"/><Relationship Id="rId3"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image" Target="../media/image-41-1.png"/><Relationship Id="rId2" Type="http://schemas.openxmlformats.org/officeDocument/2006/relationships/slideLayout" Target="../slideLayouts/slideLayout2.xml"/><Relationship Id="rId3"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image" Target="../media/image-42-1.png"/><Relationship Id="rId2" Type="http://schemas.openxmlformats.org/officeDocument/2006/relationships/slideLayout" Target="../slideLayouts/slideLayout2.xml"/><Relationship Id="rId3"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image" Target="../media/image-43-1.png"/><Relationship Id="rId2" Type="http://schemas.openxmlformats.org/officeDocument/2006/relationships/slideLayout" Target="../slideLayouts/slideLayout2.xml"/><Relationship Id="rId3"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image" Target="../media/image-44-1.png"/><Relationship Id="rId2" Type="http://schemas.openxmlformats.org/officeDocument/2006/relationships/slideLayout" Target="../slideLayouts/slideLayout2.xml"/><Relationship Id="rId3"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image" Target="../media/image-45-1.png"/><Relationship Id="rId2" Type="http://schemas.openxmlformats.org/officeDocument/2006/relationships/slideLayout" Target="../slideLayouts/slideLayout2.xml"/><Relationship Id="rId3"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image" Target="../media/image-46-1.png"/><Relationship Id="rId2" Type="http://schemas.openxmlformats.org/officeDocument/2006/relationships/slideLayout" Target="../slideLayouts/slideLayout2.xml"/><Relationship Id="rId3"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image" Target="../media/image-47-1.png"/><Relationship Id="rId2" Type="http://schemas.openxmlformats.org/officeDocument/2006/relationships/slideLayout" Target="../slideLayouts/slideLayout2.xml"/><Relationship Id="rId3"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image" Target="../media/image-48-1.png"/><Relationship Id="rId2" Type="http://schemas.openxmlformats.org/officeDocument/2006/relationships/slideLayout" Target="../slideLayouts/slideLayout2.xml"/><Relationship Id="rId3"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image" Target="../media/image-49-1.png"/><Relationship Id="rId2" Type="http://schemas.openxmlformats.org/officeDocument/2006/relationships/slideLayout" Target="../slideLayouts/slideLayout2.xml"/><Relationship Id="rId3"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image" Target="../media/image-50-1.png"/><Relationship Id="rId2" Type="http://schemas.openxmlformats.org/officeDocument/2006/relationships/slideLayout" Target="../slideLayouts/slideLayout2.xml"/><Relationship Id="rId3"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2.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3.xml"/></Relationships>
</file>

<file path=ppt/slides/_rels/slide54.xml.rels><?xml version="1.0" encoding="UTF-8" standalone="yes"?>
<Relationships xmlns="http://schemas.openxmlformats.org/package/2006/relationships"><Relationship Id="rId1" Type="http://schemas.openxmlformats.org/officeDocument/2006/relationships/image" Target="../media/image-54-1.png"/><Relationship Id="rId2" Type="http://schemas.openxmlformats.org/officeDocument/2006/relationships/slideLayout" Target="../slideLayouts/slideLayout2.xml"/><Relationship Id="rId3" Type="http://schemas.openxmlformats.org/officeDocument/2006/relationships/notesSlide" Target="../notesSlides/notesSlide54.xml"/></Relationships>
</file>

<file path=ppt/slides/_rels/slide55.xml.rels><?xml version="1.0" encoding="UTF-8" standalone="yes"?>
<Relationships xmlns="http://schemas.openxmlformats.org/package/2006/relationships"><Relationship Id="rId1" Type="http://schemas.openxmlformats.org/officeDocument/2006/relationships/image" Target="../media/image-55-1.png"/><Relationship Id="rId2" Type="http://schemas.openxmlformats.org/officeDocument/2006/relationships/slideLayout" Target="../slideLayouts/slideLayout2.xml"/><Relationship Id="rId3" Type="http://schemas.openxmlformats.org/officeDocument/2006/relationships/notesSlide" Target="../notesSlides/notesSlide55.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nvSpPr>
        <p:spPr>
          <a:xfrm>
            <a:off x="6126480" y="1965960"/>
            <a:ext cx="5760720" cy="1005840"/>
          </a:xfrm>
          <a:prstGeom prst="rect">
            <a:avLst/>
          </a:prstGeom>
          <a:noFill/>
          <a:ln/>
        </p:spPr>
        <p:txBody>
          <a:bodyPr wrap="square" lIns="0" tIns="0" rIns="0" bIns="0" rtlCol="0" anchor="ct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UPPER SIXTH ARTS</a:t>
            </a:r>
            <a:endParaRPr lang="en-US" sz="2600" dirty="0"/>
          </a:p>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GEOGRAPHY</a:t>
            </a:r>
            <a:endParaRPr lang="en-US" sz="2600" dirty="0"/>
          </a:p>
        </p:txBody>
      </p:sp>
      <p:sp>
        <p:nvSpPr>
          <p:cNvPr id="3" name="Text 1"/>
          <p:cNvSpPr/>
          <p:nvPr/>
        </p:nvSpPr>
        <p:spPr>
          <a:xfrm>
            <a:off x="6126480" y="3063240"/>
            <a:ext cx="5760720" cy="2103120"/>
          </a:xfrm>
          <a:prstGeom prst="rect">
            <a:avLst/>
          </a:prstGeom>
          <a:noFill/>
          <a:ln/>
        </p:spPr>
        <p:txBody>
          <a:bodyPr wrap="square" lIns="0" tIns="0" rIns="0" bIns="0" rtlCol="0" anchor="ctr">
            <a:normAutofit/>
          </a:bodyP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Further Study 1</a:t>
            </a:r>
            <a:endParaRPr lang="en-US" sz="2600" dirty="0"/>
          </a:p>
          <a:p>
            <a:pPr algn="ctr" indent="0" marL="0">
              <a:buNone/>
            </a:pPr>
            <a:r>
              <a:rPr lang="en-US" sz="3200" b="1" dirty="0">
                <a:solidFill>
                  <a:srgbClr val="990011"/>
                </a:solidFill>
                <a:latin typeface="Times New Roman" pitchFamily="34" charset="0"/>
                <a:ea typeface="Times New Roman" pitchFamily="34" charset="-122"/>
                <a:cs typeface="Times New Roman" pitchFamily="34" charset="-120"/>
              </a:rPr>
              <a:t>Population Change in Cameroon</a:t>
            </a:r>
            <a:endParaRPr lang="en-US" sz="26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CLASS INFO</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Class, Chapter and Duration</a:t>
            </a:r>
            <a:endParaRPr lang="en-US" sz="3600" dirty="0"/>
          </a:p>
        </p:txBody>
      </p:sp>
      <p:graphicFrame>
        <p:nvGraphicFramePr>
          <p:cNvPr id="3"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Class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Upper Sixth Arts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Chapter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Module 4: Understanding and managing population dynamics across the world in general and Cameroon in particular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Duration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2 periods (2 × 50 minutes)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IDENTIFICATION</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Identification</a:t>
            </a:r>
            <a:endParaRPr lang="en-US" sz="3600" dirty="0"/>
          </a:p>
        </p:txBody>
      </p:sp>
      <p:graphicFrame>
        <p:nvGraphicFramePr>
          <p:cNvPr id="4"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Geography of Cameroon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Sub-topic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Population of Cameroon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Lesson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Further Study 1: Population Change in Cameroon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Notions / Concepts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Census, growth rate, age-sex pyramid, density, rural-urban migration, highland-lowland migration.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Syllabus focus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Demographic characteristics (numbers, growth, pyramid); distribution and factors; major migration trends, causes and effects.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Competence</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Learners are able to describe and explain population change, distribution and migration in Cameroon.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of the Homework</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C3F6E"/>
                </a:solidFill>
                <a:latin typeface="Times New Roman" pitchFamily="34" charset="0"/>
                <a:ea typeface="Times New Roman" pitchFamily="34" charset="-122"/>
                <a:cs typeface="Times New Roman" pitchFamily="34" charset="-120"/>
              </a:rPr>
              <a:t>Question (Lesson 18: Theories of Population and Resources: Malthus and Boserup):</a:t>
            </a:r>
            <a:endParaRPr lang="en-US" sz="4000" dirty="0"/>
          </a:p>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Write a debate: "Population growth is a problem for Cameroon." Give two arguments for and two against.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Possible Answer</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For: rapid growth strains land, schools, jobs and forests (Malthus). Against: a growing population is a larger workforce and market, and pressure encourages innovation such as irrigation and terraces (Boserup).</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LESSON PLAN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Plan</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Correction of the homework</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Objectives and recall</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Real-life situation and action to take</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Learning activities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Board summary</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Evaluation, remediation and homework</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OBJECTIVES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Objectives</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By the end of this lesson, you should be able to:</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Describe the growth and structure of Cameroon's population.</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Describe and explain its distribution.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OBJECTIVES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Objectives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Explain the main migrations and their effects.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PREVIOUS KNOWLEDGE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Previous Knowledge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Cameroon is in stage 3 of the DTM.</a:t>
            </a:r>
            <a:endParaRPr lang="en-US" sz="4000" dirty="0"/>
          </a:p>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The West and Littoral are the densest regions.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in Real Life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Cameroon had 7.7 million people in 1976 and about 29 million today. Douala and Yaoundé each have about 4 million people, while some villages in the West are losing their young people.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is the problem in the situation?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Cameroon's population grows fast and is moving to towns.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How much has it grown since 1976?</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Nearly four times.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3</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Where are people moving?</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Possible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To Douala, Yaoundé and other towns.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ACTION TO TAKE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Action to Take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Plan the development of Cameroon according to its population trends.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JUSTIFICATION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Justification of the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This further study helps us to understand the population of our own country.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POPULATION GROWTH</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a:t>
            </a:r>
            <a:endParaRPr lang="en-US" sz="3600" dirty="0"/>
          </a:p>
        </p:txBody>
      </p:sp>
      <p:pic>
        <p:nvPicPr>
          <p:cNvPr id="4" name="Image 0" descr="/home/claude/f4/img/v2/cmr_growth_big.png">    </p:cNvPr>
          <p:cNvPicPr>
            <a:picLocks noChangeAspect="1"/>
          </p:cNvPicPr>
          <p:nvPr/>
        </p:nvPicPr>
        <p:blipFill>
          <a:blip r:embed="rId1"/>
          <a:stretch>
            <a:fillRect/>
          </a:stretch>
        </p:blipFill>
        <p:spPr>
          <a:xfrm>
            <a:off x="1215564" y="1783080"/>
            <a:ext cx="9760567"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Population of Cameroon at the censuses.</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POPULATION GROWTH</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How has Cameroon's population changed since 1976?</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POPULATION GROWTH</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grew from 7.7 million to about 29 million.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POPULATION STRUCTURE</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a:t>
            </a:r>
            <a:endParaRPr lang="en-US" sz="3600" dirty="0"/>
          </a:p>
        </p:txBody>
      </p:sp>
      <p:pic>
        <p:nvPicPr>
          <p:cNvPr id="4" name="Image 0" descr="/home/claude/f4/img/v2/pyramid_cameroon_big.png">    </p:cNvPr>
          <p:cNvPicPr>
            <a:picLocks noChangeAspect="1"/>
          </p:cNvPicPr>
          <p:nvPr/>
        </p:nvPicPr>
        <p:blipFill>
          <a:blip r:embed="rId1"/>
          <a:stretch>
            <a:fillRect/>
          </a:stretch>
        </p:blipFill>
        <p:spPr>
          <a:xfrm>
            <a:off x="1383850" y="1783080"/>
            <a:ext cx="9423996"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Population pyramid of Cameroon (approximate).</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POPULATION STRUCTURE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type of pyramid does Cameroon have?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POPULATION STRUCTURE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Expansive: many young people.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24</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POPULATION DISTRIBUTION</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a:t>
            </a:r>
            <a:endParaRPr lang="en-US" sz="3600" dirty="0"/>
          </a:p>
        </p:txBody>
      </p:sp>
      <p:pic>
        <p:nvPicPr>
          <p:cNvPr id="4" name="Image 0" descr="/home/claude/f4/img/v2/choropleth_big.png">    </p:cNvPr>
          <p:cNvPicPr>
            <a:picLocks noChangeAspect="1"/>
          </p:cNvPicPr>
          <p:nvPr/>
        </p:nvPicPr>
        <p:blipFill>
          <a:blip r:embed="rId1"/>
          <a:stretch>
            <a:fillRect/>
          </a:stretch>
        </p:blipFill>
        <p:spPr>
          <a:xfrm>
            <a:off x="1825600" y="1783080"/>
            <a:ext cx="8540496"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Density by region (approximate).</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25</a:t>
            </a:fld>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POPULATION DISTRIBUTION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Give two factors of high density in the West and North-West.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26</a:t>
            </a:fld>
            <a:endParaRPr lang="en-US"/>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POPULATION DISTRIBUTION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Fertile volcanic soils and a cool, healthy climate.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27</a:t>
            </a:fld>
            <a:endParaRPr lang="en-US"/>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MIGRATION</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a:t>
            </a:r>
            <a:endParaRPr lang="en-US" sz="3600" dirty="0"/>
          </a:p>
        </p:txBody>
      </p:sp>
      <p:pic>
        <p:nvPicPr>
          <p:cNvPr id="4" name="Image 0" descr="/home/claude/f4/img/v2/cmr_migration_big.png">    </p:cNvPr>
          <p:cNvPicPr>
            <a:picLocks noChangeAspect="1"/>
          </p:cNvPicPr>
          <p:nvPr/>
        </p:nvPicPr>
        <p:blipFill>
          <a:blip r:embed="rId1"/>
          <a:stretch>
            <a:fillRect/>
          </a:stretch>
        </p:blipFill>
        <p:spPr>
          <a:xfrm>
            <a:off x="1825600" y="1783080"/>
            <a:ext cx="8540496"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Main migration flows (simplified).</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28</a:t>
            </a:fld>
            <a:endParaRPr lang="en-US"/>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MIGRATION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Name two major migration flows in Cameroon.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29</a:t>
            </a:fld>
            <a:endParaRPr lang="en-US"/>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MIGRATION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Highlands to coast and towns; north to southern cities.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30</a:t>
            </a:fld>
            <a:endParaRPr lang="en-US"/>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EFFECTS OF MIGRATION</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a:t>
            </a:r>
            <a:endParaRPr lang="en-US" sz="3600" dirty="0"/>
          </a:p>
        </p:txBody>
      </p:sp>
      <p:pic>
        <p:nvPicPr>
          <p:cNvPr id="4" name="Image 0" descr="/home/claude/f4/img/v2/lsa_douala.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Douala.</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31</a:t>
            </a:fld>
            <a:endParaRPr lang="en-US"/>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EFFECTS OF MIGRATION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Give one effect of migration on Douala and one on villages.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32</a:t>
            </a:fld>
            <a:endParaRPr lang="en-US"/>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EFFECTS OF MIGRATION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Douala: slums and traffic. Villages: loss of young workers.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33</a:t>
            </a:fld>
            <a:endParaRPr lang="en-US"/>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Board Summary</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Topic: Geography of Cameroon</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Sub-topic: Population of Cameroon</a:t>
            </a:r>
            <a:endParaRPr lang="en-US" sz="4000" dirty="0"/>
          </a:p>
          <a:p>
            <a:pPr algn="l" indent="0" marL="0">
              <a:spcAft>
                <a:spcPts val="800"/>
              </a:spcAft>
              <a:buNone/>
            </a:pPr>
            <a:r>
              <a:rPr lang="en-US" sz="4000" b="1" dirty="0">
                <a:solidFill>
                  <a:srgbClr val="990011"/>
                </a:solidFill>
                <a:latin typeface="Times New Roman" pitchFamily="34" charset="0"/>
                <a:ea typeface="Times New Roman" pitchFamily="34" charset="-122"/>
                <a:cs typeface="Times New Roman" pitchFamily="34" charset="-120"/>
              </a:rPr>
              <a:t>Further Study 1: Population Change in Cameroon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34</a:t>
            </a:fld>
            <a:endParaRPr lang="en-US"/>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Population Growth and Structure</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The population of Cameroon has changed as follows: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Growth: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population rose from 7.7 million in 1976 to 17.5 million in 2005 and about 28 million today. The growth rate is about 2.6 % per year.</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35</a:t>
            </a:fld>
            <a:endParaRPr lang="en-US"/>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Population Growth and Structure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Structure: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population is youthful, with about 42 % under 15, and the pyramid is expansive. The dependency ratio is high.</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36</a:t>
            </a:fld>
            <a:endParaRPr lang="en-US"/>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Population Growth and Structure</a:t>
            </a:r>
            <a:endParaRPr lang="en-US" sz="3600" dirty="0"/>
          </a:p>
        </p:txBody>
      </p:sp>
      <p:pic>
        <p:nvPicPr>
          <p:cNvPr id="4" name="Image 0" descr="/home/claude/f4/img/v2/cmr_growth_big.png">    </p:cNvPr>
          <p:cNvPicPr>
            <a:picLocks noChangeAspect="1"/>
          </p:cNvPicPr>
          <p:nvPr/>
        </p:nvPicPr>
        <p:blipFill>
          <a:blip r:embed="rId1"/>
          <a:stretch>
            <a:fillRect/>
          </a:stretch>
        </p:blipFill>
        <p:spPr>
          <a:xfrm>
            <a:off x="1215564" y="1783080"/>
            <a:ext cx="9760567"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Illustration: growth of the population of Cameroon</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37</a:t>
            </a:fld>
            <a:endParaRPr lang="en-US"/>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Population Distribution</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The population of Cameroon is unevenly distributed:</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Densely populated areas: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Littoral, West, North-West and Far North have over 100 people/km². They have fertile soils, towns, industries and old settlements.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38</a:t>
            </a:fld>
            <a:endParaRPr lang="en-US"/>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Population Distribution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Sparsely populated areas: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East, South and Adamawa have fewer than 25 people/km². Dense forest, poor soils and poor communications explain this.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39</a:t>
            </a:fld>
            <a:endParaRPr lang="en-US"/>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Population Distribution</a:t>
            </a:r>
            <a:endParaRPr lang="en-US" sz="3600" dirty="0"/>
          </a:p>
        </p:txBody>
      </p:sp>
      <p:pic>
        <p:nvPicPr>
          <p:cNvPr id="4" name="Image 0" descr="/home/claude/f4/img/v2/choropleth_big.png">    </p:cNvPr>
          <p:cNvPicPr>
            <a:picLocks noChangeAspect="1"/>
          </p:cNvPicPr>
          <p:nvPr/>
        </p:nvPicPr>
        <p:blipFill>
          <a:blip r:embed="rId1"/>
          <a:stretch>
            <a:fillRect/>
          </a:stretch>
        </p:blipFill>
        <p:spPr>
          <a:xfrm>
            <a:off x="1825600" y="1783080"/>
            <a:ext cx="8540496"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Illustration: population density of Cameroon</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40</a:t>
            </a:fld>
            <a:endParaRPr lang="en-US"/>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1463040" cy="5833872"/>
          </a:xfrm>
          <a:prstGeom prst="rect">
            <a:avLst/>
          </a:prstGeom>
        </p:spPr>
      </p:pic>
      <p:sp>
        <p:nvSpPr>
          <p:cNvPr id="4" name="Text 1"/>
          <p:cNvSpPr/>
          <p:nvPr/>
        </p:nvSpPr>
        <p:spPr>
          <a:xfrm>
            <a:off x="1691640" y="1005840"/>
            <a:ext cx="101800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3. Migration and its Effects</a:t>
            </a:r>
            <a:endParaRPr lang="en-US" sz="3600" dirty="0"/>
          </a:p>
        </p:txBody>
      </p:sp>
      <p:sp>
        <p:nvSpPr>
          <p:cNvPr id="5" name="Text 2"/>
          <p:cNvSpPr/>
          <p:nvPr/>
        </p:nvSpPr>
        <p:spPr>
          <a:xfrm>
            <a:off x="1691640" y="1783080"/>
            <a:ext cx="1018001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Migration is an important factor of change in Cameroon:</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Main flows: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Rural–urban migration goes towards Douala and Yaoundé, and migrants from the West go to the Littoral and Centre. Crises have displaced people from the Far North, North-West and South-West.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41</a:t>
            </a:fld>
            <a:endParaRPr lang="en-US"/>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3. Migration and its Effects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Effects: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Towns grow fast, with slums and unemployment. Villages lose young workers, but receive remittances.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42</a:t>
            </a:fld>
            <a:endParaRPr lang="en-US"/>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3. Migration and its Effects</a:t>
            </a:r>
            <a:endParaRPr lang="en-US" sz="3600" dirty="0"/>
          </a:p>
        </p:txBody>
      </p:sp>
      <p:pic>
        <p:nvPicPr>
          <p:cNvPr id="4" name="Image 0" descr="/home/claude/f4/img/v2/cmr_migration_big.png">    </p:cNvPr>
          <p:cNvPicPr>
            <a:picLocks noChangeAspect="1"/>
          </p:cNvPicPr>
          <p:nvPr/>
        </p:nvPicPr>
        <p:blipFill>
          <a:blip r:embed="rId1"/>
          <a:stretch>
            <a:fillRect/>
          </a:stretch>
        </p:blipFill>
        <p:spPr>
          <a:xfrm>
            <a:off x="1825600" y="1783080"/>
            <a:ext cx="8540496"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Illustration: migration flows in Cameroon</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43</a:t>
            </a:fld>
            <a:endParaRPr lang="en-US"/>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Give two characteristics of Cameroon's population.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44</a:t>
            </a:fld>
            <a:endParaRPr lang="en-US"/>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Fast growth (about 2.6 %) and a young structure (42 % under 15).</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45</a:t>
            </a:fld>
            <a:endParaRPr lang="en-US"/>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Explain one major migration flow in Cameroon.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46</a:t>
            </a:fld>
            <a:endParaRPr lang="en-US"/>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From the Western Highlands to Douala and Yaoundé, pushed by land shortage and pulled by jobs.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47</a:t>
            </a:fld>
            <a:endParaRPr lang="en-US"/>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REMEDIATION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Remediation</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Fill in the blanks: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Cameroon has an ______ pyramid.</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The densest region is the ______.</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Most migrants go to Douala and ______.</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48</a:t>
            </a:fld>
            <a:endParaRPr lang="en-US"/>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Homework</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Draw a map of Cameroon showing dense and sparse regions and the main migration flows.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49</a:t>
            </a:fld>
            <a:endParaRPr lang="en-US"/>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name="Slide 5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NEXT LESSON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Next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ctr"/>
          <a:lstStyle/>
          <a:p>
            <a:pPr algn="ctr"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Our next lesson will be on:</a:t>
            </a:r>
            <a:endParaRPr lang="en-US" sz="4000" dirty="0"/>
          </a:p>
          <a:p>
            <a:pPr algn="ctr" indent="0" marL="0">
              <a:spcAft>
                <a:spcPts val="800"/>
              </a:spcAft>
              <a:buNone/>
            </a:pPr>
            <a:r>
              <a:rPr lang="en-US" sz="4000" b="1" dirty="0">
                <a:solidFill>
                  <a:srgbClr val="990011"/>
                </a:solidFill>
                <a:latin typeface="Times New Roman" pitchFamily="34" charset="0"/>
                <a:ea typeface="Times New Roman" pitchFamily="34" charset="-122"/>
                <a:cs typeface="Times New Roman" pitchFamily="34" charset="-120"/>
              </a:rPr>
              <a:t>Lesson 1: Settlement: Meaning, Evolution and Early Location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50</a:t>
            </a:fld>
            <a:endParaRPr lang="en-US"/>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name="Slide 5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BILINGUAL GAME</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Bilingual Game (Jeu Bilingue)</a:t>
            </a:r>
            <a:endParaRPr lang="en-US" sz="3600" dirty="0"/>
          </a:p>
        </p:txBody>
      </p:sp>
      <p:graphicFrame>
        <p:nvGraphicFramePr>
          <p:cNvPr id="52" name="Table 0"/>
          <p:cNvGraphicFramePr>
            <a:graphicFrameLocks noGrp="1"/>
          </p:cNvGraphicFramePr>
          <p:nvPr>
            <p:extLst>
              <p:ext uri="{D42A27DB-BD31-4B8C-83A1-F6EECF244321}">
                <p14:modId xmlns:p14="http://schemas.microsoft.com/office/powerpoint/2010/main" val="1579011935"/>
              </p:ext>
            </p:extLst>
          </p:nvPr>
        </p:nvGraphicFramePr>
        <p:xfrm>
          <a:off x="1706728" y="1783080"/>
          <a:ext cx="8778240" cy="914400"/>
        </p:xfrm>
        <a:graphic>
          <a:graphicData uri="http://schemas.openxmlformats.org/drawingml/2006/table">
            <a:tbl>
              <a:tblPr/>
              <a:tblGrid>
                <a:gridCol w="4389120"/>
                <a:gridCol w="4389120"/>
              </a:tblGrid>
              <a:tr h="0">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English</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Français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Census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recensement</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Growth</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croissance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Density</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densité</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Migration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L'exode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Plantation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plantation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Slum</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bidonville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51</a:t>
            </a:fld>
            <a:endParaRPr lang="en-US"/>
          </a:p>
        </p:txBody>
      </p:sp>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name="Slide 5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(1/2)</a:t>
            </a:r>
            <a:endParaRPr lang="en-US" sz="3600" dirty="0"/>
          </a:p>
        </p:txBody>
      </p:sp>
      <p:graphicFrame>
        <p:nvGraphicFramePr>
          <p:cNvPr id="53"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Module / Topic</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Geography of Cameroon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Lesson Title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Further Study 1: Population Change in Cameroon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Expected Learning Outcomes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Describe the growth and structure of Cameroon's population. Describe and explain its distribution. Explain the main migrations and their effects.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Competence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Learners are able to describe and explain population change, distribution and migration in Cameroon.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52</a:t>
            </a:fld>
            <a:endParaRPr lang="en-US"/>
          </a:p>
        </p:txBody>
      </p:sp>
    </p:spTree>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name="Slide 5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(2/2)</a:t>
            </a:r>
            <a:endParaRPr lang="en-US" sz="3600" dirty="0"/>
          </a:p>
        </p:txBody>
      </p:sp>
      <p:graphicFrame>
        <p:nvGraphicFramePr>
          <p:cNvPr id="54"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Matter Taught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Population Growth and Structure; Population Distribution; Migration and its Effects.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Evaluation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Formative evaluation and remediation exercise.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Homework</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Draw a map of Cameroon showing dense and sparse regions and the main migration flows.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Enrolment / Present / Absent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____ / ____ / ____</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Achievement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To be completed after the lesson.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53</a:t>
            </a:fld>
            <a:endParaRPr lang="en-US"/>
          </a:p>
        </p:txBody>
      </p:sp>
    </p:spTree>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name="Slide 5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TEACHER'S NOTE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Teacher's Note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Timing: Homework correction, plan, objectives 8 min | Recall, situation, action 10 min | 5 activities 30 min | Board summary (copying) 30 min | Evaluation, remediation 10 min | Homework, next lesson 5 min | Logbook 7 min</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1): draw the bars.</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2): describe the shape.</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3): compare with the East.</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4): draw the arrows.</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5): discuss your town.</a:t>
            </a:r>
            <a:endParaRPr lang="en-US" sz="2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54</a:t>
            </a:fld>
            <a:endParaRPr lang="en-US"/>
          </a:p>
        </p:txBody>
      </p:sp>
    </p:spTree>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name="Slide 5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REFERENCES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References</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National Geography Syllabus, MINESEC/IGE/IP-SS, 2019 — Module 4 (Population Geography).</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5: “Douala” by christing-O-, CC BY 2.0, via Flickr (https://www.flickr.com/photos/76187282@N00/7227535754)</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Diagrams and animations: drawn for this lesson (Geography Department).</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55</a:t>
            </a:fld>
            <a:endParaRPr lang="en-US"/>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55</Slides>
  <Notes>55</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55</vt:i4>
      </vt:variant>
    </vt:vector>
  </HeadingPairs>
  <TitlesOfParts>
    <vt:vector size="58"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lpstr>Slide 50</vt:lpstr>
      <vt:lpstr>Slide 51</vt:lpstr>
      <vt:lpstr>Slide 52</vt:lpstr>
      <vt:lpstr>Slide 53</vt:lpstr>
      <vt:lpstr>Slide 54</vt:lpstr>
      <vt:lpstr>Slide 55</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2026-09-27T10:08:08Z</dcterms:created>
  <dcterms:modified xsi:type="dcterms:W3CDTF">2026-09-27T10:08:08Z</dcterms:modified>
</cp:coreProperties>
</file>