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Today we study Lesson 4: Climatic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situation slowly,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read the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list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discuss melting 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read the left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discuss fuels we burn.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Learners copy the board summary now. Give them enough time for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greenhouse 2. cores 3.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homework prepares the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English word; learners give the French word, then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01168"/>
          </a:xfrm>
          <a:prstGeom prst="rect">
            <a:avLst/>
          </a:prstGeom>
          <a:solidFill>
            <a:srgbClr val="990011"/>
          </a:solidFill>
          <a:ln w="12700">
            <a:solidFill>
              <a:srgbClr val="990011"/>
            </a:solidFill>
            <a:prstDash val="solid"/>
          </a:ln>
        </p:spPr>
      </p:sp>
      <p:sp>
        <p:nvSpPr>
          <p:cNvPr id="3" name="Shape 1"/>
          <p:cNvSpPr/>
          <p:nvPr/>
        </p:nvSpPr>
        <p:spPr>
          <a:xfrm>
            <a:off x="0" y="6656832"/>
            <a:ext cx="12191695" cy="201168"/>
          </a:xfrm>
          <a:prstGeom prst="rect">
            <a:avLst/>
          </a:prstGeom>
          <a:solidFill>
            <a:srgbClr val="1C3F6E"/>
          </a:solidFill>
          <a:ln w="12700">
            <a:solidFill>
              <a:srgbClr val="1C3F6E"/>
            </a:solidFill>
            <a:prstDash val="solid"/>
          </a:ln>
        </p:spPr>
      </p:sp>
      <p:pic>
        <p:nvPicPr>
          <p:cNvPr id="4" name="Image 0" descr="/home/claude/pw1/logo.png">    </p:cNvPr>
          <p:cNvPicPr>
            <a:picLocks noChangeAspect="1"/>
          </p:cNvPicPr>
          <p:nvPr/>
        </p:nvPicPr>
        <p:blipFill>
          <a:blip r:embed="rId1"/>
          <a:stretch>
            <a:fillRect/>
          </a:stretch>
        </p:blipFill>
        <p:spPr>
          <a:xfrm>
            <a:off x="5409590" y="457200"/>
            <a:ext cx="1371600" cy="1371600"/>
          </a:xfrm>
          <a:prstGeom prst="rect">
            <a:avLst/>
          </a:prstGeom>
        </p:spPr>
      </p:pic>
      <p:sp>
        <p:nvSpPr>
          <p:cNvPr id="5" name="Text 2"/>
          <p:cNvSpPr txBox="1"/>
          <p:nvPr/>
        </p:nvSpPr>
        <p:spPr>
          <a:xfrm>
            <a:off x="731520" y="1965960"/>
            <a:ext cx="10725912" cy="640080"/>
          </a:xfrm>
          <a:prstGeom prst="rect">
            <a:avLst/>
          </a:prstGeom>
          <a:noFill/>
          <a:ln/>
        </p:spPr>
        <p:txBody>
          <a:bodyPr wrap="square" lIns="0" tIns="0" rIns="0" bIns="0" rtlCol="0" anchor="ctr"/>
          <a:lstStyle/>
          <a:p>
            <a:pPr algn="ctr" indent="0" marL="0">
              <a:buNone/>
            </a:pPr>
            <a:r>
              <a:rPr lang="en-US" sz="2000" b="1" dirty="0">
                <a:solidFill>
                  <a:srgbClr val="1C3F6E"/>
                </a:solidFill>
                <a:latin typeface="Cambria" pitchFamily="34" charset="0"/>
                <a:ea typeface="Cambria" pitchFamily="34" charset="-122"/>
                <a:cs typeface="Cambria" pitchFamily="34" charset="-120"/>
              </a:rPr>
              <a:t>DIVINE GRACE COLLEGE OF ARTS, SCIENCE AND TECHNOLOGY</a:t>
            </a:r>
            <a:endParaRPr lang="en-US" sz="2000" dirty="0"/>
          </a:p>
        </p:txBody>
      </p:sp>
      <p:sp>
        <p:nvSpPr>
          <p:cNvPr id="6" name="Text 3"/>
          <p:cNvSpPr txBox="1"/>
          <p:nvPr/>
        </p:nvSpPr>
        <p:spPr>
          <a:xfrm>
            <a:off x="914400" y="2606040"/>
            <a:ext cx="10360152" cy="411480"/>
          </a:xfrm>
          <a:prstGeom prst="rect">
            <a:avLst/>
          </a:prstGeom>
          <a:noFill/>
          <a:ln/>
        </p:spPr>
        <p:txBody>
          <a:bodyPr wrap="square" lIns="0" tIns="0" rIns="0" bIns="0" rtlCol="0" anchor="ctr"/>
          <a:lstStyle/>
          <a:p>
            <a:pPr algn="ctr" indent="0" marL="0">
              <a:buNone/>
            </a:pPr>
            <a:r>
              <a:rPr lang="en-US" sz="1500" dirty="0">
                <a:solidFill>
                  <a:srgbClr val="1A1A1A"/>
                </a:solidFill>
                <a:latin typeface="Calibri" pitchFamily="34" charset="0"/>
                <a:ea typeface="Calibri" pitchFamily="34" charset="-122"/>
                <a:cs typeface="Calibri" pitchFamily="34" charset="-120"/>
              </a:rPr>
              <a:t>(DGCAST) — GAROUA   |   GEOGRAPHY DEPARTMENT</a:t>
            </a:r>
            <a:endParaRPr lang="en-US" sz="1500" dirty="0"/>
          </a:p>
        </p:txBody>
      </p:sp>
      <p:sp>
        <p:nvSpPr>
          <p:cNvPr id="7" name="Text 4"/>
          <p:cNvSpPr txBox="1"/>
          <p:nvPr/>
        </p:nvSpPr>
        <p:spPr>
          <a:xfrm>
            <a:off x="914400" y="3200400"/>
            <a:ext cx="10360152" cy="685800"/>
          </a:xfrm>
          <a:prstGeom prst="rect">
            <a:avLst/>
          </a:prstGeom>
          <a:noFill/>
          <a:ln/>
        </p:spPr>
        <p:txBody>
          <a:bodyPr wrap="square" lIns="0" tIns="0" rIns="0" bIns="0" rtlCol="0" anchor="ctr"/>
          <a:lstStyle/>
          <a:p>
            <a:pPr algn="ctr" indent="0" marL="0">
              <a:buNone/>
            </a:pPr>
            <a:r>
              <a:rPr lang="en-US" sz="3400" b="1" dirty="0">
                <a:solidFill>
                  <a:srgbClr val="990011"/>
                </a:solidFill>
                <a:latin typeface="Cambria" pitchFamily="34" charset="0"/>
                <a:ea typeface="Cambria" pitchFamily="34" charset="-122"/>
                <a:cs typeface="Cambria" pitchFamily="34" charset="-120"/>
              </a:rPr>
              <a:t>UPPER SIXTH ARTS  —  ENVIRONMENT AND DEVELOPMENT  —  LESSON 4</a:t>
            </a:r>
            <a:endParaRPr lang="en-US" sz="3400" dirty="0"/>
          </a:p>
        </p:txBody>
      </p:sp>
      <p:sp>
        <p:nvSpPr>
          <p:cNvPr id="8" name="Text 5"/>
          <p:cNvSpPr txBox="1"/>
          <p:nvPr/>
        </p:nvSpPr>
        <p:spPr>
          <a:xfrm>
            <a:off x="914400" y="3931920"/>
            <a:ext cx="10360152" cy="548640"/>
          </a:xfrm>
          <a:prstGeom prst="rect">
            <a:avLst/>
          </a:prstGeom>
          <a:noFill/>
          <a:ln/>
        </p:spPr>
        <p:txBody>
          <a:bodyPr wrap="square" lIns="0" tIns="0" rIns="0" bIns="0" rtlCol="0" anchor="ctr"/>
          <a:lstStyle/>
          <a:p>
            <a:pPr algn="ctr" indent="0" marL="0">
              <a:buNone/>
            </a:pPr>
            <a:r>
              <a:rPr lang="en-US" sz="2100" b="1" dirty="0">
                <a:solidFill>
                  <a:srgbClr val="B8860B"/>
                </a:solidFill>
                <a:latin typeface="Calibri" pitchFamily="34" charset="0"/>
                <a:ea typeface="Calibri" pitchFamily="34" charset="-122"/>
                <a:cs typeface="Calibri" pitchFamily="34" charset="-120"/>
              </a:rPr>
              <a:t>Climatic Change</a:t>
            </a:r>
            <a:endParaRPr lang="en-US" sz="2100" dirty="0"/>
          </a:p>
        </p:txBody>
      </p:sp>
      <p:sp>
        <p:nvSpPr>
          <p:cNvPr id="9" name="Text 6"/>
          <p:cNvSpPr txBox="1"/>
          <p:nvPr/>
        </p:nvSpPr>
        <p:spPr>
          <a:xfrm>
            <a:off x="914400" y="5394960"/>
            <a:ext cx="10360152" cy="914400"/>
          </a:xfrm>
          <a:prstGeom prst="rect">
            <a:avLst/>
          </a:prstGeom>
          <a:noFill/>
          <a:ln/>
        </p:spPr>
        <p:txBody>
          <a:bodyPr wrap="square" lIns="0" tIns="0" rIns="0" bIns="0" rtlCol="0" anchor="ctr"/>
          <a:lstStyle/>
          <a:p>
            <a:pPr algn="ctr" indent="0" marL="0">
              <a:buNone/>
            </a:pPr>
            <a:r>
              <a:rPr lang="en-US" sz="1600" b="1" dirty="0">
                <a:solidFill>
                  <a:srgbClr val="1A1A1A"/>
                </a:solidFill>
                <a:latin typeface="Calibri" pitchFamily="34" charset="0"/>
                <a:ea typeface="Calibri" pitchFamily="34" charset="-122"/>
                <a:cs typeface="Calibri" pitchFamily="34" charset="-120"/>
              </a:rPr>
              <a:t>Mr KAMDEM EMMANUEL</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Geography Teacher — PLEG</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Academic Year 2026 / 2027</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CLASS INFO</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Class, Chapter &amp; Duration</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Class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Upper Sixth Arts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Chapter</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Module 7: Understanding and managing contemporary environmental and development issues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Duration</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2 periods (2 × 50 minutes)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IDENTIFICATION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Lesson Identification</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Contemporary Environmental Issues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Sub-topic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Climate Change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Lesson 4: Climatic Change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Notions / Concepts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Climate change, greenhouse gases, ice core, El Niño, Milankovitch cycles.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Syllabus focus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Meaning; evidence; natural and human causes.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Learners are able to explain the evidence and causes of climate change.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OBJECTIVES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Learning Objectives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200" b="1" dirty="0">
                <a:solidFill>
                  <a:srgbClr val="111111"/>
                </a:solidFill>
                <a:latin typeface="Calibri" pitchFamily="34" charset="0"/>
                <a:ea typeface="Calibri" pitchFamily="34" charset="-122"/>
                <a:cs typeface="Calibri" pitchFamily="34" charset="-120"/>
              </a:rPr>
              <a:t>By the end of the lesson, the learner should be able to:</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Define climatic change.</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Describe the evidence of climate change.</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Explain its natural and human causes.</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RECALL</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Recall</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Climate is the average weather over a long time.</a:t>
            </a:r>
            <a:endParaRPr lang="en-US" sz="2400" dirty="0"/>
          </a:p>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Burning fuels releases carbon dioxide.</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Real-Life Situation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farmers in the North say the rains now start later and stop earlier than when they were young. Scientists also show that glaciers are melting on mountains around the world.</a:t>
            </a:r>
            <a:endParaRPr lang="en-US" sz="4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climate is changing.</a:t>
            </a:r>
            <a:endParaRPr lang="en-US" sz="4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piece of evidence in the situation.</a:t>
            </a:r>
            <a:endParaRPr lang="en-US" sz="4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Melting glaciers (or changing rains).</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3</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climate change natural or human?</a:t>
            </a:r>
            <a:endParaRPr lang="en-US" sz="4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Both, but today it is mainly caused by people.</a:t>
            </a:r>
            <a:endParaRPr lang="en-US" sz="4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JUSTIFICATION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changes in our climate.</a:t>
            </a:r>
            <a:endParaRPr lang="en-US" sz="4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MEANING</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13" name="Image 0" descr="/home/claude/f4/img/v2/co2_temp_big.png">    </p:cNvPr>
          <p:cNvPicPr>
            <a:picLocks noChangeAspect="1"/>
          </p:cNvPicPr>
          <p:nvPr/>
        </p:nvPicPr>
        <p:blipFill>
          <a:blip r:embed="rId1"/>
          <a:stretch>
            <a:fillRect/>
          </a:stretch>
        </p:blipFill>
        <p:spPr>
          <a:xfrm>
            <a:off x="921585" y="1691640"/>
            <a:ext cx="10345783"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CO₂ and world temperature (approximate).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MEANING</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happened to CO₂ and temperature since 1960?</a:t>
            </a:r>
            <a:endParaRPr lang="en-US" sz="4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MEANING</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Both rose steadily: CO₂ from about 317 to 414 ppm and temperature by about 1 °C.</a:t>
            </a:r>
            <a:endParaRPr lang="en-US" sz="4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EVIDENCE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13" name="Image 0" descr="/home/claude/f4/img/v2/climate_evidence_big.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Evidence of climate change.</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EVIDENCE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pieces of evidence of climate change.</a:t>
            </a:r>
            <a:endParaRPr lang="en-US" sz="4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EVIDENCE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 records, melting glaciers and rising sea level.</a:t>
            </a:r>
            <a:endParaRPr lang="en-US" sz="4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EVIDENCE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13" name="Image 0" descr="/home/claude/f4/img/v2/usa_glacier.jpg">    </p:cNvPr>
          <p:cNvPicPr>
            <a:picLocks noChangeAspect="1"/>
          </p:cNvPicPr>
          <p:nvPr/>
        </p:nvPicPr>
        <p:blipFill>
          <a:blip r:embed="rId1"/>
          <a:stretch>
            <a:fillRect/>
          </a:stretch>
        </p:blipFill>
        <p:spPr>
          <a:xfrm>
            <a:off x="2016746" y="1691640"/>
            <a:ext cx="8155459"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Melting ice.</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EVIDENCE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melting ice show climate change?</a:t>
            </a:r>
            <a:endParaRPr lang="en-US" sz="4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EVIDENCE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Ice melts because the air and sea are warmer.</a:t>
            </a:r>
            <a:endParaRPr lang="en-US" sz="4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NATURAL CAUSES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13" name="Image 0" descr="/home/claude/f4/img/v2/climate_causes_big.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Natural and human causes.</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NATURAL CAUSES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natural causes of climate change.</a:t>
            </a:r>
            <a:endParaRPr lang="en-US" sz="4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NATURAL CAUSES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Changes in the Earth's orbit and volcanic eruptions (also the sun and El Niño).</a:t>
            </a:r>
            <a:endParaRPr lang="en-US" sz="4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HUMAN CAUSES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13" name="Image 0" descr="/home/claude/f4/img/v2/usa_powerplant.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A coal power station.</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HUMAN CAUSES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power stations change the climate?</a:t>
            </a:r>
            <a:endParaRPr lang="en-US" sz="4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HUMAN CAUSES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Burning coal releases CO₂, a greenhouse gas that traps heat.</a:t>
            </a:r>
            <a:endParaRPr lang="en-US" sz="4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Climatic Change</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Contemporary Environmental Issues</a:t>
            </a:r>
            <a:endParaRPr lang="en-US" sz="3200" dirty="0"/>
          </a:p>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Climate Change</a:t>
            </a:r>
            <a:endParaRPr lang="en-US" sz="3200" dirty="0"/>
          </a:p>
          <a:p>
            <a:pPr indent="0" marL="0">
              <a:lnSpc>
                <a:spcPct val="100000"/>
              </a:lnSpc>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4: Climatic Change</a:t>
            </a:r>
            <a:endParaRPr lang="en-US" sz="3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 Definitions</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Climatic change: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a long-term change in the average climate of a place or of the world.</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Greenhouse gases: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They are gases like CO₂ and methane that trap heat in the atmosphere.</a:t>
            </a:r>
            <a:endParaRPr lang="en-US" sz="4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Evidence (1/2)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Records: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Thermometer records show about 1.1 °C of warming since 1850. Rainfall patterns are changing.</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Ice and sea: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Glaciers and ice sheets are melting and sea level is rising. Ice cores show past climates.</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Nature: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Tree rings, pollen and fossils show past changes. Plants and animals now move to cooler places.</a:t>
            </a:r>
            <a:endParaRPr lang="en-US" sz="4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Evidence (2/2)</a:t>
            </a:r>
            <a:endParaRPr lang="en-US" sz="3600" dirty="0"/>
          </a:p>
        </p:txBody>
      </p:sp>
      <p:pic>
        <p:nvPicPr>
          <p:cNvPr id="13" name="Image 0" descr="/home/claude/f4/img/v2/climate_evidence_big.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Copy the evidence.</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Causes</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Natural causes: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Changes in the Earth's orbit and the sun's energy change climate over long periods. Volcanic dust and El Niño cause short changes.</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Human causes: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Burning coal, oil and gas and deforestation add greenhouse gases. Cattle, rice fields and fertilisers add methane and nitrous oxide.</a:t>
            </a:r>
            <a:endParaRPr lang="en-US" sz="4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pieces of evidence of climate change.</a:t>
            </a:r>
            <a:endParaRPr lang="en-US" sz="4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Rising temperatures and melting glaciers.</a:t>
            </a:r>
            <a:endParaRPr lang="en-US" sz="4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natural and two human causes.</a:t>
            </a:r>
            <a:endParaRPr lang="en-US" sz="4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Natural: volcanoes, orbit changes. Human: burning fuels, deforestation.</a:t>
            </a:r>
            <a:endParaRPr lang="en-US" sz="4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REMEDIATION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Fill in the blanks:</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CO₂ and methane are ______ gases.</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Ice ______ show past climates.</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Warming since 1850 is about ______ °C.</a:t>
            </a:r>
            <a:endParaRPr lang="en-US" sz="36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HOMEWORK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two elders how the seasons have changed and write their answers.</a:t>
            </a:r>
            <a:endParaRPr lang="en-US" sz="4000" dirty="0"/>
          </a:p>
          <a:p>
            <a:pPr indent="0" marL="0">
              <a:lnSpc>
                <a:spcPct val="100000"/>
              </a:lnSpc>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This prepares Lesson 5: Global Warming.</a:t>
            </a:r>
            <a:endParaRPr lang="en-US" sz="4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BILINGUAL GAME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Bilingual Game (Jeu Bilingue)</a:t>
            </a:r>
            <a:endParaRPr lang="en-US" sz="30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2011680" y="1783080"/>
          <a:ext cx="8138160" cy="914400"/>
        </p:xfrm>
        <a:graphic>
          <a:graphicData uri="http://schemas.openxmlformats.org/drawingml/2006/table">
            <a:tbl>
              <a:tblPr/>
              <a:tblGrid>
                <a:gridCol w="4069080"/>
                <a:gridCol w="4069080"/>
              </a:tblGrid>
              <a:tr h="0">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Français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Climate change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changement climatique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Evidence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preuve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Glacier</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glacier</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Greenhouse gas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gaz à effet de serre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Volcano</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volcan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Sea level</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niveau de la mer</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(1/2)</a:t>
            </a:r>
            <a:endParaRPr lang="en-US" sz="30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Module / Topic</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Contemporary Environmental Issues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Lesson Title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Lesson 4: Climatic Change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Expected Learning Outcomes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Define climatic change. Describe the evidence of climate change. Explain its natural and human causes.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Competence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Learners are able to explain the evidence and causes of climate change.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(2/2)</a:t>
            </a:r>
            <a:endParaRPr lang="en-US" sz="30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Matter Taught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I. Definitions: Climatic change, Greenhouse gases; II. Evidence: Records, Ice and sea, Nature; III. Causes: Natural causes, Human causes.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Evaluation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Formative evaluation (3 questions) and remediation exercise.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Homework</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Ask two elders how the seasons have changed and write their answers.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Enrolment / Present / Absent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____ / ____ / ____</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Achievement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To be completed by the teacher after the lesson.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TEACHER'S NOTE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Teacher's Note</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000" dirty="0">
                <a:solidFill>
                  <a:srgbClr val="111111"/>
                </a:solidFill>
                <a:latin typeface="Calibri" pitchFamily="34" charset="0"/>
                <a:ea typeface="Calibri" pitchFamily="34" charset="-122"/>
                <a:cs typeface="Calibri" pitchFamily="34" charset="-120"/>
              </a:rPr>
              <a:t>Timing: Set-up, recall 8 min | Situation 8 min | 5 activities 30 min | Board summary (copying) 30 min | Evaluation, remediation 10 min | Homework, logbook 9 min | Spare 5 min</a:t>
            </a:r>
            <a:endParaRPr lang="en-US" sz="2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REFERENCES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References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National Geography Syllabus, Sixth Forms (Lower &amp; Upper Sixth), MINESEC/IGE/IP-SS, August 2019 — Module 7 (Environment and Development).</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3: “Glaciers and Sea Level Rise” by NASA Goddard Photo and Video, CC BY 2.0, via nasa (https://www.flickr.com/photos/24662369@N07/8742463970)</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5: “Loy Yang coal power station” by John Englart (Takver), CC BY-SA 2.0, via Flickr (https://www.flickr.com/photos/81043308@N00/18269071871)</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Diagrams and animations: drawn for this lesson (DGCAST Geography Department).</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2026-09-27T04:25:38Z</dcterms:created>
  <dcterms:modified xsi:type="dcterms:W3CDTF">2026-09-27T04:25:38Z</dcterms:modified>
</cp:coreProperties>
</file>