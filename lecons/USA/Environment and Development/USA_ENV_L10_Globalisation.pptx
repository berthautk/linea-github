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</p:sldIdLst>
  <p:notesMasterIdLst>
    <p:notesMasterId r:id="rId4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notesMaster" Target="notesMasters/notesMaster1.xml"/><Relationship Id="rId48" Type="http://schemas.openxmlformats.org/officeDocument/2006/relationships/presProps" Target="presProps.xml"/><Relationship Id="rId49" Type="http://schemas.openxmlformats.org/officeDocument/2006/relationships/viewProps" Target="viewProps.xml"/><Relationship Id="rId50" Type="http://schemas.openxmlformats.org/officeDocument/2006/relationships/theme" Target="theme/theme1.xml"/><Relationship Id="rId5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Good morning, class. Today we study Lesson 10: Globalisation.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the situation slowly, twice.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Without the projector: give an example of each.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Without the projector: name TNCs in Cameroon.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Without the projector: read the bars.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Without the projector: discuss phone use.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Without the projector: sort the impacts.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Learners copy the board summary now. Give them enough time for each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Answers: 1. TNC 2. containers 3. ICT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homework prepares the next lesson.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 the English word; learners give the French word, then the reverse.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pic>
        <p:nvPicPr>
          <p:cNvPr id="4" name="Image 0" descr="/home/claude/pw1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09590" y="457200"/>
            <a:ext cx="1371600" cy="13716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731520" y="1965960"/>
            <a:ext cx="107259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C3F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DIVINE GRACE COLLEGE OF ARTS, SCIENCE AND TECHNOLOGY</a:t>
            </a:r>
            <a:endParaRPr lang="en-US" sz="2000" dirty="0"/>
          </a:p>
        </p:txBody>
      </p:sp>
      <p:sp>
        <p:nvSpPr>
          <p:cNvPr id="6" name="Text 3"/>
          <p:cNvSpPr txBox="1"/>
          <p:nvPr/>
        </p:nvSpPr>
        <p:spPr>
          <a:xfrm>
            <a:off x="914400" y="2606040"/>
            <a:ext cx="10360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(DGCAST) — GAROUA   |   GEOGRAPHY DEPARTMENT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914400" y="3200400"/>
            <a:ext cx="103601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UPPER SIXTH ARTS  —  ENVIRONMENT AND DEVELOPMENT  —  LESSON 10</a:t>
            </a:r>
            <a:endParaRPr lang="en-US" sz="3400" dirty="0"/>
          </a:p>
        </p:txBody>
      </p:sp>
      <p:sp>
        <p:nvSpPr>
          <p:cNvPr id="8" name="Text 5"/>
          <p:cNvSpPr txBox="1"/>
          <p:nvPr/>
        </p:nvSpPr>
        <p:spPr>
          <a:xfrm>
            <a:off x="914400" y="3931920"/>
            <a:ext cx="103601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Globalisation</a:t>
            </a:r>
            <a:endParaRPr lang="en-US" sz="2100" dirty="0"/>
          </a:p>
        </p:txBody>
      </p:sp>
      <p:sp>
        <p:nvSpPr>
          <p:cNvPr id="9" name="Text 6"/>
          <p:cNvSpPr txBox="1"/>
          <p:nvPr/>
        </p:nvSpPr>
        <p:spPr>
          <a:xfrm>
            <a:off x="914400" y="5394960"/>
            <a:ext cx="103601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EMMANUEL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Teacher — PLEG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Year 2026 / 2027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INFO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Class, Chapter &amp; Duration</a:t>
            </a:r>
            <a:endParaRPr lang="en-US" sz="30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83080"/>
          <a:ext cx="11274552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889711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Upper Sixth Arts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Chapter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Module 7: Understanding and managing contemporary environmental and development issues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Duration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periods (2 × 50 minutes)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Lesson Identification</a:t>
            </a:r>
            <a:endParaRPr lang="en-US" sz="30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83080"/>
          <a:ext cx="11274552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889711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Topic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Current Development Issues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Sub-topic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Globalisation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Lesson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Lesson 10: Globalisation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Notions / Concepts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Globalisation, transnational corporation (TNC), containerisation, ICT, shrinking world.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Syllabus focus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Meaning; components; evidence; factors (TNCs, shipping and containerisation, air transport, ICT); positive and negative impacts.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Competence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Learners are able to explain globalisation, its factors and impacts.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4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Learning Objectives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22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end of the lesson, the learner should be able to:</a:t>
            </a:r>
            <a:endParaRPr lang="en-US" sz="22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2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globalisation and its components.</a:t>
            </a:r>
            <a:endParaRPr lang="en-US" sz="22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2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the factors of globalisation.</a:t>
            </a:r>
            <a:endParaRPr lang="en-US" sz="22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2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its positive and negative impacts.</a:t>
            </a:r>
            <a:endParaRPr lang="en-US" sz="2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5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Recall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Char char="•"/>
            </a:pPr>
            <a:r>
              <a:rPr lang="en-US" sz="2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goods in our markets come from abroad.</a:t>
            </a:r>
            <a:endParaRPr lang="en-US" sz="24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Char char="•"/>
            </a:pPr>
            <a:r>
              <a:rPr lang="en-US" sz="2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Phones connect people across the world.</a:t>
            </a:r>
            <a:endParaRPr lang="en-US" sz="2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6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Real-Life Situation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student in Garoua wears clothes made in China, uses a phone designed in the USA and watches European football. Her uncle grows cotton that is sold to Asia.</a:t>
            </a:r>
            <a:endParaRPr lang="en-US" sz="4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7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Situation — Question 1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What is the problem in the situation?</a:t>
            </a:r>
            <a:endParaRPr lang="en-US" sz="4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8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Our lives are linked to the whole world.</a:t>
            </a:r>
            <a:endParaRPr lang="en-US" sz="4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9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Situation — Question 2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What is this process called?</a:t>
            </a:r>
            <a:endParaRPr lang="en-US" sz="4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10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Globalisation.</a:t>
            </a:r>
            <a:endParaRPr lang="en-US" sz="4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11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Situation — Question 3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Give one thing that makes it possible.</a:t>
            </a:r>
            <a:endParaRPr lang="en-US" sz="4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12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Possible 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Phones and internet (or ships and planes).</a:t>
            </a:r>
            <a:endParaRPr lang="en-US" sz="4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JUSTIFICATION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13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Justification of the Lesson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This lesson helps us to understand how the world is becoming one system.</a:t>
            </a:r>
            <a:endParaRPr lang="en-US" sz="4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I. MEANING AND COMPONENTS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14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1</a:t>
            </a:r>
            <a:endParaRPr lang="en-US" sz="3600" dirty="0"/>
          </a:p>
        </p:txBody>
      </p:sp>
      <p:pic>
        <p:nvPicPr>
          <p:cNvPr id="13" name="Image 0" descr="/home/claude/f4/img/v2/glob_components_bi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0838" y="1691640"/>
            <a:ext cx="11587277" cy="452628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457200" y="6245352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Components of globalisation.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I. MEANING AND COMPONENTS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15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1: Question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Name the four components of globalisation.</a:t>
            </a:r>
            <a:endParaRPr lang="en-US" sz="4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I. MEANING AND COMPONENTS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16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Trade, capital, people and information.</a:t>
            </a:r>
            <a:endParaRPr lang="en-US" sz="4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II. TNCs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17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2</a:t>
            </a:r>
            <a:endParaRPr lang="en-US" sz="3600" dirty="0"/>
          </a:p>
        </p:txBody>
      </p:sp>
      <p:pic>
        <p:nvPicPr>
          <p:cNvPr id="13" name="Image 0" descr="/home/claude/f4/img/v2/usa_contai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14449" y="1691640"/>
            <a:ext cx="8160054" cy="452628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457200" y="6245352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Containers carrying goods worldwide.</a:t>
            </a:r>
            <a:endParaRPr lang="en-US" sz="1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II. TNCs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18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2: Question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What is a transnational corporation?</a:t>
            </a:r>
            <a:endParaRPr lang="en-US" sz="4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II. TNCs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19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company that operates in many countries, like Total or Nestlé.</a:t>
            </a:r>
            <a:endParaRPr lang="en-US" sz="4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II. TRANSPORT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20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3</a:t>
            </a:r>
            <a:endParaRPr lang="en-US" sz="3600" dirty="0"/>
          </a:p>
        </p:txBody>
      </p:sp>
      <p:pic>
        <p:nvPicPr>
          <p:cNvPr id="13" name="Image 0" descr="/home/claude/f4/img/v2/shrinking_world_bi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1585" y="1691640"/>
            <a:ext cx="10345783" cy="452628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457200" y="6245352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Faster transport (approximate).</a:t>
            </a:r>
            <a:endParaRPr lang="en-US" sz="14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II. TRANSPORT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21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3: Question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How did transport make the world "shrink"?</a:t>
            </a:r>
            <a:endParaRPr lang="en-US" sz="4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II. TRANSPORT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22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Faster ships and jets reduced travel time between places.</a:t>
            </a:r>
            <a:endParaRPr lang="en-US" sz="4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II. ICT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23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4</a:t>
            </a:r>
            <a:endParaRPr lang="en-US" sz="3600" dirty="0"/>
          </a:p>
        </p:txBody>
      </p:sp>
      <p:pic>
        <p:nvPicPr>
          <p:cNvPr id="13" name="Image 0" descr="/home/claude/f4/img/v2/usa_internet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18433" y="1691640"/>
            <a:ext cx="8152085" cy="452628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457200" y="6245352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 internet café.</a:t>
            </a:r>
            <a:endParaRPr lang="en-US" sz="14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II. ICT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24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4: Question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How does ICT help globalisation?</a:t>
            </a:r>
            <a:endParaRPr lang="en-US" sz="4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II. ICT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25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Internet and phones send information and money instantly everywhere.</a:t>
            </a:r>
            <a:endParaRPr lang="en-US" sz="4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III. IMPACTS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26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5</a:t>
            </a:r>
            <a:endParaRPr lang="en-US" sz="3600" dirty="0"/>
          </a:p>
        </p:txBody>
      </p:sp>
      <p:pic>
        <p:nvPicPr>
          <p:cNvPr id="13" name="Image 0" descr="/home/claude/f4/img/v2/glob_impacts_bi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0838" y="1691640"/>
            <a:ext cx="11587277" cy="452628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457200" y="6245352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Positive and negative impacts.</a:t>
            </a:r>
            <a:endParaRPr lang="en-US" sz="14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III. IMPACTS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27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5: Question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Give two positive and two negative impacts of globalisation.</a:t>
            </a:r>
            <a:endParaRPr lang="en-US" sz="40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III. IMPACTS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28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Positive: jobs, cheap goods. Negative: loss of culture, dependence on TNCs.</a:t>
            </a:r>
            <a:endParaRPr lang="en-US" sz="40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SUMMARY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29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Globalisation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3200" b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Topic: Current Development Issues</a:t>
            </a:r>
            <a:endParaRPr lang="en-US" sz="32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3200" b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Sub-topic: Globalisation</a:t>
            </a:r>
            <a:endParaRPr lang="en-US" sz="32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32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Lesson 10: Globalisation</a:t>
            </a:r>
            <a:endParaRPr lang="en-US" sz="32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SUMMARY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30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I. Definitions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Globalisation: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It is the growing links between countries through trade, money, people and information.</a:t>
            </a:r>
            <a:endParaRPr lang="en-US" sz="4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TNC: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It is a company that produces or sells in many countries.</a:t>
            </a:r>
            <a:endParaRPr lang="en-US" sz="40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SUMMARY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31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II. Evidence and Factors (1/3)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A. Evidence: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Goods from many countries are sold everywhere and TNCs operate worldwide. Music, food and sport are shared globally.</a:t>
            </a:r>
            <a:endParaRPr lang="en-US" sz="4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B. Transport: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Container ships and jets carry goods and people cheaply and fast. This is the "shrinking world".</a:t>
            </a:r>
            <a:endParaRPr lang="en-US" sz="40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SUMMARY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32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II. Evidence and Factors (2/3)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C. ICT and TNCs: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Internet and phones link markets instantly. TNCs spread factories and brands across countries.</a:t>
            </a:r>
            <a:endParaRPr lang="en-US" sz="40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SUMMARY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33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II. Evidence and Factors (3/3)</a:t>
            </a:r>
            <a:endParaRPr lang="en-US" sz="3600" dirty="0"/>
          </a:p>
        </p:txBody>
      </p:sp>
      <p:pic>
        <p:nvPicPr>
          <p:cNvPr id="13" name="Image 0" descr="/home/claude/f4/img/v2/glob_components_bi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0838" y="1691640"/>
            <a:ext cx="11587277" cy="452628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457200" y="6245352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Copy the four components.</a:t>
            </a:r>
            <a:endParaRPr lang="en-US" sz="14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SUMMARY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34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III. Impacts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A. Positive: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Globalisation brings investment, jobs, cheap goods and new ideas. Poor countries can export more.</a:t>
            </a:r>
            <a:endParaRPr lang="en-US" sz="4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B. Negative: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Local industries and cultures may disappear and profits leave the country. Inequality and pollution can rise.</a:t>
            </a:r>
            <a:endParaRPr lang="en-US" sz="40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FORMATIVE EVALUATION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35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Formative Evaluation 1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Give three factors of globalisation.</a:t>
            </a:r>
            <a:endParaRPr lang="en-US" sz="40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FORMATIVE EVALUATION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36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Expected 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TNCs, container shipping and ICT.</a:t>
            </a:r>
            <a:endParaRPr lang="en-US" sz="40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FORMATIVE EVALUATION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37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Formative Evaluation 2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Give one advantage and one disadvantage of TNCs for Cameroon.</a:t>
            </a:r>
            <a:endParaRPr lang="en-US" sz="40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FORMATIVE EVALUATION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38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Expected 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Advantage: jobs. Disadvantage: profits go abroad.</a:t>
            </a:r>
            <a:endParaRPr lang="en-US" sz="40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REMEDIATION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39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Remediation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3600" b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Fill in the blanks:</a:t>
            </a:r>
            <a:endParaRPr lang="en-US" sz="36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36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company in many countries is a ______.</a:t>
            </a:r>
            <a:endParaRPr lang="en-US" sz="36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36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Metal boxes for goods are ______.</a:t>
            </a:r>
            <a:endParaRPr lang="en-US" sz="36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36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Internet and phones are ______.</a:t>
            </a:r>
            <a:endParaRPr lang="en-US" sz="36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HOMEWORK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40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Homework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List ten objects in your home and the country where each was made.</a:t>
            </a:r>
            <a:endParaRPr lang="en-US" sz="40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This prepares Lesson 11: International Trade.</a:t>
            </a:r>
            <a:endParaRPr lang="en-US" sz="40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BILINGUAL GAME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41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Bilingual Game (Jeu Bilingue)</a:t>
            </a:r>
            <a:endParaRPr lang="en-US" sz="3000" dirty="0"/>
          </a:p>
        </p:txBody>
      </p:sp>
      <p:graphicFrame>
        <p:nvGraphicFramePr>
          <p:cNvPr id="4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011680" y="1783080"/>
          <a:ext cx="8138160" cy="914400"/>
        </p:xfrm>
        <a:graphic>
          <a:graphicData uri="http://schemas.openxmlformats.org/drawingml/2006/table">
            <a:tbl>
              <a:tblPr/>
              <a:tblGrid>
                <a:gridCol w="4069080"/>
                <a:gridCol w="406908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English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001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Français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001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Globalisation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 mondialisation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Company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L'entreprise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Container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 conteneur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Internet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Internet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Culture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 culture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Brand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 marque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LOGBOOK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42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Official Logbook (1/2)</a:t>
            </a:r>
            <a:endParaRPr lang="en-US" sz="3000" dirty="0"/>
          </a:p>
        </p:txBody>
      </p:sp>
      <p:graphicFrame>
        <p:nvGraphicFramePr>
          <p:cNvPr id="4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83080"/>
          <a:ext cx="11274552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834847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Module / Topic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Current Development Issues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Lesson Title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Lesson 10: Globalisation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Expected Learning Outcomes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Define globalisation and its components. Explain the factors of globalisation. Evaluate its positive and negative impacts.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Competence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Learners are able to explain globalisation, its factors and impacts.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LOGBOOK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43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Official Logbook (2/2)</a:t>
            </a:r>
            <a:endParaRPr lang="en-US" sz="3000" dirty="0"/>
          </a:p>
        </p:txBody>
      </p:sp>
      <p:graphicFrame>
        <p:nvGraphicFramePr>
          <p:cNvPr id="4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83080"/>
          <a:ext cx="11274552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834847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Matter Taught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I. Definitions: Globalisation, TNC; II. Evidence and Factors: Evidence, Transport, ICT and TNCs; III. Impacts: Positive, Negative.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Evaluation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Formative evaluation (3 questions) and remediation exercise.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Homework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List ten objects in your home and the country where each was made.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Enrolment / Present / Absent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____ / ____ / ____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Achievement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 be completed by the teacher after the lesson.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TEACHER'S NOTE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44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Teacher's Note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20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Timing: Set-up, recall 8 min | Situation 8 min | 5 activities 30 min | Board summary (copying) 30 min | Evaluation, remediation 10 min | Homework, logbook 9 min | Spare 5 min</a:t>
            </a:r>
            <a:endParaRPr lang="en-US" sz="20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45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References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 Geography Syllabus, Sixth Forms (Lower &amp; Upper Sixth), MINESEC/IGE/IP-SS, August 2019 — Module 7 (Environment and Development).</a:t>
            </a:r>
            <a:endParaRPr lang="en-US" sz="18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Photo, Activity 2: “Container Ships @ Port of Oakland” by jdnx, CC BY 2.0, via Flickr (https://www.flickr.com/photos/21442511@N08/3464243881)</a:t>
            </a:r>
            <a:endParaRPr lang="en-US" sz="18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Photo, Activity 4: “Woman uses a computer in an internet cafe” by World Bank Photo Collection, CC BY-NC-ND 2.0, via Flickr (https://www.flickr.com/photos/10816734@N03/7556691396)</a:t>
            </a:r>
            <a:endParaRPr lang="en-US" sz="18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Diagrams and animations: drawn for this lesson (DGCAST Geography Department).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45</Slides>
  <Notes>45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45</vt:i4>
      </vt:variant>
    </vt:vector>
  </HeadingPairs>
  <TitlesOfParts>
    <vt:vector size="4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2026-09-26T20:44:34Z</dcterms:created>
  <dcterms:modified xsi:type="dcterms:W3CDTF">2026-09-26T20:44:34Z</dcterms:modified>
</cp:coreProperties>
</file>