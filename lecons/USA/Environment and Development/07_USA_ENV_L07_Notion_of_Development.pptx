
<file path=[Content_Types].xml><?xml version="1.0" encoding="utf-8"?>
<Types xmlns="http://schemas.openxmlformats.org/package/2006/content-types">
  <Default Extension="xml" ContentType="application/xml"/>
  <Default Extension="rels" ContentType="application/vnd.openxmlformats-package.relationships+xml"/>
  <Default Extension="jpeg" ContentType="image/jpeg"/>
  <Default Extension="jpg" ContentType="image/jpg"/>
  <Default Extension="svg" ContentType="image/svg+xml"/>
  <Default Extension="png" ContentType="image/png"/>
  <Default Extension="gif" ContentType="image/gif"/>
  <Default Extension="m4v" ContentType="video/mp4"/>
  <Default Extension="mp4" ContentType="video/mp4"/>
  <Default Extension="vml" ContentType="application/vnd.openxmlformats-officedocument.vmlDrawing"/>
  <Default Extension="xlsx" ContentType="application/vnd.openxmlformats-officedocument.spreadsheetml.sheet"/>
  <Override PartName="/ppt/presentation.xml" ContentType="application/vnd.openxmlformats-officedocument.presentationml.presentation.main+xml"/>
  <Override PartName="/ppt/notesMasters/notesMaster1.xml" ContentType="application/vnd.openxmlformats-officedocument.presentationml.notesMaster+xml"/>
  <Override PartName="/ppt/slideMasters/slideMaster1.xml" ContentType="application/vnd.openxmlformats-officedocument.presentationml.slideMaster+xml"/>
  <Override PartName="/ppt/slides/slide1.xml" ContentType="application/vnd.openxmlformats-officedocument.presentationml.slide+xml"/>
  <Override PartName="/ppt/slideMasters/slideMaster2.xml" ContentType="application/vnd.openxmlformats-officedocument.presentationml.slideMaster+xml"/>
  <Override PartName="/ppt/slides/slide2.xml" ContentType="application/vnd.openxmlformats-officedocument.presentationml.slide+xml"/>
  <Override PartName="/ppt/slideMasters/slideMaster3.xml" ContentType="application/vnd.openxmlformats-officedocument.presentationml.slideMaster+xml"/>
  <Override PartName="/ppt/slides/slide3.xml" ContentType="application/vnd.openxmlformats-officedocument.presentationml.slide+xml"/>
  <Override PartName="/ppt/slideMasters/slideMaster4.xml" ContentType="application/vnd.openxmlformats-officedocument.presentationml.slideMaster+xml"/>
  <Override PartName="/ppt/slides/slide4.xml" ContentType="application/vnd.openxmlformats-officedocument.presentationml.slide+xml"/>
  <Override PartName="/ppt/slideMasters/slideMaster5.xml" ContentType="application/vnd.openxmlformats-officedocument.presentationml.slideMaster+xml"/>
  <Override PartName="/ppt/slides/slide5.xml" ContentType="application/vnd.openxmlformats-officedocument.presentationml.slide+xml"/>
  <Override PartName="/ppt/slideMasters/slideMaster6.xml" ContentType="application/vnd.openxmlformats-officedocument.presentationml.slideMaster+xml"/>
  <Override PartName="/ppt/slides/slide6.xml" ContentType="application/vnd.openxmlformats-officedocument.presentationml.slide+xml"/>
  <Override PartName="/ppt/slideMasters/slideMaster7.xml" ContentType="application/vnd.openxmlformats-officedocument.presentationml.slideMaster+xml"/>
  <Override PartName="/ppt/slides/slide7.xml" ContentType="application/vnd.openxmlformats-officedocument.presentationml.slide+xml"/>
  <Override PartName="/ppt/slideMasters/slideMaster8.xml" ContentType="application/vnd.openxmlformats-officedocument.presentationml.slideMaster+xml"/>
  <Override PartName="/ppt/slides/slide8.xml" ContentType="application/vnd.openxmlformats-officedocument.presentationml.slide+xml"/>
  <Override PartName="/ppt/slideMasters/slideMaster9.xml" ContentType="application/vnd.openxmlformats-officedocument.presentationml.slideMaster+xml"/>
  <Override PartName="/ppt/slides/slide9.xml" ContentType="application/vnd.openxmlformats-officedocument.presentationml.slide+xml"/>
  <Override PartName="/ppt/slideMasters/slideMaster10.xml" ContentType="application/vnd.openxmlformats-officedocument.presentationml.slideMaster+xml"/>
  <Override PartName="/ppt/slides/slide10.xml" ContentType="application/vnd.openxmlformats-officedocument.presentationml.slide+xml"/>
  <Override PartName="/ppt/slideMasters/slideMaster11.xml" ContentType="application/vnd.openxmlformats-officedocument.presentationml.slideMaster+xml"/>
  <Override PartName="/ppt/slides/slide11.xml" ContentType="application/vnd.openxmlformats-officedocument.presentationml.slide+xml"/>
  <Override PartName="/ppt/slideMasters/slideMaster12.xml" ContentType="application/vnd.openxmlformats-officedocument.presentationml.slideMaster+xml"/>
  <Override PartName="/ppt/slides/slide12.xml" ContentType="application/vnd.openxmlformats-officedocument.presentationml.slide+xml"/>
  <Override PartName="/ppt/slideMasters/slideMaster13.xml" ContentType="application/vnd.openxmlformats-officedocument.presentationml.slideMaster+xml"/>
  <Override PartName="/ppt/slides/slide13.xml" ContentType="application/vnd.openxmlformats-officedocument.presentationml.slide+xml"/>
  <Override PartName="/ppt/slideMasters/slideMaster14.xml" ContentType="application/vnd.openxmlformats-officedocument.presentationml.slideMaster+xml"/>
  <Override PartName="/ppt/slides/slide14.xml" ContentType="application/vnd.openxmlformats-officedocument.presentationml.slide+xml"/>
  <Override PartName="/ppt/slideMasters/slideMaster15.xml" ContentType="application/vnd.openxmlformats-officedocument.presentationml.slideMaster+xml"/>
  <Override PartName="/ppt/slides/slide15.xml" ContentType="application/vnd.openxmlformats-officedocument.presentationml.slide+xml"/>
  <Override PartName="/ppt/slideMasters/slideMaster16.xml" ContentType="application/vnd.openxmlformats-officedocument.presentationml.slideMaster+xml"/>
  <Override PartName="/ppt/slides/slide16.xml" ContentType="application/vnd.openxmlformats-officedocument.presentationml.slide+xml"/>
  <Override PartName="/ppt/slideMasters/slideMaster17.xml" ContentType="application/vnd.openxmlformats-officedocument.presentationml.slideMaster+xml"/>
  <Override PartName="/ppt/slides/slide17.xml" ContentType="application/vnd.openxmlformats-officedocument.presentationml.slide+xml"/>
  <Override PartName="/ppt/slideMasters/slideMaster18.xml" ContentType="application/vnd.openxmlformats-officedocument.presentationml.slideMaster+xml"/>
  <Override PartName="/ppt/slides/slide18.xml" ContentType="application/vnd.openxmlformats-officedocument.presentationml.slide+xml"/>
  <Override PartName="/ppt/slideMasters/slideMaster19.xml" ContentType="application/vnd.openxmlformats-officedocument.presentationml.slideMaster+xml"/>
  <Override PartName="/ppt/slides/slide19.xml" ContentType="application/vnd.openxmlformats-officedocument.presentationml.slide+xml"/>
  <Override PartName="/ppt/slideMasters/slideMaster20.xml" ContentType="application/vnd.openxmlformats-officedocument.presentationml.slideMaster+xml"/>
  <Override PartName="/ppt/slides/slide20.xml" ContentType="application/vnd.openxmlformats-officedocument.presentationml.slide+xml"/>
  <Override PartName="/ppt/slideMasters/slideMaster21.xml" ContentType="application/vnd.openxmlformats-officedocument.presentationml.slideMaster+xml"/>
  <Override PartName="/ppt/slides/slide21.xml" ContentType="application/vnd.openxmlformats-officedocument.presentationml.slide+xml"/>
  <Override PartName="/ppt/slideMasters/slideMaster22.xml" ContentType="application/vnd.openxmlformats-officedocument.presentationml.slideMaster+xml"/>
  <Override PartName="/ppt/slides/slide22.xml" ContentType="application/vnd.openxmlformats-officedocument.presentationml.slide+xml"/>
  <Override PartName="/ppt/slideMasters/slideMaster23.xml" ContentType="application/vnd.openxmlformats-officedocument.presentationml.slideMaster+xml"/>
  <Override PartName="/ppt/slides/slide23.xml" ContentType="application/vnd.openxmlformats-officedocument.presentationml.slide+xml"/>
  <Override PartName="/ppt/slideMasters/slideMaster24.xml" ContentType="application/vnd.openxmlformats-officedocument.presentationml.slideMaster+xml"/>
  <Override PartName="/ppt/slides/slide24.xml" ContentType="application/vnd.openxmlformats-officedocument.presentationml.slide+xml"/>
  <Override PartName="/ppt/slideMasters/slideMaster25.xml" ContentType="application/vnd.openxmlformats-officedocument.presentationml.slideMaster+xml"/>
  <Override PartName="/ppt/slides/slide25.xml" ContentType="application/vnd.openxmlformats-officedocument.presentationml.slide+xml"/>
  <Override PartName="/ppt/slideMasters/slideMaster26.xml" ContentType="application/vnd.openxmlformats-officedocument.presentationml.slideMaster+xml"/>
  <Override PartName="/ppt/slides/slide26.xml" ContentType="application/vnd.openxmlformats-officedocument.presentationml.slide+xml"/>
  <Override PartName="/ppt/slideMasters/slideMaster27.xml" ContentType="application/vnd.openxmlformats-officedocument.presentationml.slideMaster+xml"/>
  <Override PartName="/ppt/slides/slide27.xml" ContentType="application/vnd.openxmlformats-officedocument.presentationml.slide+xml"/>
  <Override PartName="/ppt/slideMasters/slideMaster28.xml" ContentType="application/vnd.openxmlformats-officedocument.presentationml.slideMaster+xml"/>
  <Override PartName="/ppt/slides/slide28.xml" ContentType="application/vnd.openxmlformats-officedocument.presentationml.slide+xml"/>
  <Override PartName="/ppt/slideMasters/slideMaster29.xml" ContentType="application/vnd.openxmlformats-officedocument.presentationml.slideMaster+xml"/>
  <Override PartName="/ppt/slides/slide29.xml" ContentType="application/vnd.openxmlformats-officedocument.presentationml.slide+xml"/>
  <Override PartName="/ppt/slideMasters/slideMaster30.xml" ContentType="application/vnd.openxmlformats-officedocument.presentationml.slideMaster+xml"/>
  <Override PartName="/ppt/slides/slide30.xml" ContentType="application/vnd.openxmlformats-officedocument.presentationml.slide+xml"/>
  <Override PartName="/ppt/slideMasters/slideMaster31.xml" ContentType="application/vnd.openxmlformats-officedocument.presentationml.slideMaster+xml"/>
  <Override PartName="/ppt/slides/slide31.xml" ContentType="application/vnd.openxmlformats-officedocument.presentationml.slide+xml"/>
  <Override PartName="/ppt/slideMasters/slideMaster32.xml" ContentType="application/vnd.openxmlformats-officedocument.presentationml.slideMaster+xml"/>
  <Override PartName="/ppt/slides/slide32.xml" ContentType="application/vnd.openxmlformats-officedocument.presentationml.slide+xml"/>
  <Override PartName="/ppt/slideMasters/slideMaster33.xml" ContentType="application/vnd.openxmlformats-officedocument.presentationml.slideMaster+xml"/>
  <Override PartName="/ppt/slides/slide33.xml" ContentType="application/vnd.openxmlformats-officedocument.presentationml.slide+xml"/>
  <Override PartName="/ppt/slideMasters/slideMaster34.xml" ContentType="application/vnd.openxmlformats-officedocument.presentationml.slideMaster+xml"/>
  <Override PartName="/ppt/slides/slide34.xml" ContentType="application/vnd.openxmlformats-officedocument.presentationml.slide+xml"/>
  <Override PartName="/ppt/slideMasters/slideMaster35.xml" ContentType="application/vnd.openxmlformats-officedocument.presentationml.slideMaster+xml"/>
  <Override PartName="/ppt/slides/slide35.xml" ContentType="application/vnd.openxmlformats-officedocument.presentationml.slide+xml"/>
  <Override PartName="/ppt/slideMasters/slideMaster36.xml" ContentType="application/vnd.openxmlformats-officedocument.presentationml.slideMaster+xml"/>
  <Override PartName="/ppt/slides/slide36.xml" ContentType="application/vnd.openxmlformats-officedocument.presentationml.slide+xml"/>
  <Override PartName="/ppt/slideMasters/slideMaster37.xml" ContentType="application/vnd.openxmlformats-officedocument.presentationml.slideMaster+xml"/>
  <Override PartName="/ppt/slides/slide37.xml" ContentType="application/vnd.openxmlformats-officedocument.presentationml.slide+xml"/>
  <Override PartName="/ppt/slideMasters/slideMaster38.xml" ContentType="application/vnd.openxmlformats-officedocument.presentationml.slideMaster+xml"/>
  <Override PartName="/ppt/slides/slide38.xml" ContentType="application/vnd.openxmlformats-officedocument.presentationml.slide+xml"/>
  <Override PartName="/ppt/slideMasters/slideMaster39.xml" ContentType="application/vnd.openxmlformats-officedocument.presentationml.slideMaster+xml"/>
  <Override PartName="/ppt/slides/slide39.xml" ContentType="application/vnd.openxmlformats-officedocument.presentationml.slide+xml"/>
  <Override PartName="/ppt/slideMasters/slideMaster40.xml" ContentType="application/vnd.openxmlformats-officedocument.presentationml.slideMaster+xml"/>
  <Override PartName="/ppt/slides/slide40.xml" ContentType="application/vnd.openxmlformats-officedocument.presentationml.slide+xml"/>
  <Override PartName="/ppt/slideMasters/slideMaster41.xml" ContentType="application/vnd.openxmlformats-officedocument.presentationml.slideMaster+xml"/>
  <Override PartName="/ppt/slides/slide41.xml" ContentType="application/vnd.openxmlformats-officedocument.presentationml.slide+xml"/>
  <Override PartName="/ppt/slideMasters/slideMaster42.xml" ContentType="application/vnd.openxmlformats-officedocument.presentationml.slideMaster+xml"/>
  <Override PartName="/ppt/slides/slide42.xml" ContentType="application/vnd.openxmlformats-officedocument.presentationml.slide+xml"/>
  <Override PartName="/ppt/slideMasters/slideMaster43.xml" ContentType="application/vnd.openxmlformats-officedocument.presentationml.slideMaster+xml"/>
  <Override PartName="/ppt/slides/slide43.xml" ContentType="application/vnd.openxmlformats-officedocument.presentationml.slide+xml"/>
  <Override PartName="/ppt/slideMasters/slideMaster44.xml" ContentType="application/vnd.openxmlformats-officedocument.presentationml.slideMaster+xml"/>
  <Override PartName="/ppt/slides/slide44.xml" ContentType="application/vnd.openxmlformats-officedocument.presentationml.slide+xml"/>
  <Override PartName="/ppt/slideMasters/slideMaster45.xml" ContentType="application/vnd.openxmlformats-officedocument.presentationml.slideMaster+xml"/>
  <Override PartName="/ppt/slides/slide45.xml" ContentType="application/vnd.openxmlformats-officedocument.presentationml.slide+xml"/>
  <Override PartName="/ppt/slideMasters/slideMaster46.xml" ContentType="application/vnd.openxmlformats-officedocument.presentationml.slideMaster+xml"/>
  <Override PartName="/ppt/slides/slide46.xml" ContentType="application/vnd.openxmlformats-officedocument.presentationml.slide+xml"/>
  <Override PartName="/ppt/slideMasters/slideMaster47.xml" ContentType="application/vnd.openxmlformats-officedocument.presentationml.slideMaster+xml"/>
  <Override PartName="/ppt/slides/slide47.xml" ContentType="application/vnd.openxmlformats-officedocument.presentationml.slide+xml"/>
  <Override PartName="/ppt/slideMasters/slideMaster48.xml" ContentType="application/vnd.openxmlformats-officedocument.presentationml.slideMaster+xml"/>
  <Override PartName="/ppt/slides/slide48.xml" ContentType="application/vnd.openxmlformats-officedocument.presentationml.slide+xml"/>
  <Override PartName="/ppt/slideMasters/slideMaster49.xml" ContentType="application/vnd.openxmlformats-officedocument.presentationml.slideMaster+xml"/>
  <Override PartName="/ppt/slides/slide49.xml" ContentType="application/vnd.openxmlformats-officedocument.presentationml.slide+xml"/>
  <Override PartName="/ppt/slideMasters/slideMaster50.xml" ContentType="application/vnd.openxmlformats-officedocument.presentationml.slideMaster+xml"/>
  <Override PartName="/ppt/slides/slide50.xml" ContentType="application/vnd.openxmlformats-officedocument.presentationml.slide+xml"/>
  <Override PartName="/ppt/slideMasters/slideMaster51.xml" ContentType="application/vnd.openxmlformats-officedocument.presentationml.slideMaster+xml"/>
  <Override PartName="/ppt/slides/slide51.xml" ContentType="application/vnd.openxmlformats-officedocument.presentationml.slide+xml"/>
  <Override PartName="/ppt/slideMasters/slideMaster52.xml" ContentType="application/vnd.openxmlformats-officedocument.presentationml.slideMaster+xml"/>
  <Override PartName="/ppt/slides/slide52.xml" ContentType="application/vnd.openxmlformats-officedocument.presentationml.slide+xml"/>
  <Override PartName="/ppt/slideMasters/slideMaster53.xml" ContentType="application/vnd.openxmlformats-officedocument.presentationml.slideMaster+xml"/>
  <Override PartName="/ppt/slides/slide53.xml" ContentType="application/vnd.openxmlformats-officedocument.presentationml.slide+xml"/>
  <Override PartName="/ppt/slideMasters/slideMaster54.xml" ContentType="application/vnd.openxmlformats-officedocument.presentationml.slideMaster+xml"/>
  <Override PartName="/ppt/slides/slide54.xml" ContentType="application/vnd.openxmlformats-officedocument.presentationml.slide+xml"/>
  <Override PartName="/ppt/slideMasters/slideMaster55.xml" ContentType="application/vnd.openxmlformats-officedocument.presentationml.slideMaster+xml"/>
  <Override PartName="/ppt/slides/slide55.xml" ContentType="application/vnd.openxmlformats-officedocument.presentationml.slide+xml"/>
  <Override PartName="/ppt/slideMasters/slideMaster56.xml" ContentType="application/vnd.openxmlformats-officedocument.presentationml.slideMaster+xml"/>
  <Override PartName="/ppt/slides/slide56.xml" ContentType="application/vnd.openxmlformats-officedocument.presentationml.slide+xml"/>
  <Override PartName="/ppt/slideMasters/slideMaster57.xml" ContentType="application/vnd.openxmlformats-officedocument.presentationml.slideMaster+xml"/>
  <Override PartName="/ppt/slides/slide57.xml" ContentType="application/vnd.openxmlformats-officedocument.presentationml.slide+xml"/>
  <Override PartName="/ppt/slideMasters/slideMaster58.xml" ContentType="application/vnd.openxmlformats-officedocument.presentationml.slideMaster+xml"/>
  <Override PartName="/ppt/slides/slide58.xml" ContentType="application/vnd.openxmlformats-officedocument.presentationml.slide+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15.xml" ContentType="application/vnd.openxmlformats-officedocument.presentationml.notesSlide+xml"/>
  <Override PartName="/ppt/notesSlides/notesSlide16.xml" ContentType="application/vnd.openxmlformats-officedocument.presentationml.notesSlide+xml"/>
  <Override PartName="/ppt/notesSlides/notesSlide17.xml" ContentType="application/vnd.openxmlformats-officedocument.presentationml.notesSlide+xml"/>
  <Override PartName="/ppt/notesSlides/notesSlide18.xml" ContentType="application/vnd.openxmlformats-officedocument.presentationml.notesSlide+xml"/>
  <Override PartName="/ppt/notesSlides/notesSlide19.xml" ContentType="application/vnd.openxmlformats-officedocument.presentationml.notesSlide+xml"/>
  <Override PartName="/ppt/notesSlides/notesSlide20.xml" ContentType="application/vnd.openxmlformats-officedocument.presentationml.notesSlide+xml"/>
  <Override PartName="/ppt/notesSlides/notesSlide21.xml" ContentType="application/vnd.openxmlformats-officedocument.presentationml.notesSlide+xml"/>
  <Override PartName="/ppt/notesSlides/notesSlide22.xml" ContentType="application/vnd.openxmlformats-officedocument.presentationml.notesSlide+xml"/>
  <Override PartName="/ppt/notesSlides/notesSlide23.xml" ContentType="application/vnd.openxmlformats-officedocument.presentationml.notesSlide+xml"/>
  <Override PartName="/ppt/notesSlides/notesSlide24.xml" ContentType="application/vnd.openxmlformats-officedocument.presentationml.notesSlide+xml"/>
  <Override PartName="/ppt/notesSlides/notesSlide25.xml" ContentType="application/vnd.openxmlformats-officedocument.presentationml.notesSlide+xml"/>
  <Override PartName="/ppt/notesSlides/notesSlide26.xml" ContentType="application/vnd.openxmlformats-officedocument.presentationml.notesSlide+xml"/>
  <Override PartName="/ppt/notesSlides/notesSlide27.xml" ContentType="application/vnd.openxmlformats-officedocument.presentationml.notesSlide+xml"/>
  <Override PartName="/ppt/notesSlides/notesSlide28.xml" ContentType="application/vnd.openxmlformats-officedocument.presentationml.notesSlide+xml"/>
  <Override PartName="/ppt/notesSlides/notesSlide29.xml" ContentType="application/vnd.openxmlformats-officedocument.presentationml.notesSlide+xml"/>
  <Override PartName="/ppt/notesSlides/notesSlide30.xml" ContentType="application/vnd.openxmlformats-officedocument.presentationml.notesSlide+xml"/>
  <Override PartName="/ppt/notesSlides/notesSlide31.xml" ContentType="application/vnd.openxmlformats-officedocument.presentationml.notesSlide+xml"/>
  <Override PartName="/ppt/notesSlides/notesSlide32.xml" ContentType="application/vnd.openxmlformats-officedocument.presentationml.notesSlide+xml"/>
  <Override PartName="/ppt/notesSlides/notesSlide33.xml" ContentType="application/vnd.openxmlformats-officedocument.presentationml.notesSlide+xml"/>
  <Override PartName="/ppt/notesSlides/notesSlide34.xml" ContentType="application/vnd.openxmlformats-officedocument.presentationml.notesSlide+xml"/>
  <Override PartName="/ppt/notesSlides/notesSlide35.xml" ContentType="application/vnd.openxmlformats-officedocument.presentationml.notesSlide+xml"/>
  <Override PartName="/ppt/notesSlides/notesSlide36.xml" ContentType="application/vnd.openxmlformats-officedocument.presentationml.notesSlide+xml"/>
  <Override PartName="/ppt/notesSlides/notesSlide37.xml" ContentType="application/vnd.openxmlformats-officedocument.presentationml.notesSlide+xml"/>
  <Override PartName="/ppt/notesSlides/notesSlide38.xml" ContentType="application/vnd.openxmlformats-officedocument.presentationml.notesSlide+xml"/>
  <Override PartName="/ppt/notesSlides/notesSlide39.xml" ContentType="application/vnd.openxmlformats-officedocument.presentationml.notesSlide+xml"/>
  <Override PartName="/ppt/notesSlides/notesSlide40.xml" ContentType="application/vnd.openxmlformats-officedocument.presentationml.notesSlide+xml"/>
  <Override PartName="/ppt/notesSlides/notesSlide41.xml" ContentType="application/vnd.openxmlformats-officedocument.presentationml.notesSlide+xml"/>
  <Override PartName="/ppt/notesSlides/notesSlide42.xml" ContentType="application/vnd.openxmlformats-officedocument.presentationml.notesSlide+xml"/>
  <Override PartName="/ppt/notesSlides/notesSlide43.xml" ContentType="application/vnd.openxmlformats-officedocument.presentationml.notesSlide+xml"/>
  <Override PartName="/ppt/notesSlides/notesSlide44.xml" ContentType="application/vnd.openxmlformats-officedocument.presentationml.notesSlide+xml"/>
  <Override PartName="/ppt/notesSlides/notesSlide45.xml" ContentType="application/vnd.openxmlformats-officedocument.presentationml.notesSlide+xml"/>
  <Override PartName="/ppt/notesSlides/notesSlide46.xml" ContentType="application/vnd.openxmlformats-officedocument.presentationml.notesSlide+xml"/>
  <Override PartName="/ppt/notesSlides/notesSlide47.xml" ContentType="application/vnd.openxmlformats-officedocument.presentationml.notesSlide+xml"/>
  <Override PartName="/ppt/notesSlides/notesSlide48.xml" ContentType="application/vnd.openxmlformats-officedocument.presentationml.notesSlide+xml"/>
  <Override PartName="/ppt/notesSlides/notesSlide49.xml" ContentType="application/vnd.openxmlformats-officedocument.presentationml.notesSlide+xml"/>
  <Override PartName="/ppt/notesSlides/notesSlide50.xml" ContentType="application/vnd.openxmlformats-officedocument.presentationml.notesSlide+xml"/>
  <Override PartName="/ppt/notesSlides/notesSlide51.xml" ContentType="application/vnd.openxmlformats-officedocument.presentationml.notesSlide+xml"/>
  <Override PartName="/ppt/notesSlides/notesSlide52.xml" ContentType="application/vnd.openxmlformats-officedocument.presentationml.notesSlide+xml"/>
  <Override PartName="/ppt/notesSlides/notesSlide53.xml" ContentType="application/vnd.openxmlformats-officedocument.presentationml.notesSlide+xml"/>
  <Override PartName="/ppt/notesSlides/notesSlide54.xml" ContentType="application/vnd.openxmlformats-officedocument.presentationml.notesSlide+xml"/>
  <Override PartName="/ppt/notesSlides/notesSlide55.xml" ContentType="application/vnd.openxmlformats-officedocument.presentationml.notesSlide+xml"/>
  <Override PartName="/ppt/notesSlides/notesSlide56.xml" ContentType="application/vnd.openxmlformats-officedocument.presentationml.notesSlide+xml"/>
  <Override PartName="/ppt/notesSlides/notesSlide57.xml" ContentType="application/vnd.openxmlformats-officedocument.presentationml.notesSlide+xml"/>
  <Override PartName="/ppt/notesSlides/notesSlide58.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
		<Relationship Id="rId1" Type="http://schemas.openxmlformats.org/officeDocument/2006/relationships/extended-properties" Target="docProps/app.xml"/>
		<Relationship Id="rId2" Type="http://schemas.openxmlformats.org/package/2006/relationships/metadata/core-properties" Target="docProps/core.xml"/>
		<Relationship Id="rId3" Type="http://schemas.openxmlformats.org/officeDocument/2006/relationships/officeDocument" Target="ppt/presentation.xml"/>
		</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2"/>
    <p:sldId id="257" r:id="rId3"/>
    <p:sldId id="258" r:id="rId4"/>
    <p:sldId id="259" r:id="rId5"/>
    <p:sldId id="260" r:id="rId6"/>
    <p:sldId id="261" r:id="rId7"/>
    <p:sldId id="262" r:id="rId8"/>
    <p:sldId id="263" r:id="rId9"/>
    <p:sldId id="264" r:id="rId10"/>
    <p:sldId id="265" r:id="rId11"/>
    <p:sldId id="266" r:id="rId12"/>
    <p:sldId id="267" r:id="rId13"/>
    <p:sldId id="268" r:id="rId14"/>
    <p:sldId id="269" r:id="rId15"/>
    <p:sldId id="270" r:id="rId16"/>
    <p:sldId id="271" r:id="rId17"/>
    <p:sldId id="272" r:id="rId18"/>
    <p:sldId id="273" r:id="rId19"/>
    <p:sldId id="274" r:id="rId20"/>
    <p:sldId id="275" r:id="rId21"/>
    <p:sldId id="276" r:id="rId22"/>
    <p:sldId id="277" r:id="rId23"/>
    <p:sldId id="278" r:id="rId24"/>
    <p:sldId id="279" r:id="rId25"/>
    <p:sldId id="280" r:id="rId26"/>
    <p:sldId id="281" r:id="rId27"/>
    <p:sldId id="282" r:id="rId28"/>
    <p:sldId id="283" r:id="rId29"/>
    <p:sldId id="284" r:id="rId30"/>
    <p:sldId id="285" r:id="rId31"/>
    <p:sldId id="286" r:id="rId32"/>
    <p:sldId id="287" r:id="rId33"/>
    <p:sldId id="288" r:id="rId34"/>
    <p:sldId id="289" r:id="rId35"/>
    <p:sldId id="290" r:id="rId36"/>
    <p:sldId id="291" r:id="rId37"/>
    <p:sldId id="292" r:id="rId38"/>
    <p:sldId id="293" r:id="rId39"/>
    <p:sldId id="294" r:id="rId40"/>
    <p:sldId id="295" r:id="rId41"/>
    <p:sldId id="296" r:id="rId42"/>
    <p:sldId id="297" r:id="rId43"/>
    <p:sldId id="298" r:id="rId44"/>
    <p:sldId id="299" r:id="rId45"/>
    <p:sldId id="300" r:id="rId46"/>
    <p:sldId id="301" r:id="rId47"/>
    <p:sldId id="302" r:id="rId48"/>
    <p:sldId id="303" r:id="rId49"/>
    <p:sldId id="304" r:id="rId50"/>
    <p:sldId id="305" r:id="rId51"/>
    <p:sldId id="306" r:id="rId52"/>
    <p:sldId id="307" r:id="rId53"/>
    <p:sldId id="308" r:id="rId54"/>
    <p:sldId id="309" r:id="rId55"/>
    <p:sldId id="310" r:id="rId56"/>
    <p:sldId id="311" r:id="rId57"/>
    <p:sldId id="312" r:id="rId58"/>
    <p:sldId id="313" r:id="rId59"/>
  </p:sldIdLst>
  <p:notesMasterIdLst>
    <p:notesMasterId r:id="rId60"/>
  </p:notesMasterIdLst>
  <p:sldSz cx="12192000" cy="6858000"/>
  <p:notesSz cx="6858000" cy="12192000"/>
  <p:defaultTextStyle>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horzBarState="maximized">
    <p:restoredLeft sz="15611"/>
    <p:restoredTop sz="94610"/>
  </p:normalViewPr>
  <p:slideViewPr>
    <p:cSldViewPr snapToGrid="0" snapToObjects="1">
      <p:cViewPr varScale="1">
        <p:scale>
          <a:sx n="136" d="100"/>
          <a:sy n="136" d="100"/>
        </p:scale>
        <p:origin x="216" y="312"/>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slide" Target="slides/slide1.xml"/><Relationship Id="rId3" Type="http://schemas.openxmlformats.org/officeDocument/2006/relationships/slide" Target="slides/slide2.xml"/><Relationship Id="rId4" Type="http://schemas.openxmlformats.org/officeDocument/2006/relationships/slide" Target="slides/slide3.xml"/><Relationship Id="rId5" Type="http://schemas.openxmlformats.org/officeDocument/2006/relationships/slide" Target="slides/slide4.xml"/><Relationship Id="rId6" Type="http://schemas.openxmlformats.org/officeDocument/2006/relationships/slide" Target="slides/slide5.xml"/><Relationship Id="rId7" Type="http://schemas.openxmlformats.org/officeDocument/2006/relationships/slide" Target="slides/slide6.xml"/><Relationship Id="rId8" Type="http://schemas.openxmlformats.org/officeDocument/2006/relationships/slide" Target="slides/slide7.xml"/><Relationship Id="rId9" Type="http://schemas.openxmlformats.org/officeDocument/2006/relationships/slide" Target="slides/slide8.xml"/><Relationship Id="rId10" Type="http://schemas.openxmlformats.org/officeDocument/2006/relationships/slide" Target="slides/slide9.xml"/><Relationship Id="rId11" Type="http://schemas.openxmlformats.org/officeDocument/2006/relationships/slide" Target="slides/slide10.xml"/><Relationship Id="rId12" Type="http://schemas.openxmlformats.org/officeDocument/2006/relationships/slide" Target="slides/slide11.xml"/><Relationship Id="rId13" Type="http://schemas.openxmlformats.org/officeDocument/2006/relationships/slide" Target="slides/slide12.xml"/><Relationship Id="rId14" Type="http://schemas.openxmlformats.org/officeDocument/2006/relationships/slide" Target="slides/slide13.xml"/><Relationship Id="rId15" Type="http://schemas.openxmlformats.org/officeDocument/2006/relationships/slide" Target="slides/slide14.xml"/><Relationship Id="rId16" Type="http://schemas.openxmlformats.org/officeDocument/2006/relationships/slide" Target="slides/slide15.xml"/><Relationship Id="rId17" Type="http://schemas.openxmlformats.org/officeDocument/2006/relationships/slide" Target="slides/slide16.xml"/><Relationship Id="rId18" Type="http://schemas.openxmlformats.org/officeDocument/2006/relationships/slide" Target="slides/slide17.xml"/><Relationship Id="rId19" Type="http://schemas.openxmlformats.org/officeDocument/2006/relationships/slide" Target="slides/slide18.xml"/><Relationship Id="rId20" Type="http://schemas.openxmlformats.org/officeDocument/2006/relationships/slide" Target="slides/slide19.xml"/><Relationship Id="rId21" Type="http://schemas.openxmlformats.org/officeDocument/2006/relationships/slide" Target="slides/slide20.xml"/><Relationship Id="rId22" Type="http://schemas.openxmlformats.org/officeDocument/2006/relationships/slide" Target="slides/slide21.xml"/><Relationship Id="rId23" Type="http://schemas.openxmlformats.org/officeDocument/2006/relationships/slide" Target="slides/slide22.xml"/><Relationship Id="rId24" Type="http://schemas.openxmlformats.org/officeDocument/2006/relationships/slide" Target="slides/slide23.xml"/><Relationship Id="rId25" Type="http://schemas.openxmlformats.org/officeDocument/2006/relationships/slide" Target="slides/slide24.xml"/><Relationship Id="rId26" Type="http://schemas.openxmlformats.org/officeDocument/2006/relationships/slide" Target="slides/slide25.xml"/><Relationship Id="rId27" Type="http://schemas.openxmlformats.org/officeDocument/2006/relationships/slide" Target="slides/slide26.xml"/><Relationship Id="rId28" Type="http://schemas.openxmlformats.org/officeDocument/2006/relationships/slide" Target="slides/slide27.xml"/><Relationship Id="rId29" Type="http://schemas.openxmlformats.org/officeDocument/2006/relationships/slide" Target="slides/slide28.xml"/><Relationship Id="rId30" Type="http://schemas.openxmlformats.org/officeDocument/2006/relationships/slide" Target="slides/slide29.xml"/><Relationship Id="rId31" Type="http://schemas.openxmlformats.org/officeDocument/2006/relationships/slide" Target="slides/slide30.xml"/><Relationship Id="rId32" Type="http://schemas.openxmlformats.org/officeDocument/2006/relationships/slide" Target="slides/slide31.xml"/><Relationship Id="rId33" Type="http://schemas.openxmlformats.org/officeDocument/2006/relationships/slide" Target="slides/slide32.xml"/><Relationship Id="rId34" Type="http://schemas.openxmlformats.org/officeDocument/2006/relationships/slide" Target="slides/slide33.xml"/><Relationship Id="rId35" Type="http://schemas.openxmlformats.org/officeDocument/2006/relationships/slide" Target="slides/slide34.xml"/><Relationship Id="rId36" Type="http://schemas.openxmlformats.org/officeDocument/2006/relationships/slide" Target="slides/slide35.xml"/><Relationship Id="rId37" Type="http://schemas.openxmlformats.org/officeDocument/2006/relationships/slide" Target="slides/slide36.xml"/><Relationship Id="rId38" Type="http://schemas.openxmlformats.org/officeDocument/2006/relationships/slide" Target="slides/slide37.xml"/><Relationship Id="rId39" Type="http://schemas.openxmlformats.org/officeDocument/2006/relationships/slide" Target="slides/slide38.xml"/><Relationship Id="rId40" Type="http://schemas.openxmlformats.org/officeDocument/2006/relationships/slide" Target="slides/slide39.xml"/><Relationship Id="rId41" Type="http://schemas.openxmlformats.org/officeDocument/2006/relationships/slide" Target="slides/slide40.xml"/><Relationship Id="rId42" Type="http://schemas.openxmlformats.org/officeDocument/2006/relationships/slide" Target="slides/slide41.xml"/><Relationship Id="rId43" Type="http://schemas.openxmlformats.org/officeDocument/2006/relationships/slide" Target="slides/slide42.xml"/><Relationship Id="rId44" Type="http://schemas.openxmlformats.org/officeDocument/2006/relationships/slide" Target="slides/slide43.xml"/><Relationship Id="rId45" Type="http://schemas.openxmlformats.org/officeDocument/2006/relationships/slide" Target="slides/slide44.xml"/><Relationship Id="rId46" Type="http://schemas.openxmlformats.org/officeDocument/2006/relationships/slide" Target="slides/slide45.xml"/><Relationship Id="rId47" Type="http://schemas.openxmlformats.org/officeDocument/2006/relationships/slide" Target="slides/slide46.xml"/><Relationship Id="rId48" Type="http://schemas.openxmlformats.org/officeDocument/2006/relationships/slide" Target="slides/slide47.xml"/><Relationship Id="rId49" Type="http://schemas.openxmlformats.org/officeDocument/2006/relationships/slide" Target="slides/slide48.xml"/><Relationship Id="rId50" Type="http://schemas.openxmlformats.org/officeDocument/2006/relationships/slide" Target="slides/slide49.xml"/><Relationship Id="rId51" Type="http://schemas.openxmlformats.org/officeDocument/2006/relationships/slide" Target="slides/slide50.xml"/><Relationship Id="rId52" Type="http://schemas.openxmlformats.org/officeDocument/2006/relationships/slide" Target="slides/slide51.xml"/><Relationship Id="rId53" Type="http://schemas.openxmlformats.org/officeDocument/2006/relationships/slide" Target="slides/slide52.xml"/><Relationship Id="rId54" Type="http://schemas.openxmlformats.org/officeDocument/2006/relationships/slide" Target="slides/slide53.xml"/><Relationship Id="rId55" Type="http://schemas.openxmlformats.org/officeDocument/2006/relationships/slide" Target="slides/slide54.xml"/><Relationship Id="rId56" Type="http://schemas.openxmlformats.org/officeDocument/2006/relationships/slide" Target="slides/slide55.xml"/><Relationship Id="rId57" Type="http://schemas.openxmlformats.org/officeDocument/2006/relationships/slide" Target="slides/slide56.xml"/><Relationship Id="rId58" Type="http://schemas.openxmlformats.org/officeDocument/2006/relationships/slide" Target="slides/slide57.xml"/><Relationship Id="rId59" Type="http://schemas.openxmlformats.org/officeDocument/2006/relationships/slide" Target="slides/slide58.xml"/><Relationship Id="rId60" Type="http://schemas.openxmlformats.org/officeDocument/2006/relationships/notesMaster" Target="notesMasters/notesMaster1.xml"/><Relationship Id="rId61" Type="http://schemas.openxmlformats.org/officeDocument/2006/relationships/presProps" Target="presProps.xml"/><Relationship Id="rId62" Type="http://schemas.openxmlformats.org/officeDocument/2006/relationships/viewProps" Target="viewProps.xml"/><Relationship Id="rId63" Type="http://schemas.openxmlformats.org/officeDocument/2006/relationships/theme" Target="theme/theme1.xml"/><Relationship Id="rId64" Type="http://schemas.openxmlformats.org/officeDocument/2006/relationships/tableStyles" Target="tableStyles.xml"/></Relationships>
</file>

<file path=ppt/notesMasters/_rels/notesMaster1.xml.rels><?xml version="1.0" encoding="UTF-8" standalone="yes"?>
<Relationships xmlns="http://schemas.openxmlformats.org/package/2006/relationships">
		<Relationship Id="rId1" Type="http://schemas.openxmlformats.org/officeDocument/2006/relationships/theme" Target="../theme/theme1.xml"/>
		</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5282F153-3F37-0F45-9E97-73ACFA13230C}" type="datetimeFigureOut">
              <a:rPr lang="en-US"/>
              <a:t>7/23/19</a:t>
            </a:fld>
            <a:endParaRPr lang="en-US"/>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CE5E9CC1-C706-0F49-92D6-E571CC5EEA8F}" type="slidenum">
              <a:rPr lang="en-US"/>
              <a:t>‹#›</a:t>
            </a:fld>
            <a:endParaRPr lang="en-US"/>
          </a:p>
        </p:txBody>
      </p:sp>
    </p:spTree>
    <p:extLst>
      <p:ext uri="{BB962C8B-B14F-4D97-AF65-F5344CB8AC3E}">
        <p14:creationId xmlns:p14="http://schemas.microsoft.com/office/powerpoint/2010/main" val="1024086991"/>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xml"/>
		</Relationships>
</file>

<file path=ppt/notesSlides/_rels/notesSlide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xml"/>
		</Relationships>
</file>

<file path=ppt/notesSlides/_rels/notesSlide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xml"/>
		</Relationships>
</file>

<file path=ppt/notesSlides/_rels/notesSlide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xml"/>
		</Relationships>
</file>

<file path=ppt/notesSlides/_rels/notesSlide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5.xml"/>
		</Relationships>
</file>

<file path=ppt/notesSlides/_rels/notesSlide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6.xml"/>
		</Relationships>
</file>

<file path=ppt/notesSlides/_rels/notesSlide7.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7.xml"/>
		</Relationships>
</file>

<file path=ppt/notesSlides/_rels/notesSlide8.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8.xml"/>
		</Relationships>
</file>

<file path=ppt/notesSlides/_rels/notesSlide9.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9.xml"/>
		</Relationships>
</file>

<file path=ppt/notesSlides/_rels/notesSlide10.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0.xml"/>
		</Relationships>
</file>

<file path=ppt/notesSlides/_rels/notesSlide1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1.xml"/>
		</Relationships>
</file>

<file path=ppt/notesSlides/_rels/notesSlide1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2.xml"/>
		</Relationships>
</file>

<file path=ppt/notesSlides/_rels/notesSlide1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3.xml"/>
		</Relationships>
</file>

<file path=ppt/notesSlides/_rels/notesSlide1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4.xml"/>
		</Relationships>
</file>

<file path=ppt/notesSlides/_rels/notesSlide1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5.xml"/>
		</Relationships>
</file>

<file path=ppt/notesSlides/_rels/notesSlide1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6.xml"/>
		</Relationships>
</file>

<file path=ppt/notesSlides/_rels/notesSlide17.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7.xml"/>
		</Relationships>
</file>

<file path=ppt/notesSlides/_rels/notesSlide18.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8.xml"/>
		</Relationships>
</file>

<file path=ppt/notesSlides/_rels/notesSlide19.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9.xml"/>
		</Relationships>
</file>

<file path=ppt/notesSlides/_rels/notesSlide20.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0.xml"/>
		</Relationships>
</file>

<file path=ppt/notesSlides/_rels/notesSlide2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1.xml"/>
		</Relationships>
</file>

<file path=ppt/notesSlides/_rels/notesSlide2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2.xml"/>
		</Relationships>
</file>

<file path=ppt/notesSlides/_rels/notesSlide2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3.xml"/>
		</Relationships>
</file>

<file path=ppt/notesSlides/_rels/notesSlide2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4.xml"/>
		</Relationships>
</file>

<file path=ppt/notesSlides/_rels/notesSlide2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5.xml"/>
		</Relationships>
</file>

<file path=ppt/notesSlides/_rels/notesSlide2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6.xml"/>
		</Relationships>
</file>

<file path=ppt/notesSlides/_rels/notesSlide27.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7.xml"/>
		</Relationships>
</file>

<file path=ppt/notesSlides/_rels/notesSlide28.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8.xml"/>
		</Relationships>
</file>

<file path=ppt/notesSlides/_rels/notesSlide29.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9.xml"/>
		</Relationships>
</file>

<file path=ppt/notesSlides/_rels/notesSlide30.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0.xml"/>
		</Relationships>
</file>

<file path=ppt/notesSlides/_rels/notesSlide3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1.xml"/>
		</Relationships>
</file>

<file path=ppt/notesSlides/_rels/notesSlide3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2.xml"/>
		</Relationships>
</file>

<file path=ppt/notesSlides/_rels/notesSlide3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3.xml"/>
		</Relationships>
</file>

<file path=ppt/notesSlides/_rels/notesSlide3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4.xml"/>
		</Relationships>
</file>

<file path=ppt/notesSlides/_rels/notesSlide3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5.xml"/>
		</Relationships>
</file>

<file path=ppt/notesSlides/_rels/notesSlide3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6.xml"/>
		</Relationships>
</file>

<file path=ppt/notesSlides/_rels/notesSlide37.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7.xml"/>
		</Relationships>
</file>

<file path=ppt/notesSlides/_rels/notesSlide38.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8.xml"/>
		</Relationships>
</file>

<file path=ppt/notesSlides/_rels/notesSlide39.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9.xml"/>
		</Relationships>
</file>

<file path=ppt/notesSlides/_rels/notesSlide40.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0.xml"/>
		</Relationships>
</file>

<file path=ppt/notesSlides/_rels/notesSlide4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1.xml"/>
		</Relationships>
</file>

<file path=ppt/notesSlides/_rels/notesSlide4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2.xml"/>
		</Relationships>
</file>

<file path=ppt/notesSlides/_rels/notesSlide4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3.xml"/>
		</Relationships>
</file>

<file path=ppt/notesSlides/_rels/notesSlide4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4.xml"/>
		</Relationships>
</file>

<file path=ppt/notesSlides/_rels/notesSlide4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5.xml"/>
		</Relationships>
</file>

<file path=ppt/notesSlides/_rels/notesSlide4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6.xml"/>
		</Relationships>
</file>

<file path=ppt/notesSlides/_rels/notesSlide47.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7.xml"/>
		</Relationships>
</file>

<file path=ppt/notesSlides/_rels/notesSlide48.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8.xml"/>
		</Relationships>
</file>

<file path=ppt/notesSlides/_rels/notesSlide49.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9.xml"/>
		</Relationships>
</file>

<file path=ppt/notesSlides/_rels/notesSlide50.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50.xml"/>
		</Relationships>
</file>

<file path=ppt/notesSlides/_rels/notesSlide5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51.xml"/>
		</Relationships>
</file>

<file path=ppt/notesSlides/_rels/notesSlide5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52.xml"/>
		</Relationships>
</file>

<file path=ppt/notesSlides/_rels/notesSlide5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53.xml"/>
		</Relationships>
</file>

<file path=ppt/notesSlides/_rels/notesSlide5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54.xml"/>
		</Relationships>
</file>

<file path=ppt/notesSlides/_rels/notesSlide5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55.xml"/>
		</Relationships>
</file>

<file path=ppt/notesSlides/_rels/notesSlide5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56.xml"/>
		</Relationships>
</file>

<file path=ppt/notesSlides/_rels/notesSlide57.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57.xml"/>
		</Relationships>
</file>

<file path=ppt/notesSlides/_rels/notesSlide58.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58.xml"/>
		</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Good morning, class, and welcome to our geography lesson. I am your geography teacher, Mr Kamdem. Today we are starting Lesson 7: Notion of Development.</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This lesson is for Upper Sixth Arts. It belongs to Module 7: Understanding and managing contemporary environmental and development issues. We shall need 2 periods to cover it.</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Our topic is Current Development Issues, and the sub-topic is Concept of Development. The key notions we shall use today are: development, economic growth, GNI, HDI, development gap, sustainable development. At the end, you should be able to do this: learners are able to measure development, explain the development gap and suggest ways to achieve sustainable development.</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Before we start the new lesson, let us correct the homework I gave you at the end of Lesson 6: Flooding. The question was: Map the flood-prone areas of your town and suggest two solutions. Take out your exercise books.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Here is a good answer. Answers vary. Flood-prone areas are low valleys, riverbanks and places with blocked gutters. Solutions: clean and widen gutters, stop building on riverbanks, and plant trees upslope. Compare it with your own answer and correct your work in red.</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Here is the plan of our lesson today. First, we shall correct the homework. Then we shall look at the objectives and recall what you already know. After that, we shall study a situation from real life and the action to take, and do the learning activities. Finally, we shall copy the board summary, do the evaluation and the remediation, and I will give you the homework.</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Take your time to copy this part; we will continue together.</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By the end of this lesson, you should be able to do three things. Number 1: distinguish development and economic growth. Number 2: measure development with economic and social criteria. Number 3: explain the development gap and sustainable development.</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Let us first remember what you already know. Some countries are rich and others poor. Health and education improve people's lives. Keep this in mind, because we shall build on it today.</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Listen carefully to this situation from real life. A student compares Cameroon and Norway. Norway has high incomes, long life expectancy and almost everyone can read. Cameroon has rich resources but many people are still poor. Think about it, because I am going to ask you some questions.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Question 1: What is the problem in the situation? Think for a moment, then raise your hand to answer.</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Good. There is a big gap in development.</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Question 2: Name two measures of development in the situation. Think for a moment, then raise your hand to answer.</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Good. Income and life expectancy (also literacy).</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Question 3: What index combines them? Think for a moment, then raise your hand to answer.</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Good. The Human Development Index (HDI).</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From this situation, the action we are working towards in this lesson is the following: use resources wisely so that future generations can also meet their needs.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Why is this lesson important for you? This lesson helps us to understand and measure development.</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Activity 1. Look carefully at this picture: a city in a rich country. Observe every detail before I ask the question.</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Here is the question for Activity 1: Distinguish economic growth and development. Take one minute to think and write your answer in your rough notebook.</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Let us check the answer together. Growth is a rise in output; development is a better life for all people.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Activity 2. Look carefully at this diagram: development indicators (approximate). Observe every detail before I ask the question.</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Here is the question for Activity 2: Name two economic and two social criteria of development. Take one minute to think and write your answer in your rough notebook.</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Let us check the answer together. Economic: GNI per person, jobs. Social: life expectancy, literacy.</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Activity 3. Look carefully at this diagram: human Development Index (approximate). Observe every detail before I ask the question.</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Here is the question for Activity 3: Which region has most low-HDI countries? Take one minute to think and write your answer in your rough notebook.</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Let us check the answer together. Sub-Saharan Africa.</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Activity 4. Look carefully at this picture: a poor neighbourhood. Observe every detail before I ask the question.</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Here is the question for Activity 4: Give three reasons for the gap between rich and poor countries. Take one minute to think and write your answer in your rough notebook.</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Let us check the answer together. Colonial history, unfair trade and debt (also poor governance, conflicts, climate).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Activity 5. Look carefully at this diagram: the three pillars. Observe every detail before I ask the question.</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Here is the question for Activity 5: What is sustainable development? Take one minute to think and write your answer in your rough notebook.</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Let us check the answer together. Development that meets today's needs without harming future generations.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Now we are going to copy the board summary. Write the title and the headings neatly in your notebooks. I will give you enough time for each slide, so do not rush.</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Let us copy Meaning of Development. Development and growth can be defined as follows. On this slide we have Development. Write each point on a new line, with the key term first, and explain it in your own words when we revise. When you finish, we go to the next slide.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We continue with Meaning of Development. On this slide we have Economic growth and Economic development. Write each point on a new line, with the key term first, and explain it in your own words when we revise.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Let us copy Measuring and Classifying Development. Development is measured and countries are classified as follows. On this slide we have Economic criteria. Write each point on a new line, with the key term first, and explain it in your own words when we revise. When you finish, we go to the next slide.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We continue with Measuring and Classifying Development. On this slide we have Social criteria and HDI. Write each point on a new line, with the key term first, and explain it in your own words when we revise. When you finish, we go to the next slide.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We continue with Measuring and Classifying Development. On this slide we have Classification. Write each point on a new line, with the key term first, and explain it in your own words when we revise.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Now draw this illustration in your notebook: development indicators (approximate). Give it a title and label it clearly.</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Let us copy The Development Gap. The gap between rich and poor countries has the following reasons. On this slide we have Historical and economic reasons. Write each point on a new line, with the key term first, and explain it in your own words when we revise. When you finish, we go to the next slide.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We continue with The Development Gap. On this slide we have Political and physical reasons. Write each point on a new line, with the key term first, and explain it in your own words when we revise.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Now draw this illustration in your notebook: human Development Index (approximate). Give it a title and label it clearly.</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Let us copy Sustainable Development. Sustainable development can be explained as follows. On this slide we have Meaning. Write each point on a new line, with the key term first, and explain it in your own words when we revise. When you finish, we go to the next slide.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We continue with Sustainable Development. On this slide we have Ways to achieve it. Write each point on a new line, with the key term first, and explain it in your own words when we revise.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Now draw this illustration in your notebook: the three pillars of sustainable development. Give it a title and label it clearly.</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Now let us check what you have understood. Question 1: Distinguish development and growth. Answer in your exercise book.</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The expected answer is: growth is more output; development is a better life for people. If you got it right, well done.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Now let us check what you have understood. Question 2: Give three components of the HDI. Answer in your exercise book.</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The expected answer is: income, life expectancy and education. If you got it right, well done.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50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For those who need more practice, fill in the blanks in your exercise book. The answers are: number 1, HDI; number 2, medium; number 3, sustainable.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51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For your homework: Compare Cameroon with one African country using three development indicators. We shall correct it at the beginning of our next lesson.</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52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Our next lesson will be on Lesson 8: Strategies of Development. Thank you for your attention, and see you next time.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53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Let us play the bilingual game. I say a word in English, and you give me the French word. Then we do the reverse.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54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I record this information in the official logbook of the class after the lesson.</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55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I complete the second page of the logbook: the matter taught, the evaluation, the homework and the attendance.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56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This slide is for me, the teacher: it gives the timing of the lesson and what to do if the projector is not available.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57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These are the references and picture credits used to prepare this lesson.</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58</a:t>
            </a:fld>
            <a:endParaRPr lang="en-US"/>
          </a:p>
        </p:txBody>
      </p:sp>
    </p:spTree>
    <p:extLst>
      <p:ext uri="{BB962C8B-B14F-4D97-AF65-F5344CB8AC3E}">
        <p14:creationId xmlns:p14="http://schemas.microsoft.com/office/powerpoint/2010/main" val="1024086991"/>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image" Target="../media/image-1003-1.png"/><Relationship Id="rId2"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preserve="1">
  <p:cSld name="DEFAULT">
    <p:bg>
      <p:bgRef idx="1001">
        <a:schemeClr val="bg1"/>
      </p:bgRef>
    </p:bg>
    <p:spTree>
      <p:nvGrpSpPr>
        <p:cNvPr id="1" name=""/>
        <p:cNvGrpSpPr/>
        <p:nvPr/>
      </p:nvGrpSpPr>
      <p:grpSpPr>
        <a:xfrm>
          <a:off x="0" y="0"/>
          <a:ext cx="0" cy="0"/>
          <a:chOff x="0" y="0"/>
          <a:chExt cx="0" cy="0"/>
        </a:xfrm>
      </p:grpSpPr>
    </p:spTree>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preserve="1">
  <p:cSld name="LESSON">
    <p:bg>
      <p:bgPr>
        <a:solidFill>
          <a:srgbClr val="FFFFFF"/>
        </a:solidFill>
      </p:bgPr>
    </p:bg>
    <p:spTree>
      <p:nvGrpSpPr>
        <p:cNvPr id="1" name=""/>
        <p:cNvGrpSpPr/>
        <p:nvPr/>
      </p:nvGrpSpPr>
      <p:grpSpPr>
        <a:xfrm>
          <a:off x="0" y="0"/>
          <a:ext cx="0" cy="0"/>
          <a:chOff x="0" y="0"/>
          <a:chExt cx="0" cy="0"/>
        </a:xfrm>
      </p:grpSpPr>
      <p:sp>
        <p:nvSpPr>
          <p:cNvPr id="2" name="Shape 0"/>
          <p:cNvSpPr/>
          <p:nvPr/>
        </p:nvSpPr>
        <p:spPr>
          <a:xfrm>
            <a:off x="0" y="0"/>
            <a:ext cx="640080" cy="658368"/>
          </a:xfrm>
          <a:prstGeom prst="rect">
            <a:avLst/>
          </a:prstGeom>
          <a:solidFill>
            <a:srgbClr val="990011"/>
          </a:solidFill>
          <a:ln w="12700">
            <a:solidFill>
              <a:srgbClr val="990011"/>
            </a:solidFill>
            <a:prstDash val="solid"/>
          </a:ln>
        </p:spPr>
      </p:sp>
      <p:sp>
        <p:nvSpPr>
          <p:cNvPr id="3" name="Text 1"/>
          <p:cNvSpPr/>
          <p:nvPr/>
        </p:nvSpPr>
        <p:spPr>
          <a:xfrm>
            <a:off x="640080" y="0"/>
            <a:ext cx="4754880" cy="658368"/>
          </a:xfrm>
          <a:prstGeom prst="homePlate">
            <a:avLst/>
          </a:prstGeom>
          <a:solidFill>
            <a:srgbClr val="990011"/>
          </a:solidFill>
          <a:ln>
            <a:solidFill>
              <a:srgbClr val="990011"/>
            </a:solidFill>
          </a:ln>
        </p:spPr>
        <p:txBody>
          <a:bodyPr wrap="square" lIns="0" tIns="0" rIns="0" bIns="0" rtlCol="0" anchor="ctr"/>
          <a:lstStyle/>
          <a:p>
            <a:pPr algn="ctr" indent="0" marL="0">
              <a:buNone/>
            </a:pPr>
            <a:r>
              <a:rPr lang="en-US" sz="1800" b="1" dirty="0">
                <a:solidFill>
                  <a:srgbClr val="FFFFFF"/>
                </a:solidFill>
                <a:latin typeface="Calibri" pitchFamily="34" charset="0"/>
                <a:ea typeface="Calibri" pitchFamily="34" charset="-122"/>
                <a:cs typeface="Calibri" pitchFamily="34" charset="-120"/>
              </a:rPr>
              <a:t>GEOGRAPHY / UPPER SIXTH ARTS</a:t>
            </a:r>
            <a:endParaRPr lang="en-US" sz="1800" dirty="0"/>
          </a:p>
        </p:txBody>
      </p:sp>
      <p:sp>
        <p:nvSpPr>
          <p:cNvPr id="4" name="Text 2"/>
          <p:cNvSpPr/>
          <p:nvPr/>
        </p:nvSpPr>
        <p:spPr>
          <a:xfrm>
            <a:off x="5212080" y="0"/>
            <a:ext cx="6979615" cy="658368"/>
          </a:xfrm>
          <a:prstGeom prst="chevron">
            <a:avLst/>
          </a:prstGeom>
          <a:solidFill>
            <a:srgbClr val="1C3F6E"/>
          </a:solidFill>
          <a:ln>
            <a:solidFill>
              <a:srgbClr val="1C3F6E"/>
            </a:solidFill>
          </a:ln>
        </p:spPr>
        <p:txBody>
          <a:bodyPr wrap="square" lIns="0" tIns="0" rIns="0" bIns="0" rtlCol="0" anchor="ctr"/>
          <a:lstStyle/>
          <a:p>
            <a:pPr algn="ctr" indent="0" marL="0">
              <a:buNone/>
            </a:pPr>
            <a:r>
              <a:rPr lang="en-US" sz="1600" b="1" dirty="0">
                <a:solidFill>
                  <a:srgbClr val="FFFFFF"/>
                </a:solidFill>
                <a:latin typeface="Calibri" pitchFamily="34" charset="0"/>
                <a:ea typeface="Calibri" pitchFamily="34" charset="-122"/>
                <a:cs typeface="Calibri" pitchFamily="34" charset="-120"/>
              </a:rPr>
              <a:t>LESSON 7: NOTION OF DEVELOPMENT</a:t>
            </a:r>
            <a:endParaRPr lang="en-US" sz="1600" dirty="0"/>
          </a:p>
        </p:txBody>
      </p:sp>
      <p:sp>
        <p:nvSpPr>
          <p:cNvPr id="5" name="Shape 3"/>
          <p:cNvSpPr/>
          <p:nvPr/>
        </p:nvSpPr>
        <p:spPr>
          <a:xfrm>
            <a:off x="0" y="6492240"/>
            <a:ext cx="2743200" cy="365760"/>
          </a:xfrm>
          <a:prstGeom prst="rect">
            <a:avLst/>
          </a:prstGeom>
          <a:solidFill>
            <a:srgbClr val="1C3F6E"/>
          </a:solidFill>
          <a:ln w="12700">
            <a:solidFill>
              <a:srgbClr val="1C3F6E"/>
            </a:solidFill>
            <a:prstDash val="solid"/>
          </a:ln>
        </p:spPr>
      </p:sp>
      <p:sp>
        <p:nvSpPr>
          <p:cNvPr id="6" name="Text 4"/>
          <p:cNvSpPr/>
          <p:nvPr/>
        </p:nvSpPr>
        <p:spPr>
          <a:xfrm>
            <a:off x="137160" y="6492240"/>
            <a:ext cx="2560320" cy="365760"/>
          </a:xfrm>
          <a:prstGeom prst="rect">
            <a:avLst/>
          </a:prstGeom>
          <a:noFill/>
          <a:ln/>
        </p:spPr>
        <p:txBody>
          <a:bodyPr wrap="square" lIns="0" tIns="0" rIns="0" bIns="0" rtlCol="0" anchor="ctr"/>
          <a:lstStyle/>
          <a:p>
            <a:pPr indent="0" marL="0">
              <a:buNone/>
            </a:pPr>
            <a:r>
              <a:rPr lang="en-US" sz="1300" dirty="0">
                <a:solidFill>
                  <a:srgbClr val="FFFFFF"/>
                </a:solidFill>
                <a:latin typeface="Calibri" pitchFamily="34" charset="0"/>
                <a:ea typeface="Calibri" pitchFamily="34" charset="-122"/>
                <a:cs typeface="Calibri" pitchFamily="34" charset="-120"/>
              </a:rPr>
              <a:t>Date: 2026 / 2027</a:t>
            </a:r>
            <a:endParaRPr lang="en-US" sz="1300" dirty="0"/>
          </a:p>
        </p:txBody>
      </p:sp>
      <p:sp>
        <p:nvSpPr>
          <p:cNvPr id="7" name="Shape 5"/>
          <p:cNvSpPr/>
          <p:nvPr/>
        </p:nvSpPr>
        <p:spPr>
          <a:xfrm>
            <a:off x="2743200" y="6492240"/>
            <a:ext cx="6035040" cy="365760"/>
          </a:xfrm>
          <a:prstGeom prst="rect">
            <a:avLst/>
          </a:prstGeom>
          <a:solidFill>
            <a:srgbClr val="B8860B"/>
          </a:solidFill>
          <a:ln w="12700">
            <a:solidFill>
              <a:srgbClr val="B8860B"/>
            </a:solidFill>
            <a:prstDash val="solid"/>
          </a:ln>
        </p:spPr>
      </p:sp>
      <p:sp>
        <p:nvSpPr>
          <p:cNvPr id="8" name="Text 6"/>
          <p:cNvSpPr/>
          <p:nvPr/>
        </p:nvSpPr>
        <p:spPr>
          <a:xfrm>
            <a:off x="2834640" y="6492240"/>
            <a:ext cx="5852160" cy="365760"/>
          </a:xfrm>
          <a:prstGeom prst="rect">
            <a:avLst/>
          </a:prstGeom>
          <a:noFill/>
          <a:ln/>
        </p:spPr>
        <p:txBody>
          <a:bodyPr wrap="square" lIns="0" tIns="0" rIns="0" bIns="0" rtlCol="0" anchor="ctr"/>
          <a:lstStyle/>
          <a:p>
            <a:pPr algn="ctr" indent="0" marL="0">
              <a:buNone/>
            </a:pPr>
            <a:r>
              <a:rPr lang="en-US" sz="1300" b="1" dirty="0">
                <a:solidFill>
                  <a:srgbClr val="FFFFFF"/>
                </a:solidFill>
                <a:latin typeface="Calibri" pitchFamily="34" charset="0"/>
                <a:ea typeface="Calibri" pitchFamily="34" charset="-122"/>
                <a:cs typeface="Calibri" pitchFamily="34" charset="-120"/>
              </a:rPr>
              <a:t>Copyright MINESEC  —  HOD – GBHS GAROUA</a:t>
            </a:r>
            <a:endParaRPr lang="en-US" sz="1300" dirty="0"/>
          </a:p>
        </p:txBody>
      </p:sp>
      <p:sp>
        <p:nvSpPr>
          <p:cNvPr id="9" name="Shape 7"/>
          <p:cNvSpPr/>
          <p:nvPr/>
        </p:nvSpPr>
        <p:spPr>
          <a:xfrm>
            <a:off x="8778240" y="6492240"/>
            <a:ext cx="3413455" cy="365760"/>
          </a:xfrm>
          <a:prstGeom prst="rect">
            <a:avLst/>
          </a:prstGeom>
          <a:solidFill>
            <a:srgbClr val="36454F"/>
          </a:solidFill>
          <a:ln w="12700">
            <a:solidFill>
              <a:srgbClr val="36454F"/>
            </a:solidFill>
            <a:prstDash val="solid"/>
          </a:ln>
        </p:spPr>
      </p:sp>
      <p:sp>
        <p:nvSpPr>
          <p:cNvPr id="10" name="Text 8"/>
          <p:cNvSpPr/>
          <p:nvPr/>
        </p:nvSpPr>
        <p:spPr>
          <a:xfrm>
            <a:off x="8869680" y="6492240"/>
            <a:ext cx="3200400" cy="365760"/>
          </a:xfrm>
          <a:prstGeom prst="rect">
            <a:avLst/>
          </a:prstGeom>
          <a:noFill/>
          <a:ln/>
        </p:spPr>
        <p:txBody>
          <a:bodyPr wrap="square" lIns="0" tIns="0" rIns="0" bIns="0" rtlCol="0" anchor="ctr"/>
          <a:lstStyle/>
          <a:p>
            <a:pPr algn="r" indent="0" marL="0">
              <a:buNone/>
            </a:pPr>
            <a:r>
              <a:rPr lang="en-US" sz="1300" dirty="0">
                <a:solidFill>
                  <a:srgbClr val="FFFFFF"/>
                </a:solidFill>
                <a:latin typeface="Calibri" pitchFamily="34" charset="0"/>
                <a:ea typeface="Calibri" pitchFamily="34" charset="-122"/>
                <a:cs typeface="Calibri" pitchFamily="34" charset="-120"/>
              </a:rPr>
              <a:t>Mr KAMDEM E.  —  Geography</a:t>
            </a:r>
            <a:endParaRPr lang="en-US" sz="1300" dirty="0"/>
          </a:p>
        </p:txBody>
      </p:sp>
      <p:sp>
        <p:nvSpPr>
          <p:cNvPr id="25" name="Slide Number Placeholder 0"/>
          <p:cNvSpPr>
            <a:spLocks noGrp="1"/>
          </p:cNvSpPr>
          <p:nvPr>
            <p:ph type="sldNum" sz="quarter" idx="4294967295"/>
          </p:nvPr>
        </p:nvSpPr>
        <p:spPr>
          <a:xfrm>
            <a:off x="27432" y="91440"/>
            <a:ext cx="585216" cy="475488"/>
          </a:xfrm>
          <a:prstGeom prst="rect">
            <a:avLst/>
          </a:prstGeom>
          <a:extLst>
            <a:ext uri="{C572A759-6A51-4108-AA02-DFA0A04FC94B}">
              <ma14:wrappingTextBoxFlag xmlns:ma14="http://schemas.microsoft.com/office/mac/drawingml/2011/main" val="0"/>
            </a:ext>
          </a:extLst>
        </p:spPr>
        <p:txBody>
          <a:bodyPr/>
          <a:lstStyle>
            <a:lvl1pPr>
              <a:defRPr sz="2000">
                <a:solidFill>
                  <a:srgbClr val="FFFFFF"/>
                </a:solidFill>
                <a:latin typeface="Calibri"/>
                <a:ea typeface="Calibri"/>
                <a:cs typeface="Calibri"/>
              </a:defRPr>
            </a:lvl1pPr>
          </a:lstStyle>
          <a:p>
            <a:pPr algn="ctr"/>
            <a:fld id="{F7021451-1387-4CA6-816F-3879F97B5CBC}" type="slidenum">
              <a:rPr b="1" lang="en-US"/>
              <a:t>1002</a:t>
            </a:fld>
            <a:endParaRPr lang="en-US"/>
          </a:p>
        </p:txBody>
      </p:sp>
    </p:spTree>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preserve="1">
  <p:cSld name="COVER">
    <p:bg>
      <p:bgPr>
        <a:solidFill>
          <a:srgbClr val="FFFFFF"/>
        </a:solidFill>
      </p:bgPr>
    </p:bg>
    <p:spTree>
      <p:nvGrpSpPr>
        <p:cNvPr id="1" name=""/>
        <p:cNvGrpSpPr/>
        <p:nvPr/>
      </p:nvGrpSpPr>
      <p:grpSpPr>
        <a:xfrm>
          <a:off x="0" y="0"/>
          <a:ext cx="0" cy="0"/>
          <a:chOff x="0" y="0"/>
          <a:chExt cx="0" cy="0"/>
        </a:xfrm>
      </p:grpSpPr>
      <p:pic>
        <p:nvPicPr>
          <p:cNvPr id="2" name="Image 0" descr="/home/claude/f4/img/minesec_sheet.png">    </p:cNvPr>
          <p:cNvPicPr>
            <a:picLocks noChangeAspect="1"/>
          </p:cNvPicPr>
          <p:nvPr/>
        </p:nvPicPr>
        <p:blipFill>
          <a:blip r:embed="rId1"/>
          <a:stretch>
            <a:fillRect/>
          </a:stretch>
        </p:blipFill>
        <p:spPr>
          <a:xfrm>
            <a:off x="0" y="0"/>
            <a:ext cx="5888736" cy="6492240"/>
          </a:xfrm>
          <a:prstGeom prst="rect">
            <a:avLst/>
          </a:prstGeom>
        </p:spPr>
      </p:pic>
      <p:sp>
        <p:nvSpPr>
          <p:cNvPr id="3" name="Text 0"/>
          <p:cNvSpPr/>
          <p:nvPr/>
        </p:nvSpPr>
        <p:spPr>
          <a:xfrm>
            <a:off x="6126480" y="502920"/>
            <a:ext cx="5760720" cy="822960"/>
          </a:xfrm>
          <a:prstGeom prst="rect">
            <a:avLst/>
          </a:prstGeom>
          <a:noFill/>
          <a:ln/>
        </p:spPr>
        <p:txBody>
          <a:bodyPr wrap="square" lIns="0" tIns="0" rIns="0" bIns="0" rtlCol="0" anchor="ctr"/>
          <a:lstStyle/>
          <a:p>
            <a:pPr algn="ctr" indent="0" marL="0">
              <a:buNone/>
            </a:pPr>
            <a:r>
              <a:rPr lang="en-US" sz="4400" b="1" dirty="0">
                <a:solidFill>
                  <a:srgbClr val="1565C0"/>
                </a:solidFill>
                <a:latin typeface="Times New Roman" pitchFamily="34" charset="0"/>
                <a:ea typeface="Times New Roman" pitchFamily="34" charset="-122"/>
                <a:cs typeface="Times New Roman" pitchFamily="34" charset="-120"/>
              </a:rPr>
              <a:t>MINESEC</a:t>
            </a:r>
            <a:endParaRPr lang="en-US" sz="4400" dirty="0"/>
          </a:p>
        </p:txBody>
      </p:sp>
      <p:sp>
        <p:nvSpPr>
          <p:cNvPr id="4" name="Text 1"/>
          <p:cNvSpPr/>
          <p:nvPr/>
        </p:nvSpPr>
        <p:spPr>
          <a:xfrm>
            <a:off x="6126480" y="1325880"/>
            <a:ext cx="5760720" cy="457200"/>
          </a:xfrm>
          <a:prstGeom prst="rect">
            <a:avLst/>
          </a:prstGeom>
          <a:noFill/>
          <a:ln/>
        </p:spPr>
        <p:txBody>
          <a:bodyPr wrap="square" lIns="0" tIns="0" rIns="0" bIns="0" rtlCol="0" anchor="ctr"/>
          <a:lstStyle/>
          <a:p>
            <a:pPr algn="ctr" indent="0" marL="0">
              <a:buNone/>
            </a:pPr>
            <a:r>
              <a:rPr lang="en-US" sz="1800" b="1" dirty="0">
                <a:solidFill>
                  <a:srgbClr val="1C3F6E"/>
                </a:solidFill>
                <a:latin typeface="Calibri" pitchFamily="34" charset="0"/>
                <a:ea typeface="Calibri" pitchFamily="34" charset="-122"/>
                <a:cs typeface="Calibri" pitchFamily="34" charset="-120"/>
              </a:rPr>
              <a:t>GBHS GAROUA  —  GEOGRAPHY DEPARTMENT</a:t>
            </a:r>
            <a:endParaRPr lang="en-US" sz="1800" dirty="0"/>
          </a:p>
        </p:txBody>
      </p:sp>
      <p:sp>
        <p:nvSpPr>
          <p:cNvPr id="5" name="Text 2"/>
          <p:cNvSpPr/>
          <p:nvPr/>
        </p:nvSpPr>
        <p:spPr>
          <a:xfrm>
            <a:off x="6126480" y="5257800"/>
            <a:ext cx="5760720" cy="914400"/>
          </a:xfrm>
          <a:prstGeom prst="rect">
            <a:avLst/>
          </a:prstGeom>
          <a:noFill/>
          <a:ln/>
        </p:spPr>
        <p:txBody>
          <a:bodyPr wrap="square" lIns="0" tIns="0" rIns="0" bIns="0" rtlCol="0" anchor="ctr"/>
          <a:lstStyle/>
          <a:p>
            <a:pPr algn="ctr" indent="0" marL="0">
              <a:buNone/>
            </a:pPr>
            <a:r>
              <a:rPr lang="en-US" sz="2000" b="1" dirty="0">
                <a:solidFill>
                  <a:srgbClr val="111111"/>
                </a:solidFill>
                <a:latin typeface="Times New Roman" pitchFamily="34" charset="0"/>
                <a:ea typeface="Times New Roman" pitchFamily="34" charset="-122"/>
                <a:cs typeface="Times New Roman" pitchFamily="34" charset="-120"/>
              </a:rPr>
              <a:t>KAMDEM Emmanuel Berthaut</a:t>
            </a:r>
            <a:endParaRPr lang="en-US" sz="2000" dirty="0"/>
          </a:p>
          <a:p>
            <a:pPr algn="ctr" indent="0" marL="0">
              <a:buNone/>
            </a:pPr>
            <a:r>
              <a:rPr lang="en-US" sz="2000" b="1" dirty="0">
                <a:solidFill>
                  <a:srgbClr val="111111"/>
                </a:solidFill>
                <a:latin typeface="Times New Roman" pitchFamily="34" charset="0"/>
                <a:ea typeface="Times New Roman" pitchFamily="34" charset="-122"/>
                <a:cs typeface="Times New Roman" pitchFamily="34" charset="-120"/>
              </a:rPr>
              <a:t>Geography Teacher</a:t>
            </a:r>
            <a:endParaRPr lang="en-US" sz="2000" dirty="0"/>
          </a:p>
        </p:txBody>
      </p:sp>
      <p:sp>
        <p:nvSpPr>
          <p:cNvPr id="6" name="Shape 3"/>
          <p:cNvSpPr/>
          <p:nvPr/>
        </p:nvSpPr>
        <p:spPr>
          <a:xfrm>
            <a:off x="0" y="6492240"/>
            <a:ext cx="2743200" cy="365760"/>
          </a:xfrm>
          <a:prstGeom prst="rect">
            <a:avLst/>
          </a:prstGeom>
          <a:solidFill>
            <a:srgbClr val="1C3F6E"/>
          </a:solidFill>
          <a:ln w="12700">
            <a:solidFill>
              <a:srgbClr val="1C3F6E"/>
            </a:solidFill>
            <a:prstDash val="solid"/>
          </a:ln>
        </p:spPr>
      </p:sp>
      <p:sp>
        <p:nvSpPr>
          <p:cNvPr id="7" name="Text 4"/>
          <p:cNvSpPr/>
          <p:nvPr/>
        </p:nvSpPr>
        <p:spPr>
          <a:xfrm>
            <a:off x="137160" y="6492240"/>
            <a:ext cx="2560320" cy="365760"/>
          </a:xfrm>
          <a:prstGeom prst="rect">
            <a:avLst/>
          </a:prstGeom>
          <a:noFill/>
          <a:ln/>
        </p:spPr>
        <p:txBody>
          <a:bodyPr wrap="square" lIns="0" tIns="0" rIns="0" bIns="0" rtlCol="0" anchor="ctr"/>
          <a:lstStyle/>
          <a:p>
            <a:pPr indent="0" marL="0">
              <a:buNone/>
            </a:pPr>
            <a:r>
              <a:rPr lang="en-US" sz="1300" dirty="0">
                <a:solidFill>
                  <a:srgbClr val="FFFFFF"/>
                </a:solidFill>
                <a:latin typeface="Calibri" pitchFamily="34" charset="0"/>
                <a:ea typeface="Calibri" pitchFamily="34" charset="-122"/>
                <a:cs typeface="Calibri" pitchFamily="34" charset="-120"/>
              </a:rPr>
              <a:t>Date: 2026 / 2027</a:t>
            </a:r>
            <a:endParaRPr lang="en-US" sz="1300" dirty="0"/>
          </a:p>
        </p:txBody>
      </p:sp>
      <p:sp>
        <p:nvSpPr>
          <p:cNvPr id="8" name="Shape 5"/>
          <p:cNvSpPr/>
          <p:nvPr/>
        </p:nvSpPr>
        <p:spPr>
          <a:xfrm>
            <a:off x="2743200" y="6492240"/>
            <a:ext cx="6035040" cy="365760"/>
          </a:xfrm>
          <a:prstGeom prst="rect">
            <a:avLst/>
          </a:prstGeom>
          <a:solidFill>
            <a:srgbClr val="B8860B"/>
          </a:solidFill>
          <a:ln w="12700">
            <a:solidFill>
              <a:srgbClr val="B8860B"/>
            </a:solidFill>
            <a:prstDash val="solid"/>
          </a:ln>
        </p:spPr>
      </p:sp>
      <p:sp>
        <p:nvSpPr>
          <p:cNvPr id="9" name="Text 6"/>
          <p:cNvSpPr/>
          <p:nvPr/>
        </p:nvSpPr>
        <p:spPr>
          <a:xfrm>
            <a:off x="2834640" y="6492240"/>
            <a:ext cx="5852160" cy="365760"/>
          </a:xfrm>
          <a:prstGeom prst="rect">
            <a:avLst/>
          </a:prstGeom>
          <a:noFill/>
          <a:ln/>
        </p:spPr>
        <p:txBody>
          <a:bodyPr wrap="square" lIns="0" tIns="0" rIns="0" bIns="0" rtlCol="0" anchor="ctr"/>
          <a:lstStyle/>
          <a:p>
            <a:pPr algn="ctr" indent="0" marL="0">
              <a:buNone/>
            </a:pPr>
            <a:r>
              <a:rPr lang="en-US" sz="1300" b="1" dirty="0">
                <a:solidFill>
                  <a:srgbClr val="FFFFFF"/>
                </a:solidFill>
                <a:latin typeface="Calibri" pitchFamily="34" charset="0"/>
                <a:ea typeface="Calibri" pitchFamily="34" charset="-122"/>
                <a:cs typeface="Calibri" pitchFamily="34" charset="-120"/>
              </a:rPr>
              <a:t>Copyright MINESEC  —  HOD – GBHS GAROUA</a:t>
            </a:r>
            <a:endParaRPr lang="en-US" sz="1300" dirty="0"/>
          </a:p>
        </p:txBody>
      </p:sp>
      <p:sp>
        <p:nvSpPr>
          <p:cNvPr id="10" name="Shape 7"/>
          <p:cNvSpPr/>
          <p:nvPr/>
        </p:nvSpPr>
        <p:spPr>
          <a:xfrm>
            <a:off x="8778240" y="6492240"/>
            <a:ext cx="3413455" cy="365760"/>
          </a:xfrm>
          <a:prstGeom prst="rect">
            <a:avLst/>
          </a:prstGeom>
          <a:solidFill>
            <a:srgbClr val="36454F"/>
          </a:solidFill>
          <a:ln w="12700">
            <a:solidFill>
              <a:srgbClr val="36454F"/>
            </a:solidFill>
            <a:prstDash val="solid"/>
          </a:ln>
        </p:spPr>
      </p:sp>
      <p:sp>
        <p:nvSpPr>
          <p:cNvPr id="11" name="Text 8"/>
          <p:cNvSpPr/>
          <p:nvPr/>
        </p:nvSpPr>
        <p:spPr>
          <a:xfrm>
            <a:off x="8869680" y="6492240"/>
            <a:ext cx="3200400" cy="365760"/>
          </a:xfrm>
          <a:prstGeom prst="rect">
            <a:avLst/>
          </a:prstGeom>
          <a:noFill/>
          <a:ln/>
        </p:spPr>
        <p:txBody>
          <a:bodyPr wrap="square" lIns="0" tIns="0" rIns="0" bIns="0" rtlCol="0" anchor="ctr"/>
          <a:lstStyle/>
          <a:p>
            <a:pPr algn="r" indent="0" marL="0">
              <a:buNone/>
            </a:pPr>
            <a:r>
              <a:rPr lang="en-US" sz="1300" dirty="0">
                <a:solidFill>
                  <a:srgbClr val="FFFFFF"/>
                </a:solidFill>
                <a:latin typeface="Calibri" pitchFamily="34" charset="0"/>
                <a:ea typeface="Calibri" pitchFamily="34" charset="-122"/>
                <a:cs typeface="Calibri" pitchFamily="34" charset="-120"/>
              </a:rPr>
              <a:t>Mr KAMDEM E.  —  Geography</a:t>
            </a:r>
            <a:endParaRPr lang="en-US" sz="1300" dirty="0"/>
          </a:p>
        </p:txBody>
      </p:sp>
    </p:spTree>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5" name="Slide Number Placeholder 0"/>
          <p:cNvSpPr>
            <a:spLocks noGrp="1"/>
          </p:cNvSpPr>
          <p:nvPr>
            <p:ph type="sldNum" sz="quarter" idx="4294967295"/>
          </p:nvPr>
        </p:nvSpPr>
        <p:spPr>
          <a:xfrm>
            <a:off x="27432" y="91440"/>
            <a:ext cx="585216" cy="475488"/>
          </a:xfrm>
          <a:prstGeom prst="rect">
            <a:avLst/>
          </a:prstGeom>
          <a:extLst>
            <a:ext uri="{C572A759-6A51-4108-AA02-DFA0A04FC94B}">
              <ma14:wrappingTextBoxFlag xmlns:ma14="http://schemas.microsoft.com/office/mac/drawingml/2011/main" val="0"/>
            </a:ext>
          </a:extLst>
        </p:spPr>
        <p:txBody>
          <a:bodyPr/>
          <a:lstStyle>
            <a:lvl1pPr>
              <a:defRPr sz="2000">
                <a:solidFill>
                  <a:srgbClr val="FFFFFF"/>
                </a:solidFill>
                <a:latin typeface="Calibri"/>
                <a:ea typeface="Calibri"/>
                <a:cs typeface="Calibri"/>
              </a:defRPr>
            </a:lvl1pPr>
          </a:lstStyle>
          <a:p>
            <a:pPr algn="ctr"/>
            <a:fld id="{F7021451-1387-4CA6-816F-3879F97B5CBC}" type="slidenum">
              <a:rPr b="1" lang="en-US"/>
              <a:t>null</a:t>
            </a:fld>
            <a:endParaRPr lang="en-US"/>
          </a:p>
        </p:txBody>
      </p:sp>
    </p:spTree>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Lst>
  <p:hf sldNum="0" hdr="0" ftr="0" dt="0"/>
  <p:txStyles>
    <p:titleStyle>
      <a:lvl1pPr algn="ctr" defTabSz="9144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914400" rtl="0" eaLnBrk="1" latinLnBrk="0" hangingPunct="1">
        <a:spcBef>
          <a:spcPct val="20000"/>
        </a:spcBef>
        <a:buFont typeface="Arial"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1" Type="http://schemas.openxmlformats.org/officeDocument/2006/relationships/image" Target="../media/image-4-1.png"/><Relationship Id="rId2" Type="http://schemas.openxmlformats.org/officeDocument/2006/relationships/slideLayout" Target="../slideLayouts/slideLayout2.xml"/><Relationship Id="rId3" Type="http://schemas.openxmlformats.org/officeDocument/2006/relationships/notesSlide" Target="../notesSlides/notesSlide4.xml"/></Relationships>
</file>

<file path=ppt/slides/_rels/slide5.xml.rels><?xml version="1.0" encoding="UTF-8" standalone="yes"?>
<Relationships xmlns="http://schemas.openxmlformats.org/package/2006/relationships"><Relationship Id="rId1" Type="http://schemas.openxmlformats.org/officeDocument/2006/relationships/image" Target="../media/image-5-1.png"/><Relationship Id="rId2" Type="http://schemas.openxmlformats.org/officeDocument/2006/relationships/slideLayout" Target="../slideLayouts/slideLayout2.xml"/><Relationship Id="rId3" Type="http://schemas.openxmlformats.org/officeDocument/2006/relationships/notesSlide" Target="../notesSlides/notesSlide5.xml"/></Relationships>
</file>

<file path=ppt/slides/_rels/slide6.xml.rels><?xml version="1.0" encoding="UTF-8" standalone="yes"?>
<Relationships xmlns="http://schemas.openxmlformats.org/package/2006/relationships"><Relationship Id="rId1" Type="http://schemas.openxmlformats.org/officeDocument/2006/relationships/image" Target="../media/image-6-1.png"/><Relationship Id="rId2" Type="http://schemas.openxmlformats.org/officeDocument/2006/relationships/slideLayout" Target="../slideLayouts/slideLayout2.xml"/><Relationship Id="rId3" Type="http://schemas.openxmlformats.org/officeDocument/2006/relationships/notesSlide" Target="../notesSlides/notesSlide6.xml"/></Relationships>
</file>

<file path=ppt/slides/_rels/slide7.xml.rels><?xml version="1.0" encoding="UTF-8" standalone="yes"?>
<Relationships xmlns="http://schemas.openxmlformats.org/package/2006/relationships"><Relationship Id="rId1" Type="http://schemas.openxmlformats.org/officeDocument/2006/relationships/image" Target="../media/image-7-1.png"/><Relationship Id="rId2" Type="http://schemas.openxmlformats.org/officeDocument/2006/relationships/slideLayout" Target="../slideLayouts/slideLayout2.xml"/><Relationship Id="rId3" Type="http://schemas.openxmlformats.org/officeDocument/2006/relationships/notesSlide" Target="../notesSlides/notesSlide7.xml"/></Relationships>
</file>

<file path=ppt/slides/_rels/slide8.xml.rels><?xml version="1.0" encoding="UTF-8" standalone="yes"?>
<Relationships xmlns="http://schemas.openxmlformats.org/package/2006/relationships"><Relationship Id="rId1" Type="http://schemas.openxmlformats.org/officeDocument/2006/relationships/image" Target="../media/image-8-1.png"/><Relationship Id="rId2" Type="http://schemas.openxmlformats.org/officeDocument/2006/relationships/slideLayout" Target="../slideLayouts/slideLayout2.xml"/><Relationship Id="rId3" Type="http://schemas.openxmlformats.org/officeDocument/2006/relationships/notesSlide" Target="../notesSlides/notesSlide8.xml"/></Relationships>
</file>

<file path=ppt/slides/_rels/slide9.xml.rels><?xml version="1.0" encoding="UTF-8" standalone="yes"?>
<Relationships xmlns="http://schemas.openxmlformats.org/package/2006/relationships"><Relationship Id="rId1" Type="http://schemas.openxmlformats.org/officeDocument/2006/relationships/image" Target="../media/image-9-1.png"/><Relationship Id="rId2" Type="http://schemas.openxmlformats.org/officeDocument/2006/relationships/slideLayout" Target="../slideLayouts/slideLayout2.xml"/><Relationship Id="rId3" Type="http://schemas.openxmlformats.org/officeDocument/2006/relationships/notesSlide" Target="../notesSlides/notesSlide9.xml"/></Relationships>
</file>

<file path=ppt/slides/_rels/slide10.xml.rels><?xml version="1.0" encoding="UTF-8" standalone="yes"?>
<Relationships xmlns="http://schemas.openxmlformats.org/package/2006/relationships"><Relationship Id="rId1" Type="http://schemas.openxmlformats.org/officeDocument/2006/relationships/image" Target="../media/image-10-1.png"/><Relationship Id="rId2" Type="http://schemas.openxmlformats.org/officeDocument/2006/relationships/slideLayout" Target="../slideLayouts/slideLayout2.xml"/><Relationship Id="rId3" Type="http://schemas.openxmlformats.org/officeDocument/2006/relationships/notesSlide" Target="../notesSlides/notesSlide10.xml"/></Relationships>
</file>

<file path=ppt/slides/_rels/slide11.xml.rels><?xml version="1.0" encoding="UTF-8" standalone="yes"?>
<Relationships xmlns="http://schemas.openxmlformats.org/package/2006/relationships"><Relationship Id="rId1" Type="http://schemas.openxmlformats.org/officeDocument/2006/relationships/image" Target="../media/image-11-1.png"/><Relationship Id="rId2" Type="http://schemas.openxmlformats.org/officeDocument/2006/relationships/slideLayout" Target="../slideLayouts/slideLayout2.xml"/><Relationship Id="rId3" Type="http://schemas.openxmlformats.org/officeDocument/2006/relationships/notesSlide" Target="../notesSlides/notesSlide11.xml"/></Relationships>
</file>

<file path=ppt/slides/_rels/slide12.xml.rels><?xml version="1.0" encoding="UTF-8" standalone="yes"?>
<Relationships xmlns="http://schemas.openxmlformats.org/package/2006/relationships"><Relationship Id="rId1" Type="http://schemas.openxmlformats.org/officeDocument/2006/relationships/image" Target="../media/image-12-1.png"/><Relationship Id="rId2" Type="http://schemas.openxmlformats.org/officeDocument/2006/relationships/slideLayout" Target="../slideLayouts/slideLayout2.xml"/><Relationship Id="rId3" Type="http://schemas.openxmlformats.org/officeDocument/2006/relationships/notesSlide" Target="../notesSlides/notesSlide12.xml"/></Relationships>
</file>

<file path=ppt/slides/_rels/slide13.xml.rels><?xml version="1.0" encoding="UTF-8" standalone="yes"?>
<Relationships xmlns="http://schemas.openxmlformats.org/package/2006/relationships"><Relationship Id="rId1" Type="http://schemas.openxmlformats.org/officeDocument/2006/relationships/image" Target="../media/image-13-1.png"/><Relationship Id="rId2" Type="http://schemas.openxmlformats.org/officeDocument/2006/relationships/slideLayout" Target="../slideLayouts/slideLayout2.xml"/><Relationship Id="rId3" Type="http://schemas.openxmlformats.org/officeDocument/2006/relationships/notesSlide" Target="../notesSlides/notesSlide13.xml"/></Relationships>
</file>

<file path=ppt/slides/_rels/slide14.xml.rels><?xml version="1.0" encoding="UTF-8" standalone="yes"?>
<Relationships xmlns="http://schemas.openxmlformats.org/package/2006/relationships"><Relationship Id="rId1" Type="http://schemas.openxmlformats.org/officeDocument/2006/relationships/image" Target="../media/image-14-1.png"/><Relationship Id="rId2" Type="http://schemas.openxmlformats.org/officeDocument/2006/relationships/slideLayout" Target="../slideLayouts/slideLayout2.xml"/><Relationship Id="rId3" Type="http://schemas.openxmlformats.org/officeDocument/2006/relationships/notesSlide" Target="../notesSlides/notesSlide14.xml"/></Relationships>
</file>

<file path=ppt/slides/_rels/slide15.xml.rels><?xml version="1.0" encoding="UTF-8" standalone="yes"?>
<Relationships xmlns="http://schemas.openxmlformats.org/package/2006/relationships"><Relationship Id="rId1" Type="http://schemas.openxmlformats.org/officeDocument/2006/relationships/image" Target="../media/image-15-1.png"/><Relationship Id="rId2" Type="http://schemas.openxmlformats.org/officeDocument/2006/relationships/slideLayout" Target="../slideLayouts/slideLayout2.xml"/><Relationship Id="rId3" Type="http://schemas.openxmlformats.org/officeDocument/2006/relationships/notesSlide" Target="../notesSlides/notesSlide15.xml"/></Relationships>
</file>

<file path=ppt/slides/_rels/slide16.xml.rels><?xml version="1.0" encoding="UTF-8" standalone="yes"?>
<Relationships xmlns="http://schemas.openxmlformats.org/package/2006/relationships"><Relationship Id="rId1" Type="http://schemas.openxmlformats.org/officeDocument/2006/relationships/image" Target="../media/image-16-1.png"/><Relationship Id="rId2" Type="http://schemas.openxmlformats.org/officeDocument/2006/relationships/slideLayout" Target="../slideLayouts/slideLayout2.xml"/><Relationship Id="rId3" Type="http://schemas.openxmlformats.org/officeDocument/2006/relationships/notesSlide" Target="../notesSlides/notesSlide16.xml"/></Relationships>
</file>

<file path=ppt/slides/_rels/slide17.xml.rels><?xml version="1.0" encoding="UTF-8" standalone="yes"?>
<Relationships xmlns="http://schemas.openxmlformats.org/package/2006/relationships"><Relationship Id="rId1" Type="http://schemas.openxmlformats.org/officeDocument/2006/relationships/image" Target="../media/image-17-1.png"/><Relationship Id="rId2" Type="http://schemas.openxmlformats.org/officeDocument/2006/relationships/slideLayout" Target="../slideLayouts/slideLayout2.xml"/><Relationship Id="rId3" Type="http://schemas.openxmlformats.org/officeDocument/2006/relationships/notesSlide" Target="../notesSlides/notesSlide17.xml"/></Relationships>
</file>

<file path=ppt/slides/_rels/slide18.xml.rels><?xml version="1.0" encoding="UTF-8" standalone="yes"?>
<Relationships xmlns="http://schemas.openxmlformats.org/package/2006/relationships"><Relationship Id="rId1" Type="http://schemas.openxmlformats.org/officeDocument/2006/relationships/image" Target="../media/image-18-1.png"/><Relationship Id="rId2" Type="http://schemas.openxmlformats.org/officeDocument/2006/relationships/slideLayout" Target="../slideLayouts/slideLayout2.xml"/><Relationship Id="rId3" Type="http://schemas.openxmlformats.org/officeDocument/2006/relationships/notesSlide" Target="../notesSlides/notesSlide18.xml"/></Relationships>
</file>

<file path=ppt/slides/_rels/slide19.xml.rels><?xml version="1.0" encoding="UTF-8" standalone="yes"?>
<Relationships xmlns="http://schemas.openxmlformats.org/package/2006/relationships"><Relationship Id="rId1" Type="http://schemas.openxmlformats.org/officeDocument/2006/relationships/image" Target="../media/image-19-1.jpg"/><Relationship Id="rId2" Type="http://schemas.openxmlformats.org/officeDocument/2006/relationships/slideLayout" Target="../slideLayouts/slideLayout2.xml"/><Relationship Id="rId3" Type="http://schemas.openxmlformats.org/officeDocument/2006/relationships/notesSlide" Target="../notesSlides/notesSlide19.xml"/></Relationships>
</file>

<file path=ppt/slides/_rels/slide20.xml.rels><?xml version="1.0" encoding="UTF-8" standalone="yes"?>
<Relationships xmlns="http://schemas.openxmlformats.org/package/2006/relationships"><Relationship Id="rId1" Type="http://schemas.openxmlformats.org/officeDocument/2006/relationships/image" Target="../media/image-20-1.png"/><Relationship Id="rId2" Type="http://schemas.openxmlformats.org/officeDocument/2006/relationships/slideLayout" Target="../slideLayouts/slideLayout2.xml"/><Relationship Id="rId3" Type="http://schemas.openxmlformats.org/officeDocument/2006/relationships/notesSlide" Target="../notesSlides/notesSlide20.xml"/></Relationships>
</file>

<file path=ppt/slides/_rels/slide21.xml.rels><?xml version="1.0" encoding="UTF-8" standalone="yes"?>
<Relationships xmlns="http://schemas.openxmlformats.org/package/2006/relationships"><Relationship Id="rId1" Type="http://schemas.openxmlformats.org/officeDocument/2006/relationships/image" Target="../media/image-21-1.png"/><Relationship Id="rId2" Type="http://schemas.openxmlformats.org/officeDocument/2006/relationships/slideLayout" Target="../slideLayouts/slideLayout2.xml"/><Relationship Id="rId3" Type="http://schemas.openxmlformats.org/officeDocument/2006/relationships/notesSlide" Target="../notesSlides/notesSlide21.xml"/></Relationships>
</file>

<file path=ppt/slides/_rels/slide22.xml.rels><?xml version="1.0" encoding="UTF-8" standalone="yes"?>
<Relationships xmlns="http://schemas.openxmlformats.org/package/2006/relationships"><Relationship Id="rId1" Type="http://schemas.openxmlformats.org/officeDocument/2006/relationships/image" Target="../media/image-22-1.png"/><Relationship Id="rId2" Type="http://schemas.openxmlformats.org/officeDocument/2006/relationships/slideLayout" Target="../slideLayouts/slideLayout2.xml"/><Relationship Id="rId3" Type="http://schemas.openxmlformats.org/officeDocument/2006/relationships/notesSlide" Target="../notesSlides/notesSlide22.xml"/></Relationships>
</file>

<file path=ppt/slides/_rels/slide23.xml.rels><?xml version="1.0" encoding="UTF-8" standalone="yes"?>
<Relationships xmlns="http://schemas.openxmlformats.org/package/2006/relationships"><Relationship Id="rId1" Type="http://schemas.openxmlformats.org/officeDocument/2006/relationships/image" Target="../media/image-23-1.png"/><Relationship Id="rId2" Type="http://schemas.openxmlformats.org/officeDocument/2006/relationships/slideLayout" Target="../slideLayouts/slideLayout2.xml"/><Relationship Id="rId3" Type="http://schemas.openxmlformats.org/officeDocument/2006/relationships/notesSlide" Target="../notesSlides/notesSlide23.xml"/></Relationships>
</file>

<file path=ppt/slides/_rels/slide24.xml.rels><?xml version="1.0" encoding="UTF-8" standalone="yes"?>
<Relationships xmlns="http://schemas.openxmlformats.org/package/2006/relationships"><Relationship Id="rId1" Type="http://schemas.openxmlformats.org/officeDocument/2006/relationships/image" Target="../media/image-24-1.png"/><Relationship Id="rId2" Type="http://schemas.openxmlformats.org/officeDocument/2006/relationships/slideLayout" Target="../slideLayouts/slideLayout2.xml"/><Relationship Id="rId3" Type="http://schemas.openxmlformats.org/officeDocument/2006/relationships/notesSlide" Target="../notesSlides/notesSlide24.xml"/></Relationships>
</file>

<file path=ppt/slides/_rels/slide25.xml.rels><?xml version="1.0" encoding="UTF-8" standalone="yes"?>
<Relationships xmlns="http://schemas.openxmlformats.org/package/2006/relationships"><Relationship Id="rId1" Type="http://schemas.openxmlformats.org/officeDocument/2006/relationships/image" Target="../media/image-25-1.png"/><Relationship Id="rId2" Type="http://schemas.openxmlformats.org/officeDocument/2006/relationships/slideLayout" Target="../slideLayouts/slideLayout2.xml"/><Relationship Id="rId3" Type="http://schemas.openxmlformats.org/officeDocument/2006/relationships/notesSlide" Target="../notesSlides/notesSlide25.xml"/></Relationships>
</file>

<file path=ppt/slides/_rels/slide26.xml.rels><?xml version="1.0" encoding="UTF-8" standalone="yes"?>
<Relationships xmlns="http://schemas.openxmlformats.org/package/2006/relationships"><Relationship Id="rId1" Type="http://schemas.openxmlformats.org/officeDocument/2006/relationships/image" Target="../media/image-26-1.png"/><Relationship Id="rId2" Type="http://schemas.openxmlformats.org/officeDocument/2006/relationships/slideLayout" Target="../slideLayouts/slideLayout2.xml"/><Relationship Id="rId3" Type="http://schemas.openxmlformats.org/officeDocument/2006/relationships/notesSlide" Target="../notesSlides/notesSlide26.xml"/></Relationships>
</file>

<file path=ppt/slides/_rels/slide27.xml.rels><?xml version="1.0" encoding="UTF-8" standalone="yes"?>
<Relationships xmlns="http://schemas.openxmlformats.org/package/2006/relationships"><Relationship Id="rId1" Type="http://schemas.openxmlformats.org/officeDocument/2006/relationships/image" Target="../media/image-27-1.png"/><Relationship Id="rId2" Type="http://schemas.openxmlformats.org/officeDocument/2006/relationships/slideLayout" Target="../slideLayouts/slideLayout2.xml"/><Relationship Id="rId3" Type="http://schemas.openxmlformats.org/officeDocument/2006/relationships/notesSlide" Target="../notesSlides/notesSlide27.xml"/></Relationships>
</file>

<file path=ppt/slides/_rels/slide28.xml.rels><?xml version="1.0" encoding="UTF-8" standalone="yes"?>
<Relationships xmlns="http://schemas.openxmlformats.org/package/2006/relationships"><Relationship Id="rId1" Type="http://schemas.openxmlformats.org/officeDocument/2006/relationships/image" Target="../media/image-28-1.jpg"/><Relationship Id="rId2" Type="http://schemas.openxmlformats.org/officeDocument/2006/relationships/slideLayout" Target="../slideLayouts/slideLayout2.xml"/><Relationship Id="rId3" Type="http://schemas.openxmlformats.org/officeDocument/2006/relationships/notesSlide" Target="../notesSlides/notesSlide28.xml"/></Relationships>
</file>

<file path=ppt/slides/_rels/slide29.xml.rels><?xml version="1.0" encoding="UTF-8" standalone="yes"?>
<Relationships xmlns="http://schemas.openxmlformats.org/package/2006/relationships"><Relationship Id="rId1" Type="http://schemas.openxmlformats.org/officeDocument/2006/relationships/image" Target="../media/image-29-1.png"/><Relationship Id="rId2" Type="http://schemas.openxmlformats.org/officeDocument/2006/relationships/slideLayout" Target="../slideLayouts/slideLayout2.xml"/><Relationship Id="rId3" Type="http://schemas.openxmlformats.org/officeDocument/2006/relationships/notesSlide" Target="../notesSlides/notesSlide29.xml"/></Relationships>
</file>

<file path=ppt/slides/_rels/slide30.xml.rels><?xml version="1.0" encoding="UTF-8" standalone="yes"?>
<Relationships xmlns="http://schemas.openxmlformats.org/package/2006/relationships"><Relationship Id="rId1" Type="http://schemas.openxmlformats.org/officeDocument/2006/relationships/image" Target="../media/image-30-1.png"/><Relationship Id="rId2" Type="http://schemas.openxmlformats.org/officeDocument/2006/relationships/slideLayout" Target="../slideLayouts/slideLayout2.xml"/><Relationship Id="rId3" Type="http://schemas.openxmlformats.org/officeDocument/2006/relationships/notesSlide" Target="../notesSlides/notesSlide30.xml"/></Relationships>
</file>

<file path=ppt/slides/_rels/slide31.xml.rels><?xml version="1.0" encoding="UTF-8" standalone="yes"?>
<Relationships xmlns="http://schemas.openxmlformats.org/package/2006/relationships"><Relationship Id="rId1" Type="http://schemas.openxmlformats.org/officeDocument/2006/relationships/image" Target="../media/image-31-1.png"/><Relationship Id="rId2" Type="http://schemas.openxmlformats.org/officeDocument/2006/relationships/slideLayout" Target="../slideLayouts/slideLayout2.xml"/><Relationship Id="rId3" Type="http://schemas.openxmlformats.org/officeDocument/2006/relationships/notesSlide" Target="../notesSlides/notesSlide31.xml"/></Relationships>
</file>

<file path=ppt/slides/_rels/slide32.xml.rels><?xml version="1.0" encoding="UTF-8" standalone="yes"?>
<Relationships xmlns="http://schemas.openxmlformats.org/package/2006/relationships"><Relationship Id="rId1" Type="http://schemas.openxmlformats.org/officeDocument/2006/relationships/image" Target="../media/image-32-1.png"/><Relationship Id="rId2" Type="http://schemas.openxmlformats.org/officeDocument/2006/relationships/slideLayout" Target="../slideLayouts/slideLayout2.xml"/><Relationship Id="rId3" Type="http://schemas.openxmlformats.org/officeDocument/2006/relationships/notesSlide" Target="../notesSlides/notesSlide32.xml"/></Relationships>
</file>

<file path=ppt/slides/_rels/slide33.xml.rels><?xml version="1.0" encoding="UTF-8" standalone="yes"?>
<Relationships xmlns="http://schemas.openxmlformats.org/package/2006/relationships"><Relationship Id="rId1" Type="http://schemas.openxmlformats.org/officeDocument/2006/relationships/image" Target="../media/image-33-1.png"/><Relationship Id="rId2" Type="http://schemas.openxmlformats.org/officeDocument/2006/relationships/slideLayout" Target="../slideLayouts/slideLayout2.xml"/><Relationship Id="rId3" Type="http://schemas.openxmlformats.org/officeDocument/2006/relationships/notesSlide" Target="../notesSlides/notesSlide33.xml"/></Relationships>
</file>

<file path=ppt/slides/_rels/slide34.xml.rels><?xml version="1.0" encoding="UTF-8" standalone="yes"?>
<Relationships xmlns="http://schemas.openxmlformats.org/package/2006/relationships"><Relationship Id="rId1" Type="http://schemas.openxmlformats.org/officeDocument/2006/relationships/image" Target="../media/image-34-1.png"/><Relationship Id="rId2" Type="http://schemas.openxmlformats.org/officeDocument/2006/relationships/slideLayout" Target="../slideLayouts/slideLayout2.xml"/><Relationship Id="rId3" Type="http://schemas.openxmlformats.org/officeDocument/2006/relationships/notesSlide" Target="../notesSlides/notesSlide34.xml"/></Relationships>
</file>

<file path=ppt/slides/_rels/slide35.xml.rels><?xml version="1.0" encoding="UTF-8" standalone="yes"?>
<Relationships xmlns="http://schemas.openxmlformats.org/package/2006/relationships"><Relationship Id="rId1" Type="http://schemas.openxmlformats.org/officeDocument/2006/relationships/image" Target="../media/image-35-1.png"/><Relationship Id="rId2" Type="http://schemas.openxmlformats.org/officeDocument/2006/relationships/slideLayout" Target="../slideLayouts/slideLayout2.xml"/><Relationship Id="rId3" Type="http://schemas.openxmlformats.org/officeDocument/2006/relationships/notesSlide" Target="../notesSlides/notesSlide35.xml"/></Relationships>
</file>

<file path=ppt/slides/_rels/slide36.xml.rels><?xml version="1.0" encoding="UTF-8" standalone="yes"?>
<Relationships xmlns="http://schemas.openxmlformats.org/package/2006/relationships"><Relationship Id="rId1" Type="http://schemas.openxmlformats.org/officeDocument/2006/relationships/image" Target="../media/image-36-1.png"/><Relationship Id="rId2" Type="http://schemas.openxmlformats.org/officeDocument/2006/relationships/slideLayout" Target="../slideLayouts/slideLayout2.xml"/><Relationship Id="rId3" Type="http://schemas.openxmlformats.org/officeDocument/2006/relationships/notesSlide" Target="../notesSlides/notesSlide36.xml"/></Relationships>
</file>

<file path=ppt/slides/_rels/slide37.xml.rels><?xml version="1.0" encoding="UTF-8" standalone="yes"?>
<Relationships xmlns="http://schemas.openxmlformats.org/package/2006/relationships"><Relationship Id="rId1" Type="http://schemas.openxmlformats.org/officeDocument/2006/relationships/image" Target="../media/image-37-1.png"/><Relationship Id="rId2" Type="http://schemas.openxmlformats.org/officeDocument/2006/relationships/slideLayout" Target="../slideLayouts/slideLayout2.xml"/><Relationship Id="rId3" Type="http://schemas.openxmlformats.org/officeDocument/2006/relationships/notesSlide" Target="../notesSlides/notesSlide37.xml"/></Relationships>
</file>

<file path=ppt/slides/_rels/slide38.xml.rels><?xml version="1.0" encoding="UTF-8" standalone="yes"?>
<Relationships xmlns="http://schemas.openxmlformats.org/package/2006/relationships"><Relationship Id="rId1" Type="http://schemas.openxmlformats.org/officeDocument/2006/relationships/image" Target="../media/image-38-1.png"/><Relationship Id="rId2" Type="http://schemas.openxmlformats.org/officeDocument/2006/relationships/slideLayout" Target="../slideLayouts/slideLayout2.xml"/><Relationship Id="rId3" Type="http://schemas.openxmlformats.org/officeDocument/2006/relationships/notesSlide" Target="../notesSlides/notesSlide38.xml"/></Relationships>
</file>

<file path=ppt/slides/_rels/slide39.xml.rels><?xml version="1.0" encoding="UTF-8" standalone="yes"?>
<Relationships xmlns="http://schemas.openxmlformats.org/package/2006/relationships"><Relationship Id="rId1" Type="http://schemas.openxmlformats.org/officeDocument/2006/relationships/image" Target="../media/image-39-1.png"/><Relationship Id="rId2" Type="http://schemas.openxmlformats.org/officeDocument/2006/relationships/slideLayout" Target="../slideLayouts/slideLayout2.xml"/><Relationship Id="rId3" Type="http://schemas.openxmlformats.org/officeDocument/2006/relationships/notesSlide" Target="../notesSlides/notesSlide39.xml"/></Relationships>
</file>

<file path=ppt/slides/_rels/slide40.xml.rels><?xml version="1.0" encoding="UTF-8" standalone="yes"?>
<Relationships xmlns="http://schemas.openxmlformats.org/package/2006/relationships"><Relationship Id="rId1" Type="http://schemas.openxmlformats.org/officeDocument/2006/relationships/image" Target="../media/image-40-1.png"/><Relationship Id="rId2" Type="http://schemas.openxmlformats.org/officeDocument/2006/relationships/slideLayout" Target="../slideLayouts/slideLayout2.xml"/><Relationship Id="rId3" Type="http://schemas.openxmlformats.org/officeDocument/2006/relationships/notesSlide" Target="../notesSlides/notesSlide40.xml"/></Relationships>
</file>

<file path=ppt/slides/_rels/slide41.xml.rels><?xml version="1.0" encoding="UTF-8" standalone="yes"?>
<Relationships xmlns="http://schemas.openxmlformats.org/package/2006/relationships"><Relationship Id="rId1" Type="http://schemas.openxmlformats.org/officeDocument/2006/relationships/image" Target="../media/image-41-1.png"/><Relationship Id="rId2" Type="http://schemas.openxmlformats.org/officeDocument/2006/relationships/slideLayout" Target="../slideLayouts/slideLayout2.xml"/><Relationship Id="rId3" Type="http://schemas.openxmlformats.org/officeDocument/2006/relationships/notesSlide" Target="../notesSlides/notesSlide41.xml"/></Relationships>
</file>

<file path=ppt/slides/_rels/slide42.xml.rels><?xml version="1.0" encoding="UTF-8" standalone="yes"?>
<Relationships xmlns="http://schemas.openxmlformats.org/package/2006/relationships"><Relationship Id="rId1" Type="http://schemas.openxmlformats.org/officeDocument/2006/relationships/image" Target="../media/image-42-1.png"/><Relationship Id="rId2" Type="http://schemas.openxmlformats.org/officeDocument/2006/relationships/slideLayout" Target="../slideLayouts/slideLayout2.xml"/><Relationship Id="rId3" Type="http://schemas.openxmlformats.org/officeDocument/2006/relationships/notesSlide" Target="../notesSlides/notesSlide42.xml"/></Relationships>
</file>

<file path=ppt/slides/_rels/slide43.xml.rels><?xml version="1.0" encoding="UTF-8" standalone="yes"?>
<Relationships xmlns="http://schemas.openxmlformats.org/package/2006/relationships"><Relationship Id="rId1" Type="http://schemas.openxmlformats.org/officeDocument/2006/relationships/image" Target="../media/image-43-1.png"/><Relationship Id="rId2" Type="http://schemas.openxmlformats.org/officeDocument/2006/relationships/slideLayout" Target="../slideLayouts/slideLayout2.xml"/><Relationship Id="rId3" Type="http://schemas.openxmlformats.org/officeDocument/2006/relationships/notesSlide" Target="../notesSlides/notesSlide43.xml"/></Relationships>
</file>

<file path=ppt/slides/_rels/slide44.xml.rels><?xml version="1.0" encoding="UTF-8" standalone="yes"?>
<Relationships xmlns="http://schemas.openxmlformats.org/package/2006/relationships"><Relationship Id="rId1" Type="http://schemas.openxmlformats.org/officeDocument/2006/relationships/image" Target="../media/image-44-1.png"/><Relationship Id="rId2" Type="http://schemas.openxmlformats.org/officeDocument/2006/relationships/slideLayout" Target="../slideLayouts/slideLayout2.xml"/><Relationship Id="rId3" Type="http://schemas.openxmlformats.org/officeDocument/2006/relationships/notesSlide" Target="../notesSlides/notesSlide44.xml"/></Relationships>
</file>

<file path=ppt/slides/_rels/slide45.xml.rels><?xml version="1.0" encoding="UTF-8" standalone="yes"?>
<Relationships xmlns="http://schemas.openxmlformats.org/package/2006/relationships"><Relationship Id="rId1" Type="http://schemas.openxmlformats.org/officeDocument/2006/relationships/image" Target="../media/image-45-1.png"/><Relationship Id="rId2" Type="http://schemas.openxmlformats.org/officeDocument/2006/relationships/slideLayout" Target="../slideLayouts/slideLayout2.xml"/><Relationship Id="rId3" Type="http://schemas.openxmlformats.org/officeDocument/2006/relationships/notesSlide" Target="../notesSlides/notesSlide45.xml"/></Relationships>
</file>

<file path=ppt/slides/_rels/slide46.xml.rels><?xml version="1.0" encoding="UTF-8" standalone="yes"?>
<Relationships xmlns="http://schemas.openxmlformats.org/package/2006/relationships"><Relationship Id="rId1" Type="http://schemas.openxmlformats.org/officeDocument/2006/relationships/image" Target="../media/image-46-1.png"/><Relationship Id="rId2" Type="http://schemas.openxmlformats.org/officeDocument/2006/relationships/slideLayout" Target="../slideLayouts/slideLayout2.xml"/><Relationship Id="rId3" Type="http://schemas.openxmlformats.org/officeDocument/2006/relationships/notesSlide" Target="../notesSlides/notesSlide46.xml"/></Relationships>
</file>

<file path=ppt/slides/_rels/slide47.xml.rels><?xml version="1.0" encoding="UTF-8" standalone="yes"?>
<Relationships xmlns="http://schemas.openxmlformats.org/package/2006/relationships"><Relationship Id="rId1" Type="http://schemas.openxmlformats.org/officeDocument/2006/relationships/image" Target="../media/image-47-1.png"/><Relationship Id="rId2" Type="http://schemas.openxmlformats.org/officeDocument/2006/relationships/slideLayout" Target="../slideLayouts/slideLayout2.xml"/><Relationship Id="rId3" Type="http://schemas.openxmlformats.org/officeDocument/2006/relationships/notesSlide" Target="../notesSlides/notesSlide47.xml"/></Relationships>
</file>

<file path=ppt/slides/_rels/slide48.xml.rels><?xml version="1.0" encoding="UTF-8" standalone="yes"?>
<Relationships xmlns="http://schemas.openxmlformats.org/package/2006/relationships"><Relationship Id="rId1" Type="http://schemas.openxmlformats.org/officeDocument/2006/relationships/image" Target="../media/image-48-1.png"/><Relationship Id="rId2" Type="http://schemas.openxmlformats.org/officeDocument/2006/relationships/slideLayout" Target="../slideLayouts/slideLayout2.xml"/><Relationship Id="rId3" Type="http://schemas.openxmlformats.org/officeDocument/2006/relationships/notesSlide" Target="../notesSlides/notesSlide48.xml"/></Relationships>
</file>

<file path=ppt/slides/_rels/slide49.xml.rels><?xml version="1.0" encoding="UTF-8" standalone="yes"?>
<Relationships xmlns="http://schemas.openxmlformats.org/package/2006/relationships"><Relationship Id="rId1" Type="http://schemas.openxmlformats.org/officeDocument/2006/relationships/image" Target="../media/image-49-1.png"/><Relationship Id="rId2" Type="http://schemas.openxmlformats.org/officeDocument/2006/relationships/slideLayout" Target="../slideLayouts/slideLayout2.xml"/><Relationship Id="rId3" Type="http://schemas.openxmlformats.org/officeDocument/2006/relationships/notesSlide" Target="../notesSlides/notesSlide49.xml"/></Relationships>
</file>

<file path=ppt/slides/_rels/slide50.xml.rels><?xml version="1.0" encoding="UTF-8" standalone="yes"?>
<Relationships xmlns="http://schemas.openxmlformats.org/package/2006/relationships"><Relationship Id="rId1" Type="http://schemas.openxmlformats.org/officeDocument/2006/relationships/image" Target="../media/image-50-1.png"/><Relationship Id="rId2" Type="http://schemas.openxmlformats.org/officeDocument/2006/relationships/slideLayout" Target="../slideLayouts/slideLayout2.xml"/><Relationship Id="rId3" Type="http://schemas.openxmlformats.org/officeDocument/2006/relationships/notesSlide" Target="../notesSlides/notesSlide50.xml"/></Relationships>
</file>

<file path=ppt/slides/_rels/slide51.xml.rels><?xml version="1.0" encoding="UTF-8" standalone="yes"?>
<Relationships xmlns="http://schemas.openxmlformats.org/package/2006/relationships"><Relationship Id="rId1" Type="http://schemas.openxmlformats.org/officeDocument/2006/relationships/image" Target="../media/image-51-1.png"/><Relationship Id="rId2" Type="http://schemas.openxmlformats.org/officeDocument/2006/relationships/slideLayout" Target="../slideLayouts/slideLayout2.xml"/><Relationship Id="rId3" Type="http://schemas.openxmlformats.org/officeDocument/2006/relationships/notesSlide" Target="../notesSlides/notesSlide51.xml"/></Relationships>
</file>

<file path=ppt/slides/_rels/slide52.xml.rels><?xml version="1.0" encoding="UTF-8" standalone="yes"?>
<Relationships xmlns="http://schemas.openxmlformats.org/package/2006/relationships"><Relationship Id="rId1" Type="http://schemas.openxmlformats.org/officeDocument/2006/relationships/image" Target="../media/image-52-1.png"/><Relationship Id="rId2" Type="http://schemas.openxmlformats.org/officeDocument/2006/relationships/slideLayout" Target="../slideLayouts/slideLayout2.xml"/><Relationship Id="rId3" Type="http://schemas.openxmlformats.org/officeDocument/2006/relationships/notesSlide" Target="../notesSlides/notesSlide52.xml"/></Relationships>
</file>

<file path=ppt/slides/_rels/slide53.xml.rels><?xml version="1.0" encoding="UTF-8" standalone="yes"?>
<Relationships xmlns="http://schemas.openxmlformats.org/package/2006/relationships"><Relationship Id="rId1" Type="http://schemas.openxmlformats.org/officeDocument/2006/relationships/image" Target="../media/image-53-1.png"/><Relationship Id="rId2" Type="http://schemas.openxmlformats.org/officeDocument/2006/relationships/slideLayout" Target="../slideLayouts/slideLayout2.xml"/><Relationship Id="rId3" Type="http://schemas.openxmlformats.org/officeDocument/2006/relationships/notesSlide" Target="../notesSlides/notesSlide53.xml"/></Relationships>
</file>

<file path=ppt/slides/_rels/slide54.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54.xml"/></Relationships>
</file>

<file path=ppt/slides/_rels/slide55.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55.xml"/></Relationships>
</file>

<file path=ppt/slides/_rels/slide56.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56.xml"/></Relationships>
</file>

<file path=ppt/slides/_rels/slide57.xml.rels><?xml version="1.0" encoding="UTF-8" standalone="yes"?>
<Relationships xmlns="http://schemas.openxmlformats.org/package/2006/relationships"><Relationship Id="rId1" Type="http://schemas.openxmlformats.org/officeDocument/2006/relationships/image" Target="../media/image-57-1.png"/><Relationship Id="rId2" Type="http://schemas.openxmlformats.org/officeDocument/2006/relationships/slideLayout" Target="../slideLayouts/slideLayout2.xml"/><Relationship Id="rId3" Type="http://schemas.openxmlformats.org/officeDocument/2006/relationships/notesSlide" Target="../notesSlides/notesSlide57.xml"/></Relationships>
</file>

<file path=ppt/slides/_rels/slide58.xml.rels><?xml version="1.0" encoding="UTF-8" standalone="yes"?>
<Relationships xmlns="http://schemas.openxmlformats.org/package/2006/relationships"><Relationship Id="rId1" Type="http://schemas.openxmlformats.org/officeDocument/2006/relationships/image" Target="../media/image-58-1.png"/><Relationship Id="rId2" Type="http://schemas.openxmlformats.org/officeDocument/2006/relationships/slideLayout" Target="../slideLayouts/slideLayout2.xml"/><Relationship Id="rId3" Type="http://schemas.openxmlformats.org/officeDocument/2006/relationships/notesSlide" Target="../notesSlides/notesSlide58.xml"/></Relationships>
</file>

<file path=ppt/slides/slide1.xml><?xml version="1.0" encoding="utf-8"?>
<p:sld xmlns:a="http://schemas.openxmlformats.org/drawingml/2006/main" xmlns:r="http://schemas.openxmlformats.org/officeDocument/2006/relationships" xmlns:p="http://schemas.openxmlformats.org/presentationml/2006/main">
  <p:cSld name="Slide 1">
    <p:spTree>
      <p:nvGrpSpPr>
        <p:cNvPr id="1" name=""/>
        <p:cNvGrpSpPr/>
        <p:nvPr/>
      </p:nvGrpSpPr>
      <p:grpSpPr>
        <a:xfrm>
          <a:off x="0" y="0"/>
          <a:ext cx="0" cy="0"/>
          <a:chOff x="0" y="0"/>
          <a:chExt cx="0" cy="0"/>
        </a:xfrm>
      </p:grpSpPr>
      <p:sp>
        <p:nvSpPr>
          <p:cNvPr id="2" name="Text 0"/>
          <p:cNvSpPr/>
          <p:nvPr/>
        </p:nvSpPr>
        <p:spPr>
          <a:xfrm>
            <a:off x="6126480" y="1965960"/>
            <a:ext cx="5760720" cy="1005840"/>
          </a:xfrm>
          <a:prstGeom prst="rect">
            <a:avLst/>
          </a:prstGeom>
          <a:noFill/>
          <a:ln/>
        </p:spPr>
        <p:txBody>
          <a:bodyPr wrap="square" lIns="0" tIns="0" rIns="0" bIns="0" rtlCol="0" anchor="ctr"/>
          <a:lstStyle/>
          <a:p>
            <a:pPr algn="ctr" indent="0" marL="0">
              <a:buNone/>
            </a:pPr>
            <a:r>
              <a:rPr lang="en-US" sz="2600" b="1" dirty="0">
                <a:solidFill>
                  <a:srgbClr val="111111"/>
                </a:solidFill>
                <a:latin typeface="Times New Roman" pitchFamily="34" charset="0"/>
                <a:ea typeface="Times New Roman" pitchFamily="34" charset="-122"/>
                <a:cs typeface="Times New Roman" pitchFamily="34" charset="-120"/>
              </a:rPr>
              <a:t>UPPER SIXTH ARTS</a:t>
            </a:r>
            <a:endParaRPr lang="en-US" sz="2600" dirty="0"/>
          </a:p>
          <a:p>
            <a:pPr algn="ctr" indent="0" marL="0">
              <a:buNone/>
            </a:pPr>
            <a:r>
              <a:rPr lang="en-US" sz="2600" b="1" dirty="0">
                <a:solidFill>
                  <a:srgbClr val="111111"/>
                </a:solidFill>
                <a:latin typeface="Times New Roman" pitchFamily="34" charset="0"/>
                <a:ea typeface="Times New Roman" pitchFamily="34" charset="-122"/>
                <a:cs typeface="Times New Roman" pitchFamily="34" charset="-120"/>
              </a:rPr>
              <a:t>GEOGRAPHY</a:t>
            </a:r>
            <a:endParaRPr lang="en-US" sz="2600" dirty="0"/>
          </a:p>
        </p:txBody>
      </p:sp>
      <p:sp>
        <p:nvSpPr>
          <p:cNvPr id="3" name="Text 1"/>
          <p:cNvSpPr/>
          <p:nvPr/>
        </p:nvSpPr>
        <p:spPr>
          <a:xfrm>
            <a:off x="6126480" y="3063240"/>
            <a:ext cx="5760720" cy="2103120"/>
          </a:xfrm>
          <a:prstGeom prst="rect">
            <a:avLst/>
          </a:prstGeom>
          <a:noFill/>
          <a:ln/>
        </p:spPr>
        <p:txBody>
          <a:bodyPr wrap="square" lIns="0" tIns="0" rIns="0" bIns="0" rtlCol="0" anchor="ctr">
            <a:normAutofit/>
          </a:bodyPr>
          <a:lstStyle/>
          <a:p>
            <a:pPr algn="ctr" indent="0" marL="0">
              <a:buNone/>
            </a:pPr>
            <a:r>
              <a:rPr lang="en-US" sz="2600" b="1" dirty="0">
                <a:solidFill>
                  <a:srgbClr val="111111"/>
                </a:solidFill>
                <a:latin typeface="Times New Roman" pitchFamily="34" charset="0"/>
                <a:ea typeface="Times New Roman" pitchFamily="34" charset="-122"/>
                <a:cs typeface="Times New Roman" pitchFamily="34" charset="-120"/>
              </a:rPr>
              <a:t>Lesson 7</a:t>
            </a:r>
            <a:endParaRPr lang="en-US" sz="2600" dirty="0"/>
          </a:p>
          <a:p>
            <a:pPr algn="ctr" indent="0" marL="0">
              <a:buNone/>
            </a:pPr>
            <a:r>
              <a:rPr lang="en-US" sz="3200" b="1" dirty="0">
                <a:solidFill>
                  <a:srgbClr val="990011"/>
                </a:solidFill>
                <a:latin typeface="Times New Roman" pitchFamily="34" charset="0"/>
                <a:ea typeface="Times New Roman" pitchFamily="34" charset="-122"/>
                <a:cs typeface="Times New Roman" pitchFamily="34" charset="-120"/>
              </a:rPr>
              <a:t>Notion of Development</a:t>
            </a:r>
            <a:endParaRPr lang="en-US" sz="2600" dirty="0"/>
          </a:p>
        </p:txBody>
      </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name="Slide 2">
    <p:spTree>
      <p:nvGrpSpPr>
        <p:cNvPr id="1" name=""/>
        <p:cNvGrpSpPr/>
        <p:nvPr/>
      </p:nvGrpSpPr>
      <p:grpSpPr>
        <a:xfrm>
          <a:off x="0" y="0"/>
          <a:ext cx="0" cy="0"/>
          <a:chOff x="0" y="0"/>
          <a:chExt cx="0" cy="0"/>
        </a:xfrm>
      </p:grpSpPr>
      <p:sp>
        <p:nvSpPr>
          <p:cNvPr id="2" name="Text 0"/>
          <p:cNvSpPr/>
          <p:nvPr/>
        </p:nvSpPr>
        <p:spPr>
          <a:xfrm>
            <a:off x="457200" y="713232"/>
            <a:ext cx="11368735" cy="274320"/>
          </a:xfrm>
          <a:prstGeom prst="rect">
            <a:avLst/>
          </a:prstGeom>
          <a:noFill/>
          <a:ln/>
        </p:spPr>
        <p:txBody>
          <a:bodyPr wrap="square" lIns="0" tIns="0" rIns="0" bIns="0" rtlCol="0" anchor="ctr"/>
          <a:lstStyle/>
          <a:p>
            <a:pPr algn="r" indent="0" marL="0">
              <a:buNone/>
            </a:pPr>
            <a:r>
              <a:rPr lang="en-US" sz="1400" b="1" dirty="0">
                <a:solidFill>
                  <a:srgbClr val="1C3F6E"/>
                </a:solidFill>
                <a:latin typeface="Calibri" pitchFamily="34" charset="0"/>
                <a:ea typeface="Calibri" pitchFamily="34" charset="-122"/>
                <a:cs typeface="Calibri" pitchFamily="34" charset="-120"/>
              </a:rPr>
              <a:t>CLASS INFO</a:t>
            </a:r>
            <a:endParaRPr lang="en-US" sz="1400" dirty="0"/>
          </a:p>
        </p:txBody>
      </p:sp>
      <p:sp>
        <p:nvSpPr>
          <p:cNvPr id="3" name="Text 1"/>
          <p:cNvSpPr/>
          <p:nvPr/>
        </p:nvSpPr>
        <p:spPr>
          <a:xfrm>
            <a:off x="457200" y="1005840"/>
            <a:ext cx="11277295" cy="731520"/>
          </a:xfrm>
          <a:prstGeom prst="rect">
            <a:avLst/>
          </a:prstGeom>
          <a:noFill/>
          <a:ln/>
        </p:spPr>
        <p:txBody>
          <a:bodyPr wrap="square" lIns="0" tIns="0" rIns="0" bIns="0" rtlCol="0" anchor="ctr"/>
          <a:lstStyle/>
          <a:p>
            <a:pPr algn="ctr" indent="0" marL="0">
              <a:buNone/>
            </a:pPr>
            <a:r>
              <a:rPr lang="en-US" sz="3600" b="1" dirty="0">
                <a:solidFill>
                  <a:srgbClr val="990011"/>
                </a:solidFill>
                <a:latin typeface="Times New Roman" pitchFamily="34" charset="0"/>
                <a:ea typeface="Times New Roman" pitchFamily="34" charset="-122"/>
                <a:cs typeface="Times New Roman" pitchFamily="34" charset="-120"/>
              </a:rPr>
              <a:t>Class, Chapter and Duration</a:t>
            </a:r>
            <a:endParaRPr lang="en-US" sz="3600" dirty="0"/>
          </a:p>
        </p:txBody>
      </p:sp>
      <p:graphicFrame>
        <p:nvGraphicFramePr>
          <p:cNvPr id="3" name="Table 0"/>
          <p:cNvGraphicFramePr>
            <a:graphicFrameLocks noGrp="1"/>
          </p:cNvGraphicFramePr>
          <p:nvPr>
            <p:extLst>
              <p:ext uri="{D42A27DB-BD31-4B8C-83A1-F6EECF244321}">
                <p14:modId xmlns:p14="http://schemas.microsoft.com/office/powerpoint/2010/main" val="1579011935"/>
              </p:ext>
            </p:extLst>
          </p:nvPr>
        </p:nvGraphicFramePr>
        <p:xfrm>
          <a:off x="458572" y="1783080"/>
          <a:ext cx="11274552" cy="914400"/>
        </p:xfrm>
        <a:graphic>
          <a:graphicData uri="http://schemas.openxmlformats.org/drawingml/2006/table">
            <a:tbl>
              <a:tblPr/>
              <a:tblGrid>
                <a:gridCol w="2377440"/>
                <a:gridCol w="8897112"/>
              </a:tblGrid>
              <a:tr h="0">
                <a:tc>
                  <a:txBody>
                    <a:bodyPr/>
                    <a:lstStyle/>
                    <a:p>
                      <a:pPr algn="l" indent="0" marL="0">
                        <a:buNone/>
                      </a:pPr>
                      <a:r>
                        <a:rPr lang="en-US" sz="2200" b="1" dirty="0">
                          <a:solidFill>
                            <a:srgbClr val="FFFFFF"/>
                          </a:solidFill>
                          <a:latin typeface="Calibri" pitchFamily="34" charset="0"/>
                          <a:ea typeface="Calibri" pitchFamily="34" charset="-122"/>
                          <a:cs typeface="Calibri" pitchFamily="34" charset="-120"/>
                        </a:rPr>
                        <a:t>Class</a:t>
                      </a:r>
                      <a:endParaRPr lang="en-US" sz="2200" dirty="0">
                        <a:latin typeface="Calibri" charset="0"/>
                        <a:ea typeface="Calibri" charset="0"/>
                        <a:cs typeface="Calibri" charset="0"/>
                      </a:endParaRPr>
                    </a:p>
                  </a:txBody>
                  <a:tcPr marL="73152" marR="73152" marT="73152" marB="73152" anchor="ctr">
                    <a:lnL w="12700" cap="flat" cmpd="sng" algn="ctr">
                      <a:solidFill>
                        <a:srgbClr val="BBBBBB"/>
                      </a:solidFill>
                      <a:prstDash val="solid"/>
                      <a:round/>
                      <a:headEnd type="none" w="med" len="med"/>
                      <a:tailEnd type="none" w="med" len="med"/>
                    </a:lnL>
                    <a:lnR w="12700" cap="flat" cmpd="sng" algn="ctr">
                      <a:solidFill>
                        <a:srgbClr val="BBBBBB"/>
                      </a:solidFill>
                      <a:prstDash val="solid"/>
                      <a:round/>
                      <a:headEnd type="none" w="med" len="med"/>
                      <a:tailEnd type="none" w="med" len="med"/>
                    </a:lnR>
                    <a:lnT w="12700" cap="flat" cmpd="sng" algn="ctr">
                      <a:solidFill>
                        <a:srgbClr val="BBBBBB"/>
                      </a:solidFill>
                      <a:prstDash val="solid"/>
                      <a:round/>
                      <a:headEnd type="none" w="med" len="med"/>
                      <a:tailEnd type="none" w="med" len="med"/>
                    </a:lnT>
                    <a:lnB w="12700" cap="flat" cmpd="sng" algn="ctr">
                      <a:solidFill>
                        <a:srgbClr val="BBBBBB"/>
                      </a:solidFill>
                      <a:prstDash val="solid"/>
                      <a:round/>
                      <a:headEnd type="none" w="med" len="med"/>
                      <a:tailEnd type="none" w="med" len="med"/>
                    </a:lnB>
                    <a:solidFill>
                      <a:srgbClr val="1C3F6E"/>
                    </a:solidFill>
                  </a:tcPr>
                </a:tc>
                <a:tc>
                  <a:txBody>
                    <a:bodyPr/>
                    <a:lstStyle/>
                    <a:p>
                      <a:pPr algn="l" indent="0" marL="0">
                        <a:buNone/>
                      </a:pPr>
                      <a:r>
                        <a:rPr lang="en-US" sz="2200" dirty="0">
                          <a:solidFill>
                            <a:srgbClr val="111111"/>
                          </a:solidFill>
                          <a:latin typeface="Calibri" pitchFamily="34" charset="0"/>
                          <a:ea typeface="Calibri" pitchFamily="34" charset="-122"/>
                          <a:cs typeface="Calibri" pitchFamily="34" charset="-120"/>
                        </a:rPr>
                        <a:t>Upper Sixth Arts</a:t>
                      </a:r>
                      <a:endParaRPr lang="en-US" sz="2200" dirty="0">
                        <a:latin typeface="Calibri" charset="0"/>
                        <a:ea typeface="Calibri" charset="0"/>
                        <a:cs typeface="Calibri" charset="0"/>
                      </a:endParaRPr>
                    </a:p>
                  </a:txBody>
                  <a:tcPr marL="73152" marR="73152" marT="73152" marB="73152" anchor="ctr">
                    <a:lnL w="12700" cap="flat" cmpd="sng" algn="ctr">
                      <a:solidFill>
                        <a:srgbClr val="BBBBBB"/>
                      </a:solidFill>
                      <a:prstDash val="solid"/>
                      <a:round/>
                      <a:headEnd type="none" w="med" len="med"/>
                      <a:tailEnd type="none" w="med" len="med"/>
                    </a:lnL>
                    <a:lnR w="12700" cap="flat" cmpd="sng" algn="ctr">
                      <a:solidFill>
                        <a:srgbClr val="BBBBBB"/>
                      </a:solidFill>
                      <a:prstDash val="solid"/>
                      <a:round/>
                      <a:headEnd type="none" w="med" len="med"/>
                      <a:tailEnd type="none" w="med" len="med"/>
                    </a:lnR>
                    <a:lnT w="12700" cap="flat" cmpd="sng" algn="ctr">
                      <a:solidFill>
                        <a:srgbClr val="BBBBBB"/>
                      </a:solidFill>
                      <a:prstDash val="solid"/>
                      <a:round/>
                      <a:headEnd type="none" w="med" len="med"/>
                      <a:tailEnd type="none" w="med" len="med"/>
                    </a:lnT>
                    <a:lnB w="12700" cap="flat" cmpd="sng" algn="ctr">
                      <a:solidFill>
                        <a:srgbClr val="BBBBBB"/>
                      </a:solidFill>
                      <a:prstDash val="solid"/>
                      <a:round/>
                      <a:headEnd type="none" w="med" len="med"/>
                      <a:tailEnd type="none" w="med" len="med"/>
                    </a:lnB>
                    <a:solidFill>
                      <a:srgbClr val="F2F4F8"/>
                    </a:solidFill>
                  </a:tcPr>
                </a:tc>
              </a:tr>
              <a:tr h="0">
                <a:tc>
                  <a:txBody>
                    <a:bodyPr/>
                    <a:lstStyle/>
                    <a:p>
                      <a:pPr algn="l" indent="0" marL="0">
                        <a:buNone/>
                      </a:pPr>
                      <a:r>
                        <a:rPr lang="en-US" sz="2200" b="1" dirty="0">
                          <a:solidFill>
                            <a:srgbClr val="FFFFFF"/>
                          </a:solidFill>
                          <a:latin typeface="Calibri" pitchFamily="34" charset="0"/>
                          <a:ea typeface="Calibri" pitchFamily="34" charset="-122"/>
                          <a:cs typeface="Calibri" pitchFamily="34" charset="-120"/>
                        </a:rPr>
                        <a:t>Chapter</a:t>
                      </a:r>
                      <a:endParaRPr lang="en-US" sz="2200" dirty="0">
                        <a:latin typeface="Calibri" charset="0"/>
                        <a:ea typeface="Calibri" charset="0"/>
                        <a:cs typeface="Calibri" charset="0"/>
                      </a:endParaRPr>
                    </a:p>
                  </a:txBody>
                  <a:tcPr marL="73152" marR="73152" marT="73152" marB="73152" anchor="ctr">
                    <a:lnL w="12700" cap="flat" cmpd="sng" algn="ctr">
                      <a:solidFill>
                        <a:srgbClr val="BBBBBB"/>
                      </a:solidFill>
                      <a:prstDash val="solid"/>
                      <a:round/>
                      <a:headEnd type="none" w="med" len="med"/>
                      <a:tailEnd type="none" w="med" len="med"/>
                    </a:lnL>
                    <a:lnR w="12700" cap="flat" cmpd="sng" algn="ctr">
                      <a:solidFill>
                        <a:srgbClr val="BBBBBB"/>
                      </a:solidFill>
                      <a:prstDash val="solid"/>
                      <a:round/>
                      <a:headEnd type="none" w="med" len="med"/>
                      <a:tailEnd type="none" w="med" len="med"/>
                    </a:lnR>
                    <a:lnT w="12700" cap="flat" cmpd="sng" algn="ctr">
                      <a:solidFill>
                        <a:srgbClr val="BBBBBB"/>
                      </a:solidFill>
                      <a:prstDash val="solid"/>
                      <a:round/>
                      <a:headEnd type="none" w="med" len="med"/>
                      <a:tailEnd type="none" w="med" len="med"/>
                    </a:lnT>
                    <a:lnB w="12700" cap="flat" cmpd="sng" algn="ctr">
                      <a:solidFill>
                        <a:srgbClr val="BBBBBB"/>
                      </a:solidFill>
                      <a:prstDash val="solid"/>
                      <a:round/>
                      <a:headEnd type="none" w="med" len="med"/>
                      <a:tailEnd type="none" w="med" len="med"/>
                    </a:lnB>
                    <a:solidFill>
                      <a:srgbClr val="1C3F6E"/>
                    </a:solidFill>
                  </a:tcPr>
                </a:tc>
                <a:tc>
                  <a:txBody>
                    <a:bodyPr/>
                    <a:lstStyle/>
                    <a:p>
                      <a:pPr algn="l" indent="0" marL="0">
                        <a:buNone/>
                      </a:pPr>
                      <a:r>
                        <a:rPr lang="en-US" sz="2200" dirty="0">
                          <a:solidFill>
                            <a:srgbClr val="111111"/>
                          </a:solidFill>
                          <a:latin typeface="Calibri" pitchFamily="34" charset="0"/>
                          <a:ea typeface="Calibri" pitchFamily="34" charset="-122"/>
                          <a:cs typeface="Calibri" pitchFamily="34" charset="-120"/>
                        </a:rPr>
                        <a:t>Module 7: Understanding and managing contemporary environmental and development issues</a:t>
                      </a:r>
                      <a:endParaRPr lang="en-US" sz="2200" dirty="0">
                        <a:latin typeface="Calibri" charset="0"/>
                        <a:ea typeface="Calibri" charset="0"/>
                        <a:cs typeface="Calibri" charset="0"/>
                      </a:endParaRPr>
                    </a:p>
                  </a:txBody>
                  <a:tcPr marL="73152" marR="73152" marT="73152" marB="73152" anchor="ctr">
                    <a:lnL w="12700" cap="flat" cmpd="sng" algn="ctr">
                      <a:solidFill>
                        <a:srgbClr val="BBBBBB"/>
                      </a:solidFill>
                      <a:prstDash val="solid"/>
                      <a:round/>
                      <a:headEnd type="none" w="med" len="med"/>
                      <a:tailEnd type="none" w="med" len="med"/>
                    </a:lnL>
                    <a:lnR w="12700" cap="flat" cmpd="sng" algn="ctr">
                      <a:solidFill>
                        <a:srgbClr val="BBBBBB"/>
                      </a:solidFill>
                      <a:prstDash val="solid"/>
                      <a:round/>
                      <a:headEnd type="none" w="med" len="med"/>
                      <a:tailEnd type="none" w="med" len="med"/>
                    </a:lnR>
                    <a:lnT w="12700" cap="flat" cmpd="sng" algn="ctr">
                      <a:solidFill>
                        <a:srgbClr val="BBBBBB"/>
                      </a:solidFill>
                      <a:prstDash val="solid"/>
                      <a:round/>
                      <a:headEnd type="none" w="med" len="med"/>
                      <a:tailEnd type="none" w="med" len="med"/>
                    </a:lnT>
                    <a:lnB w="12700" cap="flat" cmpd="sng" algn="ctr">
                      <a:solidFill>
                        <a:srgbClr val="BBBBBB"/>
                      </a:solidFill>
                      <a:prstDash val="solid"/>
                      <a:round/>
                      <a:headEnd type="none" w="med" len="med"/>
                      <a:tailEnd type="none" w="med" len="med"/>
                    </a:lnB>
                    <a:solidFill>
                      <a:srgbClr val="FFFFFF"/>
                    </a:solidFill>
                  </a:tcPr>
                </a:tc>
              </a:tr>
              <a:tr h="0">
                <a:tc>
                  <a:txBody>
                    <a:bodyPr/>
                    <a:lstStyle/>
                    <a:p>
                      <a:pPr algn="l" indent="0" marL="0">
                        <a:buNone/>
                      </a:pPr>
                      <a:r>
                        <a:rPr lang="en-US" sz="2200" b="1" dirty="0">
                          <a:solidFill>
                            <a:srgbClr val="FFFFFF"/>
                          </a:solidFill>
                          <a:latin typeface="Calibri" pitchFamily="34" charset="0"/>
                          <a:ea typeface="Calibri" pitchFamily="34" charset="-122"/>
                          <a:cs typeface="Calibri" pitchFamily="34" charset="-120"/>
                        </a:rPr>
                        <a:t>Duration</a:t>
                      </a:r>
                      <a:endParaRPr lang="en-US" sz="2200" dirty="0">
                        <a:latin typeface="Calibri" charset="0"/>
                        <a:ea typeface="Calibri" charset="0"/>
                        <a:cs typeface="Calibri" charset="0"/>
                      </a:endParaRPr>
                    </a:p>
                  </a:txBody>
                  <a:tcPr marL="73152" marR="73152" marT="73152" marB="73152" anchor="ctr">
                    <a:lnL w="12700" cap="flat" cmpd="sng" algn="ctr">
                      <a:solidFill>
                        <a:srgbClr val="BBBBBB"/>
                      </a:solidFill>
                      <a:prstDash val="solid"/>
                      <a:round/>
                      <a:headEnd type="none" w="med" len="med"/>
                      <a:tailEnd type="none" w="med" len="med"/>
                    </a:lnL>
                    <a:lnR w="12700" cap="flat" cmpd="sng" algn="ctr">
                      <a:solidFill>
                        <a:srgbClr val="BBBBBB"/>
                      </a:solidFill>
                      <a:prstDash val="solid"/>
                      <a:round/>
                      <a:headEnd type="none" w="med" len="med"/>
                      <a:tailEnd type="none" w="med" len="med"/>
                    </a:lnR>
                    <a:lnT w="12700" cap="flat" cmpd="sng" algn="ctr">
                      <a:solidFill>
                        <a:srgbClr val="BBBBBB"/>
                      </a:solidFill>
                      <a:prstDash val="solid"/>
                      <a:round/>
                      <a:headEnd type="none" w="med" len="med"/>
                      <a:tailEnd type="none" w="med" len="med"/>
                    </a:lnT>
                    <a:lnB w="12700" cap="flat" cmpd="sng" algn="ctr">
                      <a:solidFill>
                        <a:srgbClr val="BBBBBB"/>
                      </a:solidFill>
                      <a:prstDash val="solid"/>
                      <a:round/>
                      <a:headEnd type="none" w="med" len="med"/>
                      <a:tailEnd type="none" w="med" len="med"/>
                    </a:lnB>
                    <a:solidFill>
                      <a:srgbClr val="1C3F6E"/>
                    </a:solidFill>
                  </a:tcPr>
                </a:tc>
                <a:tc>
                  <a:txBody>
                    <a:bodyPr/>
                    <a:lstStyle/>
                    <a:p>
                      <a:pPr algn="l" indent="0" marL="0">
                        <a:buNone/>
                      </a:pPr>
                      <a:r>
                        <a:rPr lang="en-US" sz="2200" dirty="0">
                          <a:solidFill>
                            <a:srgbClr val="111111"/>
                          </a:solidFill>
                          <a:latin typeface="Calibri" pitchFamily="34" charset="0"/>
                          <a:ea typeface="Calibri" pitchFamily="34" charset="-122"/>
                          <a:cs typeface="Calibri" pitchFamily="34" charset="-120"/>
                        </a:rPr>
                        <a:t>2 periods (2 × 50 minutes)</a:t>
                      </a:r>
                      <a:endParaRPr lang="en-US" sz="2200" dirty="0">
                        <a:latin typeface="Calibri" charset="0"/>
                        <a:ea typeface="Calibri" charset="0"/>
                        <a:cs typeface="Calibri" charset="0"/>
                      </a:endParaRPr>
                    </a:p>
                  </a:txBody>
                  <a:tcPr marL="73152" marR="73152" marT="73152" marB="73152" anchor="ctr">
                    <a:lnL w="12700" cap="flat" cmpd="sng" algn="ctr">
                      <a:solidFill>
                        <a:srgbClr val="BBBBBB"/>
                      </a:solidFill>
                      <a:prstDash val="solid"/>
                      <a:round/>
                      <a:headEnd type="none" w="med" len="med"/>
                      <a:tailEnd type="none" w="med" len="med"/>
                    </a:lnL>
                    <a:lnR w="12700" cap="flat" cmpd="sng" algn="ctr">
                      <a:solidFill>
                        <a:srgbClr val="BBBBBB"/>
                      </a:solidFill>
                      <a:prstDash val="solid"/>
                      <a:round/>
                      <a:headEnd type="none" w="med" len="med"/>
                      <a:tailEnd type="none" w="med" len="med"/>
                    </a:lnR>
                    <a:lnT w="12700" cap="flat" cmpd="sng" algn="ctr">
                      <a:solidFill>
                        <a:srgbClr val="BBBBBB"/>
                      </a:solidFill>
                      <a:prstDash val="solid"/>
                      <a:round/>
                      <a:headEnd type="none" w="med" len="med"/>
                      <a:tailEnd type="none" w="med" len="med"/>
                    </a:lnT>
                    <a:lnB w="12700" cap="flat" cmpd="sng" algn="ctr">
                      <a:solidFill>
                        <a:srgbClr val="BBBBBB"/>
                      </a:solidFill>
                      <a:prstDash val="solid"/>
                      <a:round/>
                      <a:headEnd type="none" w="med" len="med"/>
                      <a:tailEnd type="none" w="med" len="med"/>
                    </a:lnB>
                    <a:solidFill>
                      <a:srgbClr val="F2F4F8"/>
                    </a:solidFill>
                  </a:tcPr>
                </a:tc>
              </a:tr>
            </a:tbl>
          </a:graphicData>
        </a:graphic>
      </p:graphicFrame>
      <p:sp>
        <p:nvSpPr>
          <p:cNvPr id="25" name="Slide Number Placeholder 0"/>
          <p:cNvSpPr>
            <a:spLocks noGrp="1"/>
          </p:cNvSpPr>
          <p:nvPr>
            <p:ph type="sldNum" sz="quarter" idx="4294967295"/>
          </p:nvPr>
        </p:nvSpPr>
        <p:spPr>
          <a:xfrm>
            <a:off x="27432" y="91440"/>
            <a:ext cx="585216" cy="475488"/>
          </a:xfrm>
          <a:prstGeom prst="rect">
            <a:avLst/>
          </a:prstGeom>
          <a:extLst>
            <a:ext uri="{C572A759-6A51-4108-AA02-DFA0A04FC94B}">
              <ma14:wrappingTextBoxFlag xmlns:ma14="http://schemas.microsoft.com/office/mac/drawingml/2011/main" val="0"/>
            </a:ext>
          </a:extLst>
        </p:spPr>
        <p:txBody>
          <a:bodyPr/>
          <a:lstStyle>
            <a:lvl1pPr>
              <a:defRPr sz="2000">
                <a:solidFill>
                  <a:srgbClr val="FFFFFF"/>
                </a:solidFill>
                <a:latin typeface="Calibri"/>
                <a:ea typeface="Calibri"/>
                <a:cs typeface="Calibri"/>
              </a:defRPr>
            </a:lvl1pPr>
          </a:lstStyle>
          <a:p>
            <a:pPr algn="ctr"/>
            <a:fld id="{F7021451-1387-4CA6-816F-3879F97B5CBC}" type="slidenum">
              <a:rPr b="1" lang="en-US"/>
              <a:t>2</a:t>
            </a:fld>
            <a:endParaRPr lang="en-US"/>
          </a:p>
        </p:txBody>
      </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name="Slide 3">
    <p:spTree>
      <p:nvGrpSpPr>
        <p:cNvPr id="1" name=""/>
        <p:cNvGrpSpPr/>
        <p:nvPr/>
      </p:nvGrpSpPr>
      <p:grpSpPr>
        <a:xfrm>
          <a:off x="0" y="0"/>
          <a:ext cx="0" cy="0"/>
          <a:chOff x="0" y="0"/>
          <a:chExt cx="0" cy="0"/>
        </a:xfrm>
      </p:grpSpPr>
      <p:sp>
        <p:nvSpPr>
          <p:cNvPr id="2" name="Text 0"/>
          <p:cNvSpPr/>
          <p:nvPr/>
        </p:nvSpPr>
        <p:spPr>
          <a:xfrm>
            <a:off x="457200" y="713232"/>
            <a:ext cx="11368735" cy="274320"/>
          </a:xfrm>
          <a:prstGeom prst="rect">
            <a:avLst/>
          </a:prstGeom>
          <a:noFill/>
          <a:ln/>
        </p:spPr>
        <p:txBody>
          <a:bodyPr wrap="square" lIns="0" tIns="0" rIns="0" bIns="0" rtlCol="0" anchor="ctr"/>
          <a:lstStyle/>
          <a:p>
            <a:pPr algn="r" indent="0" marL="0">
              <a:buNone/>
            </a:pPr>
            <a:r>
              <a:rPr lang="en-US" sz="1400" b="1" dirty="0">
                <a:solidFill>
                  <a:srgbClr val="1C3F6E"/>
                </a:solidFill>
                <a:latin typeface="Calibri" pitchFamily="34" charset="0"/>
                <a:ea typeface="Calibri" pitchFamily="34" charset="-122"/>
                <a:cs typeface="Calibri" pitchFamily="34" charset="-120"/>
              </a:rPr>
              <a:t>IDENTIFICATION</a:t>
            </a:r>
            <a:endParaRPr lang="en-US" sz="1400" dirty="0"/>
          </a:p>
        </p:txBody>
      </p:sp>
      <p:sp>
        <p:nvSpPr>
          <p:cNvPr id="3" name="Text 1"/>
          <p:cNvSpPr/>
          <p:nvPr/>
        </p:nvSpPr>
        <p:spPr>
          <a:xfrm>
            <a:off x="457200" y="1005840"/>
            <a:ext cx="11277295" cy="731520"/>
          </a:xfrm>
          <a:prstGeom prst="rect">
            <a:avLst/>
          </a:prstGeom>
          <a:noFill/>
          <a:ln/>
        </p:spPr>
        <p:txBody>
          <a:bodyPr wrap="square" lIns="0" tIns="0" rIns="0" bIns="0" rtlCol="0" anchor="ctr"/>
          <a:lstStyle/>
          <a:p>
            <a:pPr algn="ctr" indent="0" marL="0">
              <a:buNone/>
            </a:pPr>
            <a:r>
              <a:rPr lang="en-US" sz="3600" b="1" dirty="0">
                <a:solidFill>
                  <a:srgbClr val="990011"/>
                </a:solidFill>
                <a:latin typeface="Times New Roman" pitchFamily="34" charset="0"/>
                <a:ea typeface="Times New Roman" pitchFamily="34" charset="-122"/>
                <a:cs typeface="Times New Roman" pitchFamily="34" charset="-120"/>
              </a:rPr>
              <a:t>Lesson Identification</a:t>
            </a:r>
            <a:endParaRPr lang="en-US" sz="3600" dirty="0"/>
          </a:p>
        </p:txBody>
      </p:sp>
      <p:graphicFrame>
        <p:nvGraphicFramePr>
          <p:cNvPr id="4" name="Table 0"/>
          <p:cNvGraphicFramePr>
            <a:graphicFrameLocks noGrp="1"/>
          </p:cNvGraphicFramePr>
          <p:nvPr>
            <p:extLst>
              <p:ext uri="{D42A27DB-BD31-4B8C-83A1-F6EECF244321}">
                <p14:modId xmlns:p14="http://schemas.microsoft.com/office/powerpoint/2010/main" val="1579011935"/>
              </p:ext>
            </p:extLst>
          </p:nvPr>
        </p:nvGraphicFramePr>
        <p:xfrm>
          <a:off x="458572" y="1783080"/>
          <a:ext cx="11274552" cy="914400"/>
        </p:xfrm>
        <a:graphic>
          <a:graphicData uri="http://schemas.openxmlformats.org/drawingml/2006/table">
            <a:tbl>
              <a:tblPr/>
              <a:tblGrid>
                <a:gridCol w="2377440"/>
                <a:gridCol w="8897112"/>
              </a:tblGrid>
              <a:tr h="0">
                <a:tc>
                  <a:txBody>
                    <a:bodyPr/>
                    <a:lstStyle/>
                    <a:p>
                      <a:pPr algn="l" indent="0" marL="0">
                        <a:buNone/>
                      </a:pPr>
                      <a:r>
                        <a:rPr lang="en-US" sz="1700" b="1" dirty="0">
                          <a:solidFill>
                            <a:srgbClr val="FFFFFF"/>
                          </a:solidFill>
                          <a:latin typeface="Calibri" pitchFamily="34" charset="0"/>
                          <a:ea typeface="Calibri" pitchFamily="34" charset="-122"/>
                          <a:cs typeface="Calibri" pitchFamily="34" charset="-120"/>
                        </a:rPr>
                        <a:t>Topic</a:t>
                      </a:r>
                      <a:endParaRPr lang="en-US" sz="1700" dirty="0">
                        <a:latin typeface="Calibri" charset="0"/>
                        <a:ea typeface="Calibri" charset="0"/>
                        <a:cs typeface="Calibri" charset="0"/>
                      </a:endParaRPr>
                    </a:p>
                  </a:txBody>
                  <a:tcPr marL="73152" marR="73152" marT="73152" marB="73152" anchor="ctr">
                    <a:lnL w="12700" cap="flat" cmpd="sng" algn="ctr">
                      <a:solidFill>
                        <a:srgbClr val="BBBBBB"/>
                      </a:solidFill>
                      <a:prstDash val="solid"/>
                      <a:round/>
                      <a:headEnd type="none" w="med" len="med"/>
                      <a:tailEnd type="none" w="med" len="med"/>
                    </a:lnL>
                    <a:lnR w="12700" cap="flat" cmpd="sng" algn="ctr">
                      <a:solidFill>
                        <a:srgbClr val="BBBBBB"/>
                      </a:solidFill>
                      <a:prstDash val="solid"/>
                      <a:round/>
                      <a:headEnd type="none" w="med" len="med"/>
                      <a:tailEnd type="none" w="med" len="med"/>
                    </a:lnR>
                    <a:lnT w="12700" cap="flat" cmpd="sng" algn="ctr">
                      <a:solidFill>
                        <a:srgbClr val="BBBBBB"/>
                      </a:solidFill>
                      <a:prstDash val="solid"/>
                      <a:round/>
                      <a:headEnd type="none" w="med" len="med"/>
                      <a:tailEnd type="none" w="med" len="med"/>
                    </a:lnT>
                    <a:lnB w="12700" cap="flat" cmpd="sng" algn="ctr">
                      <a:solidFill>
                        <a:srgbClr val="BBBBBB"/>
                      </a:solidFill>
                      <a:prstDash val="solid"/>
                      <a:round/>
                      <a:headEnd type="none" w="med" len="med"/>
                      <a:tailEnd type="none" w="med" len="med"/>
                    </a:lnB>
                    <a:solidFill>
                      <a:srgbClr val="1C3F6E"/>
                    </a:solidFill>
                  </a:tcPr>
                </a:tc>
                <a:tc>
                  <a:txBody>
                    <a:bodyPr/>
                    <a:lstStyle/>
                    <a:p>
                      <a:pPr algn="l" indent="0" marL="0">
                        <a:buNone/>
                      </a:pPr>
                      <a:r>
                        <a:rPr lang="en-US" sz="1700" dirty="0">
                          <a:solidFill>
                            <a:srgbClr val="111111"/>
                          </a:solidFill>
                          <a:latin typeface="Calibri" pitchFamily="34" charset="0"/>
                          <a:ea typeface="Calibri" pitchFamily="34" charset="-122"/>
                          <a:cs typeface="Calibri" pitchFamily="34" charset="-120"/>
                        </a:rPr>
                        <a:t>Current Development Issues</a:t>
                      </a:r>
                      <a:endParaRPr lang="en-US" sz="1700" dirty="0">
                        <a:latin typeface="Calibri" charset="0"/>
                        <a:ea typeface="Calibri" charset="0"/>
                        <a:cs typeface="Calibri" charset="0"/>
                      </a:endParaRPr>
                    </a:p>
                  </a:txBody>
                  <a:tcPr marL="73152" marR="73152" marT="73152" marB="73152" anchor="ctr">
                    <a:lnL w="12700" cap="flat" cmpd="sng" algn="ctr">
                      <a:solidFill>
                        <a:srgbClr val="BBBBBB"/>
                      </a:solidFill>
                      <a:prstDash val="solid"/>
                      <a:round/>
                      <a:headEnd type="none" w="med" len="med"/>
                      <a:tailEnd type="none" w="med" len="med"/>
                    </a:lnL>
                    <a:lnR w="12700" cap="flat" cmpd="sng" algn="ctr">
                      <a:solidFill>
                        <a:srgbClr val="BBBBBB"/>
                      </a:solidFill>
                      <a:prstDash val="solid"/>
                      <a:round/>
                      <a:headEnd type="none" w="med" len="med"/>
                      <a:tailEnd type="none" w="med" len="med"/>
                    </a:lnR>
                    <a:lnT w="12700" cap="flat" cmpd="sng" algn="ctr">
                      <a:solidFill>
                        <a:srgbClr val="BBBBBB"/>
                      </a:solidFill>
                      <a:prstDash val="solid"/>
                      <a:round/>
                      <a:headEnd type="none" w="med" len="med"/>
                      <a:tailEnd type="none" w="med" len="med"/>
                    </a:lnT>
                    <a:lnB w="12700" cap="flat" cmpd="sng" algn="ctr">
                      <a:solidFill>
                        <a:srgbClr val="BBBBBB"/>
                      </a:solidFill>
                      <a:prstDash val="solid"/>
                      <a:round/>
                      <a:headEnd type="none" w="med" len="med"/>
                      <a:tailEnd type="none" w="med" len="med"/>
                    </a:lnB>
                    <a:solidFill>
                      <a:srgbClr val="F2F4F8"/>
                    </a:solidFill>
                  </a:tcPr>
                </a:tc>
              </a:tr>
              <a:tr h="0">
                <a:tc>
                  <a:txBody>
                    <a:bodyPr/>
                    <a:lstStyle/>
                    <a:p>
                      <a:pPr algn="l" indent="0" marL="0">
                        <a:buNone/>
                      </a:pPr>
                      <a:r>
                        <a:rPr lang="en-US" sz="1700" b="1" dirty="0">
                          <a:solidFill>
                            <a:srgbClr val="FFFFFF"/>
                          </a:solidFill>
                          <a:latin typeface="Calibri" pitchFamily="34" charset="0"/>
                          <a:ea typeface="Calibri" pitchFamily="34" charset="-122"/>
                          <a:cs typeface="Calibri" pitchFamily="34" charset="-120"/>
                        </a:rPr>
                        <a:t>Sub-topic</a:t>
                      </a:r>
                      <a:endParaRPr lang="en-US" sz="1700" dirty="0">
                        <a:latin typeface="Calibri" charset="0"/>
                        <a:ea typeface="Calibri" charset="0"/>
                        <a:cs typeface="Calibri" charset="0"/>
                      </a:endParaRPr>
                    </a:p>
                  </a:txBody>
                  <a:tcPr marL="73152" marR="73152" marT="73152" marB="73152" anchor="ctr">
                    <a:lnL w="12700" cap="flat" cmpd="sng" algn="ctr">
                      <a:solidFill>
                        <a:srgbClr val="BBBBBB"/>
                      </a:solidFill>
                      <a:prstDash val="solid"/>
                      <a:round/>
                      <a:headEnd type="none" w="med" len="med"/>
                      <a:tailEnd type="none" w="med" len="med"/>
                    </a:lnL>
                    <a:lnR w="12700" cap="flat" cmpd="sng" algn="ctr">
                      <a:solidFill>
                        <a:srgbClr val="BBBBBB"/>
                      </a:solidFill>
                      <a:prstDash val="solid"/>
                      <a:round/>
                      <a:headEnd type="none" w="med" len="med"/>
                      <a:tailEnd type="none" w="med" len="med"/>
                    </a:lnR>
                    <a:lnT w="12700" cap="flat" cmpd="sng" algn="ctr">
                      <a:solidFill>
                        <a:srgbClr val="BBBBBB"/>
                      </a:solidFill>
                      <a:prstDash val="solid"/>
                      <a:round/>
                      <a:headEnd type="none" w="med" len="med"/>
                      <a:tailEnd type="none" w="med" len="med"/>
                    </a:lnT>
                    <a:lnB w="12700" cap="flat" cmpd="sng" algn="ctr">
                      <a:solidFill>
                        <a:srgbClr val="BBBBBB"/>
                      </a:solidFill>
                      <a:prstDash val="solid"/>
                      <a:round/>
                      <a:headEnd type="none" w="med" len="med"/>
                      <a:tailEnd type="none" w="med" len="med"/>
                    </a:lnB>
                    <a:solidFill>
                      <a:srgbClr val="1C3F6E"/>
                    </a:solidFill>
                  </a:tcPr>
                </a:tc>
                <a:tc>
                  <a:txBody>
                    <a:bodyPr/>
                    <a:lstStyle/>
                    <a:p>
                      <a:pPr algn="l" indent="0" marL="0">
                        <a:buNone/>
                      </a:pPr>
                      <a:r>
                        <a:rPr lang="en-US" sz="1700" dirty="0">
                          <a:solidFill>
                            <a:srgbClr val="111111"/>
                          </a:solidFill>
                          <a:latin typeface="Calibri" pitchFamily="34" charset="0"/>
                          <a:ea typeface="Calibri" pitchFamily="34" charset="-122"/>
                          <a:cs typeface="Calibri" pitchFamily="34" charset="-120"/>
                        </a:rPr>
                        <a:t>Concept of Development</a:t>
                      </a:r>
                      <a:endParaRPr lang="en-US" sz="1700" dirty="0">
                        <a:latin typeface="Calibri" charset="0"/>
                        <a:ea typeface="Calibri" charset="0"/>
                        <a:cs typeface="Calibri" charset="0"/>
                      </a:endParaRPr>
                    </a:p>
                  </a:txBody>
                  <a:tcPr marL="73152" marR="73152" marT="73152" marB="73152" anchor="ctr">
                    <a:lnL w="12700" cap="flat" cmpd="sng" algn="ctr">
                      <a:solidFill>
                        <a:srgbClr val="BBBBBB"/>
                      </a:solidFill>
                      <a:prstDash val="solid"/>
                      <a:round/>
                      <a:headEnd type="none" w="med" len="med"/>
                      <a:tailEnd type="none" w="med" len="med"/>
                    </a:lnL>
                    <a:lnR w="12700" cap="flat" cmpd="sng" algn="ctr">
                      <a:solidFill>
                        <a:srgbClr val="BBBBBB"/>
                      </a:solidFill>
                      <a:prstDash val="solid"/>
                      <a:round/>
                      <a:headEnd type="none" w="med" len="med"/>
                      <a:tailEnd type="none" w="med" len="med"/>
                    </a:lnR>
                    <a:lnT w="12700" cap="flat" cmpd="sng" algn="ctr">
                      <a:solidFill>
                        <a:srgbClr val="BBBBBB"/>
                      </a:solidFill>
                      <a:prstDash val="solid"/>
                      <a:round/>
                      <a:headEnd type="none" w="med" len="med"/>
                      <a:tailEnd type="none" w="med" len="med"/>
                    </a:lnT>
                    <a:lnB w="12700" cap="flat" cmpd="sng" algn="ctr">
                      <a:solidFill>
                        <a:srgbClr val="BBBBBB"/>
                      </a:solidFill>
                      <a:prstDash val="solid"/>
                      <a:round/>
                      <a:headEnd type="none" w="med" len="med"/>
                      <a:tailEnd type="none" w="med" len="med"/>
                    </a:lnB>
                    <a:solidFill>
                      <a:srgbClr val="FFFFFF"/>
                    </a:solidFill>
                  </a:tcPr>
                </a:tc>
              </a:tr>
              <a:tr h="0">
                <a:tc>
                  <a:txBody>
                    <a:bodyPr/>
                    <a:lstStyle/>
                    <a:p>
                      <a:pPr algn="l" indent="0" marL="0">
                        <a:buNone/>
                      </a:pPr>
                      <a:r>
                        <a:rPr lang="en-US" sz="1700" b="1" dirty="0">
                          <a:solidFill>
                            <a:srgbClr val="FFFFFF"/>
                          </a:solidFill>
                          <a:latin typeface="Calibri" pitchFamily="34" charset="0"/>
                          <a:ea typeface="Calibri" pitchFamily="34" charset="-122"/>
                          <a:cs typeface="Calibri" pitchFamily="34" charset="-120"/>
                        </a:rPr>
                        <a:t>Lesson</a:t>
                      </a:r>
                      <a:endParaRPr lang="en-US" sz="1700" dirty="0">
                        <a:latin typeface="Calibri" charset="0"/>
                        <a:ea typeface="Calibri" charset="0"/>
                        <a:cs typeface="Calibri" charset="0"/>
                      </a:endParaRPr>
                    </a:p>
                  </a:txBody>
                  <a:tcPr marL="73152" marR="73152" marT="73152" marB="73152" anchor="ctr">
                    <a:lnL w="12700" cap="flat" cmpd="sng" algn="ctr">
                      <a:solidFill>
                        <a:srgbClr val="BBBBBB"/>
                      </a:solidFill>
                      <a:prstDash val="solid"/>
                      <a:round/>
                      <a:headEnd type="none" w="med" len="med"/>
                      <a:tailEnd type="none" w="med" len="med"/>
                    </a:lnL>
                    <a:lnR w="12700" cap="flat" cmpd="sng" algn="ctr">
                      <a:solidFill>
                        <a:srgbClr val="BBBBBB"/>
                      </a:solidFill>
                      <a:prstDash val="solid"/>
                      <a:round/>
                      <a:headEnd type="none" w="med" len="med"/>
                      <a:tailEnd type="none" w="med" len="med"/>
                    </a:lnR>
                    <a:lnT w="12700" cap="flat" cmpd="sng" algn="ctr">
                      <a:solidFill>
                        <a:srgbClr val="BBBBBB"/>
                      </a:solidFill>
                      <a:prstDash val="solid"/>
                      <a:round/>
                      <a:headEnd type="none" w="med" len="med"/>
                      <a:tailEnd type="none" w="med" len="med"/>
                    </a:lnT>
                    <a:lnB w="12700" cap="flat" cmpd="sng" algn="ctr">
                      <a:solidFill>
                        <a:srgbClr val="BBBBBB"/>
                      </a:solidFill>
                      <a:prstDash val="solid"/>
                      <a:round/>
                      <a:headEnd type="none" w="med" len="med"/>
                      <a:tailEnd type="none" w="med" len="med"/>
                    </a:lnB>
                    <a:solidFill>
                      <a:srgbClr val="1C3F6E"/>
                    </a:solidFill>
                  </a:tcPr>
                </a:tc>
                <a:tc>
                  <a:txBody>
                    <a:bodyPr/>
                    <a:lstStyle/>
                    <a:p>
                      <a:pPr algn="l" indent="0" marL="0">
                        <a:buNone/>
                      </a:pPr>
                      <a:r>
                        <a:rPr lang="en-US" sz="1700" dirty="0">
                          <a:solidFill>
                            <a:srgbClr val="111111"/>
                          </a:solidFill>
                          <a:latin typeface="Calibri" pitchFamily="34" charset="0"/>
                          <a:ea typeface="Calibri" pitchFamily="34" charset="-122"/>
                          <a:cs typeface="Calibri" pitchFamily="34" charset="-120"/>
                        </a:rPr>
                        <a:t>Lesson 7: Notion of Development</a:t>
                      </a:r>
                      <a:endParaRPr lang="en-US" sz="1700" dirty="0">
                        <a:latin typeface="Calibri" charset="0"/>
                        <a:ea typeface="Calibri" charset="0"/>
                        <a:cs typeface="Calibri" charset="0"/>
                      </a:endParaRPr>
                    </a:p>
                  </a:txBody>
                  <a:tcPr marL="73152" marR="73152" marT="73152" marB="73152" anchor="ctr">
                    <a:lnL w="12700" cap="flat" cmpd="sng" algn="ctr">
                      <a:solidFill>
                        <a:srgbClr val="BBBBBB"/>
                      </a:solidFill>
                      <a:prstDash val="solid"/>
                      <a:round/>
                      <a:headEnd type="none" w="med" len="med"/>
                      <a:tailEnd type="none" w="med" len="med"/>
                    </a:lnL>
                    <a:lnR w="12700" cap="flat" cmpd="sng" algn="ctr">
                      <a:solidFill>
                        <a:srgbClr val="BBBBBB"/>
                      </a:solidFill>
                      <a:prstDash val="solid"/>
                      <a:round/>
                      <a:headEnd type="none" w="med" len="med"/>
                      <a:tailEnd type="none" w="med" len="med"/>
                    </a:lnR>
                    <a:lnT w="12700" cap="flat" cmpd="sng" algn="ctr">
                      <a:solidFill>
                        <a:srgbClr val="BBBBBB"/>
                      </a:solidFill>
                      <a:prstDash val="solid"/>
                      <a:round/>
                      <a:headEnd type="none" w="med" len="med"/>
                      <a:tailEnd type="none" w="med" len="med"/>
                    </a:lnT>
                    <a:lnB w="12700" cap="flat" cmpd="sng" algn="ctr">
                      <a:solidFill>
                        <a:srgbClr val="BBBBBB"/>
                      </a:solidFill>
                      <a:prstDash val="solid"/>
                      <a:round/>
                      <a:headEnd type="none" w="med" len="med"/>
                      <a:tailEnd type="none" w="med" len="med"/>
                    </a:lnB>
                    <a:solidFill>
                      <a:srgbClr val="F2F4F8"/>
                    </a:solidFill>
                  </a:tcPr>
                </a:tc>
              </a:tr>
              <a:tr h="0">
                <a:tc>
                  <a:txBody>
                    <a:bodyPr/>
                    <a:lstStyle/>
                    <a:p>
                      <a:pPr algn="l" indent="0" marL="0">
                        <a:buNone/>
                      </a:pPr>
                      <a:r>
                        <a:rPr lang="en-US" sz="1700" b="1" dirty="0">
                          <a:solidFill>
                            <a:srgbClr val="FFFFFF"/>
                          </a:solidFill>
                          <a:latin typeface="Calibri" pitchFamily="34" charset="0"/>
                          <a:ea typeface="Calibri" pitchFamily="34" charset="-122"/>
                          <a:cs typeface="Calibri" pitchFamily="34" charset="-120"/>
                        </a:rPr>
                        <a:t>Notions / Concepts</a:t>
                      </a:r>
                      <a:endParaRPr lang="en-US" sz="1700" dirty="0">
                        <a:latin typeface="Calibri" charset="0"/>
                        <a:ea typeface="Calibri" charset="0"/>
                        <a:cs typeface="Calibri" charset="0"/>
                      </a:endParaRPr>
                    </a:p>
                  </a:txBody>
                  <a:tcPr marL="73152" marR="73152" marT="73152" marB="73152" anchor="ctr">
                    <a:lnL w="12700" cap="flat" cmpd="sng" algn="ctr">
                      <a:solidFill>
                        <a:srgbClr val="BBBBBB"/>
                      </a:solidFill>
                      <a:prstDash val="solid"/>
                      <a:round/>
                      <a:headEnd type="none" w="med" len="med"/>
                      <a:tailEnd type="none" w="med" len="med"/>
                    </a:lnL>
                    <a:lnR w="12700" cap="flat" cmpd="sng" algn="ctr">
                      <a:solidFill>
                        <a:srgbClr val="BBBBBB"/>
                      </a:solidFill>
                      <a:prstDash val="solid"/>
                      <a:round/>
                      <a:headEnd type="none" w="med" len="med"/>
                      <a:tailEnd type="none" w="med" len="med"/>
                    </a:lnR>
                    <a:lnT w="12700" cap="flat" cmpd="sng" algn="ctr">
                      <a:solidFill>
                        <a:srgbClr val="BBBBBB"/>
                      </a:solidFill>
                      <a:prstDash val="solid"/>
                      <a:round/>
                      <a:headEnd type="none" w="med" len="med"/>
                      <a:tailEnd type="none" w="med" len="med"/>
                    </a:lnT>
                    <a:lnB w="12700" cap="flat" cmpd="sng" algn="ctr">
                      <a:solidFill>
                        <a:srgbClr val="BBBBBB"/>
                      </a:solidFill>
                      <a:prstDash val="solid"/>
                      <a:round/>
                      <a:headEnd type="none" w="med" len="med"/>
                      <a:tailEnd type="none" w="med" len="med"/>
                    </a:lnB>
                    <a:solidFill>
                      <a:srgbClr val="1C3F6E"/>
                    </a:solidFill>
                  </a:tcPr>
                </a:tc>
                <a:tc>
                  <a:txBody>
                    <a:bodyPr/>
                    <a:lstStyle/>
                    <a:p>
                      <a:pPr algn="l" indent="0" marL="0">
                        <a:buNone/>
                      </a:pPr>
                      <a:r>
                        <a:rPr lang="en-US" sz="1700" dirty="0">
                          <a:solidFill>
                            <a:srgbClr val="111111"/>
                          </a:solidFill>
                          <a:latin typeface="Calibri" pitchFamily="34" charset="0"/>
                          <a:ea typeface="Calibri" pitchFamily="34" charset="-122"/>
                          <a:cs typeface="Calibri" pitchFamily="34" charset="-120"/>
                        </a:rPr>
                        <a:t>Development, economic growth, GNI, HDI, development gap, sustainable development.</a:t>
                      </a:r>
                      <a:endParaRPr lang="en-US" sz="1700" dirty="0">
                        <a:latin typeface="Calibri" charset="0"/>
                        <a:ea typeface="Calibri" charset="0"/>
                        <a:cs typeface="Calibri" charset="0"/>
                      </a:endParaRPr>
                    </a:p>
                  </a:txBody>
                  <a:tcPr marL="73152" marR="73152" marT="73152" marB="73152" anchor="ctr">
                    <a:lnL w="12700" cap="flat" cmpd="sng" algn="ctr">
                      <a:solidFill>
                        <a:srgbClr val="BBBBBB"/>
                      </a:solidFill>
                      <a:prstDash val="solid"/>
                      <a:round/>
                      <a:headEnd type="none" w="med" len="med"/>
                      <a:tailEnd type="none" w="med" len="med"/>
                    </a:lnL>
                    <a:lnR w="12700" cap="flat" cmpd="sng" algn="ctr">
                      <a:solidFill>
                        <a:srgbClr val="BBBBBB"/>
                      </a:solidFill>
                      <a:prstDash val="solid"/>
                      <a:round/>
                      <a:headEnd type="none" w="med" len="med"/>
                      <a:tailEnd type="none" w="med" len="med"/>
                    </a:lnR>
                    <a:lnT w="12700" cap="flat" cmpd="sng" algn="ctr">
                      <a:solidFill>
                        <a:srgbClr val="BBBBBB"/>
                      </a:solidFill>
                      <a:prstDash val="solid"/>
                      <a:round/>
                      <a:headEnd type="none" w="med" len="med"/>
                      <a:tailEnd type="none" w="med" len="med"/>
                    </a:lnT>
                    <a:lnB w="12700" cap="flat" cmpd="sng" algn="ctr">
                      <a:solidFill>
                        <a:srgbClr val="BBBBBB"/>
                      </a:solidFill>
                      <a:prstDash val="solid"/>
                      <a:round/>
                      <a:headEnd type="none" w="med" len="med"/>
                      <a:tailEnd type="none" w="med" len="med"/>
                    </a:lnB>
                    <a:solidFill>
                      <a:srgbClr val="FFFFFF"/>
                    </a:solidFill>
                  </a:tcPr>
                </a:tc>
              </a:tr>
              <a:tr h="0">
                <a:tc>
                  <a:txBody>
                    <a:bodyPr/>
                    <a:lstStyle/>
                    <a:p>
                      <a:pPr algn="l" indent="0" marL="0">
                        <a:buNone/>
                      </a:pPr>
                      <a:r>
                        <a:rPr lang="en-US" sz="1700" b="1" dirty="0">
                          <a:solidFill>
                            <a:srgbClr val="FFFFFF"/>
                          </a:solidFill>
                          <a:latin typeface="Calibri" pitchFamily="34" charset="0"/>
                          <a:ea typeface="Calibri" pitchFamily="34" charset="-122"/>
                          <a:cs typeface="Calibri" pitchFamily="34" charset="-120"/>
                        </a:rPr>
                        <a:t>Syllabus focus</a:t>
                      </a:r>
                      <a:endParaRPr lang="en-US" sz="1700" dirty="0">
                        <a:latin typeface="Calibri" charset="0"/>
                        <a:ea typeface="Calibri" charset="0"/>
                        <a:cs typeface="Calibri" charset="0"/>
                      </a:endParaRPr>
                    </a:p>
                  </a:txBody>
                  <a:tcPr marL="73152" marR="73152" marT="73152" marB="73152" anchor="ctr">
                    <a:lnL w="12700" cap="flat" cmpd="sng" algn="ctr">
                      <a:solidFill>
                        <a:srgbClr val="BBBBBB"/>
                      </a:solidFill>
                      <a:prstDash val="solid"/>
                      <a:round/>
                      <a:headEnd type="none" w="med" len="med"/>
                      <a:tailEnd type="none" w="med" len="med"/>
                    </a:lnL>
                    <a:lnR w="12700" cap="flat" cmpd="sng" algn="ctr">
                      <a:solidFill>
                        <a:srgbClr val="BBBBBB"/>
                      </a:solidFill>
                      <a:prstDash val="solid"/>
                      <a:round/>
                      <a:headEnd type="none" w="med" len="med"/>
                      <a:tailEnd type="none" w="med" len="med"/>
                    </a:lnR>
                    <a:lnT w="12700" cap="flat" cmpd="sng" algn="ctr">
                      <a:solidFill>
                        <a:srgbClr val="BBBBBB"/>
                      </a:solidFill>
                      <a:prstDash val="solid"/>
                      <a:round/>
                      <a:headEnd type="none" w="med" len="med"/>
                      <a:tailEnd type="none" w="med" len="med"/>
                    </a:lnT>
                    <a:lnB w="12700" cap="flat" cmpd="sng" algn="ctr">
                      <a:solidFill>
                        <a:srgbClr val="BBBBBB"/>
                      </a:solidFill>
                      <a:prstDash val="solid"/>
                      <a:round/>
                      <a:headEnd type="none" w="med" len="med"/>
                      <a:tailEnd type="none" w="med" len="med"/>
                    </a:lnB>
                    <a:solidFill>
                      <a:srgbClr val="1C3F6E"/>
                    </a:solidFill>
                  </a:tcPr>
                </a:tc>
                <a:tc>
                  <a:txBody>
                    <a:bodyPr/>
                    <a:lstStyle/>
                    <a:p>
                      <a:pPr algn="l" indent="0" marL="0">
                        <a:buNone/>
                      </a:pPr>
                      <a:r>
                        <a:rPr lang="en-US" sz="1700" dirty="0">
                          <a:solidFill>
                            <a:srgbClr val="111111"/>
                          </a:solidFill>
                          <a:latin typeface="Calibri" pitchFamily="34" charset="0"/>
                          <a:ea typeface="Calibri" pitchFamily="34" charset="-122"/>
                          <a:cs typeface="Calibri" pitchFamily="34" charset="-120"/>
                        </a:rPr>
                        <a:t>Meaning of development, economic development and growth; reasons for the gap between rich and poor; economic and social criteria (HDI); classification of countries; sustainable development and ways to achieve it.</a:t>
                      </a:r>
                      <a:endParaRPr lang="en-US" sz="1700" dirty="0">
                        <a:latin typeface="Calibri" charset="0"/>
                        <a:ea typeface="Calibri" charset="0"/>
                        <a:cs typeface="Calibri" charset="0"/>
                      </a:endParaRPr>
                    </a:p>
                  </a:txBody>
                  <a:tcPr marL="73152" marR="73152" marT="73152" marB="73152" anchor="ctr">
                    <a:lnL w="12700" cap="flat" cmpd="sng" algn="ctr">
                      <a:solidFill>
                        <a:srgbClr val="BBBBBB"/>
                      </a:solidFill>
                      <a:prstDash val="solid"/>
                      <a:round/>
                      <a:headEnd type="none" w="med" len="med"/>
                      <a:tailEnd type="none" w="med" len="med"/>
                    </a:lnL>
                    <a:lnR w="12700" cap="flat" cmpd="sng" algn="ctr">
                      <a:solidFill>
                        <a:srgbClr val="BBBBBB"/>
                      </a:solidFill>
                      <a:prstDash val="solid"/>
                      <a:round/>
                      <a:headEnd type="none" w="med" len="med"/>
                      <a:tailEnd type="none" w="med" len="med"/>
                    </a:lnR>
                    <a:lnT w="12700" cap="flat" cmpd="sng" algn="ctr">
                      <a:solidFill>
                        <a:srgbClr val="BBBBBB"/>
                      </a:solidFill>
                      <a:prstDash val="solid"/>
                      <a:round/>
                      <a:headEnd type="none" w="med" len="med"/>
                      <a:tailEnd type="none" w="med" len="med"/>
                    </a:lnT>
                    <a:lnB w="12700" cap="flat" cmpd="sng" algn="ctr">
                      <a:solidFill>
                        <a:srgbClr val="BBBBBB"/>
                      </a:solidFill>
                      <a:prstDash val="solid"/>
                      <a:round/>
                      <a:headEnd type="none" w="med" len="med"/>
                      <a:tailEnd type="none" w="med" len="med"/>
                    </a:lnB>
                    <a:solidFill>
                      <a:srgbClr val="F2F4F8"/>
                    </a:solidFill>
                  </a:tcPr>
                </a:tc>
              </a:tr>
              <a:tr h="0">
                <a:tc>
                  <a:txBody>
                    <a:bodyPr/>
                    <a:lstStyle/>
                    <a:p>
                      <a:pPr algn="l" indent="0" marL="0">
                        <a:buNone/>
                      </a:pPr>
                      <a:r>
                        <a:rPr lang="en-US" sz="1700" b="1" dirty="0">
                          <a:solidFill>
                            <a:srgbClr val="FFFFFF"/>
                          </a:solidFill>
                          <a:latin typeface="Calibri" pitchFamily="34" charset="0"/>
                          <a:ea typeface="Calibri" pitchFamily="34" charset="-122"/>
                          <a:cs typeface="Calibri" pitchFamily="34" charset="-120"/>
                        </a:rPr>
                        <a:t>Competence</a:t>
                      </a:r>
                      <a:endParaRPr lang="en-US" sz="1700" dirty="0">
                        <a:latin typeface="Calibri" charset="0"/>
                        <a:ea typeface="Calibri" charset="0"/>
                        <a:cs typeface="Calibri" charset="0"/>
                      </a:endParaRPr>
                    </a:p>
                  </a:txBody>
                  <a:tcPr marL="73152" marR="73152" marT="73152" marB="73152" anchor="ctr">
                    <a:lnL w="12700" cap="flat" cmpd="sng" algn="ctr">
                      <a:solidFill>
                        <a:srgbClr val="BBBBBB"/>
                      </a:solidFill>
                      <a:prstDash val="solid"/>
                      <a:round/>
                      <a:headEnd type="none" w="med" len="med"/>
                      <a:tailEnd type="none" w="med" len="med"/>
                    </a:lnL>
                    <a:lnR w="12700" cap="flat" cmpd="sng" algn="ctr">
                      <a:solidFill>
                        <a:srgbClr val="BBBBBB"/>
                      </a:solidFill>
                      <a:prstDash val="solid"/>
                      <a:round/>
                      <a:headEnd type="none" w="med" len="med"/>
                      <a:tailEnd type="none" w="med" len="med"/>
                    </a:lnR>
                    <a:lnT w="12700" cap="flat" cmpd="sng" algn="ctr">
                      <a:solidFill>
                        <a:srgbClr val="BBBBBB"/>
                      </a:solidFill>
                      <a:prstDash val="solid"/>
                      <a:round/>
                      <a:headEnd type="none" w="med" len="med"/>
                      <a:tailEnd type="none" w="med" len="med"/>
                    </a:lnT>
                    <a:lnB w="12700" cap="flat" cmpd="sng" algn="ctr">
                      <a:solidFill>
                        <a:srgbClr val="BBBBBB"/>
                      </a:solidFill>
                      <a:prstDash val="solid"/>
                      <a:round/>
                      <a:headEnd type="none" w="med" len="med"/>
                      <a:tailEnd type="none" w="med" len="med"/>
                    </a:lnB>
                    <a:solidFill>
                      <a:srgbClr val="1C3F6E"/>
                    </a:solidFill>
                  </a:tcPr>
                </a:tc>
                <a:tc>
                  <a:txBody>
                    <a:bodyPr/>
                    <a:lstStyle/>
                    <a:p>
                      <a:pPr algn="l" indent="0" marL="0">
                        <a:buNone/>
                      </a:pPr>
                      <a:r>
                        <a:rPr lang="en-US" sz="1700" dirty="0">
                          <a:solidFill>
                            <a:srgbClr val="111111"/>
                          </a:solidFill>
                          <a:latin typeface="Calibri" pitchFamily="34" charset="0"/>
                          <a:ea typeface="Calibri" pitchFamily="34" charset="-122"/>
                          <a:cs typeface="Calibri" pitchFamily="34" charset="-120"/>
                        </a:rPr>
                        <a:t>Learners are able to measure development, explain the development gap and suggest ways to achieve sustainable development.</a:t>
                      </a:r>
                      <a:endParaRPr lang="en-US" sz="1700" dirty="0">
                        <a:latin typeface="Calibri" charset="0"/>
                        <a:ea typeface="Calibri" charset="0"/>
                        <a:cs typeface="Calibri" charset="0"/>
                      </a:endParaRPr>
                    </a:p>
                  </a:txBody>
                  <a:tcPr marL="73152" marR="73152" marT="73152" marB="73152" anchor="ctr">
                    <a:lnL w="12700" cap="flat" cmpd="sng" algn="ctr">
                      <a:solidFill>
                        <a:srgbClr val="BBBBBB"/>
                      </a:solidFill>
                      <a:prstDash val="solid"/>
                      <a:round/>
                      <a:headEnd type="none" w="med" len="med"/>
                      <a:tailEnd type="none" w="med" len="med"/>
                    </a:lnL>
                    <a:lnR w="12700" cap="flat" cmpd="sng" algn="ctr">
                      <a:solidFill>
                        <a:srgbClr val="BBBBBB"/>
                      </a:solidFill>
                      <a:prstDash val="solid"/>
                      <a:round/>
                      <a:headEnd type="none" w="med" len="med"/>
                      <a:tailEnd type="none" w="med" len="med"/>
                    </a:lnR>
                    <a:lnT w="12700" cap="flat" cmpd="sng" algn="ctr">
                      <a:solidFill>
                        <a:srgbClr val="BBBBBB"/>
                      </a:solidFill>
                      <a:prstDash val="solid"/>
                      <a:round/>
                      <a:headEnd type="none" w="med" len="med"/>
                      <a:tailEnd type="none" w="med" len="med"/>
                    </a:lnT>
                    <a:lnB w="12700" cap="flat" cmpd="sng" algn="ctr">
                      <a:solidFill>
                        <a:srgbClr val="BBBBBB"/>
                      </a:solidFill>
                      <a:prstDash val="solid"/>
                      <a:round/>
                      <a:headEnd type="none" w="med" len="med"/>
                      <a:tailEnd type="none" w="med" len="med"/>
                    </a:lnB>
                    <a:solidFill>
                      <a:srgbClr val="FFFFFF"/>
                    </a:solidFill>
                  </a:tcPr>
                </a:tc>
              </a:tr>
            </a:tbl>
          </a:graphicData>
        </a:graphic>
      </p:graphicFrame>
      <p:sp>
        <p:nvSpPr>
          <p:cNvPr id="25" name="Slide Number Placeholder 0"/>
          <p:cNvSpPr>
            <a:spLocks noGrp="1"/>
          </p:cNvSpPr>
          <p:nvPr>
            <p:ph type="sldNum" sz="quarter" idx="4294967295"/>
          </p:nvPr>
        </p:nvSpPr>
        <p:spPr>
          <a:xfrm>
            <a:off x="27432" y="91440"/>
            <a:ext cx="585216" cy="475488"/>
          </a:xfrm>
          <a:prstGeom prst="rect">
            <a:avLst/>
          </a:prstGeom>
          <a:extLst>
            <a:ext uri="{C572A759-6A51-4108-AA02-DFA0A04FC94B}">
              <ma14:wrappingTextBoxFlag xmlns:ma14="http://schemas.microsoft.com/office/mac/drawingml/2011/main" val="0"/>
            </a:ext>
          </a:extLst>
        </p:spPr>
        <p:txBody>
          <a:bodyPr/>
          <a:lstStyle>
            <a:lvl1pPr>
              <a:defRPr sz="2000">
                <a:solidFill>
                  <a:srgbClr val="FFFFFF"/>
                </a:solidFill>
                <a:latin typeface="Calibri"/>
                <a:ea typeface="Calibri"/>
                <a:cs typeface="Calibri"/>
              </a:defRPr>
            </a:lvl1pPr>
          </a:lstStyle>
          <a:p>
            <a:pPr algn="ctr"/>
            <a:fld id="{F7021451-1387-4CA6-816F-3879F97B5CBC}" type="slidenum">
              <a:rPr b="1" lang="en-US"/>
              <a:t>3</a:t>
            </a:fld>
            <a:endParaRPr lang="en-US"/>
          </a:p>
        </p:txBody>
      </p:sp>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name="Slide 4">
    <p:spTree>
      <p:nvGrpSpPr>
        <p:cNvPr id="1" name=""/>
        <p:cNvGrpSpPr/>
        <p:nvPr/>
      </p:nvGrpSpPr>
      <p:grpSpPr>
        <a:xfrm>
          <a:off x="0" y="0"/>
          <a:ext cx="0" cy="0"/>
          <a:chOff x="0" y="0"/>
          <a:chExt cx="0" cy="0"/>
        </a:xfrm>
      </p:grpSpPr>
      <p:sp>
        <p:nvSpPr>
          <p:cNvPr id="2" name="Text 0"/>
          <p:cNvSpPr/>
          <p:nvPr/>
        </p:nvSpPr>
        <p:spPr>
          <a:xfrm>
            <a:off x="457200" y="713232"/>
            <a:ext cx="11368735" cy="274320"/>
          </a:xfrm>
          <a:prstGeom prst="rect">
            <a:avLst/>
          </a:prstGeom>
          <a:noFill/>
          <a:ln/>
        </p:spPr>
        <p:txBody>
          <a:bodyPr wrap="square" lIns="0" tIns="0" rIns="0" bIns="0" rtlCol="0" anchor="ctr"/>
          <a:lstStyle/>
          <a:p>
            <a:pPr algn="r" indent="0" marL="0">
              <a:buNone/>
            </a:pPr>
            <a:r>
              <a:rPr lang="en-US" sz="1400" b="1" dirty="0">
                <a:solidFill>
                  <a:srgbClr val="1C3F6E"/>
                </a:solidFill>
                <a:latin typeface="Calibri" pitchFamily="34" charset="0"/>
                <a:ea typeface="Calibri" pitchFamily="34" charset="-122"/>
                <a:cs typeface="Calibri" pitchFamily="34" charset="-120"/>
              </a:rPr>
              <a:t>HOMEWORK CORRECTION</a:t>
            </a:r>
            <a:endParaRPr lang="en-US" sz="1400" dirty="0"/>
          </a:p>
        </p:txBody>
      </p:sp>
      <p:pic>
        <p:nvPicPr>
          <p:cNvPr id="3" name="Image 0" descr="/home/claude/f4/img/minesec_sheet.png">    </p:cNvPr>
          <p:cNvPicPr>
            <a:picLocks noChangeAspect="1"/>
          </p:cNvPicPr>
          <p:nvPr/>
        </p:nvPicPr>
        <p:blipFill>
          <a:blip r:embed="rId1"/>
          <a:stretch>
            <a:fillRect/>
          </a:stretch>
        </p:blipFill>
        <p:spPr>
          <a:xfrm>
            <a:off x="0" y="658368"/>
            <a:ext cx="5120640" cy="5833872"/>
          </a:xfrm>
          <a:prstGeom prst="rect">
            <a:avLst/>
          </a:prstGeom>
        </p:spPr>
      </p:pic>
      <p:sp>
        <p:nvSpPr>
          <p:cNvPr id="4" name="Text 1"/>
          <p:cNvSpPr/>
          <p:nvPr/>
        </p:nvSpPr>
        <p:spPr>
          <a:xfrm>
            <a:off x="5349240" y="1005840"/>
            <a:ext cx="6522415" cy="731520"/>
          </a:xfrm>
          <a:prstGeom prst="rect">
            <a:avLst/>
          </a:prstGeom>
          <a:noFill/>
          <a:ln/>
        </p:spPr>
        <p:txBody>
          <a:bodyPr wrap="square" lIns="0" tIns="0" rIns="0" bIns="0" rtlCol="0" anchor="ctr">
            <a:normAutofit/>
          </a:bodyPr>
          <a:lstStyle/>
          <a:p>
            <a:pPr algn="ctr" indent="0" marL="0">
              <a:buNone/>
            </a:pPr>
            <a:r>
              <a:rPr lang="en-US" sz="3600" b="1" dirty="0">
                <a:solidFill>
                  <a:srgbClr val="990011"/>
                </a:solidFill>
                <a:latin typeface="Times New Roman" pitchFamily="34" charset="0"/>
                <a:ea typeface="Times New Roman" pitchFamily="34" charset="-122"/>
                <a:cs typeface="Times New Roman" pitchFamily="34" charset="-120"/>
              </a:rPr>
              <a:t>Correction of the Homework</a:t>
            </a:r>
            <a:endParaRPr lang="en-US" sz="3600" dirty="0"/>
          </a:p>
        </p:txBody>
      </p:sp>
      <p:sp>
        <p:nvSpPr>
          <p:cNvPr id="5" name="Text 2"/>
          <p:cNvSpPr/>
          <p:nvPr/>
        </p:nvSpPr>
        <p:spPr>
          <a:xfrm>
            <a:off x="5349240" y="1783080"/>
            <a:ext cx="6522415" cy="4663440"/>
          </a:xfrm>
          <a:prstGeom prst="rect">
            <a:avLst/>
          </a:prstGeom>
          <a:noFill/>
          <a:ln/>
        </p:spPr>
        <p:txBody>
          <a:bodyPr wrap="square" lIns="0" tIns="0" rIns="0" bIns="0" rtlCol="0" anchor="t"/>
          <a:lstStyle/>
          <a:p>
            <a:pPr algn="l" indent="0" marL="0">
              <a:spcAft>
                <a:spcPts val="800"/>
              </a:spcAft>
              <a:buNone/>
            </a:pPr>
            <a:r>
              <a:rPr lang="en-US" sz="4000" b="1" dirty="0">
                <a:solidFill>
                  <a:srgbClr val="1C3F6E"/>
                </a:solidFill>
                <a:latin typeface="Times New Roman" pitchFamily="34" charset="0"/>
                <a:ea typeface="Times New Roman" pitchFamily="34" charset="-122"/>
                <a:cs typeface="Times New Roman" pitchFamily="34" charset="-120"/>
              </a:rPr>
              <a:t>Question (Lesson 6: Flooding):</a:t>
            </a:r>
            <a:endParaRPr lang="en-US" sz="4000" dirty="0"/>
          </a:p>
          <a:p>
            <a:pPr algn="l" indent="0" marL="0">
              <a:spcAft>
                <a:spcPts val="800"/>
              </a:spcAft>
              <a:buNone/>
            </a:pPr>
            <a:r>
              <a:rPr lang="en-US" sz="4000" dirty="0">
                <a:solidFill>
                  <a:srgbClr val="111111"/>
                </a:solidFill>
                <a:latin typeface="Times New Roman" pitchFamily="34" charset="0"/>
                <a:ea typeface="Times New Roman" pitchFamily="34" charset="-122"/>
                <a:cs typeface="Times New Roman" pitchFamily="34" charset="-120"/>
              </a:rPr>
              <a:t>Map the flood-prone areas of your town and suggest two solutions.</a:t>
            </a:r>
            <a:endParaRPr lang="en-US" sz="4000" dirty="0"/>
          </a:p>
        </p:txBody>
      </p:sp>
      <p:sp>
        <p:nvSpPr>
          <p:cNvPr id="25" name="Slide Number Placeholder 0"/>
          <p:cNvSpPr>
            <a:spLocks noGrp="1"/>
          </p:cNvSpPr>
          <p:nvPr>
            <p:ph type="sldNum" sz="quarter" idx="4294967295"/>
          </p:nvPr>
        </p:nvSpPr>
        <p:spPr>
          <a:xfrm>
            <a:off x="27432" y="91440"/>
            <a:ext cx="585216" cy="475488"/>
          </a:xfrm>
          <a:prstGeom prst="rect">
            <a:avLst/>
          </a:prstGeom>
          <a:extLst>
            <a:ext uri="{C572A759-6A51-4108-AA02-DFA0A04FC94B}">
              <ma14:wrappingTextBoxFlag xmlns:ma14="http://schemas.microsoft.com/office/mac/drawingml/2011/main" val="0"/>
            </a:ext>
          </a:extLst>
        </p:spPr>
        <p:txBody>
          <a:bodyPr/>
          <a:lstStyle>
            <a:lvl1pPr>
              <a:defRPr sz="2000">
                <a:solidFill>
                  <a:srgbClr val="FFFFFF"/>
                </a:solidFill>
                <a:latin typeface="Calibri"/>
                <a:ea typeface="Calibri"/>
                <a:cs typeface="Calibri"/>
              </a:defRPr>
            </a:lvl1pPr>
          </a:lstStyle>
          <a:p>
            <a:pPr algn="ctr"/>
            <a:fld id="{F7021451-1387-4CA6-816F-3879F97B5CBC}" type="slidenum">
              <a:rPr b="1" lang="en-US"/>
              <a:t>4</a:t>
            </a:fld>
            <a:endParaRPr lang="en-US"/>
          </a:p>
        </p:txBody>
      </p:sp>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name="Slide 5">
    <p:spTree>
      <p:nvGrpSpPr>
        <p:cNvPr id="1" name=""/>
        <p:cNvGrpSpPr/>
        <p:nvPr/>
      </p:nvGrpSpPr>
      <p:grpSpPr>
        <a:xfrm>
          <a:off x="0" y="0"/>
          <a:ext cx="0" cy="0"/>
          <a:chOff x="0" y="0"/>
          <a:chExt cx="0" cy="0"/>
        </a:xfrm>
      </p:grpSpPr>
      <p:sp>
        <p:nvSpPr>
          <p:cNvPr id="2" name="Text 0"/>
          <p:cNvSpPr/>
          <p:nvPr/>
        </p:nvSpPr>
        <p:spPr>
          <a:xfrm>
            <a:off x="457200" y="713232"/>
            <a:ext cx="11368735" cy="274320"/>
          </a:xfrm>
          <a:prstGeom prst="rect">
            <a:avLst/>
          </a:prstGeom>
          <a:noFill/>
          <a:ln/>
        </p:spPr>
        <p:txBody>
          <a:bodyPr wrap="square" lIns="0" tIns="0" rIns="0" bIns="0" rtlCol="0" anchor="ctr"/>
          <a:lstStyle/>
          <a:p>
            <a:pPr algn="r" indent="0" marL="0">
              <a:buNone/>
            </a:pPr>
            <a:r>
              <a:rPr lang="en-US" sz="1400" b="1" dirty="0">
                <a:solidFill>
                  <a:srgbClr val="1C3F6E"/>
                </a:solidFill>
                <a:latin typeface="Calibri" pitchFamily="34" charset="0"/>
                <a:ea typeface="Calibri" pitchFamily="34" charset="-122"/>
                <a:cs typeface="Calibri" pitchFamily="34" charset="-120"/>
              </a:rPr>
              <a:t>HOMEWORK CORRECTION</a:t>
            </a:r>
            <a:endParaRPr lang="en-US" sz="1400" dirty="0"/>
          </a:p>
        </p:txBody>
      </p:sp>
      <p:pic>
        <p:nvPicPr>
          <p:cNvPr id="3" name="Image 0" descr="/home/claude/f4/img/minesec_sheet.png">    </p:cNvPr>
          <p:cNvPicPr>
            <a:picLocks noChangeAspect="1"/>
          </p:cNvPicPr>
          <p:nvPr/>
        </p:nvPicPr>
        <p:blipFill>
          <a:blip r:embed="rId1"/>
          <a:stretch>
            <a:fillRect/>
          </a:stretch>
        </p:blipFill>
        <p:spPr>
          <a:xfrm>
            <a:off x="0" y="658368"/>
            <a:ext cx="5120640" cy="5833872"/>
          </a:xfrm>
          <a:prstGeom prst="rect">
            <a:avLst/>
          </a:prstGeom>
        </p:spPr>
      </p:pic>
      <p:sp>
        <p:nvSpPr>
          <p:cNvPr id="4" name="Text 1"/>
          <p:cNvSpPr/>
          <p:nvPr/>
        </p:nvSpPr>
        <p:spPr>
          <a:xfrm>
            <a:off x="5349240" y="1005840"/>
            <a:ext cx="6522415" cy="731520"/>
          </a:xfrm>
          <a:prstGeom prst="rect">
            <a:avLst/>
          </a:prstGeom>
          <a:noFill/>
          <a:ln/>
        </p:spPr>
        <p:txBody>
          <a:bodyPr wrap="square" lIns="0" tIns="0" rIns="0" bIns="0" rtlCol="0" anchor="ctr">
            <a:normAutofit/>
          </a:bodyPr>
          <a:lstStyle/>
          <a:p>
            <a:pPr algn="ctr" indent="0" marL="0">
              <a:buNone/>
            </a:pPr>
            <a:r>
              <a:rPr lang="en-US" sz="3600" b="1" dirty="0">
                <a:solidFill>
                  <a:srgbClr val="990011"/>
                </a:solidFill>
                <a:latin typeface="Times New Roman" pitchFamily="34" charset="0"/>
                <a:ea typeface="Times New Roman" pitchFamily="34" charset="-122"/>
                <a:cs typeface="Times New Roman" pitchFamily="34" charset="-120"/>
              </a:rPr>
              <a:t>Correction: Possible Answer</a:t>
            </a:r>
            <a:endParaRPr lang="en-US" sz="3600" dirty="0"/>
          </a:p>
        </p:txBody>
      </p:sp>
      <p:sp>
        <p:nvSpPr>
          <p:cNvPr id="5" name="Text 2"/>
          <p:cNvSpPr/>
          <p:nvPr/>
        </p:nvSpPr>
        <p:spPr>
          <a:xfrm>
            <a:off x="5349240" y="1783080"/>
            <a:ext cx="6522415" cy="4663440"/>
          </a:xfrm>
          <a:prstGeom prst="rect">
            <a:avLst/>
          </a:prstGeom>
          <a:noFill/>
          <a:ln/>
        </p:spPr>
        <p:txBody>
          <a:bodyPr wrap="square" lIns="0" tIns="0" rIns="0" bIns="0" rtlCol="0" anchor="t"/>
          <a:lstStyle/>
          <a:p>
            <a:pPr algn="l" indent="0" marL="0">
              <a:spcAft>
                <a:spcPts val="800"/>
              </a:spcAft>
              <a:buNone/>
            </a:pPr>
            <a:r>
              <a:rPr lang="en-US" sz="4000" dirty="0">
                <a:solidFill>
                  <a:srgbClr val="111111"/>
                </a:solidFill>
                <a:latin typeface="Times New Roman" pitchFamily="34" charset="0"/>
                <a:ea typeface="Times New Roman" pitchFamily="34" charset="-122"/>
                <a:cs typeface="Times New Roman" pitchFamily="34" charset="-120"/>
              </a:rPr>
              <a:t>Answers vary. Flood-prone areas are low valleys, riverbanks and places with blocked gutters. Solutions: clean and widen gutters, stop building on riverbanks, and plant trees upslope.</a:t>
            </a:r>
            <a:endParaRPr lang="en-US" sz="4000" dirty="0"/>
          </a:p>
        </p:txBody>
      </p:sp>
      <p:sp>
        <p:nvSpPr>
          <p:cNvPr id="25" name="Slide Number Placeholder 0"/>
          <p:cNvSpPr>
            <a:spLocks noGrp="1"/>
          </p:cNvSpPr>
          <p:nvPr>
            <p:ph type="sldNum" sz="quarter" idx="4294967295"/>
          </p:nvPr>
        </p:nvSpPr>
        <p:spPr>
          <a:xfrm>
            <a:off x="27432" y="91440"/>
            <a:ext cx="585216" cy="475488"/>
          </a:xfrm>
          <a:prstGeom prst="rect">
            <a:avLst/>
          </a:prstGeom>
          <a:extLst>
            <a:ext uri="{C572A759-6A51-4108-AA02-DFA0A04FC94B}">
              <ma14:wrappingTextBoxFlag xmlns:ma14="http://schemas.microsoft.com/office/mac/drawingml/2011/main" val="0"/>
            </a:ext>
          </a:extLst>
        </p:spPr>
        <p:txBody>
          <a:bodyPr/>
          <a:lstStyle>
            <a:lvl1pPr>
              <a:defRPr sz="2000">
                <a:solidFill>
                  <a:srgbClr val="FFFFFF"/>
                </a:solidFill>
                <a:latin typeface="Calibri"/>
                <a:ea typeface="Calibri"/>
                <a:cs typeface="Calibri"/>
              </a:defRPr>
            </a:lvl1pPr>
          </a:lstStyle>
          <a:p>
            <a:pPr algn="ctr"/>
            <a:fld id="{F7021451-1387-4CA6-816F-3879F97B5CBC}" type="slidenum">
              <a:rPr b="1" lang="en-US"/>
              <a:t>5</a:t>
            </a:fld>
            <a:endParaRPr lang="en-US"/>
          </a:p>
        </p:txBody>
      </p:sp>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name="Slide 6">
    <p:spTree>
      <p:nvGrpSpPr>
        <p:cNvPr id="1" name=""/>
        <p:cNvGrpSpPr/>
        <p:nvPr/>
      </p:nvGrpSpPr>
      <p:grpSpPr>
        <a:xfrm>
          <a:off x="0" y="0"/>
          <a:ext cx="0" cy="0"/>
          <a:chOff x="0" y="0"/>
          <a:chExt cx="0" cy="0"/>
        </a:xfrm>
      </p:grpSpPr>
      <p:sp>
        <p:nvSpPr>
          <p:cNvPr id="2" name="Text 0"/>
          <p:cNvSpPr/>
          <p:nvPr/>
        </p:nvSpPr>
        <p:spPr>
          <a:xfrm>
            <a:off x="457200" y="713232"/>
            <a:ext cx="11368735" cy="274320"/>
          </a:xfrm>
          <a:prstGeom prst="rect">
            <a:avLst/>
          </a:prstGeom>
          <a:noFill/>
          <a:ln/>
        </p:spPr>
        <p:txBody>
          <a:bodyPr wrap="square" lIns="0" tIns="0" rIns="0" bIns="0" rtlCol="0" anchor="ctr"/>
          <a:lstStyle/>
          <a:p>
            <a:pPr algn="r" indent="0" marL="0">
              <a:buNone/>
            </a:pPr>
            <a:r>
              <a:rPr lang="en-US" sz="1400" b="1" dirty="0">
                <a:solidFill>
                  <a:srgbClr val="1C3F6E"/>
                </a:solidFill>
                <a:latin typeface="Calibri" pitchFamily="34" charset="0"/>
                <a:ea typeface="Calibri" pitchFamily="34" charset="-122"/>
                <a:cs typeface="Calibri" pitchFamily="34" charset="-120"/>
              </a:rPr>
              <a:t>LESSON PLAN</a:t>
            </a:r>
            <a:endParaRPr lang="en-US" sz="1400" dirty="0"/>
          </a:p>
        </p:txBody>
      </p:sp>
      <p:pic>
        <p:nvPicPr>
          <p:cNvPr id="3" name="Image 0" descr="/home/claude/f4/img/minesec_sheet.png">    </p:cNvPr>
          <p:cNvPicPr>
            <a:picLocks noChangeAspect="1"/>
          </p:cNvPicPr>
          <p:nvPr/>
        </p:nvPicPr>
        <p:blipFill>
          <a:blip r:embed="rId1"/>
          <a:stretch>
            <a:fillRect/>
          </a:stretch>
        </p:blipFill>
        <p:spPr>
          <a:xfrm>
            <a:off x="0" y="658368"/>
            <a:ext cx="2468880" cy="5833872"/>
          </a:xfrm>
          <a:prstGeom prst="rect">
            <a:avLst/>
          </a:prstGeom>
        </p:spPr>
      </p:pic>
      <p:sp>
        <p:nvSpPr>
          <p:cNvPr id="4" name="Text 1"/>
          <p:cNvSpPr/>
          <p:nvPr/>
        </p:nvSpPr>
        <p:spPr>
          <a:xfrm>
            <a:off x="2697480" y="1005840"/>
            <a:ext cx="9174175" cy="731520"/>
          </a:xfrm>
          <a:prstGeom prst="rect">
            <a:avLst/>
          </a:prstGeom>
          <a:noFill/>
          <a:ln/>
        </p:spPr>
        <p:txBody>
          <a:bodyPr wrap="square" lIns="0" tIns="0" rIns="0" bIns="0" rtlCol="0" anchor="ctr">
            <a:normAutofit/>
          </a:bodyPr>
          <a:lstStyle/>
          <a:p>
            <a:pPr algn="ctr" indent="0" marL="0">
              <a:buNone/>
            </a:pPr>
            <a:r>
              <a:rPr lang="en-US" sz="3600" b="1" dirty="0">
                <a:solidFill>
                  <a:srgbClr val="990011"/>
                </a:solidFill>
                <a:latin typeface="Times New Roman" pitchFamily="34" charset="0"/>
                <a:ea typeface="Times New Roman" pitchFamily="34" charset="-122"/>
                <a:cs typeface="Times New Roman" pitchFamily="34" charset="-120"/>
              </a:rPr>
              <a:t>Lesson Plan</a:t>
            </a:r>
            <a:endParaRPr lang="en-US" sz="3600" dirty="0"/>
          </a:p>
        </p:txBody>
      </p:sp>
      <p:sp>
        <p:nvSpPr>
          <p:cNvPr id="5" name="Text 2"/>
          <p:cNvSpPr/>
          <p:nvPr/>
        </p:nvSpPr>
        <p:spPr>
          <a:xfrm>
            <a:off x="2697480" y="1783080"/>
            <a:ext cx="9174175" cy="4663440"/>
          </a:xfrm>
          <a:prstGeom prst="rect">
            <a:avLst/>
          </a:prstGeom>
          <a:noFill/>
          <a:ln/>
        </p:spPr>
        <p:txBody>
          <a:bodyPr wrap="square" lIns="0" tIns="0" rIns="0" bIns="0" rtlCol="0" anchor="t"/>
          <a:lstStyle/>
          <a:p>
            <a:pPr algn="l" marL="342900" indent="-342900">
              <a:spcAft>
                <a:spcPts val="800"/>
              </a:spcAft>
              <a:buSzPct val="100000"/>
              <a:buFont typeface="+mj-lt"/>
              <a:buAutoNum type="arabicPeriod" startAt="1"/>
            </a:pPr>
            <a:r>
              <a:rPr lang="en-US" sz="4000" dirty="0">
                <a:solidFill>
                  <a:srgbClr val="111111"/>
                </a:solidFill>
                <a:latin typeface="Times New Roman" pitchFamily="34" charset="0"/>
                <a:ea typeface="Times New Roman" pitchFamily="34" charset="-122"/>
                <a:cs typeface="Times New Roman" pitchFamily="34" charset="-120"/>
              </a:rPr>
              <a:t>Correction of the homework</a:t>
            </a:r>
            <a:endParaRPr lang="en-US" sz="4000" dirty="0"/>
          </a:p>
          <a:p>
            <a:pPr algn="l" marL="342900" indent="-342900">
              <a:spcAft>
                <a:spcPts val="800"/>
              </a:spcAft>
              <a:buSzPct val="100000"/>
              <a:buFont typeface="+mj-lt"/>
              <a:buAutoNum type="arabicPeriod" startAt="1"/>
            </a:pPr>
            <a:r>
              <a:rPr lang="en-US" sz="4000" dirty="0">
                <a:solidFill>
                  <a:srgbClr val="111111"/>
                </a:solidFill>
                <a:latin typeface="Times New Roman" pitchFamily="34" charset="0"/>
                <a:ea typeface="Times New Roman" pitchFamily="34" charset="-122"/>
                <a:cs typeface="Times New Roman" pitchFamily="34" charset="-120"/>
              </a:rPr>
              <a:t>Objectives and recall</a:t>
            </a:r>
            <a:endParaRPr lang="en-US" sz="4000" dirty="0"/>
          </a:p>
          <a:p>
            <a:pPr algn="l" marL="342900" indent="-342900">
              <a:spcAft>
                <a:spcPts val="800"/>
              </a:spcAft>
              <a:buSzPct val="100000"/>
              <a:buFont typeface="+mj-lt"/>
              <a:buAutoNum type="arabicPeriod" startAt="1"/>
            </a:pPr>
            <a:r>
              <a:rPr lang="en-US" sz="4000" dirty="0">
                <a:solidFill>
                  <a:srgbClr val="111111"/>
                </a:solidFill>
                <a:latin typeface="Times New Roman" pitchFamily="34" charset="0"/>
                <a:ea typeface="Times New Roman" pitchFamily="34" charset="-122"/>
                <a:cs typeface="Times New Roman" pitchFamily="34" charset="-120"/>
              </a:rPr>
              <a:t>Real-life situation and action to take</a:t>
            </a:r>
            <a:endParaRPr lang="en-US" sz="4000" dirty="0"/>
          </a:p>
          <a:p>
            <a:pPr algn="l" marL="342900" indent="-342900">
              <a:spcAft>
                <a:spcPts val="800"/>
              </a:spcAft>
              <a:buSzPct val="100000"/>
              <a:buFont typeface="+mj-lt"/>
              <a:buAutoNum type="arabicPeriod" startAt="1"/>
            </a:pPr>
            <a:r>
              <a:rPr lang="en-US" sz="4000" dirty="0">
                <a:solidFill>
                  <a:srgbClr val="111111"/>
                </a:solidFill>
                <a:latin typeface="Times New Roman" pitchFamily="34" charset="0"/>
                <a:ea typeface="Times New Roman" pitchFamily="34" charset="-122"/>
                <a:cs typeface="Times New Roman" pitchFamily="34" charset="-120"/>
              </a:rPr>
              <a:t>Learning activities</a:t>
            </a:r>
            <a:endParaRPr lang="en-US" sz="4000" dirty="0"/>
          </a:p>
          <a:p>
            <a:pPr algn="l" marL="342900" indent="-342900">
              <a:spcAft>
                <a:spcPts val="800"/>
              </a:spcAft>
              <a:buSzPct val="100000"/>
              <a:buFont typeface="+mj-lt"/>
              <a:buAutoNum type="arabicPeriod" startAt="1"/>
            </a:pPr>
            <a:r>
              <a:rPr lang="en-US" sz="4000" dirty="0">
                <a:solidFill>
                  <a:srgbClr val="111111"/>
                </a:solidFill>
                <a:latin typeface="Times New Roman" pitchFamily="34" charset="0"/>
                <a:ea typeface="Times New Roman" pitchFamily="34" charset="-122"/>
                <a:cs typeface="Times New Roman" pitchFamily="34" charset="-120"/>
              </a:rPr>
              <a:t>Board summary</a:t>
            </a:r>
            <a:endParaRPr lang="en-US" sz="4000" dirty="0"/>
          </a:p>
          <a:p>
            <a:pPr algn="l" marL="342900" indent="-342900">
              <a:spcAft>
                <a:spcPts val="800"/>
              </a:spcAft>
              <a:buSzPct val="100000"/>
              <a:buFont typeface="+mj-lt"/>
              <a:buAutoNum type="arabicPeriod" startAt="1"/>
            </a:pPr>
            <a:r>
              <a:rPr lang="en-US" sz="4000" dirty="0">
                <a:solidFill>
                  <a:srgbClr val="111111"/>
                </a:solidFill>
                <a:latin typeface="Times New Roman" pitchFamily="34" charset="0"/>
                <a:ea typeface="Times New Roman" pitchFamily="34" charset="-122"/>
                <a:cs typeface="Times New Roman" pitchFamily="34" charset="-120"/>
              </a:rPr>
              <a:t>Evaluation, remediation and homework</a:t>
            </a:r>
            <a:endParaRPr lang="en-US" sz="4000" dirty="0"/>
          </a:p>
        </p:txBody>
      </p:sp>
      <p:sp>
        <p:nvSpPr>
          <p:cNvPr id="25" name="Slide Number Placeholder 0"/>
          <p:cNvSpPr>
            <a:spLocks noGrp="1"/>
          </p:cNvSpPr>
          <p:nvPr>
            <p:ph type="sldNum" sz="quarter" idx="4294967295"/>
          </p:nvPr>
        </p:nvSpPr>
        <p:spPr>
          <a:xfrm>
            <a:off x="27432" y="91440"/>
            <a:ext cx="585216" cy="475488"/>
          </a:xfrm>
          <a:prstGeom prst="rect">
            <a:avLst/>
          </a:prstGeom>
          <a:extLst>
            <a:ext uri="{C572A759-6A51-4108-AA02-DFA0A04FC94B}">
              <ma14:wrappingTextBoxFlag xmlns:ma14="http://schemas.microsoft.com/office/mac/drawingml/2011/main" val="0"/>
            </a:ext>
          </a:extLst>
        </p:spPr>
        <p:txBody>
          <a:bodyPr/>
          <a:lstStyle>
            <a:lvl1pPr>
              <a:defRPr sz="2000">
                <a:solidFill>
                  <a:srgbClr val="FFFFFF"/>
                </a:solidFill>
                <a:latin typeface="Calibri"/>
                <a:ea typeface="Calibri"/>
                <a:cs typeface="Calibri"/>
              </a:defRPr>
            </a:lvl1pPr>
          </a:lstStyle>
          <a:p>
            <a:pPr algn="ctr"/>
            <a:fld id="{F7021451-1387-4CA6-816F-3879F97B5CBC}" type="slidenum">
              <a:rPr b="1" lang="en-US"/>
              <a:t>6</a:t>
            </a:fld>
            <a:endParaRPr lang="en-US"/>
          </a:p>
        </p:txBody>
      </p:sp>
    </p:spTree>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name="Slide 7">
    <p:spTree>
      <p:nvGrpSpPr>
        <p:cNvPr id="1" name=""/>
        <p:cNvGrpSpPr/>
        <p:nvPr/>
      </p:nvGrpSpPr>
      <p:grpSpPr>
        <a:xfrm>
          <a:off x="0" y="0"/>
          <a:ext cx="0" cy="0"/>
          <a:chOff x="0" y="0"/>
          <a:chExt cx="0" cy="0"/>
        </a:xfrm>
      </p:grpSpPr>
      <p:sp>
        <p:nvSpPr>
          <p:cNvPr id="2" name="Text 0"/>
          <p:cNvSpPr/>
          <p:nvPr/>
        </p:nvSpPr>
        <p:spPr>
          <a:xfrm>
            <a:off x="457200" y="713232"/>
            <a:ext cx="11368735" cy="274320"/>
          </a:xfrm>
          <a:prstGeom prst="rect">
            <a:avLst/>
          </a:prstGeom>
          <a:noFill/>
          <a:ln/>
        </p:spPr>
        <p:txBody>
          <a:bodyPr wrap="square" lIns="0" tIns="0" rIns="0" bIns="0" rtlCol="0" anchor="ctr"/>
          <a:lstStyle/>
          <a:p>
            <a:pPr algn="r" indent="0" marL="0">
              <a:buNone/>
            </a:pPr>
            <a:r>
              <a:rPr lang="en-US" sz="1400" b="1" dirty="0">
                <a:solidFill>
                  <a:srgbClr val="1C3F6E"/>
                </a:solidFill>
                <a:latin typeface="Calibri" pitchFamily="34" charset="0"/>
                <a:ea typeface="Calibri" pitchFamily="34" charset="-122"/>
                <a:cs typeface="Calibri" pitchFamily="34" charset="-120"/>
              </a:rPr>
              <a:t>OBJECTIVES</a:t>
            </a:r>
            <a:endParaRPr lang="en-US" sz="1400" dirty="0"/>
          </a:p>
        </p:txBody>
      </p:sp>
      <p:pic>
        <p:nvPicPr>
          <p:cNvPr id="3" name="Image 0" descr="/home/claude/f4/img/minesec_sheet.png">    </p:cNvPr>
          <p:cNvPicPr>
            <a:picLocks noChangeAspect="1"/>
          </p:cNvPicPr>
          <p:nvPr/>
        </p:nvPicPr>
        <p:blipFill>
          <a:blip r:embed="rId1"/>
          <a:stretch>
            <a:fillRect/>
          </a:stretch>
        </p:blipFill>
        <p:spPr>
          <a:xfrm>
            <a:off x="0" y="658368"/>
            <a:ext cx="5120640" cy="5833872"/>
          </a:xfrm>
          <a:prstGeom prst="rect">
            <a:avLst/>
          </a:prstGeom>
        </p:spPr>
      </p:pic>
      <p:sp>
        <p:nvSpPr>
          <p:cNvPr id="4" name="Text 1"/>
          <p:cNvSpPr/>
          <p:nvPr/>
        </p:nvSpPr>
        <p:spPr>
          <a:xfrm>
            <a:off x="5349240" y="1005840"/>
            <a:ext cx="6522415" cy="731520"/>
          </a:xfrm>
          <a:prstGeom prst="rect">
            <a:avLst/>
          </a:prstGeom>
          <a:noFill/>
          <a:ln/>
        </p:spPr>
        <p:txBody>
          <a:bodyPr wrap="square" lIns="0" tIns="0" rIns="0" bIns="0" rtlCol="0" anchor="ctr">
            <a:normAutofit/>
          </a:bodyPr>
          <a:lstStyle/>
          <a:p>
            <a:pPr algn="ctr" indent="0" marL="0">
              <a:buNone/>
            </a:pPr>
            <a:r>
              <a:rPr lang="en-US" sz="3600" b="1" dirty="0">
                <a:solidFill>
                  <a:srgbClr val="990011"/>
                </a:solidFill>
                <a:latin typeface="Times New Roman" pitchFamily="34" charset="0"/>
                <a:ea typeface="Times New Roman" pitchFamily="34" charset="-122"/>
                <a:cs typeface="Times New Roman" pitchFamily="34" charset="-120"/>
              </a:rPr>
              <a:t>Objectives</a:t>
            </a:r>
            <a:endParaRPr lang="en-US" sz="3600" dirty="0"/>
          </a:p>
        </p:txBody>
      </p:sp>
      <p:sp>
        <p:nvSpPr>
          <p:cNvPr id="5" name="Text 2"/>
          <p:cNvSpPr/>
          <p:nvPr/>
        </p:nvSpPr>
        <p:spPr>
          <a:xfrm>
            <a:off x="5349240" y="1783080"/>
            <a:ext cx="6522415" cy="4663440"/>
          </a:xfrm>
          <a:prstGeom prst="rect">
            <a:avLst/>
          </a:prstGeom>
          <a:noFill/>
          <a:ln/>
        </p:spPr>
        <p:txBody>
          <a:bodyPr wrap="square" lIns="0" tIns="0" rIns="0" bIns="0" rtlCol="0" anchor="t"/>
          <a:lstStyle/>
          <a:p>
            <a:pPr algn="l" indent="0" marL="0">
              <a:spcAft>
                <a:spcPts val="800"/>
              </a:spcAft>
              <a:buNone/>
            </a:pPr>
            <a:r>
              <a:rPr lang="en-US" sz="4000" b="1" dirty="0">
                <a:solidFill>
                  <a:srgbClr val="111111"/>
                </a:solidFill>
                <a:latin typeface="Times New Roman" pitchFamily="34" charset="0"/>
                <a:ea typeface="Times New Roman" pitchFamily="34" charset="-122"/>
                <a:cs typeface="Times New Roman" pitchFamily="34" charset="-120"/>
              </a:rPr>
              <a:t>By the end of this lesson, you should be able to:</a:t>
            </a:r>
            <a:endParaRPr lang="en-US" sz="4000" dirty="0"/>
          </a:p>
          <a:p>
            <a:pPr algn="l" marL="342900" indent="-342900">
              <a:spcAft>
                <a:spcPts val="800"/>
              </a:spcAft>
              <a:buSzPct val="100000"/>
              <a:buFont typeface="+mj-lt"/>
              <a:buAutoNum type="arabicPeriod" startAt="1"/>
            </a:pPr>
            <a:r>
              <a:rPr lang="en-US" sz="4000" dirty="0">
                <a:solidFill>
                  <a:srgbClr val="111111"/>
                </a:solidFill>
                <a:latin typeface="Times New Roman" pitchFamily="34" charset="0"/>
                <a:ea typeface="Times New Roman" pitchFamily="34" charset="-122"/>
                <a:cs typeface="Times New Roman" pitchFamily="34" charset="-120"/>
              </a:rPr>
              <a:t>Distinguish development and economic growth.</a:t>
            </a:r>
            <a:endParaRPr lang="en-US" sz="4000" dirty="0"/>
          </a:p>
          <a:p>
            <a:pPr algn="l" marL="342900" indent="-342900">
              <a:spcAft>
                <a:spcPts val="800"/>
              </a:spcAft>
              <a:buSzPct val="100000"/>
              <a:buFont typeface="+mj-lt"/>
              <a:buAutoNum type="arabicPeriod" startAt="1"/>
            </a:pPr>
            <a:r>
              <a:rPr lang="en-US" sz="4000" dirty="0">
                <a:solidFill>
                  <a:srgbClr val="111111"/>
                </a:solidFill>
                <a:latin typeface="Times New Roman" pitchFamily="34" charset="0"/>
                <a:ea typeface="Times New Roman" pitchFamily="34" charset="-122"/>
                <a:cs typeface="Times New Roman" pitchFamily="34" charset="-120"/>
              </a:rPr>
              <a:t>Measure development with economic and social criteria.</a:t>
            </a:r>
            <a:endParaRPr lang="en-US" sz="4000" dirty="0"/>
          </a:p>
        </p:txBody>
      </p:sp>
      <p:sp>
        <p:nvSpPr>
          <p:cNvPr id="25" name="Slide Number Placeholder 0"/>
          <p:cNvSpPr>
            <a:spLocks noGrp="1"/>
          </p:cNvSpPr>
          <p:nvPr>
            <p:ph type="sldNum" sz="quarter" idx="4294967295"/>
          </p:nvPr>
        </p:nvSpPr>
        <p:spPr>
          <a:xfrm>
            <a:off x="27432" y="91440"/>
            <a:ext cx="585216" cy="475488"/>
          </a:xfrm>
          <a:prstGeom prst="rect">
            <a:avLst/>
          </a:prstGeom>
          <a:extLst>
            <a:ext uri="{C572A759-6A51-4108-AA02-DFA0A04FC94B}">
              <ma14:wrappingTextBoxFlag xmlns:ma14="http://schemas.microsoft.com/office/mac/drawingml/2011/main" val="0"/>
            </a:ext>
          </a:extLst>
        </p:spPr>
        <p:txBody>
          <a:bodyPr/>
          <a:lstStyle>
            <a:lvl1pPr>
              <a:defRPr sz="2000">
                <a:solidFill>
                  <a:srgbClr val="FFFFFF"/>
                </a:solidFill>
                <a:latin typeface="Calibri"/>
                <a:ea typeface="Calibri"/>
                <a:cs typeface="Calibri"/>
              </a:defRPr>
            </a:lvl1pPr>
          </a:lstStyle>
          <a:p>
            <a:pPr algn="ctr"/>
            <a:fld id="{F7021451-1387-4CA6-816F-3879F97B5CBC}" type="slidenum">
              <a:rPr b="1" lang="en-US"/>
              <a:t>7</a:t>
            </a:fld>
            <a:endParaRPr lang="en-US"/>
          </a:p>
        </p:txBody>
      </p:sp>
    </p:spTree>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name="Slide 8">
    <p:spTree>
      <p:nvGrpSpPr>
        <p:cNvPr id="1" name=""/>
        <p:cNvGrpSpPr/>
        <p:nvPr/>
      </p:nvGrpSpPr>
      <p:grpSpPr>
        <a:xfrm>
          <a:off x="0" y="0"/>
          <a:ext cx="0" cy="0"/>
          <a:chOff x="0" y="0"/>
          <a:chExt cx="0" cy="0"/>
        </a:xfrm>
      </p:grpSpPr>
      <p:sp>
        <p:nvSpPr>
          <p:cNvPr id="2" name="Text 0"/>
          <p:cNvSpPr/>
          <p:nvPr/>
        </p:nvSpPr>
        <p:spPr>
          <a:xfrm>
            <a:off x="457200" y="713232"/>
            <a:ext cx="11368735" cy="274320"/>
          </a:xfrm>
          <a:prstGeom prst="rect">
            <a:avLst/>
          </a:prstGeom>
          <a:noFill/>
          <a:ln/>
        </p:spPr>
        <p:txBody>
          <a:bodyPr wrap="square" lIns="0" tIns="0" rIns="0" bIns="0" rtlCol="0" anchor="ctr"/>
          <a:lstStyle/>
          <a:p>
            <a:pPr algn="r" indent="0" marL="0">
              <a:buNone/>
            </a:pPr>
            <a:r>
              <a:rPr lang="en-US" sz="1400" b="1" dirty="0">
                <a:solidFill>
                  <a:srgbClr val="1C3F6E"/>
                </a:solidFill>
                <a:latin typeface="Calibri" pitchFamily="34" charset="0"/>
                <a:ea typeface="Calibri" pitchFamily="34" charset="-122"/>
                <a:cs typeface="Calibri" pitchFamily="34" charset="-120"/>
              </a:rPr>
              <a:t>OBJECTIVES</a:t>
            </a:r>
            <a:endParaRPr lang="en-US" sz="1400" dirty="0"/>
          </a:p>
        </p:txBody>
      </p:sp>
      <p:pic>
        <p:nvPicPr>
          <p:cNvPr id="3" name="Image 0" descr="/home/claude/f4/img/minesec_sheet.png">    </p:cNvPr>
          <p:cNvPicPr>
            <a:picLocks noChangeAspect="1"/>
          </p:cNvPicPr>
          <p:nvPr/>
        </p:nvPicPr>
        <p:blipFill>
          <a:blip r:embed="rId1"/>
          <a:stretch>
            <a:fillRect/>
          </a:stretch>
        </p:blipFill>
        <p:spPr>
          <a:xfrm>
            <a:off x="0" y="658368"/>
            <a:ext cx="5120640" cy="5833872"/>
          </a:xfrm>
          <a:prstGeom prst="rect">
            <a:avLst/>
          </a:prstGeom>
        </p:spPr>
      </p:pic>
      <p:sp>
        <p:nvSpPr>
          <p:cNvPr id="4" name="Text 1"/>
          <p:cNvSpPr/>
          <p:nvPr/>
        </p:nvSpPr>
        <p:spPr>
          <a:xfrm>
            <a:off x="5349240" y="1005840"/>
            <a:ext cx="6522415" cy="731520"/>
          </a:xfrm>
          <a:prstGeom prst="rect">
            <a:avLst/>
          </a:prstGeom>
          <a:noFill/>
          <a:ln/>
        </p:spPr>
        <p:txBody>
          <a:bodyPr wrap="square" lIns="0" tIns="0" rIns="0" bIns="0" rtlCol="0" anchor="ctr">
            <a:normAutofit/>
          </a:bodyPr>
          <a:lstStyle/>
          <a:p>
            <a:pPr algn="ctr" indent="0" marL="0">
              <a:buNone/>
            </a:pPr>
            <a:r>
              <a:rPr lang="en-US" sz="3600" b="1" dirty="0">
                <a:solidFill>
                  <a:srgbClr val="990011"/>
                </a:solidFill>
                <a:latin typeface="Times New Roman" pitchFamily="34" charset="0"/>
                <a:ea typeface="Times New Roman" pitchFamily="34" charset="-122"/>
                <a:cs typeface="Times New Roman" pitchFamily="34" charset="-120"/>
              </a:rPr>
              <a:t>Objectives (continued)</a:t>
            </a:r>
            <a:endParaRPr lang="en-US" sz="3600" dirty="0"/>
          </a:p>
        </p:txBody>
      </p:sp>
      <p:sp>
        <p:nvSpPr>
          <p:cNvPr id="5" name="Text 2"/>
          <p:cNvSpPr/>
          <p:nvPr/>
        </p:nvSpPr>
        <p:spPr>
          <a:xfrm>
            <a:off x="5349240" y="1783080"/>
            <a:ext cx="6522415" cy="4663440"/>
          </a:xfrm>
          <a:prstGeom prst="rect">
            <a:avLst/>
          </a:prstGeom>
          <a:noFill/>
          <a:ln/>
        </p:spPr>
        <p:txBody>
          <a:bodyPr wrap="square" lIns="0" tIns="0" rIns="0" bIns="0" rtlCol="0" anchor="t"/>
          <a:lstStyle/>
          <a:p>
            <a:pPr algn="l" marL="342900" indent="-342900">
              <a:spcAft>
                <a:spcPts val="800"/>
              </a:spcAft>
              <a:buSzPct val="100000"/>
              <a:buFont typeface="+mj-lt"/>
              <a:buAutoNum type="arabicPeriod" startAt="1"/>
            </a:pPr>
            <a:r>
              <a:rPr lang="en-US" sz="4000" dirty="0">
                <a:solidFill>
                  <a:srgbClr val="111111"/>
                </a:solidFill>
                <a:latin typeface="Times New Roman" pitchFamily="34" charset="0"/>
                <a:ea typeface="Times New Roman" pitchFamily="34" charset="-122"/>
                <a:cs typeface="Times New Roman" pitchFamily="34" charset="-120"/>
              </a:rPr>
              <a:t>Explain the development gap and sustainable development.</a:t>
            </a:r>
            <a:endParaRPr lang="en-US" sz="4000" dirty="0"/>
          </a:p>
        </p:txBody>
      </p:sp>
      <p:sp>
        <p:nvSpPr>
          <p:cNvPr id="25" name="Slide Number Placeholder 0"/>
          <p:cNvSpPr>
            <a:spLocks noGrp="1"/>
          </p:cNvSpPr>
          <p:nvPr>
            <p:ph type="sldNum" sz="quarter" idx="4294967295"/>
          </p:nvPr>
        </p:nvSpPr>
        <p:spPr>
          <a:xfrm>
            <a:off x="27432" y="91440"/>
            <a:ext cx="585216" cy="475488"/>
          </a:xfrm>
          <a:prstGeom prst="rect">
            <a:avLst/>
          </a:prstGeom>
          <a:extLst>
            <a:ext uri="{C572A759-6A51-4108-AA02-DFA0A04FC94B}">
              <ma14:wrappingTextBoxFlag xmlns:ma14="http://schemas.microsoft.com/office/mac/drawingml/2011/main" val="0"/>
            </a:ext>
          </a:extLst>
        </p:spPr>
        <p:txBody>
          <a:bodyPr/>
          <a:lstStyle>
            <a:lvl1pPr>
              <a:defRPr sz="2000">
                <a:solidFill>
                  <a:srgbClr val="FFFFFF"/>
                </a:solidFill>
                <a:latin typeface="Calibri"/>
                <a:ea typeface="Calibri"/>
                <a:cs typeface="Calibri"/>
              </a:defRPr>
            </a:lvl1pPr>
          </a:lstStyle>
          <a:p>
            <a:pPr algn="ctr"/>
            <a:fld id="{F7021451-1387-4CA6-816F-3879F97B5CBC}" type="slidenum">
              <a:rPr b="1" lang="en-US"/>
              <a:t>8</a:t>
            </a:fld>
            <a:endParaRPr lang="en-US"/>
          </a:p>
        </p:txBody>
      </p:sp>
    </p:spTree>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name="Slide 9">
    <p:spTree>
      <p:nvGrpSpPr>
        <p:cNvPr id="1" name=""/>
        <p:cNvGrpSpPr/>
        <p:nvPr/>
      </p:nvGrpSpPr>
      <p:grpSpPr>
        <a:xfrm>
          <a:off x="0" y="0"/>
          <a:ext cx="0" cy="0"/>
          <a:chOff x="0" y="0"/>
          <a:chExt cx="0" cy="0"/>
        </a:xfrm>
      </p:grpSpPr>
      <p:sp>
        <p:nvSpPr>
          <p:cNvPr id="2" name="Text 0"/>
          <p:cNvSpPr/>
          <p:nvPr/>
        </p:nvSpPr>
        <p:spPr>
          <a:xfrm>
            <a:off x="457200" y="713232"/>
            <a:ext cx="11368735" cy="274320"/>
          </a:xfrm>
          <a:prstGeom prst="rect">
            <a:avLst/>
          </a:prstGeom>
          <a:noFill/>
          <a:ln/>
        </p:spPr>
        <p:txBody>
          <a:bodyPr wrap="square" lIns="0" tIns="0" rIns="0" bIns="0" rtlCol="0" anchor="ctr"/>
          <a:lstStyle/>
          <a:p>
            <a:pPr algn="r" indent="0" marL="0">
              <a:buNone/>
            </a:pPr>
            <a:r>
              <a:rPr lang="en-US" sz="1400" b="1" dirty="0">
                <a:solidFill>
                  <a:srgbClr val="1C3F6E"/>
                </a:solidFill>
                <a:latin typeface="Calibri" pitchFamily="34" charset="0"/>
                <a:ea typeface="Calibri" pitchFamily="34" charset="-122"/>
                <a:cs typeface="Calibri" pitchFamily="34" charset="-120"/>
              </a:rPr>
              <a:t>PREVIOUS KNOWLEDGE</a:t>
            </a:r>
            <a:endParaRPr lang="en-US" sz="1400" dirty="0"/>
          </a:p>
        </p:txBody>
      </p:sp>
      <p:pic>
        <p:nvPicPr>
          <p:cNvPr id="3" name="Image 0" descr="/home/claude/f4/img/minesec_sheet.png">    </p:cNvPr>
          <p:cNvPicPr>
            <a:picLocks noChangeAspect="1"/>
          </p:cNvPicPr>
          <p:nvPr/>
        </p:nvPicPr>
        <p:blipFill>
          <a:blip r:embed="rId1"/>
          <a:stretch>
            <a:fillRect/>
          </a:stretch>
        </p:blipFill>
        <p:spPr>
          <a:xfrm>
            <a:off x="0" y="658368"/>
            <a:ext cx="5120640" cy="5833872"/>
          </a:xfrm>
          <a:prstGeom prst="rect">
            <a:avLst/>
          </a:prstGeom>
        </p:spPr>
      </p:pic>
      <p:sp>
        <p:nvSpPr>
          <p:cNvPr id="4" name="Text 1"/>
          <p:cNvSpPr/>
          <p:nvPr/>
        </p:nvSpPr>
        <p:spPr>
          <a:xfrm>
            <a:off x="5349240" y="1005840"/>
            <a:ext cx="6522415" cy="731520"/>
          </a:xfrm>
          <a:prstGeom prst="rect">
            <a:avLst/>
          </a:prstGeom>
          <a:noFill/>
          <a:ln/>
        </p:spPr>
        <p:txBody>
          <a:bodyPr wrap="square" lIns="0" tIns="0" rIns="0" bIns="0" rtlCol="0" anchor="ctr">
            <a:normAutofit/>
          </a:bodyPr>
          <a:lstStyle/>
          <a:p>
            <a:pPr algn="ctr" indent="0" marL="0">
              <a:buNone/>
            </a:pPr>
            <a:r>
              <a:rPr lang="en-US" sz="3600" b="1" dirty="0">
                <a:solidFill>
                  <a:srgbClr val="990011"/>
                </a:solidFill>
                <a:latin typeface="Times New Roman" pitchFamily="34" charset="0"/>
                <a:ea typeface="Times New Roman" pitchFamily="34" charset="-122"/>
                <a:cs typeface="Times New Roman" pitchFamily="34" charset="-120"/>
              </a:rPr>
              <a:t>Previous Knowledge</a:t>
            </a:r>
            <a:endParaRPr lang="en-US" sz="3600" dirty="0"/>
          </a:p>
        </p:txBody>
      </p:sp>
      <p:sp>
        <p:nvSpPr>
          <p:cNvPr id="5" name="Text 2"/>
          <p:cNvSpPr/>
          <p:nvPr/>
        </p:nvSpPr>
        <p:spPr>
          <a:xfrm>
            <a:off x="5349240" y="1783080"/>
            <a:ext cx="6522415" cy="4663440"/>
          </a:xfrm>
          <a:prstGeom prst="rect">
            <a:avLst/>
          </a:prstGeom>
          <a:noFill/>
          <a:ln/>
        </p:spPr>
        <p:txBody>
          <a:bodyPr wrap="square" lIns="0" tIns="0" rIns="0" bIns="0" rtlCol="0" anchor="t"/>
          <a:lstStyle/>
          <a:p>
            <a:pPr algn="l" marL="342900" indent="-342900">
              <a:spcAft>
                <a:spcPts val="800"/>
              </a:spcAft>
              <a:buSzPct val="100000"/>
              <a:buChar char="•"/>
            </a:pPr>
            <a:r>
              <a:rPr lang="en-US" sz="4000" dirty="0">
                <a:solidFill>
                  <a:srgbClr val="111111"/>
                </a:solidFill>
                <a:latin typeface="Times New Roman" pitchFamily="34" charset="0"/>
                <a:ea typeface="Times New Roman" pitchFamily="34" charset="-122"/>
                <a:cs typeface="Times New Roman" pitchFamily="34" charset="-120"/>
              </a:rPr>
              <a:t>Some countries are rich and others poor.</a:t>
            </a:r>
            <a:endParaRPr lang="en-US" sz="4000" dirty="0"/>
          </a:p>
          <a:p>
            <a:pPr algn="l" marL="342900" indent="-342900">
              <a:spcAft>
                <a:spcPts val="800"/>
              </a:spcAft>
              <a:buSzPct val="100000"/>
              <a:buChar char="•"/>
            </a:pPr>
            <a:r>
              <a:rPr lang="en-US" sz="4000" dirty="0">
                <a:solidFill>
                  <a:srgbClr val="111111"/>
                </a:solidFill>
                <a:latin typeface="Times New Roman" pitchFamily="34" charset="0"/>
                <a:ea typeface="Times New Roman" pitchFamily="34" charset="-122"/>
                <a:cs typeface="Times New Roman" pitchFamily="34" charset="-120"/>
              </a:rPr>
              <a:t>Health and education improve people's lives.</a:t>
            </a:r>
            <a:endParaRPr lang="en-US" sz="4000" dirty="0"/>
          </a:p>
        </p:txBody>
      </p:sp>
      <p:sp>
        <p:nvSpPr>
          <p:cNvPr id="25" name="Slide Number Placeholder 0"/>
          <p:cNvSpPr>
            <a:spLocks noGrp="1"/>
          </p:cNvSpPr>
          <p:nvPr>
            <p:ph type="sldNum" sz="quarter" idx="4294967295"/>
          </p:nvPr>
        </p:nvSpPr>
        <p:spPr>
          <a:xfrm>
            <a:off x="27432" y="91440"/>
            <a:ext cx="585216" cy="475488"/>
          </a:xfrm>
          <a:prstGeom prst="rect">
            <a:avLst/>
          </a:prstGeom>
          <a:extLst>
            <a:ext uri="{C572A759-6A51-4108-AA02-DFA0A04FC94B}">
              <ma14:wrappingTextBoxFlag xmlns:ma14="http://schemas.microsoft.com/office/mac/drawingml/2011/main" val="0"/>
            </a:ext>
          </a:extLst>
        </p:spPr>
        <p:txBody>
          <a:bodyPr/>
          <a:lstStyle>
            <a:lvl1pPr>
              <a:defRPr sz="2000">
                <a:solidFill>
                  <a:srgbClr val="FFFFFF"/>
                </a:solidFill>
                <a:latin typeface="Calibri"/>
                <a:ea typeface="Calibri"/>
                <a:cs typeface="Calibri"/>
              </a:defRPr>
            </a:lvl1pPr>
          </a:lstStyle>
          <a:p>
            <a:pPr algn="ctr"/>
            <a:fld id="{F7021451-1387-4CA6-816F-3879F97B5CBC}" type="slidenum">
              <a:rPr b="1" lang="en-US"/>
              <a:t>9</a:t>
            </a:fld>
            <a:endParaRPr lang="en-US"/>
          </a:p>
        </p:txBody>
      </p:sp>
    </p:spTree>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name="Slide 10">
    <p:spTree>
      <p:nvGrpSpPr>
        <p:cNvPr id="1" name=""/>
        <p:cNvGrpSpPr/>
        <p:nvPr/>
      </p:nvGrpSpPr>
      <p:grpSpPr>
        <a:xfrm>
          <a:off x="0" y="0"/>
          <a:ext cx="0" cy="0"/>
          <a:chOff x="0" y="0"/>
          <a:chExt cx="0" cy="0"/>
        </a:xfrm>
      </p:grpSpPr>
      <p:sp>
        <p:nvSpPr>
          <p:cNvPr id="2" name="Text 0"/>
          <p:cNvSpPr/>
          <p:nvPr/>
        </p:nvSpPr>
        <p:spPr>
          <a:xfrm>
            <a:off x="457200" y="713232"/>
            <a:ext cx="11368735" cy="274320"/>
          </a:xfrm>
          <a:prstGeom prst="rect">
            <a:avLst/>
          </a:prstGeom>
          <a:noFill/>
          <a:ln/>
        </p:spPr>
        <p:txBody>
          <a:bodyPr wrap="square" lIns="0" tIns="0" rIns="0" bIns="0" rtlCol="0" anchor="ctr"/>
          <a:lstStyle/>
          <a:p>
            <a:pPr algn="r" indent="0" marL="0">
              <a:buNone/>
            </a:pPr>
            <a:r>
              <a:rPr lang="en-US" sz="1400" b="1" dirty="0">
                <a:solidFill>
                  <a:srgbClr val="1C3F6E"/>
                </a:solidFill>
                <a:latin typeface="Calibri" pitchFamily="34" charset="0"/>
                <a:ea typeface="Calibri" pitchFamily="34" charset="-122"/>
                <a:cs typeface="Calibri" pitchFamily="34" charset="-120"/>
              </a:rPr>
              <a:t>REAL-LIFE SITUATION</a:t>
            </a:r>
            <a:endParaRPr lang="en-US" sz="1400" dirty="0"/>
          </a:p>
        </p:txBody>
      </p:sp>
      <p:pic>
        <p:nvPicPr>
          <p:cNvPr id="3" name="Image 0" descr="/home/claude/f4/img/minesec_sheet.png">    </p:cNvPr>
          <p:cNvPicPr>
            <a:picLocks noChangeAspect="1"/>
          </p:cNvPicPr>
          <p:nvPr/>
        </p:nvPicPr>
        <p:blipFill>
          <a:blip r:embed="rId1"/>
          <a:stretch>
            <a:fillRect/>
          </a:stretch>
        </p:blipFill>
        <p:spPr>
          <a:xfrm>
            <a:off x="0" y="658368"/>
            <a:ext cx="5120640" cy="5833872"/>
          </a:xfrm>
          <a:prstGeom prst="rect">
            <a:avLst/>
          </a:prstGeom>
        </p:spPr>
      </p:pic>
      <p:sp>
        <p:nvSpPr>
          <p:cNvPr id="4" name="Text 1"/>
          <p:cNvSpPr/>
          <p:nvPr/>
        </p:nvSpPr>
        <p:spPr>
          <a:xfrm>
            <a:off x="5349240" y="1005840"/>
            <a:ext cx="6522415" cy="731520"/>
          </a:xfrm>
          <a:prstGeom prst="rect">
            <a:avLst/>
          </a:prstGeom>
          <a:noFill/>
          <a:ln/>
        </p:spPr>
        <p:txBody>
          <a:bodyPr wrap="square" lIns="0" tIns="0" rIns="0" bIns="0" rtlCol="0" anchor="ctr">
            <a:normAutofit/>
          </a:bodyPr>
          <a:lstStyle/>
          <a:p>
            <a:pPr algn="ctr" indent="0" marL="0">
              <a:buNone/>
            </a:pPr>
            <a:r>
              <a:rPr lang="en-US" sz="3600" b="1" dirty="0">
                <a:solidFill>
                  <a:srgbClr val="990011"/>
                </a:solidFill>
                <a:latin typeface="Times New Roman" pitchFamily="34" charset="0"/>
                <a:ea typeface="Times New Roman" pitchFamily="34" charset="-122"/>
                <a:cs typeface="Times New Roman" pitchFamily="34" charset="-120"/>
              </a:rPr>
              <a:t>Situation in Real Life</a:t>
            </a:r>
            <a:endParaRPr lang="en-US" sz="3600" dirty="0"/>
          </a:p>
        </p:txBody>
      </p:sp>
      <p:sp>
        <p:nvSpPr>
          <p:cNvPr id="5" name="Text 2"/>
          <p:cNvSpPr/>
          <p:nvPr/>
        </p:nvSpPr>
        <p:spPr>
          <a:xfrm>
            <a:off x="5349240" y="1783080"/>
            <a:ext cx="6522415" cy="4663440"/>
          </a:xfrm>
          <a:prstGeom prst="rect">
            <a:avLst/>
          </a:prstGeom>
          <a:noFill/>
          <a:ln/>
        </p:spPr>
        <p:txBody>
          <a:bodyPr wrap="square" lIns="0" tIns="0" rIns="0" bIns="0" rtlCol="0" anchor="t"/>
          <a:lstStyle/>
          <a:p>
            <a:pPr algn="l" indent="0" marL="0">
              <a:spcAft>
                <a:spcPts val="800"/>
              </a:spcAft>
              <a:buNone/>
            </a:pPr>
            <a:r>
              <a:rPr lang="en-US" sz="4000" dirty="0">
                <a:solidFill>
                  <a:srgbClr val="111111"/>
                </a:solidFill>
                <a:latin typeface="Times New Roman" pitchFamily="34" charset="0"/>
                <a:ea typeface="Times New Roman" pitchFamily="34" charset="-122"/>
                <a:cs typeface="Times New Roman" pitchFamily="34" charset="-120"/>
              </a:rPr>
              <a:t>A student compares Cameroon and Norway. Norway has high incomes, long life expectancy and almost everyone can read. Cameroon has rich resources but many people are still poor.</a:t>
            </a:r>
            <a:endParaRPr lang="en-US" sz="4000" dirty="0"/>
          </a:p>
        </p:txBody>
      </p:sp>
      <p:sp>
        <p:nvSpPr>
          <p:cNvPr id="25" name="Slide Number Placeholder 0"/>
          <p:cNvSpPr>
            <a:spLocks noGrp="1"/>
          </p:cNvSpPr>
          <p:nvPr>
            <p:ph type="sldNum" sz="quarter" idx="4294967295"/>
          </p:nvPr>
        </p:nvSpPr>
        <p:spPr>
          <a:xfrm>
            <a:off x="27432" y="91440"/>
            <a:ext cx="585216" cy="475488"/>
          </a:xfrm>
          <a:prstGeom prst="rect">
            <a:avLst/>
          </a:prstGeom>
          <a:extLst>
            <a:ext uri="{C572A759-6A51-4108-AA02-DFA0A04FC94B}">
              <ma14:wrappingTextBoxFlag xmlns:ma14="http://schemas.microsoft.com/office/mac/drawingml/2011/main" val="0"/>
            </a:ext>
          </a:extLst>
        </p:spPr>
        <p:txBody>
          <a:bodyPr/>
          <a:lstStyle>
            <a:lvl1pPr>
              <a:defRPr sz="2000">
                <a:solidFill>
                  <a:srgbClr val="FFFFFF"/>
                </a:solidFill>
                <a:latin typeface="Calibri"/>
                <a:ea typeface="Calibri"/>
                <a:cs typeface="Calibri"/>
              </a:defRPr>
            </a:lvl1pPr>
          </a:lstStyle>
          <a:p>
            <a:pPr algn="ctr"/>
            <a:fld id="{F7021451-1387-4CA6-816F-3879F97B5CBC}" type="slidenum">
              <a:rPr b="1" lang="en-US"/>
              <a:t>10</a:t>
            </a:fld>
            <a:endParaRPr lang="en-US"/>
          </a:p>
        </p:txBody>
      </p:sp>
    </p:spTree>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name="Slide 11">
    <p:spTree>
      <p:nvGrpSpPr>
        <p:cNvPr id="1" name=""/>
        <p:cNvGrpSpPr/>
        <p:nvPr/>
      </p:nvGrpSpPr>
      <p:grpSpPr>
        <a:xfrm>
          <a:off x="0" y="0"/>
          <a:ext cx="0" cy="0"/>
          <a:chOff x="0" y="0"/>
          <a:chExt cx="0" cy="0"/>
        </a:xfrm>
      </p:grpSpPr>
      <p:sp>
        <p:nvSpPr>
          <p:cNvPr id="2" name="Text 0"/>
          <p:cNvSpPr/>
          <p:nvPr/>
        </p:nvSpPr>
        <p:spPr>
          <a:xfrm>
            <a:off x="457200" y="713232"/>
            <a:ext cx="11368735" cy="274320"/>
          </a:xfrm>
          <a:prstGeom prst="rect">
            <a:avLst/>
          </a:prstGeom>
          <a:noFill/>
          <a:ln/>
        </p:spPr>
        <p:txBody>
          <a:bodyPr wrap="square" lIns="0" tIns="0" rIns="0" bIns="0" rtlCol="0" anchor="ctr"/>
          <a:lstStyle/>
          <a:p>
            <a:pPr algn="r" indent="0" marL="0">
              <a:buNone/>
            </a:pPr>
            <a:r>
              <a:rPr lang="en-US" sz="1400" b="1" dirty="0">
                <a:solidFill>
                  <a:srgbClr val="1C3F6E"/>
                </a:solidFill>
                <a:latin typeface="Calibri" pitchFamily="34" charset="0"/>
                <a:ea typeface="Calibri" pitchFamily="34" charset="-122"/>
                <a:cs typeface="Calibri" pitchFamily="34" charset="-120"/>
              </a:rPr>
              <a:t>REAL-LIFE SITUATION</a:t>
            </a:r>
            <a:endParaRPr lang="en-US" sz="1400" dirty="0"/>
          </a:p>
        </p:txBody>
      </p:sp>
      <p:pic>
        <p:nvPicPr>
          <p:cNvPr id="3" name="Image 0" descr="/home/claude/f4/img/minesec_sheet.png">    </p:cNvPr>
          <p:cNvPicPr>
            <a:picLocks noChangeAspect="1"/>
          </p:cNvPicPr>
          <p:nvPr/>
        </p:nvPicPr>
        <p:blipFill>
          <a:blip r:embed="rId1"/>
          <a:stretch>
            <a:fillRect/>
          </a:stretch>
        </p:blipFill>
        <p:spPr>
          <a:xfrm>
            <a:off x="0" y="658368"/>
            <a:ext cx="5120640" cy="5833872"/>
          </a:xfrm>
          <a:prstGeom prst="rect">
            <a:avLst/>
          </a:prstGeom>
        </p:spPr>
      </p:pic>
      <p:sp>
        <p:nvSpPr>
          <p:cNvPr id="4" name="Text 1"/>
          <p:cNvSpPr/>
          <p:nvPr/>
        </p:nvSpPr>
        <p:spPr>
          <a:xfrm>
            <a:off x="5349240" y="1005840"/>
            <a:ext cx="6522415" cy="731520"/>
          </a:xfrm>
          <a:prstGeom prst="rect">
            <a:avLst/>
          </a:prstGeom>
          <a:noFill/>
          <a:ln/>
        </p:spPr>
        <p:txBody>
          <a:bodyPr wrap="square" lIns="0" tIns="0" rIns="0" bIns="0" rtlCol="0" anchor="ctr">
            <a:normAutofit/>
          </a:bodyPr>
          <a:lstStyle/>
          <a:p>
            <a:pPr algn="ctr" indent="0" marL="0">
              <a:buNone/>
            </a:pPr>
            <a:r>
              <a:rPr lang="en-US" sz="3600" b="1" dirty="0">
                <a:solidFill>
                  <a:srgbClr val="990011"/>
                </a:solidFill>
                <a:latin typeface="Times New Roman" pitchFamily="34" charset="0"/>
                <a:ea typeface="Times New Roman" pitchFamily="34" charset="-122"/>
                <a:cs typeface="Times New Roman" pitchFamily="34" charset="-120"/>
              </a:rPr>
              <a:t>Situation: Question 1</a:t>
            </a:r>
            <a:endParaRPr lang="en-US" sz="3600" dirty="0"/>
          </a:p>
        </p:txBody>
      </p:sp>
      <p:sp>
        <p:nvSpPr>
          <p:cNvPr id="5" name="Text 2"/>
          <p:cNvSpPr/>
          <p:nvPr/>
        </p:nvSpPr>
        <p:spPr>
          <a:xfrm>
            <a:off x="5349240" y="1783080"/>
            <a:ext cx="6522415" cy="4663440"/>
          </a:xfrm>
          <a:prstGeom prst="rect">
            <a:avLst/>
          </a:prstGeom>
          <a:noFill/>
          <a:ln/>
        </p:spPr>
        <p:txBody>
          <a:bodyPr wrap="square" lIns="0" tIns="0" rIns="0" bIns="0" rtlCol="0" anchor="t"/>
          <a:lstStyle/>
          <a:p>
            <a:pPr algn="l" indent="0" marL="0">
              <a:spcAft>
                <a:spcPts val="800"/>
              </a:spcAft>
              <a:buNone/>
            </a:pPr>
            <a:r>
              <a:rPr lang="en-US" sz="4000" dirty="0">
                <a:solidFill>
                  <a:srgbClr val="111111"/>
                </a:solidFill>
                <a:latin typeface="Times New Roman" pitchFamily="34" charset="0"/>
                <a:ea typeface="Times New Roman" pitchFamily="34" charset="-122"/>
                <a:cs typeface="Times New Roman" pitchFamily="34" charset="-120"/>
              </a:rPr>
              <a:t>What is the problem in the situation?</a:t>
            </a:r>
            <a:endParaRPr lang="en-US" sz="4000" dirty="0"/>
          </a:p>
        </p:txBody>
      </p:sp>
      <p:sp>
        <p:nvSpPr>
          <p:cNvPr id="25" name="Slide Number Placeholder 0"/>
          <p:cNvSpPr>
            <a:spLocks noGrp="1"/>
          </p:cNvSpPr>
          <p:nvPr>
            <p:ph type="sldNum" sz="quarter" idx="4294967295"/>
          </p:nvPr>
        </p:nvSpPr>
        <p:spPr>
          <a:xfrm>
            <a:off x="27432" y="91440"/>
            <a:ext cx="585216" cy="475488"/>
          </a:xfrm>
          <a:prstGeom prst="rect">
            <a:avLst/>
          </a:prstGeom>
          <a:extLst>
            <a:ext uri="{C572A759-6A51-4108-AA02-DFA0A04FC94B}">
              <ma14:wrappingTextBoxFlag xmlns:ma14="http://schemas.microsoft.com/office/mac/drawingml/2011/main" val="0"/>
            </a:ext>
          </a:extLst>
        </p:spPr>
        <p:txBody>
          <a:bodyPr/>
          <a:lstStyle>
            <a:lvl1pPr>
              <a:defRPr sz="2000">
                <a:solidFill>
                  <a:srgbClr val="FFFFFF"/>
                </a:solidFill>
                <a:latin typeface="Calibri"/>
                <a:ea typeface="Calibri"/>
                <a:cs typeface="Calibri"/>
              </a:defRPr>
            </a:lvl1pPr>
          </a:lstStyle>
          <a:p>
            <a:pPr algn="ctr"/>
            <a:fld id="{F7021451-1387-4CA6-816F-3879F97B5CBC}" type="slidenum">
              <a:rPr b="1" lang="en-US"/>
              <a:t>11</a:t>
            </a:fld>
            <a:endParaRPr lang="en-US"/>
          </a:p>
        </p:txBody>
      </p:sp>
    </p:spTree>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name="Slide 12">
    <p:spTree>
      <p:nvGrpSpPr>
        <p:cNvPr id="1" name=""/>
        <p:cNvGrpSpPr/>
        <p:nvPr/>
      </p:nvGrpSpPr>
      <p:grpSpPr>
        <a:xfrm>
          <a:off x="0" y="0"/>
          <a:ext cx="0" cy="0"/>
          <a:chOff x="0" y="0"/>
          <a:chExt cx="0" cy="0"/>
        </a:xfrm>
      </p:grpSpPr>
      <p:sp>
        <p:nvSpPr>
          <p:cNvPr id="2" name="Text 0"/>
          <p:cNvSpPr/>
          <p:nvPr/>
        </p:nvSpPr>
        <p:spPr>
          <a:xfrm>
            <a:off x="457200" y="713232"/>
            <a:ext cx="11368735" cy="274320"/>
          </a:xfrm>
          <a:prstGeom prst="rect">
            <a:avLst/>
          </a:prstGeom>
          <a:noFill/>
          <a:ln/>
        </p:spPr>
        <p:txBody>
          <a:bodyPr wrap="square" lIns="0" tIns="0" rIns="0" bIns="0" rtlCol="0" anchor="ctr"/>
          <a:lstStyle/>
          <a:p>
            <a:pPr algn="r" indent="0" marL="0">
              <a:buNone/>
            </a:pPr>
            <a:r>
              <a:rPr lang="en-US" sz="1400" b="1" dirty="0">
                <a:solidFill>
                  <a:srgbClr val="1C3F6E"/>
                </a:solidFill>
                <a:latin typeface="Calibri" pitchFamily="34" charset="0"/>
                <a:ea typeface="Calibri" pitchFamily="34" charset="-122"/>
                <a:cs typeface="Calibri" pitchFamily="34" charset="-120"/>
              </a:rPr>
              <a:t>REAL-LIFE SITUATION</a:t>
            </a:r>
            <a:endParaRPr lang="en-US" sz="1400" dirty="0"/>
          </a:p>
        </p:txBody>
      </p:sp>
      <p:pic>
        <p:nvPicPr>
          <p:cNvPr id="3" name="Image 0" descr="/home/claude/f4/img/minesec_sheet.png">    </p:cNvPr>
          <p:cNvPicPr>
            <a:picLocks noChangeAspect="1"/>
          </p:cNvPicPr>
          <p:nvPr/>
        </p:nvPicPr>
        <p:blipFill>
          <a:blip r:embed="rId1"/>
          <a:stretch>
            <a:fillRect/>
          </a:stretch>
        </p:blipFill>
        <p:spPr>
          <a:xfrm>
            <a:off x="0" y="658368"/>
            <a:ext cx="5120640" cy="5833872"/>
          </a:xfrm>
          <a:prstGeom prst="rect">
            <a:avLst/>
          </a:prstGeom>
        </p:spPr>
      </p:pic>
      <p:sp>
        <p:nvSpPr>
          <p:cNvPr id="4" name="Text 1"/>
          <p:cNvSpPr/>
          <p:nvPr/>
        </p:nvSpPr>
        <p:spPr>
          <a:xfrm>
            <a:off x="5349240" y="1005840"/>
            <a:ext cx="6522415" cy="731520"/>
          </a:xfrm>
          <a:prstGeom prst="rect">
            <a:avLst/>
          </a:prstGeom>
          <a:noFill/>
          <a:ln/>
        </p:spPr>
        <p:txBody>
          <a:bodyPr wrap="square" lIns="0" tIns="0" rIns="0" bIns="0" rtlCol="0" anchor="ctr">
            <a:normAutofit/>
          </a:bodyPr>
          <a:lstStyle/>
          <a:p>
            <a:pPr algn="ctr" indent="0" marL="0">
              <a:buNone/>
            </a:pPr>
            <a:r>
              <a:rPr lang="en-US" sz="3600" b="1" dirty="0">
                <a:solidFill>
                  <a:srgbClr val="990011"/>
                </a:solidFill>
                <a:latin typeface="Times New Roman" pitchFamily="34" charset="0"/>
                <a:ea typeface="Times New Roman" pitchFamily="34" charset="-122"/>
                <a:cs typeface="Times New Roman" pitchFamily="34" charset="-120"/>
              </a:rPr>
              <a:t>Answer</a:t>
            </a:r>
            <a:endParaRPr lang="en-US" sz="3600" dirty="0"/>
          </a:p>
        </p:txBody>
      </p:sp>
      <p:sp>
        <p:nvSpPr>
          <p:cNvPr id="5" name="Text 2"/>
          <p:cNvSpPr/>
          <p:nvPr/>
        </p:nvSpPr>
        <p:spPr>
          <a:xfrm>
            <a:off x="5349240" y="1783080"/>
            <a:ext cx="6522415" cy="4663440"/>
          </a:xfrm>
          <a:prstGeom prst="rect">
            <a:avLst/>
          </a:prstGeom>
          <a:noFill/>
          <a:ln/>
        </p:spPr>
        <p:txBody>
          <a:bodyPr wrap="square" lIns="0" tIns="0" rIns="0" bIns="0" rtlCol="0" anchor="t"/>
          <a:lstStyle/>
          <a:p>
            <a:pPr algn="l" indent="0" marL="0">
              <a:spcAft>
                <a:spcPts val="800"/>
              </a:spcAft>
              <a:buNone/>
            </a:pPr>
            <a:r>
              <a:rPr lang="en-US" sz="4000" dirty="0">
                <a:solidFill>
                  <a:srgbClr val="111111"/>
                </a:solidFill>
                <a:latin typeface="Times New Roman" pitchFamily="34" charset="0"/>
                <a:ea typeface="Times New Roman" pitchFamily="34" charset="-122"/>
                <a:cs typeface="Times New Roman" pitchFamily="34" charset="-120"/>
              </a:rPr>
              <a:t>There is a big gap in development.</a:t>
            </a:r>
            <a:endParaRPr lang="en-US" sz="4000" dirty="0"/>
          </a:p>
        </p:txBody>
      </p:sp>
      <p:sp>
        <p:nvSpPr>
          <p:cNvPr id="25" name="Slide Number Placeholder 0"/>
          <p:cNvSpPr>
            <a:spLocks noGrp="1"/>
          </p:cNvSpPr>
          <p:nvPr>
            <p:ph type="sldNum" sz="quarter" idx="4294967295"/>
          </p:nvPr>
        </p:nvSpPr>
        <p:spPr>
          <a:xfrm>
            <a:off x="27432" y="91440"/>
            <a:ext cx="585216" cy="475488"/>
          </a:xfrm>
          <a:prstGeom prst="rect">
            <a:avLst/>
          </a:prstGeom>
          <a:extLst>
            <a:ext uri="{C572A759-6A51-4108-AA02-DFA0A04FC94B}">
              <ma14:wrappingTextBoxFlag xmlns:ma14="http://schemas.microsoft.com/office/mac/drawingml/2011/main" val="0"/>
            </a:ext>
          </a:extLst>
        </p:spPr>
        <p:txBody>
          <a:bodyPr/>
          <a:lstStyle>
            <a:lvl1pPr>
              <a:defRPr sz="2000">
                <a:solidFill>
                  <a:srgbClr val="FFFFFF"/>
                </a:solidFill>
                <a:latin typeface="Calibri"/>
                <a:ea typeface="Calibri"/>
                <a:cs typeface="Calibri"/>
              </a:defRPr>
            </a:lvl1pPr>
          </a:lstStyle>
          <a:p>
            <a:pPr algn="ctr"/>
            <a:fld id="{F7021451-1387-4CA6-816F-3879F97B5CBC}" type="slidenum">
              <a:rPr b="1" lang="en-US"/>
              <a:t>12</a:t>
            </a:fld>
            <a:endParaRPr lang="en-US"/>
          </a:p>
        </p:txBody>
      </p:sp>
    </p:spTree>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name="Slide 13">
    <p:spTree>
      <p:nvGrpSpPr>
        <p:cNvPr id="1" name=""/>
        <p:cNvGrpSpPr/>
        <p:nvPr/>
      </p:nvGrpSpPr>
      <p:grpSpPr>
        <a:xfrm>
          <a:off x="0" y="0"/>
          <a:ext cx="0" cy="0"/>
          <a:chOff x="0" y="0"/>
          <a:chExt cx="0" cy="0"/>
        </a:xfrm>
      </p:grpSpPr>
      <p:sp>
        <p:nvSpPr>
          <p:cNvPr id="2" name="Text 0"/>
          <p:cNvSpPr/>
          <p:nvPr/>
        </p:nvSpPr>
        <p:spPr>
          <a:xfrm>
            <a:off x="457200" y="713232"/>
            <a:ext cx="11368735" cy="274320"/>
          </a:xfrm>
          <a:prstGeom prst="rect">
            <a:avLst/>
          </a:prstGeom>
          <a:noFill/>
          <a:ln/>
        </p:spPr>
        <p:txBody>
          <a:bodyPr wrap="square" lIns="0" tIns="0" rIns="0" bIns="0" rtlCol="0" anchor="ctr"/>
          <a:lstStyle/>
          <a:p>
            <a:pPr algn="r" indent="0" marL="0">
              <a:buNone/>
            </a:pPr>
            <a:r>
              <a:rPr lang="en-US" sz="1400" b="1" dirty="0">
                <a:solidFill>
                  <a:srgbClr val="1C3F6E"/>
                </a:solidFill>
                <a:latin typeface="Calibri" pitchFamily="34" charset="0"/>
                <a:ea typeface="Calibri" pitchFamily="34" charset="-122"/>
                <a:cs typeface="Calibri" pitchFamily="34" charset="-120"/>
              </a:rPr>
              <a:t>REAL-LIFE SITUATION</a:t>
            </a:r>
            <a:endParaRPr lang="en-US" sz="1400" dirty="0"/>
          </a:p>
        </p:txBody>
      </p:sp>
      <p:pic>
        <p:nvPicPr>
          <p:cNvPr id="3" name="Image 0" descr="/home/claude/f4/img/minesec_sheet.png">    </p:cNvPr>
          <p:cNvPicPr>
            <a:picLocks noChangeAspect="1"/>
          </p:cNvPicPr>
          <p:nvPr/>
        </p:nvPicPr>
        <p:blipFill>
          <a:blip r:embed="rId1"/>
          <a:stretch>
            <a:fillRect/>
          </a:stretch>
        </p:blipFill>
        <p:spPr>
          <a:xfrm>
            <a:off x="0" y="658368"/>
            <a:ext cx="5120640" cy="5833872"/>
          </a:xfrm>
          <a:prstGeom prst="rect">
            <a:avLst/>
          </a:prstGeom>
        </p:spPr>
      </p:pic>
      <p:sp>
        <p:nvSpPr>
          <p:cNvPr id="4" name="Text 1"/>
          <p:cNvSpPr/>
          <p:nvPr/>
        </p:nvSpPr>
        <p:spPr>
          <a:xfrm>
            <a:off x="5349240" y="1005840"/>
            <a:ext cx="6522415" cy="731520"/>
          </a:xfrm>
          <a:prstGeom prst="rect">
            <a:avLst/>
          </a:prstGeom>
          <a:noFill/>
          <a:ln/>
        </p:spPr>
        <p:txBody>
          <a:bodyPr wrap="square" lIns="0" tIns="0" rIns="0" bIns="0" rtlCol="0" anchor="ctr">
            <a:normAutofit/>
          </a:bodyPr>
          <a:lstStyle/>
          <a:p>
            <a:pPr algn="ctr" indent="0" marL="0">
              <a:buNone/>
            </a:pPr>
            <a:r>
              <a:rPr lang="en-US" sz="3600" b="1" dirty="0">
                <a:solidFill>
                  <a:srgbClr val="990011"/>
                </a:solidFill>
                <a:latin typeface="Times New Roman" pitchFamily="34" charset="0"/>
                <a:ea typeface="Times New Roman" pitchFamily="34" charset="-122"/>
                <a:cs typeface="Times New Roman" pitchFamily="34" charset="-120"/>
              </a:rPr>
              <a:t>Situation: Question 2</a:t>
            </a:r>
            <a:endParaRPr lang="en-US" sz="3600" dirty="0"/>
          </a:p>
        </p:txBody>
      </p:sp>
      <p:sp>
        <p:nvSpPr>
          <p:cNvPr id="5" name="Text 2"/>
          <p:cNvSpPr/>
          <p:nvPr/>
        </p:nvSpPr>
        <p:spPr>
          <a:xfrm>
            <a:off x="5349240" y="1783080"/>
            <a:ext cx="6522415" cy="4663440"/>
          </a:xfrm>
          <a:prstGeom prst="rect">
            <a:avLst/>
          </a:prstGeom>
          <a:noFill/>
          <a:ln/>
        </p:spPr>
        <p:txBody>
          <a:bodyPr wrap="square" lIns="0" tIns="0" rIns="0" bIns="0" rtlCol="0" anchor="t"/>
          <a:lstStyle/>
          <a:p>
            <a:pPr algn="l" indent="0" marL="0">
              <a:spcAft>
                <a:spcPts val="800"/>
              </a:spcAft>
              <a:buNone/>
            </a:pPr>
            <a:r>
              <a:rPr lang="en-US" sz="4000" dirty="0">
                <a:solidFill>
                  <a:srgbClr val="111111"/>
                </a:solidFill>
                <a:latin typeface="Times New Roman" pitchFamily="34" charset="0"/>
                <a:ea typeface="Times New Roman" pitchFamily="34" charset="-122"/>
                <a:cs typeface="Times New Roman" pitchFamily="34" charset="-120"/>
              </a:rPr>
              <a:t>Name two measures of development in the situation.</a:t>
            </a:r>
            <a:endParaRPr lang="en-US" sz="4000" dirty="0"/>
          </a:p>
        </p:txBody>
      </p:sp>
      <p:sp>
        <p:nvSpPr>
          <p:cNvPr id="25" name="Slide Number Placeholder 0"/>
          <p:cNvSpPr>
            <a:spLocks noGrp="1"/>
          </p:cNvSpPr>
          <p:nvPr>
            <p:ph type="sldNum" sz="quarter" idx="4294967295"/>
          </p:nvPr>
        </p:nvSpPr>
        <p:spPr>
          <a:xfrm>
            <a:off x="27432" y="91440"/>
            <a:ext cx="585216" cy="475488"/>
          </a:xfrm>
          <a:prstGeom prst="rect">
            <a:avLst/>
          </a:prstGeom>
          <a:extLst>
            <a:ext uri="{C572A759-6A51-4108-AA02-DFA0A04FC94B}">
              <ma14:wrappingTextBoxFlag xmlns:ma14="http://schemas.microsoft.com/office/mac/drawingml/2011/main" val="0"/>
            </a:ext>
          </a:extLst>
        </p:spPr>
        <p:txBody>
          <a:bodyPr/>
          <a:lstStyle>
            <a:lvl1pPr>
              <a:defRPr sz="2000">
                <a:solidFill>
                  <a:srgbClr val="FFFFFF"/>
                </a:solidFill>
                <a:latin typeface="Calibri"/>
                <a:ea typeface="Calibri"/>
                <a:cs typeface="Calibri"/>
              </a:defRPr>
            </a:lvl1pPr>
          </a:lstStyle>
          <a:p>
            <a:pPr algn="ctr"/>
            <a:fld id="{F7021451-1387-4CA6-816F-3879F97B5CBC}" type="slidenum">
              <a:rPr b="1" lang="en-US"/>
              <a:t>13</a:t>
            </a:fld>
            <a:endParaRPr lang="en-US"/>
          </a:p>
        </p:txBody>
      </p:sp>
    </p:spTree>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name="Slide 14">
    <p:spTree>
      <p:nvGrpSpPr>
        <p:cNvPr id="1" name=""/>
        <p:cNvGrpSpPr/>
        <p:nvPr/>
      </p:nvGrpSpPr>
      <p:grpSpPr>
        <a:xfrm>
          <a:off x="0" y="0"/>
          <a:ext cx="0" cy="0"/>
          <a:chOff x="0" y="0"/>
          <a:chExt cx="0" cy="0"/>
        </a:xfrm>
      </p:grpSpPr>
      <p:sp>
        <p:nvSpPr>
          <p:cNvPr id="2" name="Text 0"/>
          <p:cNvSpPr/>
          <p:nvPr/>
        </p:nvSpPr>
        <p:spPr>
          <a:xfrm>
            <a:off x="457200" y="713232"/>
            <a:ext cx="11368735" cy="274320"/>
          </a:xfrm>
          <a:prstGeom prst="rect">
            <a:avLst/>
          </a:prstGeom>
          <a:noFill/>
          <a:ln/>
        </p:spPr>
        <p:txBody>
          <a:bodyPr wrap="square" lIns="0" tIns="0" rIns="0" bIns="0" rtlCol="0" anchor="ctr"/>
          <a:lstStyle/>
          <a:p>
            <a:pPr algn="r" indent="0" marL="0">
              <a:buNone/>
            </a:pPr>
            <a:r>
              <a:rPr lang="en-US" sz="1400" b="1" dirty="0">
                <a:solidFill>
                  <a:srgbClr val="1C3F6E"/>
                </a:solidFill>
                <a:latin typeface="Calibri" pitchFamily="34" charset="0"/>
                <a:ea typeface="Calibri" pitchFamily="34" charset="-122"/>
                <a:cs typeface="Calibri" pitchFamily="34" charset="-120"/>
              </a:rPr>
              <a:t>REAL-LIFE SITUATION</a:t>
            </a:r>
            <a:endParaRPr lang="en-US" sz="1400" dirty="0"/>
          </a:p>
        </p:txBody>
      </p:sp>
      <p:pic>
        <p:nvPicPr>
          <p:cNvPr id="3" name="Image 0" descr="/home/claude/f4/img/minesec_sheet.png">    </p:cNvPr>
          <p:cNvPicPr>
            <a:picLocks noChangeAspect="1"/>
          </p:cNvPicPr>
          <p:nvPr/>
        </p:nvPicPr>
        <p:blipFill>
          <a:blip r:embed="rId1"/>
          <a:stretch>
            <a:fillRect/>
          </a:stretch>
        </p:blipFill>
        <p:spPr>
          <a:xfrm>
            <a:off x="0" y="658368"/>
            <a:ext cx="5120640" cy="5833872"/>
          </a:xfrm>
          <a:prstGeom prst="rect">
            <a:avLst/>
          </a:prstGeom>
        </p:spPr>
      </p:pic>
      <p:sp>
        <p:nvSpPr>
          <p:cNvPr id="4" name="Text 1"/>
          <p:cNvSpPr/>
          <p:nvPr/>
        </p:nvSpPr>
        <p:spPr>
          <a:xfrm>
            <a:off x="5349240" y="1005840"/>
            <a:ext cx="6522415" cy="731520"/>
          </a:xfrm>
          <a:prstGeom prst="rect">
            <a:avLst/>
          </a:prstGeom>
          <a:noFill/>
          <a:ln/>
        </p:spPr>
        <p:txBody>
          <a:bodyPr wrap="square" lIns="0" tIns="0" rIns="0" bIns="0" rtlCol="0" anchor="ctr">
            <a:normAutofit/>
          </a:bodyPr>
          <a:lstStyle/>
          <a:p>
            <a:pPr algn="ctr" indent="0" marL="0">
              <a:buNone/>
            </a:pPr>
            <a:r>
              <a:rPr lang="en-US" sz="3600" b="1" dirty="0">
                <a:solidFill>
                  <a:srgbClr val="990011"/>
                </a:solidFill>
                <a:latin typeface="Times New Roman" pitchFamily="34" charset="0"/>
                <a:ea typeface="Times New Roman" pitchFamily="34" charset="-122"/>
                <a:cs typeface="Times New Roman" pitchFamily="34" charset="-120"/>
              </a:rPr>
              <a:t>Answer</a:t>
            </a:r>
            <a:endParaRPr lang="en-US" sz="3600" dirty="0"/>
          </a:p>
        </p:txBody>
      </p:sp>
      <p:sp>
        <p:nvSpPr>
          <p:cNvPr id="5" name="Text 2"/>
          <p:cNvSpPr/>
          <p:nvPr/>
        </p:nvSpPr>
        <p:spPr>
          <a:xfrm>
            <a:off x="5349240" y="1783080"/>
            <a:ext cx="6522415" cy="4663440"/>
          </a:xfrm>
          <a:prstGeom prst="rect">
            <a:avLst/>
          </a:prstGeom>
          <a:noFill/>
          <a:ln/>
        </p:spPr>
        <p:txBody>
          <a:bodyPr wrap="square" lIns="0" tIns="0" rIns="0" bIns="0" rtlCol="0" anchor="t"/>
          <a:lstStyle/>
          <a:p>
            <a:pPr algn="l" indent="0" marL="0">
              <a:spcAft>
                <a:spcPts val="800"/>
              </a:spcAft>
              <a:buNone/>
            </a:pPr>
            <a:r>
              <a:rPr lang="en-US" sz="4000" dirty="0">
                <a:solidFill>
                  <a:srgbClr val="111111"/>
                </a:solidFill>
                <a:latin typeface="Times New Roman" pitchFamily="34" charset="0"/>
                <a:ea typeface="Times New Roman" pitchFamily="34" charset="-122"/>
                <a:cs typeface="Times New Roman" pitchFamily="34" charset="-120"/>
              </a:rPr>
              <a:t>Income and life expectancy (also literacy).</a:t>
            </a:r>
            <a:endParaRPr lang="en-US" sz="4000" dirty="0"/>
          </a:p>
        </p:txBody>
      </p:sp>
      <p:sp>
        <p:nvSpPr>
          <p:cNvPr id="25" name="Slide Number Placeholder 0"/>
          <p:cNvSpPr>
            <a:spLocks noGrp="1"/>
          </p:cNvSpPr>
          <p:nvPr>
            <p:ph type="sldNum" sz="quarter" idx="4294967295"/>
          </p:nvPr>
        </p:nvSpPr>
        <p:spPr>
          <a:xfrm>
            <a:off x="27432" y="91440"/>
            <a:ext cx="585216" cy="475488"/>
          </a:xfrm>
          <a:prstGeom prst="rect">
            <a:avLst/>
          </a:prstGeom>
          <a:extLst>
            <a:ext uri="{C572A759-6A51-4108-AA02-DFA0A04FC94B}">
              <ma14:wrappingTextBoxFlag xmlns:ma14="http://schemas.microsoft.com/office/mac/drawingml/2011/main" val="0"/>
            </a:ext>
          </a:extLst>
        </p:spPr>
        <p:txBody>
          <a:bodyPr/>
          <a:lstStyle>
            <a:lvl1pPr>
              <a:defRPr sz="2000">
                <a:solidFill>
                  <a:srgbClr val="FFFFFF"/>
                </a:solidFill>
                <a:latin typeface="Calibri"/>
                <a:ea typeface="Calibri"/>
                <a:cs typeface="Calibri"/>
              </a:defRPr>
            </a:lvl1pPr>
          </a:lstStyle>
          <a:p>
            <a:pPr algn="ctr"/>
            <a:fld id="{F7021451-1387-4CA6-816F-3879F97B5CBC}" type="slidenum">
              <a:rPr b="1" lang="en-US"/>
              <a:t>14</a:t>
            </a:fld>
            <a:endParaRPr lang="en-US"/>
          </a:p>
        </p:txBody>
      </p:sp>
    </p:spTree>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name="Slide 15">
    <p:spTree>
      <p:nvGrpSpPr>
        <p:cNvPr id="1" name=""/>
        <p:cNvGrpSpPr/>
        <p:nvPr/>
      </p:nvGrpSpPr>
      <p:grpSpPr>
        <a:xfrm>
          <a:off x="0" y="0"/>
          <a:ext cx="0" cy="0"/>
          <a:chOff x="0" y="0"/>
          <a:chExt cx="0" cy="0"/>
        </a:xfrm>
      </p:grpSpPr>
      <p:sp>
        <p:nvSpPr>
          <p:cNvPr id="2" name="Text 0"/>
          <p:cNvSpPr/>
          <p:nvPr/>
        </p:nvSpPr>
        <p:spPr>
          <a:xfrm>
            <a:off x="457200" y="713232"/>
            <a:ext cx="11368735" cy="274320"/>
          </a:xfrm>
          <a:prstGeom prst="rect">
            <a:avLst/>
          </a:prstGeom>
          <a:noFill/>
          <a:ln/>
        </p:spPr>
        <p:txBody>
          <a:bodyPr wrap="square" lIns="0" tIns="0" rIns="0" bIns="0" rtlCol="0" anchor="ctr"/>
          <a:lstStyle/>
          <a:p>
            <a:pPr algn="r" indent="0" marL="0">
              <a:buNone/>
            </a:pPr>
            <a:r>
              <a:rPr lang="en-US" sz="1400" b="1" dirty="0">
                <a:solidFill>
                  <a:srgbClr val="1C3F6E"/>
                </a:solidFill>
                <a:latin typeface="Calibri" pitchFamily="34" charset="0"/>
                <a:ea typeface="Calibri" pitchFamily="34" charset="-122"/>
                <a:cs typeface="Calibri" pitchFamily="34" charset="-120"/>
              </a:rPr>
              <a:t>REAL-LIFE SITUATION</a:t>
            </a:r>
            <a:endParaRPr lang="en-US" sz="1400" dirty="0"/>
          </a:p>
        </p:txBody>
      </p:sp>
      <p:pic>
        <p:nvPicPr>
          <p:cNvPr id="3" name="Image 0" descr="/home/claude/f4/img/minesec_sheet.png">    </p:cNvPr>
          <p:cNvPicPr>
            <a:picLocks noChangeAspect="1"/>
          </p:cNvPicPr>
          <p:nvPr/>
        </p:nvPicPr>
        <p:blipFill>
          <a:blip r:embed="rId1"/>
          <a:stretch>
            <a:fillRect/>
          </a:stretch>
        </p:blipFill>
        <p:spPr>
          <a:xfrm>
            <a:off x="0" y="658368"/>
            <a:ext cx="5120640" cy="5833872"/>
          </a:xfrm>
          <a:prstGeom prst="rect">
            <a:avLst/>
          </a:prstGeom>
        </p:spPr>
      </p:pic>
      <p:sp>
        <p:nvSpPr>
          <p:cNvPr id="4" name="Text 1"/>
          <p:cNvSpPr/>
          <p:nvPr/>
        </p:nvSpPr>
        <p:spPr>
          <a:xfrm>
            <a:off x="5349240" y="1005840"/>
            <a:ext cx="6522415" cy="731520"/>
          </a:xfrm>
          <a:prstGeom prst="rect">
            <a:avLst/>
          </a:prstGeom>
          <a:noFill/>
          <a:ln/>
        </p:spPr>
        <p:txBody>
          <a:bodyPr wrap="square" lIns="0" tIns="0" rIns="0" bIns="0" rtlCol="0" anchor="ctr">
            <a:normAutofit/>
          </a:bodyPr>
          <a:lstStyle/>
          <a:p>
            <a:pPr algn="ctr" indent="0" marL="0">
              <a:buNone/>
            </a:pPr>
            <a:r>
              <a:rPr lang="en-US" sz="3600" b="1" dirty="0">
                <a:solidFill>
                  <a:srgbClr val="990011"/>
                </a:solidFill>
                <a:latin typeface="Times New Roman" pitchFamily="34" charset="0"/>
                <a:ea typeface="Times New Roman" pitchFamily="34" charset="-122"/>
                <a:cs typeface="Times New Roman" pitchFamily="34" charset="-120"/>
              </a:rPr>
              <a:t>Situation: Question 3</a:t>
            </a:r>
            <a:endParaRPr lang="en-US" sz="3600" dirty="0"/>
          </a:p>
        </p:txBody>
      </p:sp>
      <p:sp>
        <p:nvSpPr>
          <p:cNvPr id="5" name="Text 2"/>
          <p:cNvSpPr/>
          <p:nvPr/>
        </p:nvSpPr>
        <p:spPr>
          <a:xfrm>
            <a:off x="5349240" y="1783080"/>
            <a:ext cx="6522415" cy="4663440"/>
          </a:xfrm>
          <a:prstGeom prst="rect">
            <a:avLst/>
          </a:prstGeom>
          <a:noFill/>
          <a:ln/>
        </p:spPr>
        <p:txBody>
          <a:bodyPr wrap="square" lIns="0" tIns="0" rIns="0" bIns="0" rtlCol="0" anchor="t"/>
          <a:lstStyle/>
          <a:p>
            <a:pPr algn="l" indent="0" marL="0">
              <a:spcAft>
                <a:spcPts val="800"/>
              </a:spcAft>
              <a:buNone/>
            </a:pPr>
            <a:r>
              <a:rPr lang="en-US" sz="4000" dirty="0">
                <a:solidFill>
                  <a:srgbClr val="111111"/>
                </a:solidFill>
                <a:latin typeface="Times New Roman" pitchFamily="34" charset="0"/>
                <a:ea typeface="Times New Roman" pitchFamily="34" charset="-122"/>
                <a:cs typeface="Times New Roman" pitchFamily="34" charset="-120"/>
              </a:rPr>
              <a:t>What index combines them?</a:t>
            </a:r>
            <a:endParaRPr lang="en-US" sz="4000" dirty="0"/>
          </a:p>
        </p:txBody>
      </p:sp>
      <p:sp>
        <p:nvSpPr>
          <p:cNvPr id="25" name="Slide Number Placeholder 0"/>
          <p:cNvSpPr>
            <a:spLocks noGrp="1"/>
          </p:cNvSpPr>
          <p:nvPr>
            <p:ph type="sldNum" sz="quarter" idx="4294967295"/>
          </p:nvPr>
        </p:nvSpPr>
        <p:spPr>
          <a:xfrm>
            <a:off x="27432" y="91440"/>
            <a:ext cx="585216" cy="475488"/>
          </a:xfrm>
          <a:prstGeom prst="rect">
            <a:avLst/>
          </a:prstGeom>
          <a:extLst>
            <a:ext uri="{C572A759-6A51-4108-AA02-DFA0A04FC94B}">
              <ma14:wrappingTextBoxFlag xmlns:ma14="http://schemas.microsoft.com/office/mac/drawingml/2011/main" val="0"/>
            </a:ext>
          </a:extLst>
        </p:spPr>
        <p:txBody>
          <a:bodyPr/>
          <a:lstStyle>
            <a:lvl1pPr>
              <a:defRPr sz="2000">
                <a:solidFill>
                  <a:srgbClr val="FFFFFF"/>
                </a:solidFill>
                <a:latin typeface="Calibri"/>
                <a:ea typeface="Calibri"/>
                <a:cs typeface="Calibri"/>
              </a:defRPr>
            </a:lvl1pPr>
          </a:lstStyle>
          <a:p>
            <a:pPr algn="ctr"/>
            <a:fld id="{F7021451-1387-4CA6-816F-3879F97B5CBC}" type="slidenum">
              <a:rPr b="1" lang="en-US"/>
              <a:t>15</a:t>
            </a:fld>
            <a:endParaRPr lang="en-US"/>
          </a:p>
        </p:txBody>
      </p:sp>
    </p:spTree>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name="Slide 16">
    <p:spTree>
      <p:nvGrpSpPr>
        <p:cNvPr id="1" name=""/>
        <p:cNvGrpSpPr/>
        <p:nvPr/>
      </p:nvGrpSpPr>
      <p:grpSpPr>
        <a:xfrm>
          <a:off x="0" y="0"/>
          <a:ext cx="0" cy="0"/>
          <a:chOff x="0" y="0"/>
          <a:chExt cx="0" cy="0"/>
        </a:xfrm>
      </p:grpSpPr>
      <p:sp>
        <p:nvSpPr>
          <p:cNvPr id="2" name="Text 0"/>
          <p:cNvSpPr/>
          <p:nvPr/>
        </p:nvSpPr>
        <p:spPr>
          <a:xfrm>
            <a:off x="457200" y="713232"/>
            <a:ext cx="11368735" cy="274320"/>
          </a:xfrm>
          <a:prstGeom prst="rect">
            <a:avLst/>
          </a:prstGeom>
          <a:noFill/>
          <a:ln/>
        </p:spPr>
        <p:txBody>
          <a:bodyPr wrap="square" lIns="0" tIns="0" rIns="0" bIns="0" rtlCol="0" anchor="ctr"/>
          <a:lstStyle/>
          <a:p>
            <a:pPr algn="r" indent="0" marL="0">
              <a:buNone/>
            </a:pPr>
            <a:r>
              <a:rPr lang="en-US" sz="1400" b="1" dirty="0">
                <a:solidFill>
                  <a:srgbClr val="1C3F6E"/>
                </a:solidFill>
                <a:latin typeface="Calibri" pitchFamily="34" charset="0"/>
                <a:ea typeface="Calibri" pitchFamily="34" charset="-122"/>
                <a:cs typeface="Calibri" pitchFamily="34" charset="-120"/>
              </a:rPr>
              <a:t>REAL-LIFE SITUATION</a:t>
            </a:r>
            <a:endParaRPr lang="en-US" sz="1400" dirty="0"/>
          </a:p>
        </p:txBody>
      </p:sp>
      <p:pic>
        <p:nvPicPr>
          <p:cNvPr id="3" name="Image 0" descr="/home/claude/f4/img/minesec_sheet.png">    </p:cNvPr>
          <p:cNvPicPr>
            <a:picLocks noChangeAspect="1"/>
          </p:cNvPicPr>
          <p:nvPr/>
        </p:nvPicPr>
        <p:blipFill>
          <a:blip r:embed="rId1"/>
          <a:stretch>
            <a:fillRect/>
          </a:stretch>
        </p:blipFill>
        <p:spPr>
          <a:xfrm>
            <a:off x="0" y="658368"/>
            <a:ext cx="5120640" cy="5833872"/>
          </a:xfrm>
          <a:prstGeom prst="rect">
            <a:avLst/>
          </a:prstGeom>
        </p:spPr>
      </p:pic>
      <p:sp>
        <p:nvSpPr>
          <p:cNvPr id="4" name="Text 1"/>
          <p:cNvSpPr/>
          <p:nvPr/>
        </p:nvSpPr>
        <p:spPr>
          <a:xfrm>
            <a:off x="5349240" y="1005840"/>
            <a:ext cx="6522415" cy="731520"/>
          </a:xfrm>
          <a:prstGeom prst="rect">
            <a:avLst/>
          </a:prstGeom>
          <a:noFill/>
          <a:ln/>
        </p:spPr>
        <p:txBody>
          <a:bodyPr wrap="square" lIns="0" tIns="0" rIns="0" bIns="0" rtlCol="0" anchor="ctr">
            <a:normAutofit/>
          </a:bodyPr>
          <a:lstStyle/>
          <a:p>
            <a:pPr algn="ctr" indent="0" marL="0">
              <a:buNone/>
            </a:pPr>
            <a:r>
              <a:rPr lang="en-US" sz="3600" b="1" dirty="0">
                <a:solidFill>
                  <a:srgbClr val="990011"/>
                </a:solidFill>
                <a:latin typeface="Times New Roman" pitchFamily="34" charset="0"/>
                <a:ea typeface="Times New Roman" pitchFamily="34" charset="-122"/>
                <a:cs typeface="Times New Roman" pitchFamily="34" charset="-120"/>
              </a:rPr>
              <a:t>Possible Answer</a:t>
            </a:r>
            <a:endParaRPr lang="en-US" sz="3600" dirty="0"/>
          </a:p>
        </p:txBody>
      </p:sp>
      <p:sp>
        <p:nvSpPr>
          <p:cNvPr id="5" name="Text 2"/>
          <p:cNvSpPr/>
          <p:nvPr/>
        </p:nvSpPr>
        <p:spPr>
          <a:xfrm>
            <a:off x="5349240" y="1783080"/>
            <a:ext cx="6522415" cy="4663440"/>
          </a:xfrm>
          <a:prstGeom prst="rect">
            <a:avLst/>
          </a:prstGeom>
          <a:noFill/>
          <a:ln/>
        </p:spPr>
        <p:txBody>
          <a:bodyPr wrap="square" lIns="0" tIns="0" rIns="0" bIns="0" rtlCol="0" anchor="t"/>
          <a:lstStyle/>
          <a:p>
            <a:pPr algn="l" indent="0" marL="0">
              <a:spcAft>
                <a:spcPts val="800"/>
              </a:spcAft>
              <a:buNone/>
            </a:pPr>
            <a:r>
              <a:rPr lang="en-US" sz="4000" dirty="0">
                <a:solidFill>
                  <a:srgbClr val="111111"/>
                </a:solidFill>
                <a:latin typeface="Times New Roman" pitchFamily="34" charset="0"/>
                <a:ea typeface="Times New Roman" pitchFamily="34" charset="-122"/>
                <a:cs typeface="Times New Roman" pitchFamily="34" charset="-120"/>
              </a:rPr>
              <a:t>The Human Development Index (HDI).</a:t>
            </a:r>
            <a:endParaRPr lang="en-US" sz="4000" dirty="0"/>
          </a:p>
        </p:txBody>
      </p:sp>
      <p:sp>
        <p:nvSpPr>
          <p:cNvPr id="25" name="Slide Number Placeholder 0"/>
          <p:cNvSpPr>
            <a:spLocks noGrp="1"/>
          </p:cNvSpPr>
          <p:nvPr>
            <p:ph type="sldNum" sz="quarter" idx="4294967295"/>
          </p:nvPr>
        </p:nvSpPr>
        <p:spPr>
          <a:xfrm>
            <a:off x="27432" y="91440"/>
            <a:ext cx="585216" cy="475488"/>
          </a:xfrm>
          <a:prstGeom prst="rect">
            <a:avLst/>
          </a:prstGeom>
          <a:extLst>
            <a:ext uri="{C572A759-6A51-4108-AA02-DFA0A04FC94B}">
              <ma14:wrappingTextBoxFlag xmlns:ma14="http://schemas.microsoft.com/office/mac/drawingml/2011/main" val="0"/>
            </a:ext>
          </a:extLst>
        </p:spPr>
        <p:txBody>
          <a:bodyPr/>
          <a:lstStyle>
            <a:lvl1pPr>
              <a:defRPr sz="2000">
                <a:solidFill>
                  <a:srgbClr val="FFFFFF"/>
                </a:solidFill>
                <a:latin typeface="Calibri"/>
                <a:ea typeface="Calibri"/>
                <a:cs typeface="Calibri"/>
              </a:defRPr>
            </a:lvl1pPr>
          </a:lstStyle>
          <a:p>
            <a:pPr algn="ctr"/>
            <a:fld id="{F7021451-1387-4CA6-816F-3879F97B5CBC}" type="slidenum">
              <a:rPr b="1" lang="en-US"/>
              <a:t>16</a:t>
            </a:fld>
            <a:endParaRPr lang="en-US"/>
          </a:p>
        </p:txBody>
      </p:sp>
    </p:spTree>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name="Slide 17">
    <p:spTree>
      <p:nvGrpSpPr>
        <p:cNvPr id="1" name=""/>
        <p:cNvGrpSpPr/>
        <p:nvPr/>
      </p:nvGrpSpPr>
      <p:grpSpPr>
        <a:xfrm>
          <a:off x="0" y="0"/>
          <a:ext cx="0" cy="0"/>
          <a:chOff x="0" y="0"/>
          <a:chExt cx="0" cy="0"/>
        </a:xfrm>
      </p:grpSpPr>
      <p:sp>
        <p:nvSpPr>
          <p:cNvPr id="2" name="Text 0"/>
          <p:cNvSpPr/>
          <p:nvPr/>
        </p:nvSpPr>
        <p:spPr>
          <a:xfrm>
            <a:off x="457200" y="713232"/>
            <a:ext cx="11368735" cy="274320"/>
          </a:xfrm>
          <a:prstGeom prst="rect">
            <a:avLst/>
          </a:prstGeom>
          <a:noFill/>
          <a:ln/>
        </p:spPr>
        <p:txBody>
          <a:bodyPr wrap="square" lIns="0" tIns="0" rIns="0" bIns="0" rtlCol="0" anchor="ctr"/>
          <a:lstStyle/>
          <a:p>
            <a:pPr algn="r" indent="0" marL="0">
              <a:buNone/>
            </a:pPr>
            <a:r>
              <a:rPr lang="en-US" sz="1400" b="1" dirty="0">
                <a:solidFill>
                  <a:srgbClr val="1C3F6E"/>
                </a:solidFill>
                <a:latin typeface="Calibri" pitchFamily="34" charset="0"/>
                <a:ea typeface="Calibri" pitchFamily="34" charset="-122"/>
                <a:cs typeface="Calibri" pitchFamily="34" charset="-120"/>
              </a:rPr>
              <a:t>ACTION TO TAKE</a:t>
            </a:r>
            <a:endParaRPr lang="en-US" sz="1400" dirty="0"/>
          </a:p>
        </p:txBody>
      </p:sp>
      <p:pic>
        <p:nvPicPr>
          <p:cNvPr id="3" name="Image 0" descr="/home/claude/f4/img/minesec_sheet.png">    </p:cNvPr>
          <p:cNvPicPr>
            <a:picLocks noChangeAspect="1"/>
          </p:cNvPicPr>
          <p:nvPr/>
        </p:nvPicPr>
        <p:blipFill>
          <a:blip r:embed="rId1"/>
          <a:stretch>
            <a:fillRect/>
          </a:stretch>
        </p:blipFill>
        <p:spPr>
          <a:xfrm>
            <a:off x="0" y="658368"/>
            <a:ext cx="5120640" cy="5833872"/>
          </a:xfrm>
          <a:prstGeom prst="rect">
            <a:avLst/>
          </a:prstGeom>
        </p:spPr>
      </p:pic>
      <p:sp>
        <p:nvSpPr>
          <p:cNvPr id="4" name="Text 1"/>
          <p:cNvSpPr/>
          <p:nvPr/>
        </p:nvSpPr>
        <p:spPr>
          <a:xfrm>
            <a:off x="5349240" y="1005840"/>
            <a:ext cx="6522415" cy="731520"/>
          </a:xfrm>
          <a:prstGeom prst="rect">
            <a:avLst/>
          </a:prstGeom>
          <a:noFill/>
          <a:ln/>
        </p:spPr>
        <p:txBody>
          <a:bodyPr wrap="square" lIns="0" tIns="0" rIns="0" bIns="0" rtlCol="0" anchor="ctr">
            <a:normAutofit/>
          </a:bodyPr>
          <a:lstStyle/>
          <a:p>
            <a:pPr algn="ctr" indent="0" marL="0">
              <a:buNone/>
            </a:pPr>
            <a:r>
              <a:rPr lang="en-US" sz="3600" b="1" dirty="0">
                <a:solidFill>
                  <a:srgbClr val="990011"/>
                </a:solidFill>
                <a:latin typeface="Times New Roman" pitchFamily="34" charset="0"/>
                <a:ea typeface="Times New Roman" pitchFamily="34" charset="-122"/>
                <a:cs typeface="Times New Roman" pitchFamily="34" charset="-120"/>
              </a:rPr>
              <a:t>Action to Take</a:t>
            </a:r>
            <a:endParaRPr lang="en-US" sz="3600" dirty="0"/>
          </a:p>
        </p:txBody>
      </p:sp>
      <p:sp>
        <p:nvSpPr>
          <p:cNvPr id="5" name="Text 2"/>
          <p:cNvSpPr/>
          <p:nvPr/>
        </p:nvSpPr>
        <p:spPr>
          <a:xfrm>
            <a:off x="5349240" y="1783080"/>
            <a:ext cx="6522415" cy="4663440"/>
          </a:xfrm>
          <a:prstGeom prst="rect">
            <a:avLst/>
          </a:prstGeom>
          <a:noFill/>
          <a:ln/>
        </p:spPr>
        <p:txBody>
          <a:bodyPr wrap="square" lIns="0" tIns="0" rIns="0" bIns="0" rtlCol="0" anchor="t"/>
          <a:lstStyle/>
          <a:p>
            <a:pPr algn="l" indent="0" marL="0">
              <a:spcAft>
                <a:spcPts val="800"/>
              </a:spcAft>
              <a:buNone/>
            </a:pPr>
            <a:r>
              <a:rPr lang="en-US" sz="4000" dirty="0">
                <a:solidFill>
                  <a:srgbClr val="111111"/>
                </a:solidFill>
                <a:latin typeface="Times New Roman" pitchFamily="34" charset="0"/>
                <a:ea typeface="Times New Roman" pitchFamily="34" charset="-122"/>
                <a:cs typeface="Times New Roman" pitchFamily="34" charset="-120"/>
              </a:rPr>
              <a:t>Use resources wisely so that future generations can also meet their needs.</a:t>
            </a:r>
            <a:endParaRPr lang="en-US" sz="4000" dirty="0"/>
          </a:p>
        </p:txBody>
      </p:sp>
      <p:sp>
        <p:nvSpPr>
          <p:cNvPr id="25" name="Slide Number Placeholder 0"/>
          <p:cNvSpPr>
            <a:spLocks noGrp="1"/>
          </p:cNvSpPr>
          <p:nvPr>
            <p:ph type="sldNum" sz="quarter" idx="4294967295"/>
          </p:nvPr>
        </p:nvSpPr>
        <p:spPr>
          <a:xfrm>
            <a:off x="27432" y="91440"/>
            <a:ext cx="585216" cy="475488"/>
          </a:xfrm>
          <a:prstGeom prst="rect">
            <a:avLst/>
          </a:prstGeom>
          <a:extLst>
            <a:ext uri="{C572A759-6A51-4108-AA02-DFA0A04FC94B}">
              <ma14:wrappingTextBoxFlag xmlns:ma14="http://schemas.microsoft.com/office/mac/drawingml/2011/main" val="0"/>
            </a:ext>
          </a:extLst>
        </p:spPr>
        <p:txBody>
          <a:bodyPr/>
          <a:lstStyle>
            <a:lvl1pPr>
              <a:defRPr sz="2000">
                <a:solidFill>
                  <a:srgbClr val="FFFFFF"/>
                </a:solidFill>
                <a:latin typeface="Calibri"/>
                <a:ea typeface="Calibri"/>
                <a:cs typeface="Calibri"/>
              </a:defRPr>
            </a:lvl1pPr>
          </a:lstStyle>
          <a:p>
            <a:pPr algn="ctr"/>
            <a:fld id="{F7021451-1387-4CA6-816F-3879F97B5CBC}" type="slidenum">
              <a:rPr b="1" lang="en-US"/>
              <a:t>17</a:t>
            </a:fld>
            <a:endParaRPr lang="en-US"/>
          </a:p>
        </p:txBody>
      </p:sp>
    </p:spTree>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name="Slide 18">
    <p:spTree>
      <p:nvGrpSpPr>
        <p:cNvPr id="1" name=""/>
        <p:cNvGrpSpPr/>
        <p:nvPr/>
      </p:nvGrpSpPr>
      <p:grpSpPr>
        <a:xfrm>
          <a:off x="0" y="0"/>
          <a:ext cx="0" cy="0"/>
          <a:chOff x="0" y="0"/>
          <a:chExt cx="0" cy="0"/>
        </a:xfrm>
      </p:grpSpPr>
      <p:sp>
        <p:nvSpPr>
          <p:cNvPr id="2" name="Text 0"/>
          <p:cNvSpPr/>
          <p:nvPr/>
        </p:nvSpPr>
        <p:spPr>
          <a:xfrm>
            <a:off x="457200" y="713232"/>
            <a:ext cx="11368735" cy="274320"/>
          </a:xfrm>
          <a:prstGeom prst="rect">
            <a:avLst/>
          </a:prstGeom>
          <a:noFill/>
          <a:ln/>
        </p:spPr>
        <p:txBody>
          <a:bodyPr wrap="square" lIns="0" tIns="0" rIns="0" bIns="0" rtlCol="0" anchor="ctr"/>
          <a:lstStyle/>
          <a:p>
            <a:pPr algn="r" indent="0" marL="0">
              <a:buNone/>
            </a:pPr>
            <a:r>
              <a:rPr lang="en-US" sz="1400" b="1" dirty="0">
                <a:solidFill>
                  <a:srgbClr val="1C3F6E"/>
                </a:solidFill>
                <a:latin typeface="Calibri" pitchFamily="34" charset="0"/>
                <a:ea typeface="Calibri" pitchFamily="34" charset="-122"/>
                <a:cs typeface="Calibri" pitchFamily="34" charset="-120"/>
              </a:rPr>
              <a:t>JUSTIFICATION</a:t>
            </a:r>
            <a:endParaRPr lang="en-US" sz="1400" dirty="0"/>
          </a:p>
        </p:txBody>
      </p:sp>
      <p:pic>
        <p:nvPicPr>
          <p:cNvPr id="3" name="Image 0" descr="/home/claude/f4/img/minesec_sheet.png">    </p:cNvPr>
          <p:cNvPicPr>
            <a:picLocks noChangeAspect="1"/>
          </p:cNvPicPr>
          <p:nvPr/>
        </p:nvPicPr>
        <p:blipFill>
          <a:blip r:embed="rId1"/>
          <a:stretch>
            <a:fillRect/>
          </a:stretch>
        </p:blipFill>
        <p:spPr>
          <a:xfrm>
            <a:off x="0" y="658368"/>
            <a:ext cx="5120640" cy="5833872"/>
          </a:xfrm>
          <a:prstGeom prst="rect">
            <a:avLst/>
          </a:prstGeom>
        </p:spPr>
      </p:pic>
      <p:sp>
        <p:nvSpPr>
          <p:cNvPr id="4" name="Text 1"/>
          <p:cNvSpPr/>
          <p:nvPr/>
        </p:nvSpPr>
        <p:spPr>
          <a:xfrm>
            <a:off x="5349240" y="1005840"/>
            <a:ext cx="6522415" cy="731520"/>
          </a:xfrm>
          <a:prstGeom prst="rect">
            <a:avLst/>
          </a:prstGeom>
          <a:noFill/>
          <a:ln/>
        </p:spPr>
        <p:txBody>
          <a:bodyPr wrap="square" lIns="0" tIns="0" rIns="0" bIns="0" rtlCol="0" anchor="ctr">
            <a:normAutofit/>
          </a:bodyPr>
          <a:lstStyle/>
          <a:p>
            <a:pPr algn="ctr" indent="0" marL="0">
              <a:buNone/>
            </a:pPr>
            <a:r>
              <a:rPr lang="en-US" sz="3600" b="1" dirty="0">
                <a:solidFill>
                  <a:srgbClr val="990011"/>
                </a:solidFill>
                <a:latin typeface="Times New Roman" pitchFamily="34" charset="0"/>
                <a:ea typeface="Times New Roman" pitchFamily="34" charset="-122"/>
                <a:cs typeface="Times New Roman" pitchFamily="34" charset="-120"/>
              </a:rPr>
              <a:t>Justification of the Lesson</a:t>
            </a:r>
            <a:endParaRPr lang="en-US" sz="3600" dirty="0"/>
          </a:p>
        </p:txBody>
      </p:sp>
      <p:sp>
        <p:nvSpPr>
          <p:cNvPr id="5" name="Text 2"/>
          <p:cNvSpPr/>
          <p:nvPr/>
        </p:nvSpPr>
        <p:spPr>
          <a:xfrm>
            <a:off x="5349240" y="1783080"/>
            <a:ext cx="6522415" cy="4663440"/>
          </a:xfrm>
          <a:prstGeom prst="rect">
            <a:avLst/>
          </a:prstGeom>
          <a:noFill/>
          <a:ln/>
        </p:spPr>
        <p:txBody>
          <a:bodyPr wrap="square" lIns="0" tIns="0" rIns="0" bIns="0" rtlCol="0" anchor="t"/>
          <a:lstStyle/>
          <a:p>
            <a:pPr algn="l" indent="0" marL="0">
              <a:spcAft>
                <a:spcPts val="800"/>
              </a:spcAft>
              <a:buNone/>
            </a:pPr>
            <a:r>
              <a:rPr lang="en-US" sz="4000" dirty="0">
                <a:solidFill>
                  <a:srgbClr val="111111"/>
                </a:solidFill>
                <a:latin typeface="Times New Roman" pitchFamily="34" charset="0"/>
                <a:ea typeface="Times New Roman" pitchFamily="34" charset="-122"/>
                <a:cs typeface="Times New Roman" pitchFamily="34" charset="-120"/>
              </a:rPr>
              <a:t>This lesson helps us to understand and measure development.</a:t>
            </a:r>
            <a:endParaRPr lang="en-US" sz="4000" dirty="0"/>
          </a:p>
        </p:txBody>
      </p:sp>
      <p:sp>
        <p:nvSpPr>
          <p:cNvPr id="25" name="Slide Number Placeholder 0"/>
          <p:cNvSpPr>
            <a:spLocks noGrp="1"/>
          </p:cNvSpPr>
          <p:nvPr>
            <p:ph type="sldNum" sz="quarter" idx="4294967295"/>
          </p:nvPr>
        </p:nvSpPr>
        <p:spPr>
          <a:xfrm>
            <a:off x="27432" y="91440"/>
            <a:ext cx="585216" cy="475488"/>
          </a:xfrm>
          <a:prstGeom prst="rect">
            <a:avLst/>
          </a:prstGeom>
          <a:extLst>
            <a:ext uri="{C572A759-6A51-4108-AA02-DFA0A04FC94B}">
              <ma14:wrappingTextBoxFlag xmlns:ma14="http://schemas.microsoft.com/office/mac/drawingml/2011/main" val="0"/>
            </a:ext>
          </a:extLst>
        </p:spPr>
        <p:txBody>
          <a:bodyPr/>
          <a:lstStyle>
            <a:lvl1pPr>
              <a:defRPr sz="2000">
                <a:solidFill>
                  <a:srgbClr val="FFFFFF"/>
                </a:solidFill>
                <a:latin typeface="Calibri"/>
                <a:ea typeface="Calibri"/>
                <a:cs typeface="Calibri"/>
              </a:defRPr>
            </a:lvl1pPr>
          </a:lstStyle>
          <a:p>
            <a:pPr algn="ctr"/>
            <a:fld id="{F7021451-1387-4CA6-816F-3879F97B5CBC}" type="slidenum">
              <a:rPr b="1" lang="en-US"/>
              <a:t>18</a:t>
            </a:fld>
            <a:endParaRPr lang="en-US"/>
          </a:p>
        </p:txBody>
      </p:sp>
    </p:spTree>
  </p:cSld>
  <p:clrMapOvr>
    <a:masterClrMapping/>
  </p:clrMapOvr>
</p:sld>
</file>

<file path=ppt/slides/slide19.xml><?xml version="1.0" encoding="utf-8"?>
<p:sld xmlns:a="http://schemas.openxmlformats.org/drawingml/2006/main" xmlns:r="http://schemas.openxmlformats.org/officeDocument/2006/relationships" xmlns:p="http://schemas.openxmlformats.org/presentationml/2006/main">
  <p:cSld name="Slide 19">
    <p:spTree>
      <p:nvGrpSpPr>
        <p:cNvPr id="1" name=""/>
        <p:cNvGrpSpPr/>
        <p:nvPr/>
      </p:nvGrpSpPr>
      <p:grpSpPr>
        <a:xfrm>
          <a:off x="0" y="0"/>
          <a:ext cx="0" cy="0"/>
          <a:chOff x="0" y="0"/>
          <a:chExt cx="0" cy="0"/>
        </a:xfrm>
      </p:grpSpPr>
      <p:sp>
        <p:nvSpPr>
          <p:cNvPr id="2" name="Text 0"/>
          <p:cNvSpPr/>
          <p:nvPr/>
        </p:nvSpPr>
        <p:spPr>
          <a:xfrm>
            <a:off x="457200" y="713232"/>
            <a:ext cx="11368735" cy="274320"/>
          </a:xfrm>
          <a:prstGeom prst="rect">
            <a:avLst/>
          </a:prstGeom>
          <a:noFill/>
          <a:ln/>
        </p:spPr>
        <p:txBody>
          <a:bodyPr wrap="square" lIns="0" tIns="0" rIns="0" bIns="0" rtlCol="0" anchor="ctr"/>
          <a:lstStyle/>
          <a:p>
            <a:pPr algn="r" indent="0" marL="0">
              <a:buNone/>
            </a:pPr>
            <a:r>
              <a:rPr lang="en-US" sz="1400" b="1" dirty="0">
                <a:solidFill>
                  <a:srgbClr val="1C3F6E"/>
                </a:solidFill>
                <a:latin typeface="Calibri" pitchFamily="34" charset="0"/>
                <a:ea typeface="Calibri" pitchFamily="34" charset="-122"/>
                <a:cs typeface="Calibri" pitchFamily="34" charset="-120"/>
              </a:rPr>
              <a:t>1. MEANING OF DEVELOPMENT</a:t>
            </a:r>
            <a:endParaRPr lang="en-US" sz="1400" dirty="0"/>
          </a:p>
        </p:txBody>
      </p:sp>
      <p:sp>
        <p:nvSpPr>
          <p:cNvPr id="3" name="Text 1"/>
          <p:cNvSpPr/>
          <p:nvPr/>
        </p:nvSpPr>
        <p:spPr>
          <a:xfrm>
            <a:off x="457200" y="1005840"/>
            <a:ext cx="11277295" cy="731520"/>
          </a:xfrm>
          <a:prstGeom prst="rect">
            <a:avLst/>
          </a:prstGeom>
          <a:noFill/>
          <a:ln/>
        </p:spPr>
        <p:txBody>
          <a:bodyPr wrap="square" lIns="0" tIns="0" rIns="0" bIns="0" rtlCol="0" anchor="ctr"/>
          <a:lstStyle/>
          <a:p>
            <a:pPr algn="ctr" indent="0" marL="0">
              <a:buNone/>
            </a:pPr>
            <a:r>
              <a:rPr lang="en-US" sz="3600" b="1" dirty="0">
                <a:solidFill>
                  <a:srgbClr val="990011"/>
                </a:solidFill>
                <a:latin typeface="Times New Roman" pitchFamily="34" charset="0"/>
                <a:ea typeface="Times New Roman" pitchFamily="34" charset="-122"/>
                <a:cs typeface="Times New Roman" pitchFamily="34" charset="-120"/>
              </a:rPr>
              <a:t>Activity 1</a:t>
            </a:r>
            <a:endParaRPr lang="en-US" sz="3600" dirty="0"/>
          </a:p>
        </p:txBody>
      </p:sp>
      <p:pic>
        <p:nvPicPr>
          <p:cNvPr id="4" name="Image 0" descr="/home/claude/f4/img/v2/usa_skyline.jpg">    </p:cNvPr>
          <p:cNvPicPr>
            <a:picLocks noChangeAspect="1"/>
          </p:cNvPicPr>
          <p:nvPr/>
        </p:nvPicPr>
        <p:blipFill>
          <a:blip r:embed="rId1"/>
          <a:stretch>
            <a:fillRect/>
          </a:stretch>
        </p:blipFill>
        <p:spPr>
          <a:xfrm>
            <a:off x="2246610" y="1783080"/>
            <a:ext cx="7698475" cy="4270248"/>
          </a:xfrm>
          <a:prstGeom prst="rect">
            <a:avLst/>
          </a:prstGeom>
        </p:spPr>
      </p:pic>
      <p:sp>
        <p:nvSpPr>
          <p:cNvPr id="5" name="Text 2"/>
          <p:cNvSpPr/>
          <p:nvPr/>
        </p:nvSpPr>
        <p:spPr>
          <a:xfrm>
            <a:off x="457200" y="6089904"/>
            <a:ext cx="11277295" cy="347472"/>
          </a:xfrm>
          <a:prstGeom prst="rect">
            <a:avLst/>
          </a:prstGeom>
          <a:noFill/>
          <a:ln/>
        </p:spPr>
        <p:txBody>
          <a:bodyPr wrap="square" lIns="0" tIns="0" rIns="0" bIns="0" rtlCol="0" anchor="ctr"/>
          <a:lstStyle/>
          <a:p>
            <a:pPr algn="ctr" indent="0" marL="0">
              <a:buNone/>
            </a:pPr>
            <a:r>
              <a:rPr lang="en-US" sz="1800" i="1" dirty="0">
                <a:solidFill>
                  <a:srgbClr val="555555"/>
                </a:solidFill>
                <a:latin typeface="Times New Roman" pitchFamily="34" charset="0"/>
                <a:ea typeface="Times New Roman" pitchFamily="34" charset="-122"/>
                <a:cs typeface="Times New Roman" pitchFamily="34" charset="-120"/>
              </a:rPr>
              <a:t>A city in a rich country.</a:t>
            </a:r>
            <a:endParaRPr lang="en-US" sz="1800" dirty="0"/>
          </a:p>
        </p:txBody>
      </p:sp>
      <p:sp>
        <p:nvSpPr>
          <p:cNvPr id="25" name="Slide Number Placeholder 0"/>
          <p:cNvSpPr>
            <a:spLocks noGrp="1"/>
          </p:cNvSpPr>
          <p:nvPr>
            <p:ph type="sldNum" sz="quarter" idx="4294967295"/>
          </p:nvPr>
        </p:nvSpPr>
        <p:spPr>
          <a:xfrm>
            <a:off x="27432" y="91440"/>
            <a:ext cx="585216" cy="475488"/>
          </a:xfrm>
          <a:prstGeom prst="rect">
            <a:avLst/>
          </a:prstGeom>
          <a:extLst>
            <a:ext uri="{C572A759-6A51-4108-AA02-DFA0A04FC94B}">
              <ma14:wrappingTextBoxFlag xmlns:ma14="http://schemas.microsoft.com/office/mac/drawingml/2011/main" val="0"/>
            </a:ext>
          </a:extLst>
        </p:spPr>
        <p:txBody>
          <a:bodyPr/>
          <a:lstStyle>
            <a:lvl1pPr>
              <a:defRPr sz="2000">
                <a:solidFill>
                  <a:srgbClr val="FFFFFF"/>
                </a:solidFill>
                <a:latin typeface="Calibri"/>
                <a:ea typeface="Calibri"/>
                <a:cs typeface="Calibri"/>
              </a:defRPr>
            </a:lvl1pPr>
          </a:lstStyle>
          <a:p>
            <a:pPr algn="ctr"/>
            <a:fld id="{F7021451-1387-4CA6-816F-3879F97B5CBC}" type="slidenum">
              <a:rPr b="1" lang="en-US"/>
              <a:t>19</a:t>
            </a:fld>
            <a:endParaRPr lang="en-US"/>
          </a:p>
        </p:txBody>
      </p:sp>
    </p:spTree>
  </p:cSld>
  <p:clrMapOvr>
    <a:masterClrMapping/>
  </p:clrMapOvr>
</p:sld>
</file>

<file path=ppt/slides/slide20.xml><?xml version="1.0" encoding="utf-8"?>
<p:sld xmlns:a="http://schemas.openxmlformats.org/drawingml/2006/main" xmlns:r="http://schemas.openxmlformats.org/officeDocument/2006/relationships" xmlns:p="http://schemas.openxmlformats.org/presentationml/2006/main">
  <p:cSld name="Slide 20">
    <p:spTree>
      <p:nvGrpSpPr>
        <p:cNvPr id="1" name=""/>
        <p:cNvGrpSpPr/>
        <p:nvPr/>
      </p:nvGrpSpPr>
      <p:grpSpPr>
        <a:xfrm>
          <a:off x="0" y="0"/>
          <a:ext cx="0" cy="0"/>
          <a:chOff x="0" y="0"/>
          <a:chExt cx="0" cy="0"/>
        </a:xfrm>
      </p:grpSpPr>
      <p:sp>
        <p:nvSpPr>
          <p:cNvPr id="2" name="Text 0"/>
          <p:cNvSpPr/>
          <p:nvPr/>
        </p:nvSpPr>
        <p:spPr>
          <a:xfrm>
            <a:off x="457200" y="713232"/>
            <a:ext cx="11368735" cy="274320"/>
          </a:xfrm>
          <a:prstGeom prst="rect">
            <a:avLst/>
          </a:prstGeom>
          <a:noFill/>
          <a:ln/>
        </p:spPr>
        <p:txBody>
          <a:bodyPr wrap="square" lIns="0" tIns="0" rIns="0" bIns="0" rtlCol="0" anchor="ctr"/>
          <a:lstStyle/>
          <a:p>
            <a:pPr algn="r" indent="0" marL="0">
              <a:buNone/>
            </a:pPr>
            <a:r>
              <a:rPr lang="en-US" sz="1400" b="1" dirty="0">
                <a:solidFill>
                  <a:srgbClr val="1C3F6E"/>
                </a:solidFill>
                <a:latin typeface="Calibri" pitchFamily="34" charset="0"/>
                <a:ea typeface="Calibri" pitchFamily="34" charset="-122"/>
                <a:cs typeface="Calibri" pitchFamily="34" charset="-120"/>
              </a:rPr>
              <a:t>1. MEANING OF DEVELOPMENT</a:t>
            </a:r>
            <a:endParaRPr lang="en-US" sz="1400" dirty="0"/>
          </a:p>
        </p:txBody>
      </p:sp>
      <p:pic>
        <p:nvPicPr>
          <p:cNvPr id="3" name="Image 0" descr="/home/claude/f4/img/minesec_sheet.png">    </p:cNvPr>
          <p:cNvPicPr>
            <a:picLocks noChangeAspect="1"/>
          </p:cNvPicPr>
          <p:nvPr/>
        </p:nvPicPr>
        <p:blipFill>
          <a:blip r:embed="rId1"/>
          <a:stretch>
            <a:fillRect/>
          </a:stretch>
        </p:blipFill>
        <p:spPr>
          <a:xfrm>
            <a:off x="0" y="658368"/>
            <a:ext cx="5120640" cy="5833872"/>
          </a:xfrm>
          <a:prstGeom prst="rect">
            <a:avLst/>
          </a:prstGeom>
        </p:spPr>
      </p:pic>
      <p:sp>
        <p:nvSpPr>
          <p:cNvPr id="4" name="Text 1"/>
          <p:cNvSpPr/>
          <p:nvPr/>
        </p:nvSpPr>
        <p:spPr>
          <a:xfrm>
            <a:off x="5349240" y="1005840"/>
            <a:ext cx="6522415" cy="731520"/>
          </a:xfrm>
          <a:prstGeom prst="rect">
            <a:avLst/>
          </a:prstGeom>
          <a:noFill/>
          <a:ln/>
        </p:spPr>
        <p:txBody>
          <a:bodyPr wrap="square" lIns="0" tIns="0" rIns="0" bIns="0" rtlCol="0" anchor="ctr">
            <a:normAutofit/>
          </a:bodyPr>
          <a:lstStyle/>
          <a:p>
            <a:pPr algn="ctr" indent="0" marL="0">
              <a:buNone/>
            </a:pPr>
            <a:r>
              <a:rPr lang="en-US" sz="3600" b="1" dirty="0">
                <a:solidFill>
                  <a:srgbClr val="990011"/>
                </a:solidFill>
                <a:latin typeface="Times New Roman" pitchFamily="34" charset="0"/>
                <a:ea typeface="Times New Roman" pitchFamily="34" charset="-122"/>
                <a:cs typeface="Times New Roman" pitchFamily="34" charset="-120"/>
              </a:rPr>
              <a:t>Activity 1: Question</a:t>
            </a:r>
            <a:endParaRPr lang="en-US" sz="3600" dirty="0"/>
          </a:p>
        </p:txBody>
      </p:sp>
      <p:sp>
        <p:nvSpPr>
          <p:cNvPr id="5" name="Text 2"/>
          <p:cNvSpPr/>
          <p:nvPr/>
        </p:nvSpPr>
        <p:spPr>
          <a:xfrm>
            <a:off x="5349240" y="1783080"/>
            <a:ext cx="6522415" cy="4663440"/>
          </a:xfrm>
          <a:prstGeom prst="rect">
            <a:avLst/>
          </a:prstGeom>
          <a:noFill/>
          <a:ln/>
        </p:spPr>
        <p:txBody>
          <a:bodyPr wrap="square" lIns="0" tIns="0" rIns="0" bIns="0" rtlCol="0" anchor="t"/>
          <a:lstStyle/>
          <a:p>
            <a:pPr algn="l" indent="0" marL="0">
              <a:spcAft>
                <a:spcPts val="800"/>
              </a:spcAft>
              <a:buNone/>
            </a:pPr>
            <a:r>
              <a:rPr lang="en-US" sz="4000" dirty="0">
                <a:solidFill>
                  <a:srgbClr val="111111"/>
                </a:solidFill>
                <a:latin typeface="Times New Roman" pitchFamily="34" charset="0"/>
                <a:ea typeface="Times New Roman" pitchFamily="34" charset="-122"/>
                <a:cs typeface="Times New Roman" pitchFamily="34" charset="-120"/>
              </a:rPr>
              <a:t>Distinguish economic growth and development.</a:t>
            </a:r>
            <a:endParaRPr lang="en-US" sz="4000" dirty="0"/>
          </a:p>
        </p:txBody>
      </p:sp>
      <p:sp>
        <p:nvSpPr>
          <p:cNvPr id="25" name="Slide Number Placeholder 0"/>
          <p:cNvSpPr>
            <a:spLocks noGrp="1"/>
          </p:cNvSpPr>
          <p:nvPr>
            <p:ph type="sldNum" sz="quarter" idx="4294967295"/>
          </p:nvPr>
        </p:nvSpPr>
        <p:spPr>
          <a:xfrm>
            <a:off x="27432" y="91440"/>
            <a:ext cx="585216" cy="475488"/>
          </a:xfrm>
          <a:prstGeom prst="rect">
            <a:avLst/>
          </a:prstGeom>
          <a:extLst>
            <a:ext uri="{C572A759-6A51-4108-AA02-DFA0A04FC94B}">
              <ma14:wrappingTextBoxFlag xmlns:ma14="http://schemas.microsoft.com/office/mac/drawingml/2011/main" val="0"/>
            </a:ext>
          </a:extLst>
        </p:spPr>
        <p:txBody>
          <a:bodyPr/>
          <a:lstStyle>
            <a:lvl1pPr>
              <a:defRPr sz="2000">
                <a:solidFill>
                  <a:srgbClr val="FFFFFF"/>
                </a:solidFill>
                <a:latin typeface="Calibri"/>
                <a:ea typeface="Calibri"/>
                <a:cs typeface="Calibri"/>
              </a:defRPr>
            </a:lvl1pPr>
          </a:lstStyle>
          <a:p>
            <a:pPr algn="ctr"/>
            <a:fld id="{F7021451-1387-4CA6-816F-3879F97B5CBC}" type="slidenum">
              <a:rPr b="1" lang="en-US"/>
              <a:t>20</a:t>
            </a:fld>
            <a:endParaRPr lang="en-US"/>
          </a:p>
        </p:txBody>
      </p:sp>
    </p:spTree>
  </p:cSld>
  <p:clrMapOvr>
    <a:masterClrMapping/>
  </p:clrMapOvr>
</p:sld>
</file>

<file path=ppt/slides/slide21.xml><?xml version="1.0" encoding="utf-8"?>
<p:sld xmlns:a="http://schemas.openxmlformats.org/drawingml/2006/main" xmlns:r="http://schemas.openxmlformats.org/officeDocument/2006/relationships" xmlns:p="http://schemas.openxmlformats.org/presentationml/2006/main">
  <p:cSld name="Slide 21">
    <p:spTree>
      <p:nvGrpSpPr>
        <p:cNvPr id="1" name=""/>
        <p:cNvGrpSpPr/>
        <p:nvPr/>
      </p:nvGrpSpPr>
      <p:grpSpPr>
        <a:xfrm>
          <a:off x="0" y="0"/>
          <a:ext cx="0" cy="0"/>
          <a:chOff x="0" y="0"/>
          <a:chExt cx="0" cy="0"/>
        </a:xfrm>
      </p:grpSpPr>
      <p:sp>
        <p:nvSpPr>
          <p:cNvPr id="2" name="Text 0"/>
          <p:cNvSpPr/>
          <p:nvPr/>
        </p:nvSpPr>
        <p:spPr>
          <a:xfrm>
            <a:off x="457200" y="713232"/>
            <a:ext cx="11368735" cy="274320"/>
          </a:xfrm>
          <a:prstGeom prst="rect">
            <a:avLst/>
          </a:prstGeom>
          <a:noFill/>
          <a:ln/>
        </p:spPr>
        <p:txBody>
          <a:bodyPr wrap="square" lIns="0" tIns="0" rIns="0" bIns="0" rtlCol="0" anchor="ctr"/>
          <a:lstStyle/>
          <a:p>
            <a:pPr algn="r" indent="0" marL="0">
              <a:buNone/>
            </a:pPr>
            <a:r>
              <a:rPr lang="en-US" sz="1400" b="1" dirty="0">
                <a:solidFill>
                  <a:srgbClr val="1C3F6E"/>
                </a:solidFill>
                <a:latin typeface="Calibri" pitchFamily="34" charset="0"/>
                <a:ea typeface="Calibri" pitchFamily="34" charset="-122"/>
                <a:cs typeface="Calibri" pitchFamily="34" charset="-120"/>
              </a:rPr>
              <a:t>1. MEANING OF DEVELOPMENT</a:t>
            </a:r>
            <a:endParaRPr lang="en-US" sz="1400" dirty="0"/>
          </a:p>
        </p:txBody>
      </p:sp>
      <p:pic>
        <p:nvPicPr>
          <p:cNvPr id="3" name="Image 0" descr="/home/claude/f4/img/minesec_sheet.png">    </p:cNvPr>
          <p:cNvPicPr>
            <a:picLocks noChangeAspect="1"/>
          </p:cNvPicPr>
          <p:nvPr/>
        </p:nvPicPr>
        <p:blipFill>
          <a:blip r:embed="rId1"/>
          <a:stretch>
            <a:fillRect/>
          </a:stretch>
        </p:blipFill>
        <p:spPr>
          <a:xfrm>
            <a:off x="0" y="658368"/>
            <a:ext cx="5120640" cy="5833872"/>
          </a:xfrm>
          <a:prstGeom prst="rect">
            <a:avLst/>
          </a:prstGeom>
        </p:spPr>
      </p:pic>
      <p:sp>
        <p:nvSpPr>
          <p:cNvPr id="4" name="Text 1"/>
          <p:cNvSpPr/>
          <p:nvPr/>
        </p:nvSpPr>
        <p:spPr>
          <a:xfrm>
            <a:off x="5349240" y="1005840"/>
            <a:ext cx="6522415" cy="731520"/>
          </a:xfrm>
          <a:prstGeom prst="rect">
            <a:avLst/>
          </a:prstGeom>
          <a:noFill/>
          <a:ln/>
        </p:spPr>
        <p:txBody>
          <a:bodyPr wrap="square" lIns="0" tIns="0" rIns="0" bIns="0" rtlCol="0" anchor="ctr">
            <a:normAutofit/>
          </a:bodyPr>
          <a:lstStyle/>
          <a:p>
            <a:pPr algn="ctr" indent="0" marL="0">
              <a:buNone/>
            </a:pPr>
            <a:r>
              <a:rPr lang="en-US" sz="3600" b="1" dirty="0">
                <a:solidFill>
                  <a:srgbClr val="990011"/>
                </a:solidFill>
                <a:latin typeface="Times New Roman" pitchFamily="34" charset="0"/>
                <a:ea typeface="Times New Roman" pitchFamily="34" charset="-122"/>
                <a:cs typeface="Times New Roman" pitchFamily="34" charset="-120"/>
              </a:rPr>
              <a:t>Activity 1: Answer</a:t>
            </a:r>
            <a:endParaRPr lang="en-US" sz="3600" dirty="0"/>
          </a:p>
        </p:txBody>
      </p:sp>
      <p:sp>
        <p:nvSpPr>
          <p:cNvPr id="5" name="Text 2"/>
          <p:cNvSpPr/>
          <p:nvPr/>
        </p:nvSpPr>
        <p:spPr>
          <a:xfrm>
            <a:off x="5349240" y="1783080"/>
            <a:ext cx="6522415" cy="4663440"/>
          </a:xfrm>
          <a:prstGeom prst="rect">
            <a:avLst/>
          </a:prstGeom>
          <a:noFill/>
          <a:ln/>
        </p:spPr>
        <p:txBody>
          <a:bodyPr wrap="square" lIns="0" tIns="0" rIns="0" bIns="0" rtlCol="0" anchor="t"/>
          <a:lstStyle/>
          <a:p>
            <a:pPr algn="l" indent="0" marL="0">
              <a:spcAft>
                <a:spcPts val="800"/>
              </a:spcAft>
              <a:buNone/>
            </a:pPr>
            <a:r>
              <a:rPr lang="en-US" sz="4000" dirty="0">
                <a:solidFill>
                  <a:srgbClr val="111111"/>
                </a:solidFill>
                <a:latin typeface="Times New Roman" pitchFamily="34" charset="0"/>
                <a:ea typeface="Times New Roman" pitchFamily="34" charset="-122"/>
                <a:cs typeface="Times New Roman" pitchFamily="34" charset="-120"/>
              </a:rPr>
              <a:t>Growth is a rise in output; development is a better life for all people.</a:t>
            </a:r>
            <a:endParaRPr lang="en-US" sz="4000" dirty="0"/>
          </a:p>
        </p:txBody>
      </p:sp>
      <p:sp>
        <p:nvSpPr>
          <p:cNvPr id="25" name="Slide Number Placeholder 0"/>
          <p:cNvSpPr>
            <a:spLocks noGrp="1"/>
          </p:cNvSpPr>
          <p:nvPr>
            <p:ph type="sldNum" sz="quarter" idx="4294967295"/>
          </p:nvPr>
        </p:nvSpPr>
        <p:spPr>
          <a:xfrm>
            <a:off x="27432" y="91440"/>
            <a:ext cx="585216" cy="475488"/>
          </a:xfrm>
          <a:prstGeom prst="rect">
            <a:avLst/>
          </a:prstGeom>
          <a:extLst>
            <a:ext uri="{C572A759-6A51-4108-AA02-DFA0A04FC94B}">
              <ma14:wrappingTextBoxFlag xmlns:ma14="http://schemas.microsoft.com/office/mac/drawingml/2011/main" val="0"/>
            </a:ext>
          </a:extLst>
        </p:spPr>
        <p:txBody>
          <a:bodyPr/>
          <a:lstStyle>
            <a:lvl1pPr>
              <a:defRPr sz="2000">
                <a:solidFill>
                  <a:srgbClr val="FFFFFF"/>
                </a:solidFill>
                <a:latin typeface="Calibri"/>
                <a:ea typeface="Calibri"/>
                <a:cs typeface="Calibri"/>
              </a:defRPr>
            </a:lvl1pPr>
          </a:lstStyle>
          <a:p>
            <a:pPr algn="ctr"/>
            <a:fld id="{F7021451-1387-4CA6-816F-3879F97B5CBC}" type="slidenum">
              <a:rPr b="1" lang="en-US"/>
              <a:t>21</a:t>
            </a:fld>
            <a:endParaRPr lang="en-US"/>
          </a:p>
        </p:txBody>
      </p:sp>
    </p:spTree>
  </p:cSld>
  <p:clrMapOvr>
    <a:masterClrMapping/>
  </p:clrMapOvr>
</p:sld>
</file>

<file path=ppt/slides/slide22.xml><?xml version="1.0" encoding="utf-8"?>
<p:sld xmlns:a="http://schemas.openxmlformats.org/drawingml/2006/main" xmlns:r="http://schemas.openxmlformats.org/officeDocument/2006/relationships" xmlns:p="http://schemas.openxmlformats.org/presentationml/2006/main">
  <p:cSld name="Slide 22">
    <p:spTree>
      <p:nvGrpSpPr>
        <p:cNvPr id="1" name=""/>
        <p:cNvGrpSpPr/>
        <p:nvPr/>
      </p:nvGrpSpPr>
      <p:grpSpPr>
        <a:xfrm>
          <a:off x="0" y="0"/>
          <a:ext cx="0" cy="0"/>
          <a:chOff x="0" y="0"/>
          <a:chExt cx="0" cy="0"/>
        </a:xfrm>
      </p:grpSpPr>
      <p:sp>
        <p:nvSpPr>
          <p:cNvPr id="2" name="Text 0"/>
          <p:cNvSpPr/>
          <p:nvPr/>
        </p:nvSpPr>
        <p:spPr>
          <a:xfrm>
            <a:off x="457200" y="713232"/>
            <a:ext cx="11368735" cy="274320"/>
          </a:xfrm>
          <a:prstGeom prst="rect">
            <a:avLst/>
          </a:prstGeom>
          <a:noFill/>
          <a:ln/>
        </p:spPr>
        <p:txBody>
          <a:bodyPr wrap="square" lIns="0" tIns="0" rIns="0" bIns="0" rtlCol="0" anchor="ctr"/>
          <a:lstStyle/>
          <a:p>
            <a:pPr algn="r" indent="0" marL="0">
              <a:buNone/>
            </a:pPr>
            <a:r>
              <a:rPr lang="en-US" sz="1400" b="1" dirty="0">
                <a:solidFill>
                  <a:srgbClr val="1C3F6E"/>
                </a:solidFill>
                <a:latin typeface="Calibri" pitchFamily="34" charset="0"/>
                <a:ea typeface="Calibri" pitchFamily="34" charset="-122"/>
                <a:cs typeface="Calibri" pitchFamily="34" charset="-120"/>
              </a:rPr>
              <a:t>2. CRITERIA OF DEVELOPMENT</a:t>
            </a:r>
            <a:endParaRPr lang="en-US" sz="1400" dirty="0"/>
          </a:p>
        </p:txBody>
      </p:sp>
      <p:sp>
        <p:nvSpPr>
          <p:cNvPr id="3" name="Text 1"/>
          <p:cNvSpPr/>
          <p:nvPr/>
        </p:nvSpPr>
        <p:spPr>
          <a:xfrm>
            <a:off x="457200" y="1005840"/>
            <a:ext cx="11277295" cy="731520"/>
          </a:xfrm>
          <a:prstGeom prst="rect">
            <a:avLst/>
          </a:prstGeom>
          <a:noFill/>
          <a:ln/>
        </p:spPr>
        <p:txBody>
          <a:bodyPr wrap="square" lIns="0" tIns="0" rIns="0" bIns="0" rtlCol="0" anchor="ctr"/>
          <a:lstStyle/>
          <a:p>
            <a:pPr algn="ctr" indent="0" marL="0">
              <a:buNone/>
            </a:pPr>
            <a:r>
              <a:rPr lang="en-US" sz="3600" b="1" dirty="0">
                <a:solidFill>
                  <a:srgbClr val="990011"/>
                </a:solidFill>
                <a:latin typeface="Times New Roman" pitchFamily="34" charset="0"/>
                <a:ea typeface="Times New Roman" pitchFamily="34" charset="-122"/>
                <a:cs typeface="Times New Roman" pitchFamily="34" charset="-120"/>
              </a:rPr>
              <a:t>Activity 2</a:t>
            </a:r>
            <a:endParaRPr lang="en-US" sz="3600" dirty="0"/>
          </a:p>
        </p:txBody>
      </p:sp>
      <p:pic>
        <p:nvPicPr>
          <p:cNvPr id="4" name="Image 0" descr="/home/claude/f4/img/v2/dev_indicators_big.png">    </p:cNvPr>
          <p:cNvPicPr>
            <a:picLocks noChangeAspect="1"/>
          </p:cNvPicPr>
          <p:nvPr/>
        </p:nvPicPr>
        <p:blipFill>
          <a:blip r:embed="rId1"/>
          <a:stretch>
            <a:fillRect/>
          </a:stretch>
        </p:blipFill>
        <p:spPr>
          <a:xfrm>
            <a:off x="629930" y="1783080"/>
            <a:ext cx="10931835" cy="4270248"/>
          </a:xfrm>
          <a:prstGeom prst="rect">
            <a:avLst/>
          </a:prstGeom>
        </p:spPr>
      </p:pic>
      <p:sp>
        <p:nvSpPr>
          <p:cNvPr id="5" name="Text 2"/>
          <p:cNvSpPr/>
          <p:nvPr/>
        </p:nvSpPr>
        <p:spPr>
          <a:xfrm>
            <a:off x="457200" y="6089904"/>
            <a:ext cx="11277295" cy="347472"/>
          </a:xfrm>
          <a:prstGeom prst="rect">
            <a:avLst/>
          </a:prstGeom>
          <a:noFill/>
          <a:ln/>
        </p:spPr>
        <p:txBody>
          <a:bodyPr wrap="square" lIns="0" tIns="0" rIns="0" bIns="0" rtlCol="0" anchor="ctr"/>
          <a:lstStyle/>
          <a:p>
            <a:pPr algn="ctr" indent="0" marL="0">
              <a:buNone/>
            </a:pPr>
            <a:r>
              <a:rPr lang="en-US" sz="1800" i="1" dirty="0">
                <a:solidFill>
                  <a:srgbClr val="555555"/>
                </a:solidFill>
                <a:latin typeface="Times New Roman" pitchFamily="34" charset="0"/>
                <a:ea typeface="Times New Roman" pitchFamily="34" charset="-122"/>
                <a:cs typeface="Times New Roman" pitchFamily="34" charset="-120"/>
              </a:rPr>
              <a:t>Development indicators (approximate).</a:t>
            </a:r>
            <a:endParaRPr lang="en-US" sz="1800" dirty="0"/>
          </a:p>
        </p:txBody>
      </p:sp>
      <p:sp>
        <p:nvSpPr>
          <p:cNvPr id="25" name="Slide Number Placeholder 0"/>
          <p:cNvSpPr>
            <a:spLocks noGrp="1"/>
          </p:cNvSpPr>
          <p:nvPr>
            <p:ph type="sldNum" sz="quarter" idx="4294967295"/>
          </p:nvPr>
        </p:nvSpPr>
        <p:spPr>
          <a:xfrm>
            <a:off x="27432" y="91440"/>
            <a:ext cx="585216" cy="475488"/>
          </a:xfrm>
          <a:prstGeom prst="rect">
            <a:avLst/>
          </a:prstGeom>
          <a:extLst>
            <a:ext uri="{C572A759-6A51-4108-AA02-DFA0A04FC94B}">
              <ma14:wrappingTextBoxFlag xmlns:ma14="http://schemas.microsoft.com/office/mac/drawingml/2011/main" val="0"/>
            </a:ext>
          </a:extLst>
        </p:spPr>
        <p:txBody>
          <a:bodyPr/>
          <a:lstStyle>
            <a:lvl1pPr>
              <a:defRPr sz="2000">
                <a:solidFill>
                  <a:srgbClr val="FFFFFF"/>
                </a:solidFill>
                <a:latin typeface="Calibri"/>
                <a:ea typeface="Calibri"/>
                <a:cs typeface="Calibri"/>
              </a:defRPr>
            </a:lvl1pPr>
          </a:lstStyle>
          <a:p>
            <a:pPr algn="ctr"/>
            <a:fld id="{F7021451-1387-4CA6-816F-3879F97B5CBC}" type="slidenum">
              <a:rPr b="1" lang="en-US"/>
              <a:t>22</a:t>
            </a:fld>
            <a:endParaRPr lang="en-US"/>
          </a:p>
        </p:txBody>
      </p:sp>
    </p:spTree>
  </p:cSld>
  <p:clrMapOvr>
    <a:masterClrMapping/>
  </p:clrMapOvr>
</p:sld>
</file>

<file path=ppt/slides/slide23.xml><?xml version="1.0" encoding="utf-8"?>
<p:sld xmlns:a="http://schemas.openxmlformats.org/drawingml/2006/main" xmlns:r="http://schemas.openxmlformats.org/officeDocument/2006/relationships" xmlns:p="http://schemas.openxmlformats.org/presentationml/2006/main">
  <p:cSld name="Slide 23">
    <p:spTree>
      <p:nvGrpSpPr>
        <p:cNvPr id="1" name=""/>
        <p:cNvGrpSpPr/>
        <p:nvPr/>
      </p:nvGrpSpPr>
      <p:grpSpPr>
        <a:xfrm>
          <a:off x="0" y="0"/>
          <a:ext cx="0" cy="0"/>
          <a:chOff x="0" y="0"/>
          <a:chExt cx="0" cy="0"/>
        </a:xfrm>
      </p:grpSpPr>
      <p:sp>
        <p:nvSpPr>
          <p:cNvPr id="2" name="Text 0"/>
          <p:cNvSpPr/>
          <p:nvPr/>
        </p:nvSpPr>
        <p:spPr>
          <a:xfrm>
            <a:off x="457200" y="713232"/>
            <a:ext cx="11368735" cy="274320"/>
          </a:xfrm>
          <a:prstGeom prst="rect">
            <a:avLst/>
          </a:prstGeom>
          <a:noFill/>
          <a:ln/>
        </p:spPr>
        <p:txBody>
          <a:bodyPr wrap="square" lIns="0" tIns="0" rIns="0" bIns="0" rtlCol="0" anchor="ctr"/>
          <a:lstStyle/>
          <a:p>
            <a:pPr algn="r" indent="0" marL="0">
              <a:buNone/>
            </a:pPr>
            <a:r>
              <a:rPr lang="en-US" sz="1400" b="1" dirty="0">
                <a:solidFill>
                  <a:srgbClr val="1C3F6E"/>
                </a:solidFill>
                <a:latin typeface="Calibri" pitchFamily="34" charset="0"/>
                <a:ea typeface="Calibri" pitchFamily="34" charset="-122"/>
                <a:cs typeface="Calibri" pitchFamily="34" charset="-120"/>
              </a:rPr>
              <a:t>2. CRITERIA OF DEVELOPMENT</a:t>
            </a:r>
            <a:endParaRPr lang="en-US" sz="1400" dirty="0"/>
          </a:p>
        </p:txBody>
      </p:sp>
      <p:pic>
        <p:nvPicPr>
          <p:cNvPr id="3" name="Image 0" descr="/home/claude/f4/img/minesec_sheet.png">    </p:cNvPr>
          <p:cNvPicPr>
            <a:picLocks noChangeAspect="1"/>
          </p:cNvPicPr>
          <p:nvPr/>
        </p:nvPicPr>
        <p:blipFill>
          <a:blip r:embed="rId1"/>
          <a:stretch>
            <a:fillRect/>
          </a:stretch>
        </p:blipFill>
        <p:spPr>
          <a:xfrm>
            <a:off x="0" y="658368"/>
            <a:ext cx="5120640" cy="5833872"/>
          </a:xfrm>
          <a:prstGeom prst="rect">
            <a:avLst/>
          </a:prstGeom>
        </p:spPr>
      </p:pic>
      <p:sp>
        <p:nvSpPr>
          <p:cNvPr id="4" name="Text 1"/>
          <p:cNvSpPr/>
          <p:nvPr/>
        </p:nvSpPr>
        <p:spPr>
          <a:xfrm>
            <a:off x="5349240" y="1005840"/>
            <a:ext cx="6522415" cy="731520"/>
          </a:xfrm>
          <a:prstGeom prst="rect">
            <a:avLst/>
          </a:prstGeom>
          <a:noFill/>
          <a:ln/>
        </p:spPr>
        <p:txBody>
          <a:bodyPr wrap="square" lIns="0" tIns="0" rIns="0" bIns="0" rtlCol="0" anchor="ctr">
            <a:normAutofit/>
          </a:bodyPr>
          <a:lstStyle/>
          <a:p>
            <a:pPr algn="ctr" indent="0" marL="0">
              <a:buNone/>
            </a:pPr>
            <a:r>
              <a:rPr lang="en-US" sz="3600" b="1" dirty="0">
                <a:solidFill>
                  <a:srgbClr val="990011"/>
                </a:solidFill>
                <a:latin typeface="Times New Roman" pitchFamily="34" charset="0"/>
                <a:ea typeface="Times New Roman" pitchFamily="34" charset="-122"/>
                <a:cs typeface="Times New Roman" pitchFamily="34" charset="-120"/>
              </a:rPr>
              <a:t>Activity 2: Question</a:t>
            </a:r>
            <a:endParaRPr lang="en-US" sz="3600" dirty="0"/>
          </a:p>
        </p:txBody>
      </p:sp>
      <p:sp>
        <p:nvSpPr>
          <p:cNvPr id="5" name="Text 2"/>
          <p:cNvSpPr/>
          <p:nvPr/>
        </p:nvSpPr>
        <p:spPr>
          <a:xfrm>
            <a:off x="5349240" y="1783080"/>
            <a:ext cx="6522415" cy="4663440"/>
          </a:xfrm>
          <a:prstGeom prst="rect">
            <a:avLst/>
          </a:prstGeom>
          <a:noFill/>
          <a:ln/>
        </p:spPr>
        <p:txBody>
          <a:bodyPr wrap="square" lIns="0" tIns="0" rIns="0" bIns="0" rtlCol="0" anchor="t"/>
          <a:lstStyle/>
          <a:p>
            <a:pPr algn="l" indent="0" marL="0">
              <a:spcAft>
                <a:spcPts val="800"/>
              </a:spcAft>
              <a:buNone/>
            </a:pPr>
            <a:r>
              <a:rPr lang="en-US" sz="4000" dirty="0">
                <a:solidFill>
                  <a:srgbClr val="111111"/>
                </a:solidFill>
                <a:latin typeface="Times New Roman" pitchFamily="34" charset="0"/>
                <a:ea typeface="Times New Roman" pitchFamily="34" charset="-122"/>
                <a:cs typeface="Times New Roman" pitchFamily="34" charset="-120"/>
              </a:rPr>
              <a:t>Name two economic and two social criteria of development.</a:t>
            </a:r>
            <a:endParaRPr lang="en-US" sz="4000" dirty="0"/>
          </a:p>
        </p:txBody>
      </p:sp>
      <p:sp>
        <p:nvSpPr>
          <p:cNvPr id="25" name="Slide Number Placeholder 0"/>
          <p:cNvSpPr>
            <a:spLocks noGrp="1"/>
          </p:cNvSpPr>
          <p:nvPr>
            <p:ph type="sldNum" sz="quarter" idx="4294967295"/>
          </p:nvPr>
        </p:nvSpPr>
        <p:spPr>
          <a:xfrm>
            <a:off x="27432" y="91440"/>
            <a:ext cx="585216" cy="475488"/>
          </a:xfrm>
          <a:prstGeom prst="rect">
            <a:avLst/>
          </a:prstGeom>
          <a:extLst>
            <a:ext uri="{C572A759-6A51-4108-AA02-DFA0A04FC94B}">
              <ma14:wrappingTextBoxFlag xmlns:ma14="http://schemas.microsoft.com/office/mac/drawingml/2011/main" val="0"/>
            </a:ext>
          </a:extLst>
        </p:spPr>
        <p:txBody>
          <a:bodyPr/>
          <a:lstStyle>
            <a:lvl1pPr>
              <a:defRPr sz="2000">
                <a:solidFill>
                  <a:srgbClr val="FFFFFF"/>
                </a:solidFill>
                <a:latin typeface="Calibri"/>
                <a:ea typeface="Calibri"/>
                <a:cs typeface="Calibri"/>
              </a:defRPr>
            </a:lvl1pPr>
          </a:lstStyle>
          <a:p>
            <a:pPr algn="ctr"/>
            <a:fld id="{F7021451-1387-4CA6-816F-3879F97B5CBC}" type="slidenum">
              <a:rPr b="1" lang="en-US"/>
              <a:t>23</a:t>
            </a:fld>
            <a:endParaRPr lang="en-US"/>
          </a:p>
        </p:txBody>
      </p:sp>
    </p:spTree>
  </p:cSld>
  <p:clrMapOvr>
    <a:masterClrMapping/>
  </p:clrMapOvr>
</p:sld>
</file>

<file path=ppt/slides/slide24.xml><?xml version="1.0" encoding="utf-8"?>
<p:sld xmlns:a="http://schemas.openxmlformats.org/drawingml/2006/main" xmlns:r="http://schemas.openxmlformats.org/officeDocument/2006/relationships" xmlns:p="http://schemas.openxmlformats.org/presentationml/2006/main">
  <p:cSld name="Slide 24">
    <p:spTree>
      <p:nvGrpSpPr>
        <p:cNvPr id="1" name=""/>
        <p:cNvGrpSpPr/>
        <p:nvPr/>
      </p:nvGrpSpPr>
      <p:grpSpPr>
        <a:xfrm>
          <a:off x="0" y="0"/>
          <a:ext cx="0" cy="0"/>
          <a:chOff x="0" y="0"/>
          <a:chExt cx="0" cy="0"/>
        </a:xfrm>
      </p:grpSpPr>
      <p:sp>
        <p:nvSpPr>
          <p:cNvPr id="2" name="Text 0"/>
          <p:cNvSpPr/>
          <p:nvPr/>
        </p:nvSpPr>
        <p:spPr>
          <a:xfrm>
            <a:off x="457200" y="713232"/>
            <a:ext cx="11368735" cy="274320"/>
          </a:xfrm>
          <a:prstGeom prst="rect">
            <a:avLst/>
          </a:prstGeom>
          <a:noFill/>
          <a:ln/>
        </p:spPr>
        <p:txBody>
          <a:bodyPr wrap="square" lIns="0" tIns="0" rIns="0" bIns="0" rtlCol="0" anchor="ctr"/>
          <a:lstStyle/>
          <a:p>
            <a:pPr algn="r" indent="0" marL="0">
              <a:buNone/>
            </a:pPr>
            <a:r>
              <a:rPr lang="en-US" sz="1400" b="1" dirty="0">
                <a:solidFill>
                  <a:srgbClr val="1C3F6E"/>
                </a:solidFill>
                <a:latin typeface="Calibri" pitchFamily="34" charset="0"/>
                <a:ea typeface="Calibri" pitchFamily="34" charset="-122"/>
                <a:cs typeface="Calibri" pitchFamily="34" charset="-120"/>
              </a:rPr>
              <a:t>2. CRITERIA OF DEVELOPMENT</a:t>
            </a:r>
            <a:endParaRPr lang="en-US" sz="1400" dirty="0"/>
          </a:p>
        </p:txBody>
      </p:sp>
      <p:pic>
        <p:nvPicPr>
          <p:cNvPr id="3" name="Image 0" descr="/home/claude/f4/img/minesec_sheet.png">    </p:cNvPr>
          <p:cNvPicPr>
            <a:picLocks noChangeAspect="1"/>
          </p:cNvPicPr>
          <p:nvPr/>
        </p:nvPicPr>
        <p:blipFill>
          <a:blip r:embed="rId1"/>
          <a:stretch>
            <a:fillRect/>
          </a:stretch>
        </p:blipFill>
        <p:spPr>
          <a:xfrm>
            <a:off x="0" y="658368"/>
            <a:ext cx="5120640" cy="5833872"/>
          </a:xfrm>
          <a:prstGeom prst="rect">
            <a:avLst/>
          </a:prstGeom>
        </p:spPr>
      </p:pic>
      <p:sp>
        <p:nvSpPr>
          <p:cNvPr id="4" name="Text 1"/>
          <p:cNvSpPr/>
          <p:nvPr/>
        </p:nvSpPr>
        <p:spPr>
          <a:xfrm>
            <a:off x="5349240" y="1005840"/>
            <a:ext cx="6522415" cy="731520"/>
          </a:xfrm>
          <a:prstGeom prst="rect">
            <a:avLst/>
          </a:prstGeom>
          <a:noFill/>
          <a:ln/>
        </p:spPr>
        <p:txBody>
          <a:bodyPr wrap="square" lIns="0" tIns="0" rIns="0" bIns="0" rtlCol="0" anchor="ctr">
            <a:normAutofit/>
          </a:bodyPr>
          <a:lstStyle/>
          <a:p>
            <a:pPr algn="ctr" indent="0" marL="0">
              <a:buNone/>
            </a:pPr>
            <a:r>
              <a:rPr lang="en-US" sz="3600" b="1" dirty="0">
                <a:solidFill>
                  <a:srgbClr val="990011"/>
                </a:solidFill>
                <a:latin typeface="Times New Roman" pitchFamily="34" charset="0"/>
                <a:ea typeface="Times New Roman" pitchFamily="34" charset="-122"/>
                <a:cs typeface="Times New Roman" pitchFamily="34" charset="-120"/>
              </a:rPr>
              <a:t>Activity 2: Answer</a:t>
            </a:r>
            <a:endParaRPr lang="en-US" sz="3600" dirty="0"/>
          </a:p>
        </p:txBody>
      </p:sp>
      <p:sp>
        <p:nvSpPr>
          <p:cNvPr id="5" name="Text 2"/>
          <p:cNvSpPr/>
          <p:nvPr/>
        </p:nvSpPr>
        <p:spPr>
          <a:xfrm>
            <a:off x="5349240" y="1783080"/>
            <a:ext cx="6522415" cy="4663440"/>
          </a:xfrm>
          <a:prstGeom prst="rect">
            <a:avLst/>
          </a:prstGeom>
          <a:noFill/>
          <a:ln/>
        </p:spPr>
        <p:txBody>
          <a:bodyPr wrap="square" lIns="0" tIns="0" rIns="0" bIns="0" rtlCol="0" anchor="t"/>
          <a:lstStyle/>
          <a:p>
            <a:pPr algn="l" indent="0" marL="0">
              <a:spcAft>
                <a:spcPts val="800"/>
              </a:spcAft>
              <a:buNone/>
            </a:pPr>
            <a:r>
              <a:rPr lang="en-US" sz="4000" dirty="0">
                <a:solidFill>
                  <a:srgbClr val="111111"/>
                </a:solidFill>
                <a:latin typeface="Times New Roman" pitchFamily="34" charset="0"/>
                <a:ea typeface="Times New Roman" pitchFamily="34" charset="-122"/>
                <a:cs typeface="Times New Roman" pitchFamily="34" charset="-120"/>
              </a:rPr>
              <a:t>Economic: GNI per person, jobs. Social: life expectancy, literacy.</a:t>
            </a:r>
            <a:endParaRPr lang="en-US" sz="4000" dirty="0"/>
          </a:p>
        </p:txBody>
      </p:sp>
      <p:sp>
        <p:nvSpPr>
          <p:cNvPr id="25" name="Slide Number Placeholder 0"/>
          <p:cNvSpPr>
            <a:spLocks noGrp="1"/>
          </p:cNvSpPr>
          <p:nvPr>
            <p:ph type="sldNum" sz="quarter" idx="4294967295"/>
          </p:nvPr>
        </p:nvSpPr>
        <p:spPr>
          <a:xfrm>
            <a:off x="27432" y="91440"/>
            <a:ext cx="585216" cy="475488"/>
          </a:xfrm>
          <a:prstGeom prst="rect">
            <a:avLst/>
          </a:prstGeom>
          <a:extLst>
            <a:ext uri="{C572A759-6A51-4108-AA02-DFA0A04FC94B}">
              <ma14:wrappingTextBoxFlag xmlns:ma14="http://schemas.microsoft.com/office/mac/drawingml/2011/main" val="0"/>
            </a:ext>
          </a:extLst>
        </p:spPr>
        <p:txBody>
          <a:bodyPr/>
          <a:lstStyle>
            <a:lvl1pPr>
              <a:defRPr sz="2000">
                <a:solidFill>
                  <a:srgbClr val="FFFFFF"/>
                </a:solidFill>
                <a:latin typeface="Calibri"/>
                <a:ea typeface="Calibri"/>
                <a:cs typeface="Calibri"/>
              </a:defRPr>
            </a:lvl1pPr>
          </a:lstStyle>
          <a:p>
            <a:pPr algn="ctr"/>
            <a:fld id="{F7021451-1387-4CA6-816F-3879F97B5CBC}" type="slidenum">
              <a:rPr b="1" lang="en-US"/>
              <a:t>24</a:t>
            </a:fld>
            <a:endParaRPr lang="en-US"/>
          </a:p>
        </p:txBody>
      </p:sp>
    </p:spTree>
  </p:cSld>
  <p:clrMapOvr>
    <a:masterClrMapping/>
  </p:clrMapOvr>
</p:sld>
</file>

<file path=ppt/slides/slide25.xml><?xml version="1.0" encoding="utf-8"?>
<p:sld xmlns:a="http://schemas.openxmlformats.org/drawingml/2006/main" xmlns:r="http://schemas.openxmlformats.org/officeDocument/2006/relationships" xmlns:p="http://schemas.openxmlformats.org/presentationml/2006/main">
  <p:cSld name="Slide 25">
    <p:spTree>
      <p:nvGrpSpPr>
        <p:cNvPr id="1" name=""/>
        <p:cNvGrpSpPr/>
        <p:nvPr/>
      </p:nvGrpSpPr>
      <p:grpSpPr>
        <a:xfrm>
          <a:off x="0" y="0"/>
          <a:ext cx="0" cy="0"/>
          <a:chOff x="0" y="0"/>
          <a:chExt cx="0" cy="0"/>
        </a:xfrm>
      </p:grpSpPr>
      <p:sp>
        <p:nvSpPr>
          <p:cNvPr id="2" name="Text 0"/>
          <p:cNvSpPr/>
          <p:nvPr/>
        </p:nvSpPr>
        <p:spPr>
          <a:xfrm>
            <a:off x="457200" y="713232"/>
            <a:ext cx="11368735" cy="274320"/>
          </a:xfrm>
          <a:prstGeom prst="rect">
            <a:avLst/>
          </a:prstGeom>
          <a:noFill/>
          <a:ln/>
        </p:spPr>
        <p:txBody>
          <a:bodyPr wrap="square" lIns="0" tIns="0" rIns="0" bIns="0" rtlCol="0" anchor="ctr"/>
          <a:lstStyle/>
          <a:p>
            <a:pPr algn="r" indent="0" marL="0">
              <a:buNone/>
            </a:pPr>
            <a:r>
              <a:rPr lang="en-US" sz="1400" b="1" dirty="0">
                <a:solidFill>
                  <a:srgbClr val="1C3F6E"/>
                </a:solidFill>
                <a:latin typeface="Calibri" pitchFamily="34" charset="0"/>
                <a:ea typeface="Calibri" pitchFamily="34" charset="-122"/>
                <a:cs typeface="Calibri" pitchFamily="34" charset="-120"/>
              </a:rPr>
              <a:t>2. THE HDI</a:t>
            </a:r>
            <a:endParaRPr lang="en-US" sz="1400" dirty="0"/>
          </a:p>
        </p:txBody>
      </p:sp>
      <p:sp>
        <p:nvSpPr>
          <p:cNvPr id="3" name="Text 1"/>
          <p:cNvSpPr/>
          <p:nvPr/>
        </p:nvSpPr>
        <p:spPr>
          <a:xfrm>
            <a:off x="457200" y="1005840"/>
            <a:ext cx="11277295" cy="731520"/>
          </a:xfrm>
          <a:prstGeom prst="rect">
            <a:avLst/>
          </a:prstGeom>
          <a:noFill/>
          <a:ln/>
        </p:spPr>
        <p:txBody>
          <a:bodyPr wrap="square" lIns="0" tIns="0" rIns="0" bIns="0" rtlCol="0" anchor="ctr"/>
          <a:lstStyle/>
          <a:p>
            <a:pPr algn="ctr" indent="0" marL="0">
              <a:buNone/>
            </a:pPr>
            <a:r>
              <a:rPr lang="en-US" sz="3600" b="1" dirty="0">
                <a:solidFill>
                  <a:srgbClr val="990011"/>
                </a:solidFill>
                <a:latin typeface="Times New Roman" pitchFamily="34" charset="0"/>
                <a:ea typeface="Times New Roman" pitchFamily="34" charset="-122"/>
                <a:cs typeface="Times New Roman" pitchFamily="34" charset="-120"/>
              </a:rPr>
              <a:t>Activity 3</a:t>
            </a:r>
            <a:endParaRPr lang="en-US" sz="3600" dirty="0"/>
          </a:p>
        </p:txBody>
      </p:sp>
      <p:pic>
        <p:nvPicPr>
          <p:cNvPr id="4" name="Image 0" descr="/home/claude/f4/img/v2/hdi_map_big.png">    </p:cNvPr>
          <p:cNvPicPr>
            <a:picLocks noChangeAspect="1"/>
          </p:cNvPicPr>
          <p:nvPr/>
        </p:nvPicPr>
        <p:blipFill>
          <a:blip r:embed="rId1"/>
          <a:stretch>
            <a:fillRect/>
          </a:stretch>
        </p:blipFill>
        <p:spPr>
          <a:xfrm>
            <a:off x="1825600" y="1783080"/>
            <a:ext cx="8540496" cy="4270248"/>
          </a:xfrm>
          <a:prstGeom prst="rect">
            <a:avLst/>
          </a:prstGeom>
        </p:spPr>
      </p:pic>
      <p:sp>
        <p:nvSpPr>
          <p:cNvPr id="5" name="Text 2"/>
          <p:cNvSpPr/>
          <p:nvPr/>
        </p:nvSpPr>
        <p:spPr>
          <a:xfrm>
            <a:off x="457200" y="6089904"/>
            <a:ext cx="11277295" cy="347472"/>
          </a:xfrm>
          <a:prstGeom prst="rect">
            <a:avLst/>
          </a:prstGeom>
          <a:noFill/>
          <a:ln/>
        </p:spPr>
        <p:txBody>
          <a:bodyPr wrap="square" lIns="0" tIns="0" rIns="0" bIns="0" rtlCol="0" anchor="ctr"/>
          <a:lstStyle/>
          <a:p>
            <a:pPr algn="ctr" indent="0" marL="0">
              <a:buNone/>
            </a:pPr>
            <a:r>
              <a:rPr lang="en-US" sz="1800" i="1" dirty="0">
                <a:solidFill>
                  <a:srgbClr val="555555"/>
                </a:solidFill>
                <a:latin typeface="Times New Roman" pitchFamily="34" charset="0"/>
                <a:ea typeface="Times New Roman" pitchFamily="34" charset="-122"/>
                <a:cs typeface="Times New Roman" pitchFamily="34" charset="-120"/>
              </a:rPr>
              <a:t>Human Development Index (approximate).</a:t>
            </a:r>
            <a:endParaRPr lang="en-US" sz="1800" dirty="0"/>
          </a:p>
        </p:txBody>
      </p:sp>
      <p:sp>
        <p:nvSpPr>
          <p:cNvPr id="25" name="Slide Number Placeholder 0"/>
          <p:cNvSpPr>
            <a:spLocks noGrp="1"/>
          </p:cNvSpPr>
          <p:nvPr>
            <p:ph type="sldNum" sz="quarter" idx="4294967295"/>
          </p:nvPr>
        </p:nvSpPr>
        <p:spPr>
          <a:xfrm>
            <a:off x="27432" y="91440"/>
            <a:ext cx="585216" cy="475488"/>
          </a:xfrm>
          <a:prstGeom prst="rect">
            <a:avLst/>
          </a:prstGeom>
          <a:extLst>
            <a:ext uri="{C572A759-6A51-4108-AA02-DFA0A04FC94B}">
              <ma14:wrappingTextBoxFlag xmlns:ma14="http://schemas.microsoft.com/office/mac/drawingml/2011/main" val="0"/>
            </a:ext>
          </a:extLst>
        </p:spPr>
        <p:txBody>
          <a:bodyPr/>
          <a:lstStyle>
            <a:lvl1pPr>
              <a:defRPr sz="2000">
                <a:solidFill>
                  <a:srgbClr val="FFFFFF"/>
                </a:solidFill>
                <a:latin typeface="Calibri"/>
                <a:ea typeface="Calibri"/>
                <a:cs typeface="Calibri"/>
              </a:defRPr>
            </a:lvl1pPr>
          </a:lstStyle>
          <a:p>
            <a:pPr algn="ctr"/>
            <a:fld id="{F7021451-1387-4CA6-816F-3879F97B5CBC}" type="slidenum">
              <a:rPr b="1" lang="en-US"/>
              <a:t>25</a:t>
            </a:fld>
            <a:endParaRPr lang="en-US"/>
          </a:p>
        </p:txBody>
      </p:sp>
    </p:spTree>
  </p:cSld>
  <p:clrMapOvr>
    <a:masterClrMapping/>
  </p:clrMapOvr>
</p:sld>
</file>

<file path=ppt/slides/slide26.xml><?xml version="1.0" encoding="utf-8"?>
<p:sld xmlns:a="http://schemas.openxmlformats.org/drawingml/2006/main" xmlns:r="http://schemas.openxmlformats.org/officeDocument/2006/relationships" xmlns:p="http://schemas.openxmlformats.org/presentationml/2006/main">
  <p:cSld name="Slide 26">
    <p:spTree>
      <p:nvGrpSpPr>
        <p:cNvPr id="1" name=""/>
        <p:cNvGrpSpPr/>
        <p:nvPr/>
      </p:nvGrpSpPr>
      <p:grpSpPr>
        <a:xfrm>
          <a:off x="0" y="0"/>
          <a:ext cx="0" cy="0"/>
          <a:chOff x="0" y="0"/>
          <a:chExt cx="0" cy="0"/>
        </a:xfrm>
      </p:grpSpPr>
      <p:sp>
        <p:nvSpPr>
          <p:cNvPr id="2" name="Text 0"/>
          <p:cNvSpPr/>
          <p:nvPr/>
        </p:nvSpPr>
        <p:spPr>
          <a:xfrm>
            <a:off x="457200" y="713232"/>
            <a:ext cx="11368735" cy="274320"/>
          </a:xfrm>
          <a:prstGeom prst="rect">
            <a:avLst/>
          </a:prstGeom>
          <a:noFill/>
          <a:ln/>
        </p:spPr>
        <p:txBody>
          <a:bodyPr wrap="square" lIns="0" tIns="0" rIns="0" bIns="0" rtlCol="0" anchor="ctr"/>
          <a:lstStyle/>
          <a:p>
            <a:pPr algn="r" indent="0" marL="0">
              <a:buNone/>
            </a:pPr>
            <a:r>
              <a:rPr lang="en-US" sz="1400" b="1" dirty="0">
                <a:solidFill>
                  <a:srgbClr val="1C3F6E"/>
                </a:solidFill>
                <a:latin typeface="Calibri" pitchFamily="34" charset="0"/>
                <a:ea typeface="Calibri" pitchFamily="34" charset="-122"/>
                <a:cs typeface="Calibri" pitchFamily="34" charset="-120"/>
              </a:rPr>
              <a:t>2. THE HDI</a:t>
            </a:r>
            <a:endParaRPr lang="en-US" sz="1400" dirty="0"/>
          </a:p>
        </p:txBody>
      </p:sp>
      <p:pic>
        <p:nvPicPr>
          <p:cNvPr id="3" name="Image 0" descr="/home/claude/f4/img/minesec_sheet.png">    </p:cNvPr>
          <p:cNvPicPr>
            <a:picLocks noChangeAspect="1"/>
          </p:cNvPicPr>
          <p:nvPr/>
        </p:nvPicPr>
        <p:blipFill>
          <a:blip r:embed="rId1"/>
          <a:stretch>
            <a:fillRect/>
          </a:stretch>
        </p:blipFill>
        <p:spPr>
          <a:xfrm>
            <a:off x="0" y="658368"/>
            <a:ext cx="5120640" cy="5833872"/>
          </a:xfrm>
          <a:prstGeom prst="rect">
            <a:avLst/>
          </a:prstGeom>
        </p:spPr>
      </p:pic>
      <p:sp>
        <p:nvSpPr>
          <p:cNvPr id="4" name="Text 1"/>
          <p:cNvSpPr/>
          <p:nvPr/>
        </p:nvSpPr>
        <p:spPr>
          <a:xfrm>
            <a:off x="5349240" y="1005840"/>
            <a:ext cx="6522415" cy="731520"/>
          </a:xfrm>
          <a:prstGeom prst="rect">
            <a:avLst/>
          </a:prstGeom>
          <a:noFill/>
          <a:ln/>
        </p:spPr>
        <p:txBody>
          <a:bodyPr wrap="square" lIns="0" tIns="0" rIns="0" bIns="0" rtlCol="0" anchor="ctr">
            <a:normAutofit/>
          </a:bodyPr>
          <a:lstStyle/>
          <a:p>
            <a:pPr algn="ctr" indent="0" marL="0">
              <a:buNone/>
            </a:pPr>
            <a:r>
              <a:rPr lang="en-US" sz="3600" b="1" dirty="0">
                <a:solidFill>
                  <a:srgbClr val="990011"/>
                </a:solidFill>
                <a:latin typeface="Times New Roman" pitchFamily="34" charset="0"/>
                <a:ea typeface="Times New Roman" pitchFamily="34" charset="-122"/>
                <a:cs typeface="Times New Roman" pitchFamily="34" charset="-120"/>
              </a:rPr>
              <a:t>Activity 3: Question</a:t>
            </a:r>
            <a:endParaRPr lang="en-US" sz="3600" dirty="0"/>
          </a:p>
        </p:txBody>
      </p:sp>
      <p:sp>
        <p:nvSpPr>
          <p:cNvPr id="5" name="Text 2"/>
          <p:cNvSpPr/>
          <p:nvPr/>
        </p:nvSpPr>
        <p:spPr>
          <a:xfrm>
            <a:off x="5349240" y="1783080"/>
            <a:ext cx="6522415" cy="4663440"/>
          </a:xfrm>
          <a:prstGeom prst="rect">
            <a:avLst/>
          </a:prstGeom>
          <a:noFill/>
          <a:ln/>
        </p:spPr>
        <p:txBody>
          <a:bodyPr wrap="square" lIns="0" tIns="0" rIns="0" bIns="0" rtlCol="0" anchor="t"/>
          <a:lstStyle/>
          <a:p>
            <a:pPr algn="l" indent="0" marL="0">
              <a:spcAft>
                <a:spcPts val="800"/>
              </a:spcAft>
              <a:buNone/>
            </a:pPr>
            <a:r>
              <a:rPr lang="en-US" sz="4000" dirty="0">
                <a:solidFill>
                  <a:srgbClr val="111111"/>
                </a:solidFill>
                <a:latin typeface="Times New Roman" pitchFamily="34" charset="0"/>
                <a:ea typeface="Times New Roman" pitchFamily="34" charset="-122"/>
                <a:cs typeface="Times New Roman" pitchFamily="34" charset="-120"/>
              </a:rPr>
              <a:t>Which region has most low-HDI countries?</a:t>
            </a:r>
            <a:endParaRPr lang="en-US" sz="4000" dirty="0"/>
          </a:p>
        </p:txBody>
      </p:sp>
      <p:sp>
        <p:nvSpPr>
          <p:cNvPr id="25" name="Slide Number Placeholder 0"/>
          <p:cNvSpPr>
            <a:spLocks noGrp="1"/>
          </p:cNvSpPr>
          <p:nvPr>
            <p:ph type="sldNum" sz="quarter" idx="4294967295"/>
          </p:nvPr>
        </p:nvSpPr>
        <p:spPr>
          <a:xfrm>
            <a:off x="27432" y="91440"/>
            <a:ext cx="585216" cy="475488"/>
          </a:xfrm>
          <a:prstGeom prst="rect">
            <a:avLst/>
          </a:prstGeom>
          <a:extLst>
            <a:ext uri="{C572A759-6A51-4108-AA02-DFA0A04FC94B}">
              <ma14:wrappingTextBoxFlag xmlns:ma14="http://schemas.microsoft.com/office/mac/drawingml/2011/main" val="0"/>
            </a:ext>
          </a:extLst>
        </p:spPr>
        <p:txBody>
          <a:bodyPr/>
          <a:lstStyle>
            <a:lvl1pPr>
              <a:defRPr sz="2000">
                <a:solidFill>
                  <a:srgbClr val="FFFFFF"/>
                </a:solidFill>
                <a:latin typeface="Calibri"/>
                <a:ea typeface="Calibri"/>
                <a:cs typeface="Calibri"/>
              </a:defRPr>
            </a:lvl1pPr>
          </a:lstStyle>
          <a:p>
            <a:pPr algn="ctr"/>
            <a:fld id="{F7021451-1387-4CA6-816F-3879F97B5CBC}" type="slidenum">
              <a:rPr b="1" lang="en-US"/>
              <a:t>26</a:t>
            </a:fld>
            <a:endParaRPr lang="en-US"/>
          </a:p>
        </p:txBody>
      </p:sp>
    </p:spTree>
  </p:cSld>
  <p:clrMapOvr>
    <a:masterClrMapping/>
  </p:clrMapOvr>
</p:sld>
</file>

<file path=ppt/slides/slide27.xml><?xml version="1.0" encoding="utf-8"?>
<p:sld xmlns:a="http://schemas.openxmlformats.org/drawingml/2006/main" xmlns:r="http://schemas.openxmlformats.org/officeDocument/2006/relationships" xmlns:p="http://schemas.openxmlformats.org/presentationml/2006/main">
  <p:cSld name="Slide 27">
    <p:spTree>
      <p:nvGrpSpPr>
        <p:cNvPr id="1" name=""/>
        <p:cNvGrpSpPr/>
        <p:nvPr/>
      </p:nvGrpSpPr>
      <p:grpSpPr>
        <a:xfrm>
          <a:off x="0" y="0"/>
          <a:ext cx="0" cy="0"/>
          <a:chOff x="0" y="0"/>
          <a:chExt cx="0" cy="0"/>
        </a:xfrm>
      </p:grpSpPr>
      <p:sp>
        <p:nvSpPr>
          <p:cNvPr id="2" name="Text 0"/>
          <p:cNvSpPr/>
          <p:nvPr/>
        </p:nvSpPr>
        <p:spPr>
          <a:xfrm>
            <a:off x="457200" y="713232"/>
            <a:ext cx="11368735" cy="274320"/>
          </a:xfrm>
          <a:prstGeom prst="rect">
            <a:avLst/>
          </a:prstGeom>
          <a:noFill/>
          <a:ln/>
        </p:spPr>
        <p:txBody>
          <a:bodyPr wrap="square" lIns="0" tIns="0" rIns="0" bIns="0" rtlCol="0" anchor="ctr"/>
          <a:lstStyle/>
          <a:p>
            <a:pPr algn="r" indent="0" marL="0">
              <a:buNone/>
            </a:pPr>
            <a:r>
              <a:rPr lang="en-US" sz="1400" b="1" dirty="0">
                <a:solidFill>
                  <a:srgbClr val="1C3F6E"/>
                </a:solidFill>
                <a:latin typeface="Calibri" pitchFamily="34" charset="0"/>
                <a:ea typeface="Calibri" pitchFamily="34" charset="-122"/>
                <a:cs typeface="Calibri" pitchFamily="34" charset="-120"/>
              </a:rPr>
              <a:t>2. THE HDI</a:t>
            </a:r>
            <a:endParaRPr lang="en-US" sz="1400" dirty="0"/>
          </a:p>
        </p:txBody>
      </p:sp>
      <p:pic>
        <p:nvPicPr>
          <p:cNvPr id="3" name="Image 0" descr="/home/claude/f4/img/minesec_sheet.png">    </p:cNvPr>
          <p:cNvPicPr>
            <a:picLocks noChangeAspect="1"/>
          </p:cNvPicPr>
          <p:nvPr/>
        </p:nvPicPr>
        <p:blipFill>
          <a:blip r:embed="rId1"/>
          <a:stretch>
            <a:fillRect/>
          </a:stretch>
        </p:blipFill>
        <p:spPr>
          <a:xfrm>
            <a:off x="0" y="658368"/>
            <a:ext cx="5120640" cy="5833872"/>
          </a:xfrm>
          <a:prstGeom prst="rect">
            <a:avLst/>
          </a:prstGeom>
        </p:spPr>
      </p:pic>
      <p:sp>
        <p:nvSpPr>
          <p:cNvPr id="4" name="Text 1"/>
          <p:cNvSpPr/>
          <p:nvPr/>
        </p:nvSpPr>
        <p:spPr>
          <a:xfrm>
            <a:off x="5349240" y="1005840"/>
            <a:ext cx="6522415" cy="731520"/>
          </a:xfrm>
          <a:prstGeom prst="rect">
            <a:avLst/>
          </a:prstGeom>
          <a:noFill/>
          <a:ln/>
        </p:spPr>
        <p:txBody>
          <a:bodyPr wrap="square" lIns="0" tIns="0" rIns="0" bIns="0" rtlCol="0" anchor="ctr">
            <a:normAutofit/>
          </a:bodyPr>
          <a:lstStyle/>
          <a:p>
            <a:pPr algn="ctr" indent="0" marL="0">
              <a:buNone/>
            </a:pPr>
            <a:r>
              <a:rPr lang="en-US" sz="3600" b="1" dirty="0">
                <a:solidFill>
                  <a:srgbClr val="990011"/>
                </a:solidFill>
                <a:latin typeface="Times New Roman" pitchFamily="34" charset="0"/>
                <a:ea typeface="Times New Roman" pitchFamily="34" charset="-122"/>
                <a:cs typeface="Times New Roman" pitchFamily="34" charset="-120"/>
              </a:rPr>
              <a:t>Activity 3: Answer</a:t>
            </a:r>
            <a:endParaRPr lang="en-US" sz="3600" dirty="0"/>
          </a:p>
        </p:txBody>
      </p:sp>
      <p:sp>
        <p:nvSpPr>
          <p:cNvPr id="5" name="Text 2"/>
          <p:cNvSpPr/>
          <p:nvPr/>
        </p:nvSpPr>
        <p:spPr>
          <a:xfrm>
            <a:off x="5349240" y="1783080"/>
            <a:ext cx="6522415" cy="4663440"/>
          </a:xfrm>
          <a:prstGeom prst="rect">
            <a:avLst/>
          </a:prstGeom>
          <a:noFill/>
          <a:ln/>
        </p:spPr>
        <p:txBody>
          <a:bodyPr wrap="square" lIns="0" tIns="0" rIns="0" bIns="0" rtlCol="0" anchor="t"/>
          <a:lstStyle/>
          <a:p>
            <a:pPr algn="l" indent="0" marL="0">
              <a:spcAft>
                <a:spcPts val="800"/>
              </a:spcAft>
              <a:buNone/>
            </a:pPr>
            <a:r>
              <a:rPr lang="en-US" sz="4000" dirty="0">
                <a:solidFill>
                  <a:srgbClr val="111111"/>
                </a:solidFill>
                <a:latin typeface="Times New Roman" pitchFamily="34" charset="0"/>
                <a:ea typeface="Times New Roman" pitchFamily="34" charset="-122"/>
                <a:cs typeface="Times New Roman" pitchFamily="34" charset="-120"/>
              </a:rPr>
              <a:t>Sub-Saharan Africa.</a:t>
            </a:r>
            <a:endParaRPr lang="en-US" sz="4000" dirty="0"/>
          </a:p>
        </p:txBody>
      </p:sp>
      <p:sp>
        <p:nvSpPr>
          <p:cNvPr id="25" name="Slide Number Placeholder 0"/>
          <p:cNvSpPr>
            <a:spLocks noGrp="1"/>
          </p:cNvSpPr>
          <p:nvPr>
            <p:ph type="sldNum" sz="quarter" idx="4294967295"/>
          </p:nvPr>
        </p:nvSpPr>
        <p:spPr>
          <a:xfrm>
            <a:off x="27432" y="91440"/>
            <a:ext cx="585216" cy="475488"/>
          </a:xfrm>
          <a:prstGeom prst="rect">
            <a:avLst/>
          </a:prstGeom>
          <a:extLst>
            <a:ext uri="{C572A759-6A51-4108-AA02-DFA0A04FC94B}">
              <ma14:wrappingTextBoxFlag xmlns:ma14="http://schemas.microsoft.com/office/mac/drawingml/2011/main" val="0"/>
            </a:ext>
          </a:extLst>
        </p:spPr>
        <p:txBody>
          <a:bodyPr/>
          <a:lstStyle>
            <a:lvl1pPr>
              <a:defRPr sz="2000">
                <a:solidFill>
                  <a:srgbClr val="FFFFFF"/>
                </a:solidFill>
                <a:latin typeface="Calibri"/>
                <a:ea typeface="Calibri"/>
                <a:cs typeface="Calibri"/>
              </a:defRPr>
            </a:lvl1pPr>
          </a:lstStyle>
          <a:p>
            <a:pPr algn="ctr"/>
            <a:fld id="{F7021451-1387-4CA6-816F-3879F97B5CBC}" type="slidenum">
              <a:rPr b="1" lang="en-US"/>
              <a:t>27</a:t>
            </a:fld>
            <a:endParaRPr lang="en-US"/>
          </a:p>
        </p:txBody>
      </p:sp>
    </p:spTree>
  </p:cSld>
  <p:clrMapOvr>
    <a:masterClrMapping/>
  </p:clrMapOvr>
</p:sld>
</file>

<file path=ppt/slides/slide28.xml><?xml version="1.0" encoding="utf-8"?>
<p:sld xmlns:a="http://schemas.openxmlformats.org/drawingml/2006/main" xmlns:r="http://schemas.openxmlformats.org/officeDocument/2006/relationships" xmlns:p="http://schemas.openxmlformats.org/presentationml/2006/main">
  <p:cSld name="Slide 28">
    <p:spTree>
      <p:nvGrpSpPr>
        <p:cNvPr id="1" name=""/>
        <p:cNvGrpSpPr/>
        <p:nvPr/>
      </p:nvGrpSpPr>
      <p:grpSpPr>
        <a:xfrm>
          <a:off x="0" y="0"/>
          <a:ext cx="0" cy="0"/>
          <a:chOff x="0" y="0"/>
          <a:chExt cx="0" cy="0"/>
        </a:xfrm>
      </p:grpSpPr>
      <p:sp>
        <p:nvSpPr>
          <p:cNvPr id="2" name="Text 0"/>
          <p:cNvSpPr/>
          <p:nvPr/>
        </p:nvSpPr>
        <p:spPr>
          <a:xfrm>
            <a:off x="457200" y="713232"/>
            <a:ext cx="11368735" cy="274320"/>
          </a:xfrm>
          <a:prstGeom prst="rect">
            <a:avLst/>
          </a:prstGeom>
          <a:noFill/>
          <a:ln/>
        </p:spPr>
        <p:txBody>
          <a:bodyPr wrap="square" lIns="0" tIns="0" rIns="0" bIns="0" rtlCol="0" anchor="ctr"/>
          <a:lstStyle/>
          <a:p>
            <a:pPr algn="r" indent="0" marL="0">
              <a:buNone/>
            </a:pPr>
            <a:r>
              <a:rPr lang="en-US" sz="1400" b="1" dirty="0">
                <a:solidFill>
                  <a:srgbClr val="1C3F6E"/>
                </a:solidFill>
                <a:latin typeface="Calibri" pitchFamily="34" charset="0"/>
                <a:ea typeface="Calibri" pitchFamily="34" charset="-122"/>
                <a:cs typeface="Calibri" pitchFamily="34" charset="-120"/>
              </a:rPr>
              <a:t>3. THE DEVELOPMENT GAP</a:t>
            </a:r>
            <a:endParaRPr lang="en-US" sz="1400" dirty="0"/>
          </a:p>
        </p:txBody>
      </p:sp>
      <p:sp>
        <p:nvSpPr>
          <p:cNvPr id="3" name="Text 1"/>
          <p:cNvSpPr/>
          <p:nvPr/>
        </p:nvSpPr>
        <p:spPr>
          <a:xfrm>
            <a:off x="457200" y="1005840"/>
            <a:ext cx="11277295" cy="731520"/>
          </a:xfrm>
          <a:prstGeom prst="rect">
            <a:avLst/>
          </a:prstGeom>
          <a:noFill/>
          <a:ln/>
        </p:spPr>
        <p:txBody>
          <a:bodyPr wrap="square" lIns="0" tIns="0" rIns="0" bIns="0" rtlCol="0" anchor="ctr"/>
          <a:lstStyle/>
          <a:p>
            <a:pPr algn="ctr" indent="0" marL="0">
              <a:buNone/>
            </a:pPr>
            <a:r>
              <a:rPr lang="en-US" sz="3600" b="1" dirty="0">
                <a:solidFill>
                  <a:srgbClr val="990011"/>
                </a:solidFill>
                <a:latin typeface="Times New Roman" pitchFamily="34" charset="0"/>
                <a:ea typeface="Times New Roman" pitchFamily="34" charset="-122"/>
                <a:cs typeface="Times New Roman" pitchFamily="34" charset="-120"/>
              </a:rPr>
              <a:t>Activity 4</a:t>
            </a:r>
            <a:endParaRPr lang="en-US" sz="3600" dirty="0"/>
          </a:p>
        </p:txBody>
      </p:sp>
      <p:pic>
        <p:nvPicPr>
          <p:cNvPr id="4" name="Image 0" descr="/home/claude/f4/img/v2/usa_slum.jpg">    </p:cNvPr>
          <p:cNvPicPr>
            <a:picLocks noChangeAspect="1"/>
          </p:cNvPicPr>
          <p:nvPr/>
        </p:nvPicPr>
        <p:blipFill>
          <a:blip r:embed="rId1"/>
          <a:stretch>
            <a:fillRect/>
          </a:stretch>
        </p:blipFill>
        <p:spPr>
          <a:xfrm>
            <a:off x="2250369" y="1783080"/>
            <a:ext cx="7690957" cy="4270248"/>
          </a:xfrm>
          <a:prstGeom prst="rect">
            <a:avLst/>
          </a:prstGeom>
        </p:spPr>
      </p:pic>
      <p:sp>
        <p:nvSpPr>
          <p:cNvPr id="5" name="Text 2"/>
          <p:cNvSpPr/>
          <p:nvPr/>
        </p:nvSpPr>
        <p:spPr>
          <a:xfrm>
            <a:off x="457200" y="6089904"/>
            <a:ext cx="11277295" cy="347472"/>
          </a:xfrm>
          <a:prstGeom prst="rect">
            <a:avLst/>
          </a:prstGeom>
          <a:noFill/>
          <a:ln/>
        </p:spPr>
        <p:txBody>
          <a:bodyPr wrap="square" lIns="0" tIns="0" rIns="0" bIns="0" rtlCol="0" anchor="ctr"/>
          <a:lstStyle/>
          <a:p>
            <a:pPr algn="ctr" indent="0" marL="0">
              <a:buNone/>
            </a:pPr>
            <a:r>
              <a:rPr lang="en-US" sz="1800" i="1" dirty="0">
                <a:solidFill>
                  <a:srgbClr val="555555"/>
                </a:solidFill>
                <a:latin typeface="Times New Roman" pitchFamily="34" charset="0"/>
                <a:ea typeface="Times New Roman" pitchFamily="34" charset="-122"/>
                <a:cs typeface="Times New Roman" pitchFamily="34" charset="-120"/>
              </a:rPr>
              <a:t>A poor neighbourhood.</a:t>
            </a:r>
            <a:endParaRPr lang="en-US" sz="1800" dirty="0"/>
          </a:p>
        </p:txBody>
      </p:sp>
      <p:sp>
        <p:nvSpPr>
          <p:cNvPr id="25" name="Slide Number Placeholder 0"/>
          <p:cNvSpPr>
            <a:spLocks noGrp="1"/>
          </p:cNvSpPr>
          <p:nvPr>
            <p:ph type="sldNum" sz="quarter" idx="4294967295"/>
          </p:nvPr>
        </p:nvSpPr>
        <p:spPr>
          <a:xfrm>
            <a:off x="27432" y="91440"/>
            <a:ext cx="585216" cy="475488"/>
          </a:xfrm>
          <a:prstGeom prst="rect">
            <a:avLst/>
          </a:prstGeom>
          <a:extLst>
            <a:ext uri="{C572A759-6A51-4108-AA02-DFA0A04FC94B}">
              <ma14:wrappingTextBoxFlag xmlns:ma14="http://schemas.microsoft.com/office/mac/drawingml/2011/main" val="0"/>
            </a:ext>
          </a:extLst>
        </p:spPr>
        <p:txBody>
          <a:bodyPr/>
          <a:lstStyle>
            <a:lvl1pPr>
              <a:defRPr sz="2000">
                <a:solidFill>
                  <a:srgbClr val="FFFFFF"/>
                </a:solidFill>
                <a:latin typeface="Calibri"/>
                <a:ea typeface="Calibri"/>
                <a:cs typeface="Calibri"/>
              </a:defRPr>
            </a:lvl1pPr>
          </a:lstStyle>
          <a:p>
            <a:pPr algn="ctr"/>
            <a:fld id="{F7021451-1387-4CA6-816F-3879F97B5CBC}" type="slidenum">
              <a:rPr b="1" lang="en-US"/>
              <a:t>28</a:t>
            </a:fld>
            <a:endParaRPr lang="en-US"/>
          </a:p>
        </p:txBody>
      </p:sp>
    </p:spTree>
  </p:cSld>
  <p:clrMapOvr>
    <a:masterClrMapping/>
  </p:clrMapOvr>
</p:sld>
</file>

<file path=ppt/slides/slide29.xml><?xml version="1.0" encoding="utf-8"?>
<p:sld xmlns:a="http://schemas.openxmlformats.org/drawingml/2006/main" xmlns:r="http://schemas.openxmlformats.org/officeDocument/2006/relationships" xmlns:p="http://schemas.openxmlformats.org/presentationml/2006/main">
  <p:cSld name="Slide 29">
    <p:spTree>
      <p:nvGrpSpPr>
        <p:cNvPr id="1" name=""/>
        <p:cNvGrpSpPr/>
        <p:nvPr/>
      </p:nvGrpSpPr>
      <p:grpSpPr>
        <a:xfrm>
          <a:off x="0" y="0"/>
          <a:ext cx="0" cy="0"/>
          <a:chOff x="0" y="0"/>
          <a:chExt cx="0" cy="0"/>
        </a:xfrm>
      </p:grpSpPr>
      <p:sp>
        <p:nvSpPr>
          <p:cNvPr id="2" name="Text 0"/>
          <p:cNvSpPr/>
          <p:nvPr/>
        </p:nvSpPr>
        <p:spPr>
          <a:xfrm>
            <a:off x="457200" y="713232"/>
            <a:ext cx="11368735" cy="274320"/>
          </a:xfrm>
          <a:prstGeom prst="rect">
            <a:avLst/>
          </a:prstGeom>
          <a:noFill/>
          <a:ln/>
        </p:spPr>
        <p:txBody>
          <a:bodyPr wrap="square" lIns="0" tIns="0" rIns="0" bIns="0" rtlCol="0" anchor="ctr"/>
          <a:lstStyle/>
          <a:p>
            <a:pPr algn="r" indent="0" marL="0">
              <a:buNone/>
            </a:pPr>
            <a:r>
              <a:rPr lang="en-US" sz="1400" b="1" dirty="0">
                <a:solidFill>
                  <a:srgbClr val="1C3F6E"/>
                </a:solidFill>
                <a:latin typeface="Calibri" pitchFamily="34" charset="0"/>
                <a:ea typeface="Calibri" pitchFamily="34" charset="-122"/>
                <a:cs typeface="Calibri" pitchFamily="34" charset="-120"/>
              </a:rPr>
              <a:t>3. THE DEVELOPMENT GAP</a:t>
            </a:r>
            <a:endParaRPr lang="en-US" sz="1400" dirty="0"/>
          </a:p>
        </p:txBody>
      </p:sp>
      <p:pic>
        <p:nvPicPr>
          <p:cNvPr id="3" name="Image 0" descr="/home/claude/f4/img/minesec_sheet.png">    </p:cNvPr>
          <p:cNvPicPr>
            <a:picLocks noChangeAspect="1"/>
          </p:cNvPicPr>
          <p:nvPr/>
        </p:nvPicPr>
        <p:blipFill>
          <a:blip r:embed="rId1"/>
          <a:stretch>
            <a:fillRect/>
          </a:stretch>
        </p:blipFill>
        <p:spPr>
          <a:xfrm>
            <a:off x="0" y="658368"/>
            <a:ext cx="5120640" cy="5833872"/>
          </a:xfrm>
          <a:prstGeom prst="rect">
            <a:avLst/>
          </a:prstGeom>
        </p:spPr>
      </p:pic>
      <p:sp>
        <p:nvSpPr>
          <p:cNvPr id="4" name="Text 1"/>
          <p:cNvSpPr/>
          <p:nvPr/>
        </p:nvSpPr>
        <p:spPr>
          <a:xfrm>
            <a:off x="5349240" y="1005840"/>
            <a:ext cx="6522415" cy="731520"/>
          </a:xfrm>
          <a:prstGeom prst="rect">
            <a:avLst/>
          </a:prstGeom>
          <a:noFill/>
          <a:ln/>
        </p:spPr>
        <p:txBody>
          <a:bodyPr wrap="square" lIns="0" tIns="0" rIns="0" bIns="0" rtlCol="0" anchor="ctr">
            <a:normAutofit/>
          </a:bodyPr>
          <a:lstStyle/>
          <a:p>
            <a:pPr algn="ctr" indent="0" marL="0">
              <a:buNone/>
            </a:pPr>
            <a:r>
              <a:rPr lang="en-US" sz="3600" b="1" dirty="0">
                <a:solidFill>
                  <a:srgbClr val="990011"/>
                </a:solidFill>
                <a:latin typeface="Times New Roman" pitchFamily="34" charset="0"/>
                <a:ea typeface="Times New Roman" pitchFamily="34" charset="-122"/>
                <a:cs typeface="Times New Roman" pitchFamily="34" charset="-120"/>
              </a:rPr>
              <a:t>Activity 4: Question</a:t>
            </a:r>
            <a:endParaRPr lang="en-US" sz="3600" dirty="0"/>
          </a:p>
        </p:txBody>
      </p:sp>
      <p:sp>
        <p:nvSpPr>
          <p:cNvPr id="5" name="Text 2"/>
          <p:cNvSpPr/>
          <p:nvPr/>
        </p:nvSpPr>
        <p:spPr>
          <a:xfrm>
            <a:off x="5349240" y="1783080"/>
            <a:ext cx="6522415" cy="4663440"/>
          </a:xfrm>
          <a:prstGeom prst="rect">
            <a:avLst/>
          </a:prstGeom>
          <a:noFill/>
          <a:ln/>
        </p:spPr>
        <p:txBody>
          <a:bodyPr wrap="square" lIns="0" tIns="0" rIns="0" bIns="0" rtlCol="0" anchor="t"/>
          <a:lstStyle/>
          <a:p>
            <a:pPr algn="l" indent="0" marL="0">
              <a:spcAft>
                <a:spcPts val="800"/>
              </a:spcAft>
              <a:buNone/>
            </a:pPr>
            <a:r>
              <a:rPr lang="en-US" sz="4000" dirty="0">
                <a:solidFill>
                  <a:srgbClr val="111111"/>
                </a:solidFill>
                <a:latin typeface="Times New Roman" pitchFamily="34" charset="0"/>
                <a:ea typeface="Times New Roman" pitchFamily="34" charset="-122"/>
                <a:cs typeface="Times New Roman" pitchFamily="34" charset="-120"/>
              </a:rPr>
              <a:t>Give three reasons for the gap between rich and poor countries.</a:t>
            </a:r>
            <a:endParaRPr lang="en-US" sz="4000" dirty="0"/>
          </a:p>
        </p:txBody>
      </p:sp>
      <p:sp>
        <p:nvSpPr>
          <p:cNvPr id="25" name="Slide Number Placeholder 0"/>
          <p:cNvSpPr>
            <a:spLocks noGrp="1"/>
          </p:cNvSpPr>
          <p:nvPr>
            <p:ph type="sldNum" sz="quarter" idx="4294967295"/>
          </p:nvPr>
        </p:nvSpPr>
        <p:spPr>
          <a:xfrm>
            <a:off x="27432" y="91440"/>
            <a:ext cx="585216" cy="475488"/>
          </a:xfrm>
          <a:prstGeom prst="rect">
            <a:avLst/>
          </a:prstGeom>
          <a:extLst>
            <a:ext uri="{C572A759-6A51-4108-AA02-DFA0A04FC94B}">
              <ma14:wrappingTextBoxFlag xmlns:ma14="http://schemas.microsoft.com/office/mac/drawingml/2011/main" val="0"/>
            </a:ext>
          </a:extLst>
        </p:spPr>
        <p:txBody>
          <a:bodyPr/>
          <a:lstStyle>
            <a:lvl1pPr>
              <a:defRPr sz="2000">
                <a:solidFill>
                  <a:srgbClr val="FFFFFF"/>
                </a:solidFill>
                <a:latin typeface="Calibri"/>
                <a:ea typeface="Calibri"/>
                <a:cs typeface="Calibri"/>
              </a:defRPr>
            </a:lvl1pPr>
          </a:lstStyle>
          <a:p>
            <a:pPr algn="ctr"/>
            <a:fld id="{F7021451-1387-4CA6-816F-3879F97B5CBC}" type="slidenum">
              <a:rPr b="1" lang="en-US"/>
              <a:t>29</a:t>
            </a:fld>
            <a:endParaRPr lang="en-US"/>
          </a:p>
        </p:txBody>
      </p:sp>
    </p:spTree>
  </p:cSld>
  <p:clrMapOvr>
    <a:masterClrMapping/>
  </p:clrMapOvr>
</p:sld>
</file>

<file path=ppt/slides/slide30.xml><?xml version="1.0" encoding="utf-8"?>
<p:sld xmlns:a="http://schemas.openxmlformats.org/drawingml/2006/main" xmlns:r="http://schemas.openxmlformats.org/officeDocument/2006/relationships" xmlns:p="http://schemas.openxmlformats.org/presentationml/2006/main">
  <p:cSld name="Slide 30">
    <p:spTree>
      <p:nvGrpSpPr>
        <p:cNvPr id="1" name=""/>
        <p:cNvGrpSpPr/>
        <p:nvPr/>
      </p:nvGrpSpPr>
      <p:grpSpPr>
        <a:xfrm>
          <a:off x="0" y="0"/>
          <a:ext cx="0" cy="0"/>
          <a:chOff x="0" y="0"/>
          <a:chExt cx="0" cy="0"/>
        </a:xfrm>
      </p:grpSpPr>
      <p:sp>
        <p:nvSpPr>
          <p:cNvPr id="2" name="Text 0"/>
          <p:cNvSpPr/>
          <p:nvPr/>
        </p:nvSpPr>
        <p:spPr>
          <a:xfrm>
            <a:off x="457200" y="713232"/>
            <a:ext cx="11368735" cy="274320"/>
          </a:xfrm>
          <a:prstGeom prst="rect">
            <a:avLst/>
          </a:prstGeom>
          <a:noFill/>
          <a:ln/>
        </p:spPr>
        <p:txBody>
          <a:bodyPr wrap="square" lIns="0" tIns="0" rIns="0" bIns="0" rtlCol="0" anchor="ctr"/>
          <a:lstStyle/>
          <a:p>
            <a:pPr algn="r" indent="0" marL="0">
              <a:buNone/>
            </a:pPr>
            <a:r>
              <a:rPr lang="en-US" sz="1400" b="1" dirty="0">
                <a:solidFill>
                  <a:srgbClr val="1C3F6E"/>
                </a:solidFill>
                <a:latin typeface="Calibri" pitchFamily="34" charset="0"/>
                <a:ea typeface="Calibri" pitchFamily="34" charset="-122"/>
                <a:cs typeface="Calibri" pitchFamily="34" charset="-120"/>
              </a:rPr>
              <a:t>3. THE DEVELOPMENT GAP</a:t>
            </a:r>
            <a:endParaRPr lang="en-US" sz="1400" dirty="0"/>
          </a:p>
        </p:txBody>
      </p:sp>
      <p:pic>
        <p:nvPicPr>
          <p:cNvPr id="3" name="Image 0" descr="/home/claude/f4/img/minesec_sheet.png">    </p:cNvPr>
          <p:cNvPicPr>
            <a:picLocks noChangeAspect="1"/>
          </p:cNvPicPr>
          <p:nvPr/>
        </p:nvPicPr>
        <p:blipFill>
          <a:blip r:embed="rId1"/>
          <a:stretch>
            <a:fillRect/>
          </a:stretch>
        </p:blipFill>
        <p:spPr>
          <a:xfrm>
            <a:off x="0" y="658368"/>
            <a:ext cx="5120640" cy="5833872"/>
          </a:xfrm>
          <a:prstGeom prst="rect">
            <a:avLst/>
          </a:prstGeom>
        </p:spPr>
      </p:pic>
      <p:sp>
        <p:nvSpPr>
          <p:cNvPr id="4" name="Text 1"/>
          <p:cNvSpPr/>
          <p:nvPr/>
        </p:nvSpPr>
        <p:spPr>
          <a:xfrm>
            <a:off x="5349240" y="1005840"/>
            <a:ext cx="6522415" cy="731520"/>
          </a:xfrm>
          <a:prstGeom prst="rect">
            <a:avLst/>
          </a:prstGeom>
          <a:noFill/>
          <a:ln/>
        </p:spPr>
        <p:txBody>
          <a:bodyPr wrap="square" lIns="0" tIns="0" rIns="0" bIns="0" rtlCol="0" anchor="ctr">
            <a:normAutofit/>
          </a:bodyPr>
          <a:lstStyle/>
          <a:p>
            <a:pPr algn="ctr" indent="0" marL="0">
              <a:buNone/>
            </a:pPr>
            <a:r>
              <a:rPr lang="en-US" sz="3600" b="1" dirty="0">
                <a:solidFill>
                  <a:srgbClr val="990011"/>
                </a:solidFill>
                <a:latin typeface="Times New Roman" pitchFamily="34" charset="0"/>
                <a:ea typeface="Times New Roman" pitchFamily="34" charset="-122"/>
                <a:cs typeface="Times New Roman" pitchFamily="34" charset="-120"/>
              </a:rPr>
              <a:t>Activity 4: Answer</a:t>
            </a:r>
            <a:endParaRPr lang="en-US" sz="3600" dirty="0"/>
          </a:p>
        </p:txBody>
      </p:sp>
      <p:sp>
        <p:nvSpPr>
          <p:cNvPr id="5" name="Text 2"/>
          <p:cNvSpPr/>
          <p:nvPr/>
        </p:nvSpPr>
        <p:spPr>
          <a:xfrm>
            <a:off x="5349240" y="1783080"/>
            <a:ext cx="6522415" cy="4663440"/>
          </a:xfrm>
          <a:prstGeom prst="rect">
            <a:avLst/>
          </a:prstGeom>
          <a:noFill/>
          <a:ln/>
        </p:spPr>
        <p:txBody>
          <a:bodyPr wrap="square" lIns="0" tIns="0" rIns="0" bIns="0" rtlCol="0" anchor="t"/>
          <a:lstStyle/>
          <a:p>
            <a:pPr algn="l" indent="0" marL="0">
              <a:spcAft>
                <a:spcPts val="800"/>
              </a:spcAft>
              <a:buNone/>
            </a:pPr>
            <a:r>
              <a:rPr lang="en-US" sz="4000" dirty="0">
                <a:solidFill>
                  <a:srgbClr val="111111"/>
                </a:solidFill>
                <a:latin typeface="Times New Roman" pitchFamily="34" charset="0"/>
                <a:ea typeface="Times New Roman" pitchFamily="34" charset="-122"/>
                <a:cs typeface="Times New Roman" pitchFamily="34" charset="-120"/>
              </a:rPr>
              <a:t>Colonial history, unfair trade and debt (also poor governance, conflicts, climate).</a:t>
            </a:r>
            <a:endParaRPr lang="en-US" sz="4000" dirty="0"/>
          </a:p>
        </p:txBody>
      </p:sp>
      <p:sp>
        <p:nvSpPr>
          <p:cNvPr id="25" name="Slide Number Placeholder 0"/>
          <p:cNvSpPr>
            <a:spLocks noGrp="1"/>
          </p:cNvSpPr>
          <p:nvPr>
            <p:ph type="sldNum" sz="quarter" idx="4294967295"/>
          </p:nvPr>
        </p:nvSpPr>
        <p:spPr>
          <a:xfrm>
            <a:off x="27432" y="91440"/>
            <a:ext cx="585216" cy="475488"/>
          </a:xfrm>
          <a:prstGeom prst="rect">
            <a:avLst/>
          </a:prstGeom>
          <a:extLst>
            <a:ext uri="{C572A759-6A51-4108-AA02-DFA0A04FC94B}">
              <ma14:wrappingTextBoxFlag xmlns:ma14="http://schemas.microsoft.com/office/mac/drawingml/2011/main" val="0"/>
            </a:ext>
          </a:extLst>
        </p:spPr>
        <p:txBody>
          <a:bodyPr/>
          <a:lstStyle>
            <a:lvl1pPr>
              <a:defRPr sz="2000">
                <a:solidFill>
                  <a:srgbClr val="FFFFFF"/>
                </a:solidFill>
                <a:latin typeface="Calibri"/>
                <a:ea typeface="Calibri"/>
                <a:cs typeface="Calibri"/>
              </a:defRPr>
            </a:lvl1pPr>
          </a:lstStyle>
          <a:p>
            <a:pPr algn="ctr"/>
            <a:fld id="{F7021451-1387-4CA6-816F-3879F97B5CBC}" type="slidenum">
              <a:rPr b="1" lang="en-US"/>
              <a:t>30</a:t>
            </a:fld>
            <a:endParaRPr lang="en-US"/>
          </a:p>
        </p:txBody>
      </p:sp>
    </p:spTree>
  </p:cSld>
  <p:clrMapOvr>
    <a:masterClrMapping/>
  </p:clrMapOvr>
</p:sld>
</file>

<file path=ppt/slides/slide31.xml><?xml version="1.0" encoding="utf-8"?>
<p:sld xmlns:a="http://schemas.openxmlformats.org/drawingml/2006/main" xmlns:r="http://schemas.openxmlformats.org/officeDocument/2006/relationships" xmlns:p="http://schemas.openxmlformats.org/presentationml/2006/main">
  <p:cSld name="Slide 31">
    <p:spTree>
      <p:nvGrpSpPr>
        <p:cNvPr id="1" name=""/>
        <p:cNvGrpSpPr/>
        <p:nvPr/>
      </p:nvGrpSpPr>
      <p:grpSpPr>
        <a:xfrm>
          <a:off x="0" y="0"/>
          <a:ext cx="0" cy="0"/>
          <a:chOff x="0" y="0"/>
          <a:chExt cx="0" cy="0"/>
        </a:xfrm>
      </p:grpSpPr>
      <p:sp>
        <p:nvSpPr>
          <p:cNvPr id="2" name="Text 0"/>
          <p:cNvSpPr/>
          <p:nvPr/>
        </p:nvSpPr>
        <p:spPr>
          <a:xfrm>
            <a:off x="457200" y="713232"/>
            <a:ext cx="11368735" cy="274320"/>
          </a:xfrm>
          <a:prstGeom prst="rect">
            <a:avLst/>
          </a:prstGeom>
          <a:noFill/>
          <a:ln/>
        </p:spPr>
        <p:txBody>
          <a:bodyPr wrap="square" lIns="0" tIns="0" rIns="0" bIns="0" rtlCol="0" anchor="ctr"/>
          <a:lstStyle/>
          <a:p>
            <a:pPr algn="r" indent="0" marL="0">
              <a:buNone/>
            </a:pPr>
            <a:r>
              <a:rPr lang="en-US" sz="1400" b="1" dirty="0">
                <a:solidFill>
                  <a:srgbClr val="1C3F6E"/>
                </a:solidFill>
                <a:latin typeface="Calibri" pitchFamily="34" charset="0"/>
                <a:ea typeface="Calibri" pitchFamily="34" charset="-122"/>
                <a:cs typeface="Calibri" pitchFamily="34" charset="-120"/>
              </a:rPr>
              <a:t>4. SUSTAINABLE DEVELOPMENT</a:t>
            </a:r>
            <a:endParaRPr lang="en-US" sz="1400" dirty="0"/>
          </a:p>
        </p:txBody>
      </p:sp>
      <p:sp>
        <p:nvSpPr>
          <p:cNvPr id="3" name="Text 1"/>
          <p:cNvSpPr/>
          <p:nvPr/>
        </p:nvSpPr>
        <p:spPr>
          <a:xfrm>
            <a:off x="457200" y="1005840"/>
            <a:ext cx="11277295" cy="731520"/>
          </a:xfrm>
          <a:prstGeom prst="rect">
            <a:avLst/>
          </a:prstGeom>
          <a:noFill/>
          <a:ln/>
        </p:spPr>
        <p:txBody>
          <a:bodyPr wrap="square" lIns="0" tIns="0" rIns="0" bIns="0" rtlCol="0" anchor="ctr"/>
          <a:lstStyle/>
          <a:p>
            <a:pPr algn="ctr" indent="0" marL="0">
              <a:buNone/>
            </a:pPr>
            <a:r>
              <a:rPr lang="en-US" sz="3600" b="1" dirty="0">
                <a:solidFill>
                  <a:srgbClr val="990011"/>
                </a:solidFill>
                <a:latin typeface="Times New Roman" pitchFamily="34" charset="0"/>
                <a:ea typeface="Times New Roman" pitchFamily="34" charset="-122"/>
                <a:cs typeface="Times New Roman" pitchFamily="34" charset="-120"/>
              </a:rPr>
              <a:t>Activity 5</a:t>
            </a:r>
            <a:endParaRPr lang="en-US" sz="3600" dirty="0"/>
          </a:p>
        </p:txBody>
      </p:sp>
      <p:pic>
        <p:nvPicPr>
          <p:cNvPr id="4" name="Image 0" descr="/home/claude/f4/img/v2/sustain_big.png">    </p:cNvPr>
          <p:cNvPicPr>
            <a:picLocks noChangeAspect="1"/>
          </p:cNvPicPr>
          <p:nvPr/>
        </p:nvPicPr>
        <p:blipFill>
          <a:blip r:embed="rId1"/>
          <a:stretch>
            <a:fillRect/>
          </a:stretch>
        </p:blipFill>
        <p:spPr>
          <a:xfrm>
            <a:off x="629930" y="1783080"/>
            <a:ext cx="10931835" cy="4270248"/>
          </a:xfrm>
          <a:prstGeom prst="rect">
            <a:avLst/>
          </a:prstGeom>
        </p:spPr>
      </p:pic>
      <p:sp>
        <p:nvSpPr>
          <p:cNvPr id="5" name="Text 2"/>
          <p:cNvSpPr/>
          <p:nvPr/>
        </p:nvSpPr>
        <p:spPr>
          <a:xfrm>
            <a:off x="457200" y="6089904"/>
            <a:ext cx="11277295" cy="347472"/>
          </a:xfrm>
          <a:prstGeom prst="rect">
            <a:avLst/>
          </a:prstGeom>
          <a:noFill/>
          <a:ln/>
        </p:spPr>
        <p:txBody>
          <a:bodyPr wrap="square" lIns="0" tIns="0" rIns="0" bIns="0" rtlCol="0" anchor="ctr"/>
          <a:lstStyle/>
          <a:p>
            <a:pPr algn="ctr" indent="0" marL="0">
              <a:buNone/>
            </a:pPr>
            <a:r>
              <a:rPr lang="en-US" sz="1800" i="1" dirty="0">
                <a:solidFill>
                  <a:srgbClr val="555555"/>
                </a:solidFill>
                <a:latin typeface="Times New Roman" pitchFamily="34" charset="0"/>
                <a:ea typeface="Times New Roman" pitchFamily="34" charset="-122"/>
                <a:cs typeface="Times New Roman" pitchFamily="34" charset="-120"/>
              </a:rPr>
              <a:t>The three pillars.</a:t>
            </a:r>
            <a:endParaRPr lang="en-US" sz="1800" dirty="0"/>
          </a:p>
        </p:txBody>
      </p:sp>
      <p:sp>
        <p:nvSpPr>
          <p:cNvPr id="25" name="Slide Number Placeholder 0"/>
          <p:cNvSpPr>
            <a:spLocks noGrp="1"/>
          </p:cNvSpPr>
          <p:nvPr>
            <p:ph type="sldNum" sz="quarter" idx="4294967295"/>
          </p:nvPr>
        </p:nvSpPr>
        <p:spPr>
          <a:xfrm>
            <a:off x="27432" y="91440"/>
            <a:ext cx="585216" cy="475488"/>
          </a:xfrm>
          <a:prstGeom prst="rect">
            <a:avLst/>
          </a:prstGeom>
          <a:extLst>
            <a:ext uri="{C572A759-6A51-4108-AA02-DFA0A04FC94B}">
              <ma14:wrappingTextBoxFlag xmlns:ma14="http://schemas.microsoft.com/office/mac/drawingml/2011/main" val="0"/>
            </a:ext>
          </a:extLst>
        </p:spPr>
        <p:txBody>
          <a:bodyPr/>
          <a:lstStyle>
            <a:lvl1pPr>
              <a:defRPr sz="2000">
                <a:solidFill>
                  <a:srgbClr val="FFFFFF"/>
                </a:solidFill>
                <a:latin typeface="Calibri"/>
                <a:ea typeface="Calibri"/>
                <a:cs typeface="Calibri"/>
              </a:defRPr>
            </a:lvl1pPr>
          </a:lstStyle>
          <a:p>
            <a:pPr algn="ctr"/>
            <a:fld id="{F7021451-1387-4CA6-816F-3879F97B5CBC}" type="slidenum">
              <a:rPr b="1" lang="en-US"/>
              <a:t>31</a:t>
            </a:fld>
            <a:endParaRPr lang="en-US"/>
          </a:p>
        </p:txBody>
      </p:sp>
    </p:spTree>
  </p:cSld>
  <p:clrMapOvr>
    <a:masterClrMapping/>
  </p:clrMapOvr>
</p:sld>
</file>

<file path=ppt/slides/slide32.xml><?xml version="1.0" encoding="utf-8"?>
<p:sld xmlns:a="http://schemas.openxmlformats.org/drawingml/2006/main" xmlns:r="http://schemas.openxmlformats.org/officeDocument/2006/relationships" xmlns:p="http://schemas.openxmlformats.org/presentationml/2006/main">
  <p:cSld name="Slide 32">
    <p:spTree>
      <p:nvGrpSpPr>
        <p:cNvPr id="1" name=""/>
        <p:cNvGrpSpPr/>
        <p:nvPr/>
      </p:nvGrpSpPr>
      <p:grpSpPr>
        <a:xfrm>
          <a:off x="0" y="0"/>
          <a:ext cx="0" cy="0"/>
          <a:chOff x="0" y="0"/>
          <a:chExt cx="0" cy="0"/>
        </a:xfrm>
      </p:grpSpPr>
      <p:sp>
        <p:nvSpPr>
          <p:cNvPr id="2" name="Text 0"/>
          <p:cNvSpPr/>
          <p:nvPr/>
        </p:nvSpPr>
        <p:spPr>
          <a:xfrm>
            <a:off x="457200" y="713232"/>
            <a:ext cx="11368735" cy="274320"/>
          </a:xfrm>
          <a:prstGeom prst="rect">
            <a:avLst/>
          </a:prstGeom>
          <a:noFill/>
          <a:ln/>
        </p:spPr>
        <p:txBody>
          <a:bodyPr wrap="square" lIns="0" tIns="0" rIns="0" bIns="0" rtlCol="0" anchor="ctr"/>
          <a:lstStyle/>
          <a:p>
            <a:pPr algn="r" indent="0" marL="0">
              <a:buNone/>
            </a:pPr>
            <a:r>
              <a:rPr lang="en-US" sz="1400" b="1" dirty="0">
                <a:solidFill>
                  <a:srgbClr val="1C3F6E"/>
                </a:solidFill>
                <a:latin typeface="Calibri" pitchFamily="34" charset="0"/>
                <a:ea typeface="Calibri" pitchFamily="34" charset="-122"/>
                <a:cs typeface="Calibri" pitchFamily="34" charset="-120"/>
              </a:rPr>
              <a:t>4. SUSTAINABLE DEVELOPMENT</a:t>
            </a:r>
            <a:endParaRPr lang="en-US" sz="1400" dirty="0"/>
          </a:p>
        </p:txBody>
      </p:sp>
      <p:pic>
        <p:nvPicPr>
          <p:cNvPr id="3" name="Image 0" descr="/home/claude/f4/img/minesec_sheet.png">    </p:cNvPr>
          <p:cNvPicPr>
            <a:picLocks noChangeAspect="1"/>
          </p:cNvPicPr>
          <p:nvPr/>
        </p:nvPicPr>
        <p:blipFill>
          <a:blip r:embed="rId1"/>
          <a:stretch>
            <a:fillRect/>
          </a:stretch>
        </p:blipFill>
        <p:spPr>
          <a:xfrm>
            <a:off x="0" y="658368"/>
            <a:ext cx="5120640" cy="5833872"/>
          </a:xfrm>
          <a:prstGeom prst="rect">
            <a:avLst/>
          </a:prstGeom>
        </p:spPr>
      </p:pic>
      <p:sp>
        <p:nvSpPr>
          <p:cNvPr id="4" name="Text 1"/>
          <p:cNvSpPr/>
          <p:nvPr/>
        </p:nvSpPr>
        <p:spPr>
          <a:xfrm>
            <a:off x="5349240" y="1005840"/>
            <a:ext cx="6522415" cy="731520"/>
          </a:xfrm>
          <a:prstGeom prst="rect">
            <a:avLst/>
          </a:prstGeom>
          <a:noFill/>
          <a:ln/>
        </p:spPr>
        <p:txBody>
          <a:bodyPr wrap="square" lIns="0" tIns="0" rIns="0" bIns="0" rtlCol="0" anchor="ctr">
            <a:normAutofit/>
          </a:bodyPr>
          <a:lstStyle/>
          <a:p>
            <a:pPr algn="ctr" indent="0" marL="0">
              <a:buNone/>
            </a:pPr>
            <a:r>
              <a:rPr lang="en-US" sz="3600" b="1" dirty="0">
                <a:solidFill>
                  <a:srgbClr val="990011"/>
                </a:solidFill>
                <a:latin typeface="Times New Roman" pitchFamily="34" charset="0"/>
                <a:ea typeface="Times New Roman" pitchFamily="34" charset="-122"/>
                <a:cs typeface="Times New Roman" pitchFamily="34" charset="-120"/>
              </a:rPr>
              <a:t>Activity 5: Question</a:t>
            </a:r>
            <a:endParaRPr lang="en-US" sz="3600" dirty="0"/>
          </a:p>
        </p:txBody>
      </p:sp>
      <p:sp>
        <p:nvSpPr>
          <p:cNvPr id="5" name="Text 2"/>
          <p:cNvSpPr/>
          <p:nvPr/>
        </p:nvSpPr>
        <p:spPr>
          <a:xfrm>
            <a:off x="5349240" y="1783080"/>
            <a:ext cx="6522415" cy="4663440"/>
          </a:xfrm>
          <a:prstGeom prst="rect">
            <a:avLst/>
          </a:prstGeom>
          <a:noFill/>
          <a:ln/>
        </p:spPr>
        <p:txBody>
          <a:bodyPr wrap="square" lIns="0" tIns="0" rIns="0" bIns="0" rtlCol="0" anchor="t"/>
          <a:lstStyle/>
          <a:p>
            <a:pPr algn="l" indent="0" marL="0">
              <a:spcAft>
                <a:spcPts val="800"/>
              </a:spcAft>
              <a:buNone/>
            </a:pPr>
            <a:r>
              <a:rPr lang="en-US" sz="4000" dirty="0">
                <a:solidFill>
                  <a:srgbClr val="111111"/>
                </a:solidFill>
                <a:latin typeface="Times New Roman" pitchFamily="34" charset="0"/>
                <a:ea typeface="Times New Roman" pitchFamily="34" charset="-122"/>
                <a:cs typeface="Times New Roman" pitchFamily="34" charset="-120"/>
              </a:rPr>
              <a:t>What is sustainable development?</a:t>
            </a:r>
            <a:endParaRPr lang="en-US" sz="4000" dirty="0"/>
          </a:p>
        </p:txBody>
      </p:sp>
      <p:sp>
        <p:nvSpPr>
          <p:cNvPr id="25" name="Slide Number Placeholder 0"/>
          <p:cNvSpPr>
            <a:spLocks noGrp="1"/>
          </p:cNvSpPr>
          <p:nvPr>
            <p:ph type="sldNum" sz="quarter" idx="4294967295"/>
          </p:nvPr>
        </p:nvSpPr>
        <p:spPr>
          <a:xfrm>
            <a:off x="27432" y="91440"/>
            <a:ext cx="585216" cy="475488"/>
          </a:xfrm>
          <a:prstGeom prst="rect">
            <a:avLst/>
          </a:prstGeom>
          <a:extLst>
            <a:ext uri="{C572A759-6A51-4108-AA02-DFA0A04FC94B}">
              <ma14:wrappingTextBoxFlag xmlns:ma14="http://schemas.microsoft.com/office/mac/drawingml/2011/main" val="0"/>
            </a:ext>
          </a:extLst>
        </p:spPr>
        <p:txBody>
          <a:bodyPr/>
          <a:lstStyle>
            <a:lvl1pPr>
              <a:defRPr sz="2000">
                <a:solidFill>
                  <a:srgbClr val="FFFFFF"/>
                </a:solidFill>
                <a:latin typeface="Calibri"/>
                <a:ea typeface="Calibri"/>
                <a:cs typeface="Calibri"/>
              </a:defRPr>
            </a:lvl1pPr>
          </a:lstStyle>
          <a:p>
            <a:pPr algn="ctr"/>
            <a:fld id="{F7021451-1387-4CA6-816F-3879F97B5CBC}" type="slidenum">
              <a:rPr b="1" lang="en-US"/>
              <a:t>32</a:t>
            </a:fld>
            <a:endParaRPr lang="en-US"/>
          </a:p>
        </p:txBody>
      </p:sp>
    </p:spTree>
  </p:cSld>
  <p:clrMapOvr>
    <a:masterClrMapping/>
  </p:clrMapOvr>
</p:sld>
</file>

<file path=ppt/slides/slide33.xml><?xml version="1.0" encoding="utf-8"?>
<p:sld xmlns:a="http://schemas.openxmlformats.org/drawingml/2006/main" xmlns:r="http://schemas.openxmlformats.org/officeDocument/2006/relationships" xmlns:p="http://schemas.openxmlformats.org/presentationml/2006/main">
  <p:cSld name="Slide 33">
    <p:spTree>
      <p:nvGrpSpPr>
        <p:cNvPr id="1" name=""/>
        <p:cNvGrpSpPr/>
        <p:nvPr/>
      </p:nvGrpSpPr>
      <p:grpSpPr>
        <a:xfrm>
          <a:off x="0" y="0"/>
          <a:ext cx="0" cy="0"/>
          <a:chOff x="0" y="0"/>
          <a:chExt cx="0" cy="0"/>
        </a:xfrm>
      </p:grpSpPr>
      <p:sp>
        <p:nvSpPr>
          <p:cNvPr id="2" name="Text 0"/>
          <p:cNvSpPr/>
          <p:nvPr/>
        </p:nvSpPr>
        <p:spPr>
          <a:xfrm>
            <a:off x="457200" y="713232"/>
            <a:ext cx="11368735" cy="274320"/>
          </a:xfrm>
          <a:prstGeom prst="rect">
            <a:avLst/>
          </a:prstGeom>
          <a:noFill/>
          <a:ln/>
        </p:spPr>
        <p:txBody>
          <a:bodyPr wrap="square" lIns="0" tIns="0" rIns="0" bIns="0" rtlCol="0" anchor="ctr"/>
          <a:lstStyle/>
          <a:p>
            <a:pPr algn="r" indent="0" marL="0">
              <a:buNone/>
            </a:pPr>
            <a:r>
              <a:rPr lang="en-US" sz="1400" b="1" dirty="0">
                <a:solidFill>
                  <a:srgbClr val="1C3F6E"/>
                </a:solidFill>
                <a:latin typeface="Calibri" pitchFamily="34" charset="0"/>
                <a:ea typeface="Calibri" pitchFamily="34" charset="-122"/>
                <a:cs typeface="Calibri" pitchFamily="34" charset="-120"/>
              </a:rPr>
              <a:t>4. SUSTAINABLE DEVELOPMENT</a:t>
            </a:r>
            <a:endParaRPr lang="en-US" sz="1400" dirty="0"/>
          </a:p>
        </p:txBody>
      </p:sp>
      <p:pic>
        <p:nvPicPr>
          <p:cNvPr id="3" name="Image 0" descr="/home/claude/f4/img/minesec_sheet.png">    </p:cNvPr>
          <p:cNvPicPr>
            <a:picLocks noChangeAspect="1"/>
          </p:cNvPicPr>
          <p:nvPr/>
        </p:nvPicPr>
        <p:blipFill>
          <a:blip r:embed="rId1"/>
          <a:stretch>
            <a:fillRect/>
          </a:stretch>
        </p:blipFill>
        <p:spPr>
          <a:xfrm>
            <a:off x="0" y="658368"/>
            <a:ext cx="5120640" cy="5833872"/>
          </a:xfrm>
          <a:prstGeom prst="rect">
            <a:avLst/>
          </a:prstGeom>
        </p:spPr>
      </p:pic>
      <p:sp>
        <p:nvSpPr>
          <p:cNvPr id="4" name="Text 1"/>
          <p:cNvSpPr/>
          <p:nvPr/>
        </p:nvSpPr>
        <p:spPr>
          <a:xfrm>
            <a:off x="5349240" y="1005840"/>
            <a:ext cx="6522415" cy="731520"/>
          </a:xfrm>
          <a:prstGeom prst="rect">
            <a:avLst/>
          </a:prstGeom>
          <a:noFill/>
          <a:ln/>
        </p:spPr>
        <p:txBody>
          <a:bodyPr wrap="square" lIns="0" tIns="0" rIns="0" bIns="0" rtlCol="0" anchor="ctr">
            <a:normAutofit/>
          </a:bodyPr>
          <a:lstStyle/>
          <a:p>
            <a:pPr algn="ctr" indent="0" marL="0">
              <a:buNone/>
            </a:pPr>
            <a:r>
              <a:rPr lang="en-US" sz="3600" b="1" dirty="0">
                <a:solidFill>
                  <a:srgbClr val="990011"/>
                </a:solidFill>
                <a:latin typeface="Times New Roman" pitchFamily="34" charset="0"/>
                <a:ea typeface="Times New Roman" pitchFamily="34" charset="-122"/>
                <a:cs typeface="Times New Roman" pitchFamily="34" charset="-120"/>
              </a:rPr>
              <a:t>Activity 5: Answer</a:t>
            </a:r>
            <a:endParaRPr lang="en-US" sz="3600" dirty="0"/>
          </a:p>
        </p:txBody>
      </p:sp>
      <p:sp>
        <p:nvSpPr>
          <p:cNvPr id="5" name="Text 2"/>
          <p:cNvSpPr/>
          <p:nvPr/>
        </p:nvSpPr>
        <p:spPr>
          <a:xfrm>
            <a:off x="5349240" y="1783080"/>
            <a:ext cx="6522415" cy="4663440"/>
          </a:xfrm>
          <a:prstGeom prst="rect">
            <a:avLst/>
          </a:prstGeom>
          <a:noFill/>
          <a:ln/>
        </p:spPr>
        <p:txBody>
          <a:bodyPr wrap="square" lIns="0" tIns="0" rIns="0" bIns="0" rtlCol="0" anchor="t"/>
          <a:lstStyle/>
          <a:p>
            <a:pPr algn="l" indent="0" marL="0">
              <a:spcAft>
                <a:spcPts val="800"/>
              </a:spcAft>
              <a:buNone/>
            </a:pPr>
            <a:r>
              <a:rPr lang="en-US" sz="4000" dirty="0">
                <a:solidFill>
                  <a:srgbClr val="111111"/>
                </a:solidFill>
                <a:latin typeface="Times New Roman" pitchFamily="34" charset="0"/>
                <a:ea typeface="Times New Roman" pitchFamily="34" charset="-122"/>
                <a:cs typeface="Times New Roman" pitchFamily="34" charset="-120"/>
              </a:rPr>
              <a:t>Development that meets today's needs without harming future generations.</a:t>
            </a:r>
            <a:endParaRPr lang="en-US" sz="4000" dirty="0"/>
          </a:p>
        </p:txBody>
      </p:sp>
      <p:sp>
        <p:nvSpPr>
          <p:cNvPr id="25" name="Slide Number Placeholder 0"/>
          <p:cNvSpPr>
            <a:spLocks noGrp="1"/>
          </p:cNvSpPr>
          <p:nvPr>
            <p:ph type="sldNum" sz="quarter" idx="4294967295"/>
          </p:nvPr>
        </p:nvSpPr>
        <p:spPr>
          <a:xfrm>
            <a:off x="27432" y="91440"/>
            <a:ext cx="585216" cy="475488"/>
          </a:xfrm>
          <a:prstGeom prst="rect">
            <a:avLst/>
          </a:prstGeom>
          <a:extLst>
            <a:ext uri="{C572A759-6A51-4108-AA02-DFA0A04FC94B}">
              <ma14:wrappingTextBoxFlag xmlns:ma14="http://schemas.microsoft.com/office/mac/drawingml/2011/main" val="0"/>
            </a:ext>
          </a:extLst>
        </p:spPr>
        <p:txBody>
          <a:bodyPr/>
          <a:lstStyle>
            <a:lvl1pPr>
              <a:defRPr sz="2000">
                <a:solidFill>
                  <a:srgbClr val="FFFFFF"/>
                </a:solidFill>
                <a:latin typeface="Calibri"/>
                <a:ea typeface="Calibri"/>
                <a:cs typeface="Calibri"/>
              </a:defRPr>
            </a:lvl1pPr>
          </a:lstStyle>
          <a:p>
            <a:pPr algn="ctr"/>
            <a:fld id="{F7021451-1387-4CA6-816F-3879F97B5CBC}" type="slidenum">
              <a:rPr b="1" lang="en-US"/>
              <a:t>33</a:t>
            </a:fld>
            <a:endParaRPr lang="en-US"/>
          </a:p>
        </p:txBody>
      </p:sp>
    </p:spTree>
  </p:cSld>
  <p:clrMapOvr>
    <a:masterClrMapping/>
  </p:clrMapOvr>
</p:sld>
</file>

<file path=ppt/slides/slide34.xml><?xml version="1.0" encoding="utf-8"?>
<p:sld xmlns:a="http://schemas.openxmlformats.org/drawingml/2006/main" xmlns:r="http://schemas.openxmlformats.org/officeDocument/2006/relationships" xmlns:p="http://schemas.openxmlformats.org/presentationml/2006/main">
  <p:cSld name="Slide 34">
    <p:spTree>
      <p:nvGrpSpPr>
        <p:cNvPr id="1" name=""/>
        <p:cNvGrpSpPr/>
        <p:nvPr/>
      </p:nvGrpSpPr>
      <p:grpSpPr>
        <a:xfrm>
          <a:off x="0" y="0"/>
          <a:ext cx="0" cy="0"/>
          <a:chOff x="0" y="0"/>
          <a:chExt cx="0" cy="0"/>
        </a:xfrm>
      </p:grpSpPr>
      <p:sp>
        <p:nvSpPr>
          <p:cNvPr id="2" name="Text 0"/>
          <p:cNvSpPr/>
          <p:nvPr/>
        </p:nvSpPr>
        <p:spPr>
          <a:xfrm>
            <a:off x="457200" y="713232"/>
            <a:ext cx="11368735" cy="274320"/>
          </a:xfrm>
          <a:prstGeom prst="rect">
            <a:avLst/>
          </a:prstGeom>
          <a:noFill/>
          <a:ln/>
        </p:spPr>
        <p:txBody>
          <a:bodyPr wrap="square" lIns="0" tIns="0" rIns="0" bIns="0" rtlCol="0" anchor="ctr"/>
          <a:lstStyle/>
          <a:p>
            <a:pPr algn="r" indent="0" marL="0">
              <a:buNone/>
            </a:pPr>
            <a:r>
              <a:rPr lang="en-US" sz="1400" b="1" dirty="0">
                <a:solidFill>
                  <a:srgbClr val="1C3F6E"/>
                </a:solidFill>
                <a:latin typeface="Calibri" pitchFamily="34" charset="0"/>
                <a:ea typeface="Calibri" pitchFamily="34" charset="-122"/>
                <a:cs typeface="Calibri" pitchFamily="34" charset="-120"/>
              </a:rPr>
              <a:t>BOARD SUMMARY</a:t>
            </a:r>
            <a:endParaRPr lang="en-US" sz="1400" dirty="0"/>
          </a:p>
        </p:txBody>
      </p:sp>
      <p:pic>
        <p:nvPicPr>
          <p:cNvPr id="3" name="Image 0" descr="/home/claude/f4/img/minesec_sheet.png">    </p:cNvPr>
          <p:cNvPicPr>
            <a:picLocks noChangeAspect="1"/>
          </p:cNvPicPr>
          <p:nvPr/>
        </p:nvPicPr>
        <p:blipFill>
          <a:blip r:embed="rId1"/>
          <a:stretch>
            <a:fillRect/>
          </a:stretch>
        </p:blipFill>
        <p:spPr>
          <a:xfrm>
            <a:off x="0" y="658368"/>
            <a:ext cx="5120640" cy="5833872"/>
          </a:xfrm>
          <a:prstGeom prst="rect">
            <a:avLst/>
          </a:prstGeom>
        </p:spPr>
      </p:pic>
      <p:sp>
        <p:nvSpPr>
          <p:cNvPr id="4" name="Text 1"/>
          <p:cNvSpPr/>
          <p:nvPr/>
        </p:nvSpPr>
        <p:spPr>
          <a:xfrm>
            <a:off x="5349240" y="1005840"/>
            <a:ext cx="6522415" cy="731520"/>
          </a:xfrm>
          <a:prstGeom prst="rect">
            <a:avLst/>
          </a:prstGeom>
          <a:noFill/>
          <a:ln/>
        </p:spPr>
        <p:txBody>
          <a:bodyPr wrap="square" lIns="0" tIns="0" rIns="0" bIns="0" rtlCol="0" anchor="ctr">
            <a:normAutofit/>
          </a:bodyPr>
          <a:lstStyle/>
          <a:p>
            <a:pPr algn="ctr" indent="0" marL="0">
              <a:buNone/>
            </a:pPr>
            <a:r>
              <a:rPr lang="en-US" sz="3600" b="1" dirty="0">
                <a:solidFill>
                  <a:srgbClr val="990011"/>
                </a:solidFill>
                <a:latin typeface="Times New Roman" pitchFamily="34" charset="0"/>
                <a:ea typeface="Times New Roman" pitchFamily="34" charset="-122"/>
                <a:cs typeface="Times New Roman" pitchFamily="34" charset="-120"/>
              </a:rPr>
              <a:t>Board Summary</a:t>
            </a:r>
            <a:endParaRPr lang="en-US" sz="3600" dirty="0"/>
          </a:p>
        </p:txBody>
      </p:sp>
      <p:sp>
        <p:nvSpPr>
          <p:cNvPr id="5" name="Text 2"/>
          <p:cNvSpPr/>
          <p:nvPr/>
        </p:nvSpPr>
        <p:spPr>
          <a:xfrm>
            <a:off x="5349240" y="1783080"/>
            <a:ext cx="6522415" cy="4663440"/>
          </a:xfrm>
          <a:prstGeom prst="rect">
            <a:avLst/>
          </a:prstGeom>
          <a:noFill/>
          <a:ln/>
        </p:spPr>
        <p:txBody>
          <a:bodyPr wrap="square" lIns="0" tIns="0" rIns="0" bIns="0" rtlCol="0" anchor="t"/>
          <a:lstStyle/>
          <a:p>
            <a:pPr algn="l" indent="0" marL="0">
              <a:spcAft>
                <a:spcPts val="800"/>
              </a:spcAft>
              <a:buNone/>
            </a:pPr>
            <a:r>
              <a:rPr lang="en-US" sz="4000" b="1" dirty="0">
                <a:solidFill>
                  <a:srgbClr val="111111"/>
                </a:solidFill>
                <a:latin typeface="Times New Roman" pitchFamily="34" charset="0"/>
                <a:ea typeface="Times New Roman" pitchFamily="34" charset="-122"/>
                <a:cs typeface="Times New Roman" pitchFamily="34" charset="-120"/>
              </a:rPr>
              <a:t>Topic: Current Development Issues</a:t>
            </a:r>
            <a:endParaRPr lang="en-US" sz="4000" dirty="0"/>
          </a:p>
          <a:p>
            <a:pPr algn="l" indent="0" marL="0">
              <a:spcAft>
                <a:spcPts val="800"/>
              </a:spcAft>
              <a:buNone/>
            </a:pPr>
            <a:r>
              <a:rPr lang="en-US" sz="4000" b="1" dirty="0">
                <a:solidFill>
                  <a:srgbClr val="111111"/>
                </a:solidFill>
                <a:latin typeface="Times New Roman" pitchFamily="34" charset="0"/>
                <a:ea typeface="Times New Roman" pitchFamily="34" charset="-122"/>
                <a:cs typeface="Times New Roman" pitchFamily="34" charset="-120"/>
              </a:rPr>
              <a:t>Sub-topic: Concept of Development</a:t>
            </a:r>
            <a:endParaRPr lang="en-US" sz="4000" dirty="0"/>
          </a:p>
          <a:p>
            <a:pPr algn="l" indent="0" marL="0">
              <a:spcAft>
                <a:spcPts val="800"/>
              </a:spcAft>
              <a:buNone/>
            </a:pPr>
            <a:r>
              <a:rPr lang="en-US" sz="4000" b="1" dirty="0">
                <a:solidFill>
                  <a:srgbClr val="990011"/>
                </a:solidFill>
                <a:latin typeface="Times New Roman" pitchFamily="34" charset="0"/>
                <a:ea typeface="Times New Roman" pitchFamily="34" charset="-122"/>
                <a:cs typeface="Times New Roman" pitchFamily="34" charset="-120"/>
              </a:rPr>
              <a:t>Lesson 7: Notion of Development</a:t>
            </a:r>
            <a:endParaRPr lang="en-US" sz="4000" dirty="0"/>
          </a:p>
        </p:txBody>
      </p:sp>
      <p:sp>
        <p:nvSpPr>
          <p:cNvPr id="25" name="Slide Number Placeholder 0"/>
          <p:cNvSpPr>
            <a:spLocks noGrp="1"/>
          </p:cNvSpPr>
          <p:nvPr>
            <p:ph type="sldNum" sz="quarter" idx="4294967295"/>
          </p:nvPr>
        </p:nvSpPr>
        <p:spPr>
          <a:xfrm>
            <a:off x="27432" y="91440"/>
            <a:ext cx="585216" cy="475488"/>
          </a:xfrm>
          <a:prstGeom prst="rect">
            <a:avLst/>
          </a:prstGeom>
          <a:extLst>
            <a:ext uri="{C572A759-6A51-4108-AA02-DFA0A04FC94B}">
              <ma14:wrappingTextBoxFlag xmlns:ma14="http://schemas.microsoft.com/office/mac/drawingml/2011/main" val="0"/>
            </a:ext>
          </a:extLst>
        </p:spPr>
        <p:txBody>
          <a:bodyPr/>
          <a:lstStyle>
            <a:lvl1pPr>
              <a:defRPr sz="2000">
                <a:solidFill>
                  <a:srgbClr val="FFFFFF"/>
                </a:solidFill>
                <a:latin typeface="Calibri"/>
                <a:ea typeface="Calibri"/>
                <a:cs typeface="Calibri"/>
              </a:defRPr>
            </a:lvl1pPr>
          </a:lstStyle>
          <a:p>
            <a:pPr algn="ctr"/>
            <a:fld id="{F7021451-1387-4CA6-816F-3879F97B5CBC}" type="slidenum">
              <a:rPr b="1" lang="en-US"/>
              <a:t>34</a:t>
            </a:fld>
            <a:endParaRPr lang="en-US"/>
          </a:p>
        </p:txBody>
      </p:sp>
    </p:spTree>
  </p:cSld>
  <p:clrMapOvr>
    <a:masterClrMapping/>
  </p:clrMapOvr>
</p:sld>
</file>

<file path=ppt/slides/slide35.xml><?xml version="1.0" encoding="utf-8"?>
<p:sld xmlns:a="http://schemas.openxmlformats.org/drawingml/2006/main" xmlns:r="http://schemas.openxmlformats.org/officeDocument/2006/relationships" xmlns:p="http://schemas.openxmlformats.org/presentationml/2006/main">
  <p:cSld name="Slide 35">
    <p:spTree>
      <p:nvGrpSpPr>
        <p:cNvPr id="1" name=""/>
        <p:cNvGrpSpPr/>
        <p:nvPr/>
      </p:nvGrpSpPr>
      <p:grpSpPr>
        <a:xfrm>
          <a:off x="0" y="0"/>
          <a:ext cx="0" cy="0"/>
          <a:chOff x="0" y="0"/>
          <a:chExt cx="0" cy="0"/>
        </a:xfrm>
      </p:grpSpPr>
      <p:sp>
        <p:nvSpPr>
          <p:cNvPr id="2" name="Text 0"/>
          <p:cNvSpPr/>
          <p:nvPr/>
        </p:nvSpPr>
        <p:spPr>
          <a:xfrm>
            <a:off x="457200" y="713232"/>
            <a:ext cx="11368735" cy="274320"/>
          </a:xfrm>
          <a:prstGeom prst="rect">
            <a:avLst/>
          </a:prstGeom>
          <a:noFill/>
          <a:ln/>
        </p:spPr>
        <p:txBody>
          <a:bodyPr wrap="square" lIns="0" tIns="0" rIns="0" bIns="0" rtlCol="0" anchor="ctr"/>
          <a:lstStyle/>
          <a:p>
            <a:pPr algn="r" indent="0" marL="0">
              <a:buNone/>
            </a:pPr>
            <a:r>
              <a:rPr lang="en-US" sz="1400" b="1" dirty="0">
                <a:solidFill>
                  <a:srgbClr val="1C3F6E"/>
                </a:solidFill>
                <a:latin typeface="Calibri" pitchFamily="34" charset="0"/>
                <a:ea typeface="Calibri" pitchFamily="34" charset="-122"/>
                <a:cs typeface="Calibri" pitchFamily="34" charset="-120"/>
              </a:rPr>
              <a:t>BOARD SUMMARY</a:t>
            </a:r>
            <a:endParaRPr lang="en-US" sz="1400" dirty="0"/>
          </a:p>
        </p:txBody>
      </p:sp>
      <p:pic>
        <p:nvPicPr>
          <p:cNvPr id="3" name="Image 0" descr="/home/claude/f4/img/minesec_sheet.png">    </p:cNvPr>
          <p:cNvPicPr>
            <a:picLocks noChangeAspect="1"/>
          </p:cNvPicPr>
          <p:nvPr/>
        </p:nvPicPr>
        <p:blipFill>
          <a:blip r:embed="rId1"/>
          <a:stretch>
            <a:fillRect/>
          </a:stretch>
        </p:blipFill>
        <p:spPr>
          <a:xfrm>
            <a:off x="0" y="658368"/>
            <a:ext cx="3840480" cy="5833872"/>
          </a:xfrm>
          <a:prstGeom prst="rect">
            <a:avLst/>
          </a:prstGeom>
        </p:spPr>
      </p:pic>
      <p:sp>
        <p:nvSpPr>
          <p:cNvPr id="4" name="Text 1"/>
          <p:cNvSpPr/>
          <p:nvPr/>
        </p:nvSpPr>
        <p:spPr>
          <a:xfrm>
            <a:off x="4069080" y="1005840"/>
            <a:ext cx="7802575" cy="731520"/>
          </a:xfrm>
          <a:prstGeom prst="rect">
            <a:avLst/>
          </a:prstGeom>
          <a:noFill/>
          <a:ln/>
        </p:spPr>
        <p:txBody>
          <a:bodyPr wrap="square" lIns="0" tIns="0" rIns="0" bIns="0" rtlCol="0" anchor="ctr">
            <a:normAutofit/>
          </a:bodyPr>
          <a:lstStyle/>
          <a:p>
            <a:pPr algn="ctr" indent="0" marL="0">
              <a:buNone/>
            </a:pPr>
            <a:r>
              <a:rPr lang="en-US" sz="3600" b="1" dirty="0">
                <a:solidFill>
                  <a:srgbClr val="990011"/>
                </a:solidFill>
                <a:latin typeface="Times New Roman" pitchFamily="34" charset="0"/>
                <a:ea typeface="Times New Roman" pitchFamily="34" charset="-122"/>
                <a:cs typeface="Times New Roman" pitchFamily="34" charset="-120"/>
              </a:rPr>
              <a:t>1. Meaning of Development</a:t>
            </a:r>
            <a:endParaRPr lang="en-US" sz="3600" dirty="0"/>
          </a:p>
        </p:txBody>
      </p:sp>
      <p:sp>
        <p:nvSpPr>
          <p:cNvPr id="5" name="Text 2"/>
          <p:cNvSpPr/>
          <p:nvPr/>
        </p:nvSpPr>
        <p:spPr>
          <a:xfrm>
            <a:off x="4069080" y="1783080"/>
            <a:ext cx="7802575" cy="4663440"/>
          </a:xfrm>
          <a:prstGeom prst="rect">
            <a:avLst/>
          </a:prstGeom>
          <a:noFill/>
          <a:ln/>
        </p:spPr>
        <p:txBody>
          <a:bodyPr wrap="square" lIns="0" tIns="0" rIns="0" bIns="0" rtlCol="0" anchor="t"/>
          <a:lstStyle/>
          <a:p>
            <a:pPr algn="l" indent="0" marL="0">
              <a:spcAft>
                <a:spcPts val="800"/>
              </a:spcAft>
              <a:buNone/>
            </a:pPr>
            <a:r>
              <a:rPr lang="en-US" sz="4000" i="1" dirty="0">
                <a:solidFill>
                  <a:srgbClr val="111111"/>
                </a:solidFill>
                <a:latin typeface="Times New Roman" pitchFamily="34" charset="0"/>
                <a:ea typeface="Times New Roman" pitchFamily="34" charset="-122"/>
                <a:cs typeface="Times New Roman" pitchFamily="34" charset="-120"/>
              </a:rPr>
              <a:t>Development and growth can be defined as follows:</a:t>
            </a:r>
            <a:endParaRPr lang="en-US" sz="4000" dirty="0"/>
          </a:p>
          <a:p>
            <a:pPr algn="l" indent="0" marL="0">
              <a:spcAft>
                <a:spcPts val="800"/>
              </a:spcAft>
              <a:buNone/>
            </a:pPr>
            <a:r>
              <a:rPr lang="en-US" sz="4000" b="1" dirty="0">
                <a:solidFill>
                  <a:srgbClr val="111111"/>
                </a:solidFill>
                <a:latin typeface="Times New Roman" pitchFamily="34" charset="0"/>
                <a:ea typeface="Times New Roman" pitchFamily="34" charset="-122"/>
                <a:cs typeface="Times New Roman" pitchFamily="34" charset="-120"/>
              </a:rPr>
              <a:t>Development: </a:t>
            </a:r>
            <a:pPr algn="l" indent="0" marL="0">
              <a:spcAft>
                <a:spcPts val="800"/>
              </a:spcAft>
              <a:buNone/>
            </a:pPr>
            <a:r>
              <a:rPr lang="en-US" sz="4000" dirty="0">
                <a:solidFill>
                  <a:srgbClr val="111111"/>
                </a:solidFill>
                <a:latin typeface="Times New Roman" pitchFamily="34" charset="0"/>
                <a:ea typeface="Times New Roman" pitchFamily="34" charset="-122"/>
                <a:cs typeface="Times New Roman" pitchFamily="34" charset="-120"/>
              </a:rPr>
              <a:t>It is the improvement of people's living standards and wellbeing. It includes income, health, education and freedom.</a:t>
            </a:r>
            <a:endParaRPr lang="en-US" sz="4000" dirty="0"/>
          </a:p>
        </p:txBody>
      </p:sp>
      <p:sp>
        <p:nvSpPr>
          <p:cNvPr id="25" name="Slide Number Placeholder 0"/>
          <p:cNvSpPr>
            <a:spLocks noGrp="1"/>
          </p:cNvSpPr>
          <p:nvPr>
            <p:ph type="sldNum" sz="quarter" idx="4294967295"/>
          </p:nvPr>
        </p:nvSpPr>
        <p:spPr>
          <a:xfrm>
            <a:off x="27432" y="91440"/>
            <a:ext cx="585216" cy="475488"/>
          </a:xfrm>
          <a:prstGeom prst="rect">
            <a:avLst/>
          </a:prstGeom>
          <a:extLst>
            <a:ext uri="{C572A759-6A51-4108-AA02-DFA0A04FC94B}">
              <ma14:wrappingTextBoxFlag xmlns:ma14="http://schemas.microsoft.com/office/mac/drawingml/2011/main" val="0"/>
            </a:ext>
          </a:extLst>
        </p:spPr>
        <p:txBody>
          <a:bodyPr/>
          <a:lstStyle>
            <a:lvl1pPr>
              <a:defRPr sz="2000">
                <a:solidFill>
                  <a:srgbClr val="FFFFFF"/>
                </a:solidFill>
                <a:latin typeface="Calibri"/>
                <a:ea typeface="Calibri"/>
                <a:cs typeface="Calibri"/>
              </a:defRPr>
            </a:lvl1pPr>
          </a:lstStyle>
          <a:p>
            <a:pPr algn="ctr"/>
            <a:fld id="{F7021451-1387-4CA6-816F-3879F97B5CBC}" type="slidenum">
              <a:rPr b="1" lang="en-US"/>
              <a:t>35</a:t>
            </a:fld>
            <a:endParaRPr lang="en-US"/>
          </a:p>
        </p:txBody>
      </p:sp>
    </p:spTree>
  </p:cSld>
  <p:clrMapOvr>
    <a:masterClrMapping/>
  </p:clrMapOvr>
</p:sld>
</file>

<file path=ppt/slides/slide36.xml><?xml version="1.0" encoding="utf-8"?>
<p:sld xmlns:a="http://schemas.openxmlformats.org/drawingml/2006/main" xmlns:r="http://schemas.openxmlformats.org/officeDocument/2006/relationships" xmlns:p="http://schemas.openxmlformats.org/presentationml/2006/main">
  <p:cSld name="Slide 36">
    <p:spTree>
      <p:nvGrpSpPr>
        <p:cNvPr id="1" name=""/>
        <p:cNvGrpSpPr/>
        <p:nvPr/>
      </p:nvGrpSpPr>
      <p:grpSpPr>
        <a:xfrm>
          <a:off x="0" y="0"/>
          <a:ext cx="0" cy="0"/>
          <a:chOff x="0" y="0"/>
          <a:chExt cx="0" cy="0"/>
        </a:xfrm>
      </p:grpSpPr>
      <p:sp>
        <p:nvSpPr>
          <p:cNvPr id="2" name="Text 0"/>
          <p:cNvSpPr/>
          <p:nvPr/>
        </p:nvSpPr>
        <p:spPr>
          <a:xfrm>
            <a:off x="457200" y="713232"/>
            <a:ext cx="11368735" cy="274320"/>
          </a:xfrm>
          <a:prstGeom prst="rect">
            <a:avLst/>
          </a:prstGeom>
          <a:noFill/>
          <a:ln/>
        </p:spPr>
        <p:txBody>
          <a:bodyPr wrap="square" lIns="0" tIns="0" rIns="0" bIns="0" rtlCol="0" anchor="ctr"/>
          <a:lstStyle/>
          <a:p>
            <a:pPr algn="r" indent="0" marL="0">
              <a:buNone/>
            </a:pPr>
            <a:r>
              <a:rPr lang="en-US" sz="1400" b="1" dirty="0">
                <a:solidFill>
                  <a:srgbClr val="1C3F6E"/>
                </a:solidFill>
                <a:latin typeface="Calibri" pitchFamily="34" charset="0"/>
                <a:ea typeface="Calibri" pitchFamily="34" charset="-122"/>
                <a:cs typeface="Calibri" pitchFamily="34" charset="-120"/>
              </a:rPr>
              <a:t>BOARD SUMMARY</a:t>
            </a:r>
            <a:endParaRPr lang="en-US" sz="1400" dirty="0"/>
          </a:p>
        </p:txBody>
      </p:sp>
      <p:pic>
        <p:nvPicPr>
          <p:cNvPr id="3" name="Image 0" descr="/home/claude/f4/img/minesec_sheet.png">    </p:cNvPr>
          <p:cNvPicPr>
            <a:picLocks noChangeAspect="1"/>
          </p:cNvPicPr>
          <p:nvPr/>
        </p:nvPicPr>
        <p:blipFill>
          <a:blip r:embed="rId1"/>
          <a:stretch>
            <a:fillRect/>
          </a:stretch>
        </p:blipFill>
        <p:spPr>
          <a:xfrm>
            <a:off x="0" y="658368"/>
            <a:ext cx="1463040" cy="5833872"/>
          </a:xfrm>
          <a:prstGeom prst="rect">
            <a:avLst/>
          </a:prstGeom>
        </p:spPr>
      </p:pic>
      <p:sp>
        <p:nvSpPr>
          <p:cNvPr id="4" name="Text 1"/>
          <p:cNvSpPr/>
          <p:nvPr/>
        </p:nvSpPr>
        <p:spPr>
          <a:xfrm>
            <a:off x="1691640" y="1005840"/>
            <a:ext cx="10180015" cy="731520"/>
          </a:xfrm>
          <a:prstGeom prst="rect">
            <a:avLst/>
          </a:prstGeom>
          <a:noFill/>
          <a:ln/>
        </p:spPr>
        <p:txBody>
          <a:bodyPr wrap="square" lIns="0" tIns="0" rIns="0" bIns="0" rtlCol="0" anchor="ctr">
            <a:normAutofit/>
          </a:bodyPr>
          <a:lstStyle/>
          <a:p>
            <a:pPr algn="ctr" indent="0" marL="0">
              <a:buNone/>
            </a:pPr>
            <a:r>
              <a:rPr lang="en-US" sz="3600" b="1" dirty="0">
                <a:solidFill>
                  <a:srgbClr val="990011"/>
                </a:solidFill>
                <a:latin typeface="Times New Roman" pitchFamily="34" charset="0"/>
                <a:ea typeface="Times New Roman" pitchFamily="34" charset="-122"/>
                <a:cs typeface="Times New Roman" pitchFamily="34" charset="-120"/>
              </a:rPr>
              <a:t>1. Meaning of Development (continued)</a:t>
            </a:r>
            <a:endParaRPr lang="en-US" sz="3600" dirty="0"/>
          </a:p>
        </p:txBody>
      </p:sp>
      <p:sp>
        <p:nvSpPr>
          <p:cNvPr id="5" name="Text 2"/>
          <p:cNvSpPr/>
          <p:nvPr/>
        </p:nvSpPr>
        <p:spPr>
          <a:xfrm>
            <a:off x="1691640" y="1783080"/>
            <a:ext cx="10180015" cy="4663440"/>
          </a:xfrm>
          <a:prstGeom prst="rect">
            <a:avLst/>
          </a:prstGeom>
          <a:noFill/>
          <a:ln/>
        </p:spPr>
        <p:txBody>
          <a:bodyPr wrap="square" lIns="0" tIns="0" rIns="0" bIns="0" rtlCol="0" anchor="t"/>
          <a:lstStyle/>
          <a:p>
            <a:pPr algn="l" indent="0" marL="0">
              <a:spcAft>
                <a:spcPts val="800"/>
              </a:spcAft>
              <a:buNone/>
            </a:pPr>
            <a:r>
              <a:rPr lang="en-US" sz="4000" b="1" dirty="0">
                <a:solidFill>
                  <a:srgbClr val="111111"/>
                </a:solidFill>
                <a:latin typeface="Times New Roman" pitchFamily="34" charset="0"/>
                <a:ea typeface="Times New Roman" pitchFamily="34" charset="-122"/>
                <a:cs typeface="Times New Roman" pitchFamily="34" charset="-120"/>
              </a:rPr>
              <a:t>Economic growth: </a:t>
            </a:r>
            <a:pPr algn="l" indent="0" marL="0">
              <a:spcAft>
                <a:spcPts val="800"/>
              </a:spcAft>
              <a:buNone/>
            </a:pPr>
            <a:r>
              <a:rPr lang="en-US" sz="4000" dirty="0">
                <a:solidFill>
                  <a:srgbClr val="111111"/>
                </a:solidFill>
                <a:latin typeface="Times New Roman" pitchFamily="34" charset="0"/>
                <a:ea typeface="Times New Roman" pitchFamily="34" charset="-122"/>
                <a:cs typeface="Times New Roman" pitchFamily="34" charset="-120"/>
              </a:rPr>
              <a:t>It is the increase in the goods and services produced by a country. It is measured by the rise in GDP or GNI.</a:t>
            </a:r>
            <a:endParaRPr lang="en-US" sz="4000" dirty="0"/>
          </a:p>
          <a:p>
            <a:pPr algn="l" indent="0" marL="0">
              <a:spcAft>
                <a:spcPts val="800"/>
              </a:spcAft>
              <a:buNone/>
            </a:pPr>
            <a:r>
              <a:rPr lang="en-US" sz="4000" b="1" dirty="0">
                <a:solidFill>
                  <a:srgbClr val="111111"/>
                </a:solidFill>
                <a:latin typeface="Times New Roman" pitchFamily="34" charset="0"/>
                <a:ea typeface="Times New Roman" pitchFamily="34" charset="-122"/>
                <a:cs typeface="Times New Roman" pitchFamily="34" charset="-120"/>
              </a:rPr>
              <a:t>Economic development: </a:t>
            </a:r>
            <a:pPr algn="l" indent="0" marL="0">
              <a:spcAft>
                <a:spcPts val="800"/>
              </a:spcAft>
              <a:buNone/>
            </a:pPr>
            <a:r>
              <a:rPr lang="en-US" sz="4000" dirty="0">
                <a:solidFill>
                  <a:srgbClr val="111111"/>
                </a:solidFill>
                <a:latin typeface="Times New Roman" pitchFamily="34" charset="0"/>
                <a:ea typeface="Times New Roman" pitchFamily="34" charset="-122"/>
                <a:cs typeface="Times New Roman" pitchFamily="34" charset="-120"/>
              </a:rPr>
              <a:t>It is growth that also changes the structure of the economy, such as the move from farming to industry. It improves living conditions for many people.</a:t>
            </a:r>
            <a:endParaRPr lang="en-US" sz="4000" dirty="0"/>
          </a:p>
        </p:txBody>
      </p:sp>
      <p:sp>
        <p:nvSpPr>
          <p:cNvPr id="25" name="Slide Number Placeholder 0"/>
          <p:cNvSpPr>
            <a:spLocks noGrp="1"/>
          </p:cNvSpPr>
          <p:nvPr>
            <p:ph type="sldNum" sz="quarter" idx="4294967295"/>
          </p:nvPr>
        </p:nvSpPr>
        <p:spPr>
          <a:xfrm>
            <a:off x="27432" y="91440"/>
            <a:ext cx="585216" cy="475488"/>
          </a:xfrm>
          <a:prstGeom prst="rect">
            <a:avLst/>
          </a:prstGeom>
          <a:extLst>
            <a:ext uri="{C572A759-6A51-4108-AA02-DFA0A04FC94B}">
              <ma14:wrappingTextBoxFlag xmlns:ma14="http://schemas.microsoft.com/office/mac/drawingml/2011/main" val="0"/>
            </a:ext>
          </a:extLst>
        </p:spPr>
        <p:txBody>
          <a:bodyPr/>
          <a:lstStyle>
            <a:lvl1pPr>
              <a:defRPr sz="2000">
                <a:solidFill>
                  <a:srgbClr val="FFFFFF"/>
                </a:solidFill>
                <a:latin typeface="Calibri"/>
                <a:ea typeface="Calibri"/>
                <a:cs typeface="Calibri"/>
              </a:defRPr>
            </a:lvl1pPr>
          </a:lstStyle>
          <a:p>
            <a:pPr algn="ctr"/>
            <a:fld id="{F7021451-1387-4CA6-816F-3879F97B5CBC}" type="slidenum">
              <a:rPr b="1" lang="en-US"/>
              <a:t>36</a:t>
            </a:fld>
            <a:endParaRPr lang="en-US"/>
          </a:p>
        </p:txBody>
      </p:sp>
    </p:spTree>
  </p:cSld>
  <p:clrMapOvr>
    <a:masterClrMapping/>
  </p:clrMapOvr>
</p:sld>
</file>

<file path=ppt/slides/slide37.xml><?xml version="1.0" encoding="utf-8"?>
<p:sld xmlns:a="http://schemas.openxmlformats.org/drawingml/2006/main" xmlns:r="http://schemas.openxmlformats.org/officeDocument/2006/relationships" xmlns:p="http://schemas.openxmlformats.org/presentationml/2006/main">
  <p:cSld name="Slide 37">
    <p:spTree>
      <p:nvGrpSpPr>
        <p:cNvPr id="1" name=""/>
        <p:cNvGrpSpPr/>
        <p:nvPr/>
      </p:nvGrpSpPr>
      <p:grpSpPr>
        <a:xfrm>
          <a:off x="0" y="0"/>
          <a:ext cx="0" cy="0"/>
          <a:chOff x="0" y="0"/>
          <a:chExt cx="0" cy="0"/>
        </a:xfrm>
      </p:grpSpPr>
      <p:sp>
        <p:nvSpPr>
          <p:cNvPr id="2" name="Text 0"/>
          <p:cNvSpPr/>
          <p:nvPr/>
        </p:nvSpPr>
        <p:spPr>
          <a:xfrm>
            <a:off x="457200" y="713232"/>
            <a:ext cx="11368735" cy="274320"/>
          </a:xfrm>
          <a:prstGeom prst="rect">
            <a:avLst/>
          </a:prstGeom>
          <a:noFill/>
          <a:ln/>
        </p:spPr>
        <p:txBody>
          <a:bodyPr wrap="square" lIns="0" tIns="0" rIns="0" bIns="0" rtlCol="0" anchor="ctr"/>
          <a:lstStyle/>
          <a:p>
            <a:pPr algn="r" indent="0" marL="0">
              <a:buNone/>
            </a:pPr>
            <a:r>
              <a:rPr lang="en-US" sz="1400" b="1" dirty="0">
                <a:solidFill>
                  <a:srgbClr val="1C3F6E"/>
                </a:solidFill>
                <a:latin typeface="Calibri" pitchFamily="34" charset="0"/>
                <a:ea typeface="Calibri" pitchFamily="34" charset="-122"/>
                <a:cs typeface="Calibri" pitchFamily="34" charset="-120"/>
              </a:rPr>
              <a:t>BOARD SUMMARY</a:t>
            </a:r>
            <a:endParaRPr lang="en-US" sz="1400" dirty="0"/>
          </a:p>
        </p:txBody>
      </p:sp>
      <p:pic>
        <p:nvPicPr>
          <p:cNvPr id="3" name="Image 0" descr="/home/claude/f4/img/minesec_sheet.png">    </p:cNvPr>
          <p:cNvPicPr>
            <a:picLocks noChangeAspect="1"/>
          </p:cNvPicPr>
          <p:nvPr/>
        </p:nvPicPr>
        <p:blipFill>
          <a:blip r:embed="rId1"/>
          <a:stretch>
            <a:fillRect/>
          </a:stretch>
        </p:blipFill>
        <p:spPr>
          <a:xfrm>
            <a:off x="0" y="658368"/>
            <a:ext cx="2468880" cy="5833872"/>
          </a:xfrm>
          <a:prstGeom prst="rect">
            <a:avLst/>
          </a:prstGeom>
        </p:spPr>
      </p:pic>
      <p:sp>
        <p:nvSpPr>
          <p:cNvPr id="4" name="Text 1"/>
          <p:cNvSpPr/>
          <p:nvPr/>
        </p:nvSpPr>
        <p:spPr>
          <a:xfrm>
            <a:off x="2697480" y="1005840"/>
            <a:ext cx="9174175" cy="731520"/>
          </a:xfrm>
          <a:prstGeom prst="rect">
            <a:avLst/>
          </a:prstGeom>
          <a:noFill/>
          <a:ln/>
        </p:spPr>
        <p:txBody>
          <a:bodyPr wrap="square" lIns="0" tIns="0" rIns="0" bIns="0" rtlCol="0" anchor="ctr">
            <a:normAutofit/>
          </a:bodyPr>
          <a:lstStyle/>
          <a:p>
            <a:pPr algn="ctr" indent="0" marL="0">
              <a:buNone/>
            </a:pPr>
            <a:r>
              <a:rPr lang="en-US" sz="3600" b="1" dirty="0">
                <a:solidFill>
                  <a:srgbClr val="990011"/>
                </a:solidFill>
                <a:latin typeface="Times New Roman" pitchFamily="34" charset="0"/>
                <a:ea typeface="Times New Roman" pitchFamily="34" charset="-122"/>
                <a:cs typeface="Times New Roman" pitchFamily="34" charset="-120"/>
              </a:rPr>
              <a:t>2. Measuring and Classifying Development</a:t>
            </a:r>
            <a:endParaRPr lang="en-US" sz="3600" dirty="0"/>
          </a:p>
        </p:txBody>
      </p:sp>
      <p:sp>
        <p:nvSpPr>
          <p:cNvPr id="5" name="Text 2"/>
          <p:cNvSpPr/>
          <p:nvPr/>
        </p:nvSpPr>
        <p:spPr>
          <a:xfrm>
            <a:off x="2697480" y="1783080"/>
            <a:ext cx="9174175" cy="4663440"/>
          </a:xfrm>
          <a:prstGeom prst="rect">
            <a:avLst/>
          </a:prstGeom>
          <a:noFill/>
          <a:ln/>
        </p:spPr>
        <p:txBody>
          <a:bodyPr wrap="square" lIns="0" tIns="0" rIns="0" bIns="0" rtlCol="0" anchor="t"/>
          <a:lstStyle/>
          <a:p>
            <a:pPr algn="l" indent="0" marL="0">
              <a:spcAft>
                <a:spcPts val="800"/>
              </a:spcAft>
              <a:buNone/>
            </a:pPr>
            <a:r>
              <a:rPr lang="en-US" sz="4000" i="1" dirty="0">
                <a:solidFill>
                  <a:srgbClr val="111111"/>
                </a:solidFill>
                <a:latin typeface="Times New Roman" pitchFamily="34" charset="0"/>
                <a:ea typeface="Times New Roman" pitchFamily="34" charset="-122"/>
                <a:cs typeface="Times New Roman" pitchFamily="34" charset="-120"/>
              </a:rPr>
              <a:t>Development is measured and countries are classified as follows:</a:t>
            </a:r>
            <a:endParaRPr lang="en-US" sz="4000" dirty="0"/>
          </a:p>
          <a:p>
            <a:pPr algn="l" indent="0" marL="0">
              <a:spcAft>
                <a:spcPts val="800"/>
              </a:spcAft>
              <a:buNone/>
            </a:pPr>
            <a:r>
              <a:rPr lang="en-US" sz="4000" b="1" dirty="0">
                <a:solidFill>
                  <a:srgbClr val="111111"/>
                </a:solidFill>
                <a:latin typeface="Times New Roman" pitchFamily="34" charset="0"/>
                <a:ea typeface="Times New Roman" pitchFamily="34" charset="-122"/>
                <a:cs typeface="Times New Roman" pitchFamily="34" charset="-120"/>
              </a:rPr>
              <a:t>Economic criteria: </a:t>
            </a:r>
            <a:pPr algn="l" indent="0" marL="0">
              <a:spcAft>
                <a:spcPts val="800"/>
              </a:spcAft>
              <a:buNone/>
            </a:pPr>
            <a:r>
              <a:rPr lang="en-US" sz="4000" dirty="0">
                <a:solidFill>
                  <a:srgbClr val="111111"/>
                </a:solidFill>
                <a:latin typeface="Times New Roman" pitchFamily="34" charset="0"/>
                <a:ea typeface="Times New Roman" pitchFamily="34" charset="-122"/>
                <a:cs typeface="Times New Roman" pitchFamily="34" charset="-120"/>
              </a:rPr>
              <a:t>GNI per person, the share of jobs in industry and energy use measure wealth. They hide inequalities between rich and poor people.</a:t>
            </a:r>
            <a:endParaRPr lang="en-US" sz="4000" dirty="0"/>
          </a:p>
        </p:txBody>
      </p:sp>
      <p:sp>
        <p:nvSpPr>
          <p:cNvPr id="25" name="Slide Number Placeholder 0"/>
          <p:cNvSpPr>
            <a:spLocks noGrp="1"/>
          </p:cNvSpPr>
          <p:nvPr>
            <p:ph type="sldNum" sz="quarter" idx="4294967295"/>
          </p:nvPr>
        </p:nvSpPr>
        <p:spPr>
          <a:xfrm>
            <a:off x="27432" y="91440"/>
            <a:ext cx="585216" cy="475488"/>
          </a:xfrm>
          <a:prstGeom prst="rect">
            <a:avLst/>
          </a:prstGeom>
          <a:extLst>
            <a:ext uri="{C572A759-6A51-4108-AA02-DFA0A04FC94B}">
              <ma14:wrappingTextBoxFlag xmlns:ma14="http://schemas.microsoft.com/office/mac/drawingml/2011/main" val="0"/>
            </a:ext>
          </a:extLst>
        </p:spPr>
        <p:txBody>
          <a:bodyPr/>
          <a:lstStyle>
            <a:lvl1pPr>
              <a:defRPr sz="2000">
                <a:solidFill>
                  <a:srgbClr val="FFFFFF"/>
                </a:solidFill>
                <a:latin typeface="Calibri"/>
                <a:ea typeface="Calibri"/>
                <a:cs typeface="Calibri"/>
              </a:defRPr>
            </a:lvl1pPr>
          </a:lstStyle>
          <a:p>
            <a:pPr algn="ctr"/>
            <a:fld id="{F7021451-1387-4CA6-816F-3879F97B5CBC}" type="slidenum">
              <a:rPr b="1" lang="en-US"/>
              <a:t>37</a:t>
            </a:fld>
            <a:endParaRPr lang="en-US"/>
          </a:p>
        </p:txBody>
      </p:sp>
    </p:spTree>
  </p:cSld>
  <p:clrMapOvr>
    <a:masterClrMapping/>
  </p:clrMapOvr>
</p:sld>
</file>

<file path=ppt/slides/slide38.xml><?xml version="1.0" encoding="utf-8"?>
<p:sld xmlns:a="http://schemas.openxmlformats.org/drawingml/2006/main" xmlns:r="http://schemas.openxmlformats.org/officeDocument/2006/relationships" xmlns:p="http://schemas.openxmlformats.org/presentationml/2006/main">
  <p:cSld name="Slide 38">
    <p:spTree>
      <p:nvGrpSpPr>
        <p:cNvPr id="1" name=""/>
        <p:cNvGrpSpPr/>
        <p:nvPr/>
      </p:nvGrpSpPr>
      <p:grpSpPr>
        <a:xfrm>
          <a:off x="0" y="0"/>
          <a:ext cx="0" cy="0"/>
          <a:chOff x="0" y="0"/>
          <a:chExt cx="0" cy="0"/>
        </a:xfrm>
      </p:grpSpPr>
      <p:sp>
        <p:nvSpPr>
          <p:cNvPr id="2" name="Text 0"/>
          <p:cNvSpPr/>
          <p:nvPr/>
        </p:nvSpPr>
        <p:spPr>
          <a:xfrm>
            <a:off x="457200" y="713232"/>
            <a:ext cx="11368735" cy="274320"/>
          </a:xfrm>
          <a:prstGeom prst="rect">
            <a:avLst/>
          </a:prstGeom>
          <a:noFill/>
          <a:ln/>
        </p:spPr>
        <p:txBody>
          <a:bodyPr wrap="square" lIns="0" tIns="0" rIns="0" bIns="0" rtlCol="0" anchor="ctr"/>
          <a:lstStyle/>
          <a:p>
            <a:pPr algn="r" indent="0" marL="0">
              <a:buNone/>
            </a:pPr>
            <a:r>
              <a:rPr lang="en-US" sz="1400" b="1" dirty="0">
                <a:solidFill>
                  <a:srgbClr val="1C3F6E"/>
                </a:solidFill>
                <a:latin typeface="Calibri" pitchFamily="34" charset="0"/>
                <a:ea typeface="Calibri" pitchFamily="34" charset="-122"/>
                <a:cs typeface="Calibri" pitchFamily="34" charset="-120"/>
              </a:rPr>
              <a:t>BOARD SUMMARY</a:t>
            </a:r>
            <a:endParaRPr lang="en-US" sz="1400" dirty="0"/>
          </a:p>
        </p:txBody>
      </p:sp>
      <p:pic>
        <p:nvPicPr>
          <p:cNvPr id="3" name="Image 0" descr="/home/claude/f4/img/minesec_sheet.png">    </p:cNvPr>
          <p:cNvPicPr>
            <a:picLocks noChangeAspect="1"/>
          </p:cNvPicPr>
          <p:nvPr/>
        </p:nvPicPr>
        <p:blipFill>
          <a:blip r:embed="rId1"/>
          <a:stretch>
            <a:fillRect/>
          </a:stretch>
        </p:blipFill>
        <p:spPr>
          <a:xfrm>
            <a:off x="0" y="658368"/>
            <a:ext cx="5120640" cy="5833872"/>
          </a:xfrm>
          <a:prstGeom prst="rect">
            <a:avLst/>
          </a:prstGeom>
        </p:spPr>
      </p:pic>
      <p:sp>
        <p:nvSpPr>
          <p:cNvPr id="4" name="Text 1"/>
          <p:cNvSpPr/>
          <p:nvPr/>
        </p:nvSpPr>
        <p:spPr>
          <a:xfrm>
            <a:off x="5349240" y="1005840"/>
            <a:ext cx="6522415" cy="731520"/>
          </a:xfrm>
          <a:prstGeom prst="rect">
            <a:avLst/>
          </a:prstGeom>
          <a:noFill/>
          <a:ln/>
        </p:spPr>
        <p:txBody>
          <a:bodyPr wrap="square" lIns="0" tIns="0" rIns="0" bIns="0" rtlCol="0" anchor="ctr">
            <a:normAutofit/>
          </a:bodyPr>
          <a:lstStyle/>
          <a:p>
            <a:pPr algn="ctr" indent="0" marL="0">
              <a:buNone/>
            </a:pPr>
            <a:r>
              <a:rPr lang="en-US" sz="3600" b="1" dirty="0">
                <a:solidFill>
                  <a:srgbClr val="990011"/>
                </a:solidFill>
                <a:latin typeface="Times New Roman" pitchFamily="34" charset="0"/>
                <a:ea typeface="Times New Roman" pitchFamily="34" charset="-122"/>
                <a:cs typeface="Times New Roman" pitchFamily="34" charset="-120"/>
              </a:rPr>
              <a:t>2. Measuring and Classifying Development (continued)</a:t>
            </a:r>
            <a:endParaRPr lang="en-US" sz="3600" dirty="0"/>
          </a:p>
        </p:txBody>
      </p:sp>
      <p:sp>
        <p:nvSpPr>
          <p:cNvPr id="5" name="Text 2"/>
          <p:cNvSpPr/>
          <p:nvPr/>
        </p:nvSpPr>
        <p:spPr>
          <a:xfrm>
            <a:off x="5349240" y="1783080"/>
            <a:ext cx="6522415" cy="4663440"/>
          </a:xfrm>
          <a:prstGeom prst="rect">
            <a:avLst/>
          </a:prstGeom>
          <a:noFill/>
          <a:ln/>
        </p:spPr>
        <p:txBody>
          <a:bodyPr wrap="square" lIns="0" tIns="0" rIns="0" bIns="0" rtlCol="0" anchor="t"/>
          <a:lstStyle/>
          <a:p>
            <a:pPr algn="l" indent="0" marL="0">
              <a:spcAft>
                <a:spcPts val="800"/>
              </a:spcAft>
              <a:buNone/>
            </a:pPr>
            <a:r>
              <a:rPr lang="en-US" sz="4000" b="1" dirty="0">
                <a:solidFill>
                  <a:srgbClr val="111111"/>
                </a:solidFill>
                <a:latin typeface="Times New Roman" pitchFamily="34" charset="0"/>
                <a:ea typeface="Times New Roman" pitchFamily="34" charset="-122"/>
                <a:cs typeface="Times New Roman" pitchFamily="34" charset="-120"/>
              </a:rPr>
              <a:t>Social criteria and HDI: </a:t>
            </a:r>
            <a:pPr algn="l" indent="0" marL="0">
              <a:spcAft>
                <a:spcPts val="800"/>
              </a:spcAft>
              <a:buNone/>
            </a:pPr>
            <a:r>
              <a:rPr lang="en-US" sz="4000" dirty="0">
                <a:solidFill>
                  <a:srgbClr val="111111"/>
                </a:solidFill>
                <a:latin typeface="Times New Roman" pitchFamily="34" charset="0"/>
                <a:ea typeface="Times New Roman" pitchFamily="34" charset="-122"/>
                <a:cs typeface="Times New Roman" pitchFamily="34" charset="-120"/>
              </a:rPr>
              <a:t>Life expectancy, literacy, doctors per person and access to water show wellbeing. The HDI combines income, health and education on a scale from 0 to 1.</a:t>
            </a:r>
            <a:endParaRPr lang="en-US" sz="4000" dirty="0"/>
          </a:p>
        </p:txBody>
      </p:sp>
      <p:sp>
        <p:nvSpPr>
          <p:cNvPr id="25" name="Slide Number Placeholder 0"/>
          <p:cNvSpPr>
            <a:spLocks noGrp="1"/>
          </p:cNvSpPr>
          <p:nvPr>
            <p:ph type="sldNum" sz="quarter" idx="4294967295"/>
          </p:nvPr>
        </p:nvSpPr>
        <p:spPr>
          <a:xfrm>
            <a:off x="27432" y="91440"/>
            <a:ext cx="585216" cy="475488"/>
          </a:xfrm>
          <a:prstGeom prst="rect">
            <a:avLst/>
          </a:prstGeom>
          <a:extLst>
            <a:ext uri="{C572A759-6A51-4108-AA02-DFA0A04FC94B}">
              <ma14:wrappingTextBoxFlag xmlns:ma14="http://schemas.microsoft.com/office/mac/drawingml/2011/main" val="0"/>
            </a:ext>
          </a:extLst>
        </p:spPr>
        <p:txBody>
          <a:bodyPr/>
          <a:lstStyle>
            <a:lvl1pPr>
              <a:defRPr sz="2000">
                <a:solidFill>
                  <a:srgbClr val="FFFFFF"/>
                </a:solidFill>
                <a:latin typeface="Calibri"/>
                <a:ea typeface="Calibri"/>
                <a:cs typeface="Calibri"/>
              </a:defRPr>
            </a:lvl1pPr>
          </a:lstStyle>
          <a:p>
            <a:pPr algn="ctr"/>
            <a:fld id="{F7021451-1387-4CA6-816F-3879F97B5CBC}" type="slidenum">
              <a:rPr b="1" lang="en-US"/>
              <a:t>38</a:t>
            </a:fld>
            <a:endParaRPr lang="en-US"/>
          </a:p>
        </p:txBody>
      </p:sp>
    </p:spTree>
  </p:cSld>
  <p:clrMapOvr>
    <a:masterClrMapping/>
  </p:clrMapOvr>
</p:sld>
</file>

<file path=ppt/slides/slide39.xml><?xml version="1.0" encoding="utf-8"?>
<p:sld xmlns:a="http://schemas.openxmlformats.org/drawingml/2006/main" xmlns:r="http://schemas.openxmlformats.org/officeDocument/2006/relationships" xmlns:p="http://schemas.openxmlformats.org/presentationml/2006/main">
  <p:cSld name="Slide 39">
    <p:spTree>
      <p:nvGrpSpPr>
        <p:cNvPr id="1" name=""/>
        <p:cNvGrpSpPr/>
        <p:nvPr/>
      </p:nvGrpSpPr>
      <p:grpSpPr>
        <a:xfrm>
          <a:off x="0" y="0"/>
          <a:ext cx="0" cy="0"/>
          <a:chOff x="0" y="0"/>
          <a:chExt cx="0" cy="0"/>
        </a:xfrm>
      </p:grpSpPr>
      <p:sp>
        <p:nvSpPr>
          <p:cNvPr id="2" name="Text 0"/>
          <p:cNvSpPr/>
          <p:nvPr/>
        </p:nvSpPr>
        <p:spPr>
          <a:xfrm>
            <a:off x="457200" y="713232"/>
            <a:ext cx="11368735" cy="274320"/>
          </a:xfrm>
          <a:prstGeom prst="rect">
            <a:avLst/>
          </a:prstGeom>
          <a:noFill/>
          <a:ln/>
        </p:spPr>
        <p:txBody>
          <a:bodyPr wrap="square" lIns="0" tIns="0" rIns="0" bIns="0" rtlCol="0" anchor="ctr"/>
          <a:lstStyle/>
          <a:p>
            <a:pPr algn="r" indent="0" marL="0">
              <a:buNone/>
            </a:pPr>
            <a:r>
              <a:rPr lang="en-US" sz="1400" b="1" dirty="0">
                <a:solidFill>
                  <a:srgbClr val="1C3F6E"/>
                </a:solidFill>
                <a:latin typeface="Calibri" pitchFamily="34" charset="0"/>
                <a:ea typeface="Calibri" pitchFamily="34" charset="-122"/>
                <a:cs typeface="Calibri" pitchFamily="34" charset="-120"/>
              </a:rPr>
              <a:t>BOARD SUMMARY</a:t>
            </a:r>
            <a:endParaRPr lang="en-US" sz="1400" dirty="0"/>
          </a:p>
        </p:txBody>
      </p:sp>
      <p:pic>
        <p:nvPicPr>
          <p:cNvPr id="3" name="Image 0" descr="/home/claude/f4/img/minesec_sheet.png">    </p:cNvPr>
          <p:cNvPicPr>
            <a:picLocks noChangeAspect="1"/>
          </p:cNvPicPr>
          <p:nvPr/>
        </p:nvPicPr>
        <p:blipFill>
          <a:blip r:embed="rId1"/>
          <a:stretch>
            <a:fillRect/>
          </a:stretch>
        </p:blipFill>
        <p:spPr>
          <a:xfrm>
            <a:off x="0" y="658368"/>
            <a:ext cx="5120640" cy="5833872"/>
          </a:xfrm>
          <a:prstGeom prst="rect">
            <a:avLst/>
          </a:prstGeom>
        </p:spPr>
      </p:pic>
      <p:sp>
        <p:nvSpPr>
          <p:cNvPr id="4" name="Text 1"/>
          <p:cNvSpPr/>
          <p:nvPr/>
        </p:nvSpPr>
        <p:spPr>
          <a:xfrm>
            <a:off x="5349240" y="1005840"/>
            <a:ext cx="6522415" cy="731520"/>
          </a:xfrm>
          <a:prstGeom prst="rect">
            <a:avLst/>
          </a:prstGeom>
          <a:noFill/>
          <a:ln/>
        </p:spPr>
        <p:txBody>
          <a:bodyPr wrap="square" lIns="0" tIns="0" rIns="0" bIns="0" rtlCol="0" anchor="ctr">
            <a:normAutofit/>
          </a:bodyPr>
          <a:lstStyle/>
          <a:p>
            <a:pPr algn="ctr" indent="0" marL="0">
              <a:buNone/>
            </a:pPr>
            <a:r>
              <a:rPr lang="en-US" sz="3600" b="1" dirty="0">
                <a:solidFill>
                  <a:srgbClr val="990011"/>
                </a:solidFill>
                <a:latin typeface="Times New Roman" pitchFamily="34" charset="0"/>
                <a:ea typeface="Times New Roman" pitchFamily="34" charset="-122"/>
                <a:cs typeface="Times New Roman" pitchFamily="34" charset="-120"/>
              </a:rPr>
              <a:t>2. Measuring and Classifying Development (continued)</a:t>
            </a:r>
            <a:endParaRPr lang="en-US" sz="3600" dirty="0"/>
          </a:p>
        </p:txBody>
      </p:sp>
      <p:sp>
        <p:nvSpPr>
          <p:cNvPr id="5" name="Text 2"/>
          <p:cNvSpPr/>
          <p:nvPr/>
        </p:nvSpPr>
        <p:spPr>
          <a:xfrm>
            <a:off x="5349240" y="1783080"/>
            <a:ext cx="6522415" cy="4663440"/>
          </a:xfrm>
          <a:prstGeom prst="rect">
            <a:avLst/>
          </a:prstGeom>
          <a:noFill/>
          <a:ln/>
        </p:spPr>
        <p:txBody>
          <a:bodyPr wrap="square" lIns="0" tIns="0" rIns="0" bIns="0" rtlCol="0" anchor="t"/>
          <a:lstStyle/>
          <a:p>
            <a:pPr algn="l" indent="0" marL="0">
              <a:spcAft>
                <a:spcPts val="800"/>
              </a:spcAft>
              <a:buNone/>
            </a:pPr>
            <a:r>
              <a:rPr lang="en-US" sz="4000" b="1" dirty="0">
                <a:solidFill>
                  <a:srgbClr val="111111"/>
                </a:solidFill>
                <a:latin typeface="Times New Roman" pitchFamily="34" charset="0"/>
                <a:ea typeface="Times New Roman" pitchFamily="34" charset="-122"/>
                <a:cs typeface="Times New Roman" pitchFamily="34" charset="-120"/>
              </a:rPr>
              <a:t>Classification: </a:t>
            </a:r>
            <a:pPr algn="l" indent="0" marL="0">
              <a:spcAft>
                <a:spcPts val="800"/>
              </a:spcAft>
              <a:buNone/>
            </a:pPr>
            <a:r>
              <a:rPr lang="en-US" sz="4000" dirty="0">
                <a:solidFill>
                  <a:srgbClr val="111111"/>
                </a:solidFill>
                <a:latin typeface="Times New Roman" pitchFamily="34" charset="0"/>
                <a:ea typeface="Times New Roman" pitchFamily="34" charset="-122"/>
                <a:cs typeface="Times New Roman" pitchFamily="34" charset="-120"/>
              </a:rPr>
              <a:t>Countries are grouped as MEDCs and LEDCs, or by income (high, middle, low). The World Bank and UNDP publish these groups every year.</a:t>
            </a:r>
            <a:endParaRPr lang="en-US" sz="4000" dirty="0"/>
          </a:p>
        </p:txBody>
      </p:sp>
      <p:sp>
        <p:nvSpPr>
          <p:cNvPr id="25" name="Slide Number Placeholder 0"/>
          <p:cNvSpPr>
            <a:spLocks noGrp="1"/>
          </p:cNvSpPr>
          <p:nvPr>
            <p:ph type="sldNum" sz="quarter" idx="4294967295"/>
          </p:nvPr>
        </p:nvSpPr>
        <p:spPr>
          <a:xfrm>
            <a:off x="27432" y="91440"/>
            <a:ext cx="585216" cy="475488"/>
          </a:xfrm>
          <a:prstGeom prst="rect">
            <a:avLst/>
          </a:prstGeom>
          <a:extLst>
            <a:ext uri="{C572A759-6A51-4108-AA02-DFA0A04FC94B}">
              <ma14:wrappingTextBoxFlag xmlns:ma14="http://schemas.microsoft.com/office/mac/drawingml/2011/main" val="0"/>
            </a:ext>
          </a:extLst>
        </p:spPr>
        <p:txBody>
          <a:bodyPr/>
          <a:lstStyle>
            <a:lvl1pPr>
              <a:defRPr sz="2000">
                <a:solidFill>
                  <a:srgbClr val="FFFFFF"/>
                </a:solidFill>
                <a:latin typeface="Calibri"/>
                <a:ea typeface="Calibri"/>
                <a:cs typeface="Calibri"/>
              </a:defRPr>
            </a:lvl1pPr>
          </a:lstStyle>
          <a:p>
            <a:pPr algn="ctr"/>
            <a:fld id="{F7021451-1387-4CA6-816F-3879F97B5CBC}" type="slidenum">
              <a:rPr b="1" lang="en-US"/>
              <a:t>39</a:t>
            </a:fld>
            <a:endParaRPr lang="en-US"/>
          </a:p>
        </p:txBody>
      </p:sp>
    </p:spTree>
  </p:cSld>
  <p:clrMapOvr>
    <a:masterClrMapping/>
  </p:clrMapOvr>
</p:sld>
</file>

<file path=ppt/slides/slide40.xml><?xml version="1.0" encoding="utf-8"?>
<p:sld xmlns:a="http://schemas.openxmlformats.org/drawingml/2006/main" xmlns:r="http://schemas.openxmlformats.org/officeDocument/2006/relationships" xmlns:p="http://schemas.openxmlformats.org/presentationml/2006/main">
  <p:cSld name="Slide 40">
    <p:spTree>
      <p:nvGrpSpPr>
        <p:cNvPr id="1" name=""/>
        <p:cNvGrpSpPr/>
        <p:nvPr/>
      </p:nvGrpSpPr>
      <p:grpSpPr>
        <a:xfrm>
          <a:off x="0" y="0"/>
          <a:ext cx="0" cy="0"/>
          <a:chOff x="0" y="0"/>
          <a:chExt cx="0" cy="0"/>
        </a:xfrm>
      </p:grpSpPr>
      <p:sp>
        <p:nvSpPr>
          <p:cNvPr id="2" name="Text 0"/>
          <p:cNvSpPr/>
          <p:nvPr/>
        </p:nvSpPr>
        <p:spPr>
          <a:xfrm>
            <a:off x="457200" y="713232"/>
            <a:ext cx="11368735" cy="274320"/>
          </a:xfrm>
          <a:prstGeom prst="rect">
            <a:avLst/>
          </a:prstGeom>
          <a:noFill/>
          <a:ln/>
        </p:spPr>
        <p:txBody>
          <a:bodyPr wrap="square" lIns="0" tIns="0" rIns="0" bIns="0" rtlCol="0" anchor="ctr"/>
          <a:lstStyle/>
          <a:p>
            <a:pPr algn="r" indent="0" marL="0">
              <a:buNone/>
            </a:pPr>
            <a:r>
              <a:rPr lang="en-US" sz="1400" b="1" dirty="0">
                <a:solidFill>
                  <a:srgbClr val="1C3F6E"/>
                </a:solidFill>
                <a:latin typeface="Calibri" pitchFamily="34" charset="0"/>
                <a:ea typeface="Calibri" pitchFamily="34" charset="-122"/>
                <a:cs typeface="Calibri" pitchFamily="34" charset="-120"/>
              </a:rPr>
              <a:t>BOARD SUMMARY</a:t>
            </a:r>
            <a:endParaRPr lang="en-US" sz="1400" dirty="0"/>
          </a:p>
        </p:txBody>
      </p:sp>
      <p:sp>
        <p:nvSpPr>
          <p:cNvPr id="3" name="Text 1"/>
          <p:cNvSpPr/>
          <p:nvPr/>
        </p:nvSpPr>
        <p:spPr>
          <a:xfrm>
            <a:off x="457200" y="1005840"/>
            <a:ext cx="11277295" cy="731520"/>
          </a:xfrm>
          <a:prstGeom prst="rect">
            <a:avLst/>
          </a:prstGeom>
          <a:noFill/>
          <a:ln/>
        </p:spPr>
        <p:txBody>
          <a:bodyPr wrap="square" lIns="0" tIns="0" rIns="0" bIns="0" rtlCol="0" anchor="ctr"/>
          <a:lstStyle/>
          <a:p>
            <a:pPr algn="ctr" indent="0" marL="0">
              <a:buNone/>
            </a:pPr>
            <a:r>
              <a:rPr lang="en-US" sz="3600" b="1" dirty="0">
                <a:solidFill>
                  <a:srgbClr val="990011"/>
                </a:solidFill>
                <a:latin typeface="Times New Roman" pitchFamily="34" charset="0"/>
                <a:ea typeface="Times New Roman" pitchFamily="34" charset="-122"/>
                <a:cs typeface="Times New Roman" pitchFamily="34" charset="-120"/>
              </a:rPr>
              <a:t>2. Measuring and Classifying Development</a:t>
            </a:r>
            <a:endParaRPr lang="en-US" sz="3600" dirty="0"/>
          </a:p>
        </p:txBody>
      </p:sp>
      <p:pic>
        <p:nvPicPr>
          <p:cNvPr id="4" name="Image 0" descr="/home/claude/f4/img/v2/dev_indicators_big.png">    </p:cNvPr>
          <p:cNvPicPr>
            <a:picLocks noChangeAspect="1"/>
          </p:cNvPicPr>
          <p:nvPr/>
        </p:nvPicPr>
        <p:blipFill>
          <a:blip r:embed="rId1"/>
          <a:stretch>
            <a:fillRect/>
          </a:stretch>
        </p:blipFill>
        <p:spPr>
          <a:xfrm>
            <a:off x="629930" y="1783080"/>
            <a:ext cx="10931835" cy="4270248"/>
          </a:xfrm>
          <a:prstGeom prst="rect">
            <a:avLst/>
          </a:prstGeom>
        </p:spPr>
      </p:pic>
      <p:sp>
        <p:nvSpPr>
          <p:cNvPr id="5" name="Text 2"/>
          <p:cNvSpPr/>
          <p:nvPr/>
        </p:nvSpPr>
        <p:spPr>
          <a:xfrm>
            <a:off x="457200" y="6089904"/>
            <a:ext cx="11277295" cy="347472"/>
          </a:xfrm>
          <a:prstGeom prst="rect">
            <a:avLst/>
          </a:prstGeom>
          <a:noFill/>
          <a:ln/>
        </p:spPr>
        <p:txBody>
          <a:bodyPr wrap="square" lIns="0" tIns="0" rIns="0" bIns="0" rtlCol="0" anchor="ctr"/>
          <a:lstStyle/>
          <a:p>
            <a:pPr algn="ctr" indent="0" marL="0">
              <a:buNone/>
            </a:pPr>
            <a:r>
              <a:rPr lang="en-US" sz="1800" i="1" dirty="0">
                <a:solidFill>
                  <a:srgbClr val="555555"/>
                </a:solidFill>
                <a:latin typeface="Times New Roman" pitchFamily="34" charset="0"/>
                <a:ea typeface="Times New Roman" pitchFamily="34" charset="-122"/>
                <a:cs typeface="Times New Roman" pitchFamily="34" charset="-120"/>
              </a:rPr>
              <a:t>Illustration: development indicators (approximate)</a:t>
            </a:r>
            <a:endParaRPr lang="en-US" sz="1800" dirty="0"/>
          </a:p>
        </p:txBody>
      </p:sp>
      <p:sp>
        <p:nvSpPr>
          <p:cNvPr id="25" name="Slide Number Placeholder 0"/>
          <p:cNvSpPr>
            <a:spLocks noGrp="1"/>
          </p:cNvSpPr>
          <p:nvPr>
            <p:ph type="sldNum" sz="quarter" idx="4294967295"/>
          </p:nvPr>
        </p:nvSpPr>
        <p:spPr>
          <a:xfrm>
            <a:off x="27432" y="91440"/>
            <a:ext cx="585216" cy="475488"/>
          </a:xfrm>
          <a:prstGeom prst="rect">
            <a:avLst/>
          </a:prstGeom>
          <a:extLst>
            <a:ext uri="{C572A759-6A51-4108-AA02-DFA0A04FC94B}">
              <ma14:wrappingTextBoxFlag xmlns:ma14="http://schemas.microsoft.com/office/mac/drawingml/2011/main" val="0"/>
            </a:ext>
          </a:extLst>
        </p:spPr>
        <p:txBody>
          <a:bodyPr/>
          <a:lstStyle>
            <a:lvl1pPr>
              <a:defRPr sz="2000">
                <a:solidFill>
                  <a:srgbClr val="FFFFFF"/>
                </a:solidFill>
                <a:latin typeface="Calibri"/>
                <a:ea typeface="Calibri"/>
                <a:cs typeface="Calibri"/>
              </a:defRPr>
            </a:lvl1pPr>
          </a:lstStyle>
          <a:p>
            <a:pPr algn="ctr"/>
            <a:fld id="{F7021451-1387-4CA6-816F-3879F97B5CBC}" type="slidenum">
              <a:rPr b="1" lang="en-US"/>
              <a:t>40</a:t>
            </a:fld>
            <a:endParaRPr lang="en-US"/>
          </a:p>
        </p:txBody>
      </p:sp>
    </p:spTree>
  </p:cSld>
  <p:clrMapOvr>
    <a:masterClrMapping/>
  </p:clrMapOvr>
</p:sld>
</file>

<file path=ppt/slides/slide41.xml><?xml version="1.0" encoding="utf-8"?>
<p:sld xmlns:a="http://schemas.openxmlformats.org/drawingml/2006/main" xmlns:r="http://schemas.openxmlformats.org/officeDocument/2006/relationships" xmlns:p="http://schemas.openxmlformats.org/presentationml/2006/main">
  <p:cSld name="Slide 41">
    <p:spTree>
      <p:nvGrpSpPr>
        <p:cNvPr id="1" name=""/>
        <p:cNvGrpSpPr/>
        <p:nvPr/>
      </p:nvGrpSpPr>
      <p:grpSpPr>
        <a:xfrm>
          <a:off x="0" y="0"/>
          <a:ext cx="0" cy="0"/>
          <a:chOff x="0" y="0"/>
          <a:chExt cx="0" cy="0"/>
        </a:xfrm>
      </p:grpSpPr>
      <p:sp>
        <p:nvSpPr>
          <p:cNvPr id="2" name="Text 0"/>
          <p:cNvSpPr/>
          <p:nvPr/>
        </p:nvSpPr>
        <p:spPr>
          <a:xfrm>
            <a:off x="457200" y="713232"/>
            <a:ext cx="11368735" cy="274320"/>
          </a:xfrm>
          <a:prstGeom prst="rect">
            <a:avLst/>
          </a:prstGeom>
          <a:noFill/>
          <a:ln/>
        </p:spPr>
        <p:txBody>
          <a:bodyPr wrap="square" lIns="0" tIns="0" rIns="0" bIns="0" rtlCol="0" anchor="ctr"/>
          <a:lstStyle/>
          <a:p>
            <a:pPr algn="r" indent="0" marL="0">
              <a:buNone/>
            </a:pPr>
            <a:r>
              <a:rPr lang="en-US" sz="1400" b="1" dirty="0">
                <a:solidFill>
                  <a:srgbClr val="1C3F6E"/>
                </a:solidFill>
                <a:latin typeface="Calibri" pitchFamily="34" charset="0"/>
                <a:ea typeface="Calibri" pitchFamily="34" charset="-122"/>
                <a:cs typeface="Calibri" pitchFamily="34" charset="-120"/>
              </a:rPr>
              <a:t>BOARD SUMMARY</a:t>
            </a:r>
            <a:endParaRPr lang="en-US" sz="1400" dirty="0"/>
          </a:p>
        </p:txBody>
      </p:sp>
      <p:pic>
        <p:nvPicPr>
          <p:cNvPr id="3" name="Image 0" descr="/home/claude/f4/img/minesec_sheet.png">    </p:cNvPr>
          <p:cNvPicPr>
            <a:picLocks noChangeAspect="1"/>
          </p:cNvPicPr>
          <p:nvPr/>
        </p:nvPicPr>
        <p:blipFill>
          <a:blip r:embed="rId1"/>
          <a:stretch>
            <a:fillRect/>
          </a:stretch>
        </p:blipFill>
        <p:spPr>
          <a:xfrm>
            <a:off x="0" y="658368"/>
            <a:ext cx="2468880" cy="5833872"/>
          </a:xfrm>
          <a:prstGeom prst="rect">
            <a:avLst/>
          </a:prstGeom>
        </p:spPr>
      </p:pic>
      <p:sp>
        <p:nvSpPr>
          <p:cNvPr id="4" name="Text 1"/>
          <p:cNvSpPr/>
          <p:nvPr/>
        </p:nvSpPr>
        <p:spPr>
          <a:xfrm>
            <a:off x="2697480" y="1005840"/>
            <a:ext cx="9174175" cy="731520"/>
          </a:xfrm>
          <a:prstGeom prst="rect">
            <a:avLst/>
          </a:prstGeom>
          <a:noFill/>
          <a:ln/>
        </p:spPr>
        <p:txBody>
          <a:bodyPr wrap="square" lIns="0" tIns="0" rIns="0" bIns="0" rtlCol="0" anchor="ctr">
            <a:normAutofit/>
          </a:bodyPr>
          <a:lstStyle/>
          <a:p>
            <a:pPr algn="ctr" indent="0" marL="0">
              <a:buNone/>
            </a:pPr>
            <a:r>
              <a:rPr lang="en-US" sz="3600" b="1" dirty="0">
                <a:solidFill>
                  <a:srgbClr val="990011"/>
                </a:solidFill>
                <a:latin typeface="Times New Roman" pitchFamily="34" charset="0"/>
                <a:ea typeface="Times New Roman" pitchFamily="34" charset="-122"/>
                <a:cs typeface="Times New Roman" pitchFamily="34" charset="-120"/>
              </a:rPr>
              <a:t>3. The Development Gap</a:t>
            </a:r>
            <a:endParaRPr lang="en-US" sz="3600" dirty="0"/>
          </a:p>
        </p:txBody>
      </p:sp>
      <p:sp>
        <p:nvSpPr>
          <p:cNvPr id="5" name="Text 2"/>
          <p:cNvSpPr/>
          <p:nvPr/>
        </p:nvSpPr>
        <p:spPr>
          <a:xfrm>
            <a:off x="2697480" y="1783080"/>
            <a:ext cx="9174175" cy="4663440"/>
          </a:xfrm>
          <a:prstGeom prst="rect">
            <a:avLst/>
          </a:prstGeom>
          <a:noFill/>
          <a:ln/>
        </p:spPr>
        <p:txBody>
          <a:bodyPr wrap="square" lIns="0" tIns="0" rIns="0" bIns="0" rtlCol="0" anchor="t"/>
          <a:lstStyle/>
          <a:p>
            <a:pPr algn="l" indent="0" marL="0">
              <a:spcAft>
                <a:spcPts val="800"/>
              </a:spcAft>
              <a:buNone/>
            </a:pPr>
            <a:r>
              <a:rPr lang="en-US" sz="4000" i="1" dirty="0">
                <a:solidFill>
                  <a:srgbClr val="111111"/>
                </a:solidFill>
                <a:latin typeface="Times New Roman" pitchFamily="34" charset="0"/>
                <a:ea typeface="Times New Roman" pitchFamily="34" charset="-122"/>
                <a:cs typeface="Times New Roman" pitchFamily="34" charset="-120"/>
              </a:rPr>
              <a:t>The gap between rich and poor countries has the following reasons:</a:t>
            </a:r>
            <a:endParaRPr lang="en-US" sz="4000" dirty="0"/>
          </a:p>
          <a:p>
            <a:pPr algn="l" indent="0" marL="0">
              <a:spcAft>
                <a:spcPts val="800"/>
              </a:spcAft>
              <a:buNone/>
            </a:pPr>
            <a:r>
              <a:rPr lang="en-US" sz="4000" b="1" dirty="0">
                <a:solidFill>
                  <a:srgbClr val="111111"/>
                </a:solidFill>
                <a:latin typeface="Times New Roman" pitchFamily="34" charset="0"/>
                <a:ea typeface="Times New Roman" pitchFamily="34" charset="-122"/>
                <a:cs typeface="Times New Roman" pitchFamily="34" charset="-120"/>
              </a:rPr>
              <a:t>Historical and economic reasons: </a:t>
            </a:r>
            <a:pPr algn="l" indent="0" marL="0">
              <a:spcAft>
                <a:spcPts val="800"/>
              </a:spcAft>
              <a:buNone/>
            </a:pPr>
            <a:r>
              <a:rPr lang="en-US" sz="4000" dirty="0">
                <a:solidFill>
                  <a:srgbClr val="111111"/>
                </a:solidFill>
                <a:latin typeface="Times New Roman" pitchFamily="34" charset="0"/>
                <a:ea typeface="Times New Roman" pitchFamily="34" charset="-122"/>
                <a:cs typeface="Times New Roman" pitchFamily="34" charset="-120"/>
              </a:rPr>
              <a:t>Colonialism, unfair trade and debt keep many countries poor. They export cheap raw materials and import costly manufactured goods.</a:t>
            </a:r>
            <a:endParaRPr lang="en-US" sz="4000" dirty="0"/>
          </a:p>
        </p:txBody>
      </p:sp>
      <p:sp>
        <p:nvSpPr>
          <p:cNvPr id="25" name="Slide Number Placeholder 0"/>
          <p:cNvSpPr>
            <a:spLocks noGrp="1"/>
          </p:cNvSpPr>
          <p:nvPr>
            <p:ph type="sldNum" sz="quarter" idx="4294967295"/>
          </p:nvPr>
        </p:nvSpPr>
        <p:spPr>
          <a:xfrm>
            <a:off x="27432" y="91440"/>
            <a:ext cx="585216" cy="475488"/>
          </a:xfrm>
          <a:prstGeom prst="rect">
            <a:avLst/>
          </a:prstGeom>
          <a:extLst>
            <a:ext uri="{C572A759-6A51-4108-AA02-DFA0A04FC94B}">
              <ma14:wrappingTextBoxFlag xmlns:ma14="http://schemas.microsoft.com/office/mac/drawingml/2011/main" val="0"/>
            </a:ext>
          </a:extLst>
        </p:spPr>
        <p:txBody>
          <a:bodyPr/>
          <a:lstStyle>
            <a:lvl1pPr>
              <a:defRPr sz="2000">
                <a:solidFill>
                  <a:srgbClr val="FFFFFF"/>
                </a:solidFill>
                <a:latin typeface="Calibri"/>
                <a:ea typeface="Calibri"/>
                <a:cs typeface="Calibri"/>
              </a:defRPr>
            </a:lvl1pPr>
          </a:lstStyle>
          <a:p>
            <a:pPr algn="ctr"/>
            <a:fld id="{F7021451-1387-4CA6-816F-3879F97B5CBC}" type="slidenum">
              <a:rPr b="1" lang="en-US"/>
              <a:t>41</a:t>
            </a:fld>
            <a:endParaRPr lang="en-US"/>
          </a:p>
        </p:txBody>
      </p:sp>
    </p:spTree>
  </p:cSld>
  <p:clrMapOvr>
    <a:masterClrMapping/>
  </p:clrMapOvr>
</p:sld>
</file>

<file path=ppt/slides/slide42.xml><?xml version="1.0" encoding="utf-8"?>
<p:sld xmlns:a="http://schemas.openxmlformats.org/drawingml/2006/main" xmlns:r="http://schemas.openxmlformats.org/officeDocument/2006/relationships" xmlns:p="http://schemas.openxmlformats.org/presentationml/2006/main">
  <p:cSld name="Slide 42">
    <p:spTree>
      <p:nvGrpSpPr>
        <p:cNvPr id="1" name=""/>
        <p:cNvGrpSpPr/>
        <p:nvPr/>
      </p:nvGrpSpPr>
      <p:grpSpPr>
        <a:xfrm>
          <a:off x="0" y="0"/>
          <a:ext cx="0" cy="0"/>
          <a:chOff x="0" y="0"/>
          <a:chExt cx="0" cy="0"/>
        </a:xfrm>
      </p:grpSpPr>
      <p:sp>
        <p:nvSpPr>
          <p:cNvPr id="2" name="Text 0"/>
          <p:cNvSpPr/>
          <p:nvPr/>
        </p:nvSpPr>
        <p:spPr>
          <a:xfrm>
            <a:off x="457200" y="713232"/>
            <a:ext cx="11368735" cy="274320"/>
          </a:xfrm>
          <a:prstGeom prst="rect">
            <a:avLst/>
          </a:prstGeom>
          <a:noFill/>
          <a:ln/>
        </p:spPr>
        <p:txBody>
          <a:bodyPr wrap="square" lIns="0" tIns="0" rIns="0" bIns="0" rtlCol="0" anchor="ctr"/>
          <a:lstStyle/>
          <a:p>
            <a:pPr algn="r" indent="0" marL="0">
              <a:buNone/>
            </a:pPr>
            <a:r>
              <a:rPr lang="en-US" sz="1400" b="1" dirty="0">
                <a:solidFill>
                  <a:srgbClr val="1C3F6E"/>
                </a:solidFill>
                <a:latin typeface="Calibri" pitchFamily="34" charset="0"/>
                <a:ea typeface="Calibri" pitchFamily="34" charset="-122"/>
                <a:cs typeface="Calibri" pitchFamily="34" charset="-120"/>
              </a:rPr>
              <a:t>BOARD SUMMARY</a:t>
            </a:r>
            <a:endParaRPr lang="en-US" sz="1400" dirty="0"/>
          </a:p>
        </p:txBody>
      </p:sp>
      <p:pic>
        <p:nvPicPr>
          <p:cNvPr id="3" name="Image 0" descr="/home/claude/f4/img/minesec_sheet.png">    </p:cNvPr>
          <p:cNvPicPr>
            <a:picLocks noChangeAspect="1"/>
          </p:cNvPicPr>
          <p:nvPr/>
        </p:nvPicPr>
        <p:blipFill>
          <a:blip r:embed="rId1"/>
          <a:stretch>
            <a:fillRect/>
          </a:stretch>
        </p:blipFill>
        <p:spPr>
          <a:xfrm>
            <a:off x="0" y="658368"/>
            <a:ext cx="5120640" cy="5833872"/>
          </a:xfrm>
          <a:prstGeom prst="rect">
            <a:avLst/>
          </a:prstGeom>
        </p:spPr>
      </p:pic>
      <p:sp>
        <p:nvSpPr>
          <p:cNvPr id="4" name="Text 1"/>
          <p:cNvSpPr/>
          <p:nvPr/>
        </p:nvSpPr>
        <p:spPr>
          <a:xfrm>
            <a:off x="5349240" y="1005840"/>
            <a:ext cx="6522415" cy="731520"/>
          </a:xfrm>
          <a:prstGeom prst="rect">
            <a:avLst/>
          </a:prstGeom>
          <a:noFill/>
          <a:ln/>
        </p:spPr>
        <p:txBody>
          <a:bodyPr wrap="square" lIns="0" tIns="0" rIns="0" bIns="0" rtlCol="0" anchor="ctr">
            <a:normAutofit/>
          </a:bodyPr>
          <a:lstStyle/>
          <a:p>
            <a:pPr algn="ctr" indent="0" marL="0">
              <a:buNone/>
            </a:pPr>
            <a:r>
              <a:rPr lang="en-US" sz="3600" b="1" dirty="0">
                <a:solidFill>
                  <a:srgbClr val="990011"/>
                </a:solidFill>
                <a:latin typeface="Times New Roman" pitchFamily="34" charset="0"/>
                <a:ea typeface="Times New Roman" pitchFamily="34" charset="-122"/>
                <a:cs typeface="Times New Roman" pitchFamily="34" charset="-120"/>
              </a:rPr>
              <a:t>3. The Development Gap (continued)</a:t>
            </a:r>
            <a:endParaRPr lang="en-US" sz="3600" dirty="0"/>
          </a:p>
        </p:txBody>
      </p:sp>
      <p:sp>
        <p:nvSpPr>
          <p:cNvPr id="5" name="Text 2"/>
          <p:cNvSpPr/>
          <p:nvPr/>
        </p:nvSpPr>
        <p:spPr>
          <a:xfrm>
            <a:off x="5349240" y="1783080"/>
            <a:ext cx="6522415" cy="4663440"/>
          </a:xfrm>
          <a:prstGeom prst="rect">
            <a:avLst/>
          </a:prstGeom>
          <a:noFill/>
          <a:ln/>
        </p:spPr>
        <p:txBody>
          <a:bodyPr wrap="square" lIns="0" tIns="0" rIns="0" bIns="0" rtlCol="0" anchor="t"/>
          <a:lstStyle/>
          <a:p>
            <a:pPr algn="l" indent="0" marL="0">
              <a:spcAft>
                <a:spcPts val="800"/>
              </a:spcAft>
              <a:buNone/>
            </a:pPr>
            <a:r>
              <a:rPr lang="en-US" sz="4000" b="1" dirty="0">
                <a:solidFill>
                  <a:srgbClr val="111111"/>
                </a:solidFill>
                <a:latin typeface="Times New Roman" pitchFamily="34" charset="0"/>
                <a:ea typeface="Times New Roman" pitchFamily="34" charset="-122"/>
                <a:cs typeface="Times New Roman" pitchFamily="34" charset="-120"/>
              </a:rPr>
              <a:t>Political and physical reasons: </a:t>
            </a:r>
            <a:pPr algn="l" indent="0" marL="0">
              <a:spcAft>
                <a:spcPts val="800"/>
              </a:spcAft>
              <a:buNone/>
            </a:pPr>
            <a:r>
              <a:rPr lang="en-US" sz="4000" dirty="0">
                <a:solidFill>
                  <a:srgbClr val="111111"/>
                </a:solidFill>
                <a:latin typeface="Times New Roman" pitchFamily="34" charset="0"/>
                <a:ea typeface="Times New Roman" pitchFamily="34" charset="-122"/>
                <a:cs typeface="Times New Roman" pitchFamily="34" charset="-120"/>
              </a:rPr>
              <a:t>Poor governance, corruption and conflicts slow development. Droughts, diseases and landlocked positions also hold some countries back.</a:t>
            </a:r>
            <a:endParaRPr lang="en-US" sz="4000" dirty="0"/>
          </a:p>
        </p:txBody>
      </p:sp>
      <p:sp>
        <p:nvSpPr>
          <p:cNvPr id="25" name="Slide Number Placeholder 0"/>
          <p:cNvSpPr>
            <a:spLocks noGrp="1"/>
          </p:cNvSpPr>
          <p:nvPr>
            <p:ph type="sldNum" sz="quarter" idx="4294967295"/>
          </p:nvPr>
        </p:nvSpPr>
        <p:spPr>
          <a:xfrm>
            <a:off x="27432" y="91440"/>
            <a:ext cx="585216" cy="475488"/>
          </a:xfrm>
          <a:prstGeom prst="rect">
            <a:avLst/>
          </a:prstGeom>
          <a:extLst>
            <a:ext uri="{C572A759-6A51-4108-AA02-DFA0A04FC94B}">
              <ma14:wrappingTextBoxFlag xmlns:ma14="http://schemas.microsoft.com/office/mac/drawingml/2011/main" val="0"/>
            </a:ext>
          </a:extLst>
        </p:spPr>
        <p:txBody>
          <a:bodyPr/>
          <a:lstStyle>
            <a:lvl1pPr>
              <a:defRPr sz="2000">
                <a:solidFill>
                  <a:srgbClr val="FFFFFF"/>
                </a:solidFill>
                <a:latin typeface="Calibri"/>
                <a:ea typeface="Calibri"/>
                <a:cs typeface="Calibri"/>
              </a:defRPr>
            </a:lvl1pPr>
          </a:lstStyle>
          <a:p>
            <a:pPr algn="ctr"/>
            <a:fld id="{F7021451-1387-4CA6-816F-3879F97B5CBC}" type="slidenum">
              <a:rPr b="1" lang="en-US"/>
              <a:t>42</a:t>
            </a:fld>
            <a:endParaRPr lang="en-US"/>
          </a:p>
        </p:txBody>
      </p:sp>
    </p:spTree>
  </p:cSld>
  <p:clrMapOvr>
    <a:masterClrMapping/>
  </p:clrMapOvr>
</p:sld>
</file>

<file path=ppt/slides/slide43.xml><?xml version="1.0" encoding="utf-8"?>
<p:sld xmlns:a="http://schemas.openxmlformats.org/drawingml/2006/main" xmlns:r="http://schemas.openxmlformats.org/officeDocument/2006/relationships" xmlns:p="http://schemas.openxmlformats.org/presentationml/2006/main">
  <p:cSld name="Slide 43">
    <p:spTree>
      <p:nvGrpSpPr>
        <p:cNvPr id="1" name=""/>
        <p:cNvGrpSpPr/>
        <p:nvPr/>
      </p:nvGrpSpPr>
      <p:grpSpPr>
        <a:xfrm>
          <a:off x="0" y="0"/>
          <a:ext cx="0" cy="0"/>
          <a:chOff x="0" y="0"/>
          <a:chExt cx="0" cy="0"/>
        </a:xfrm>
      </p:grpSpPr>
      <p:sp>
        <p:nvSpPr>
          <p:cNvPr id="2" name="Text 0"/>
          <p:cNvSpPr/>
          <p:nvPr/>
        </p:nvSpPr>
        <p:spPr>
          <a:xfrm>
            <a:off x="457200" y="713232"/>
            <a:ext cx="11368735" cy="274320"/>
          </a:xfrm>
          <a:prstGeom prst="rect">
            <a:avLst/>
          </a:prstGeom>
          <a:noFill/>
          <a:ln/>
        </p:spPr>
        <p:txBody>
          <a:bodyPr wrap="square" lIns="0" tIns="0" rIns="0" bIns="0" rtlCol="0" anchor="ctr"/>
          <a:lstStyle/>
          <a:p>
            <a:pPr algn="r" indent="0" marL="0">
              <a:buNone/>
            </a:pPr>
            <a:r>
              <a:rPr lang="en-US" sz="1400" b="1" dirty="0">
                <a:solidFill>
                  <a:srgbClr val="1C3F6E"/>
                </a:solidFill>
                <a:latin typeface="Calibri" pitchFamily="34" charset="0"/>
                <a:ea typeface="Calibri" pitchFamily="34" charset="-122"/>
                <a:cs typeface="Calibri" pitchFamily="34" charset="-120"/>
              </a:rPr>
              <a:t>BOARD SUMMARY</a:t>
            </a:r>
            <a:endParaRPr lang="en-US" sz="1400" dirty="0"/>
          </a:p>
        </p:txBody>
      </p:sp>
      <p:sp>
        <p:nvSpPr>
          <p:cNvPr id="3" name="Text 1"/>
          <p:cNvSpPr/>
          <p:nvPr/>
        </p:nvSpPr>
        <p:spPr>
          <a:xfrm>
            <a:off x="457200" y="1005840"/>
            <a:ext cx="11277295" cy="731520"/>
          </a:xfrm>
          <a:prstGeom prst="rect">
            <a:avLst/>
          </a:prstGeom>
          <a:noFill/>
          <a:ln/>
        </p:spPr>
        <p:txBody>
          <a:bodyPr wrap="square" lIns="0" tIns="0" rIns="0" bIns="0" rtlCol="0" anchor="ctr"/>
          <a:lstStyle/>
          <a:p>
            <a:pPr algn="ctr" indent="0" marL="0">
              <a:buNone/>
            </a:pPr>
            <a:r>
              <a:rPr lang="en-US" sz="3600" b="1" dirty="0">
                <a:solidFill>
                  <a:srgbClr val="990011"/>
                </a:solidFill>
                <a:latin typeface="Times New Roman" pitchFamily="34" charset="0"/>
                <a:ea typeface="Times New Roman" pitchFamily="34" charset="-122"/>
                <a:cs typeface="Times New Roman" pitchFamily="34" charset="-120"/>
              </a:rPr>
              <a:t>3. The Development Gap</a:t>
            </a:r>
            <a:endParaRPr lang="en-US" sz="3600" dirty="0"/>
          </a:p>
        </p:txBody>
      </p:sp>
      <p:pic>
        <p:nvPicPr>
          <p:cNvPr id="4" name="Image 0" descr="/home/claude/f4/img/v2/hdi_map_big.png">    </p:cNvPr>
          <p:cNvPicPr>
            <a:picLocks noChangeAspect="1"/>
          </p:cNvPicPr>
          <p:nvPr/>
        </p:nvPicPr>
        <p:blipFill>
          <a:blip r:embed="rId1"/>
          <a:stretch>
            <a:fillRect/>
          </a:stretch>
        </p:blipFill>
        <p:spPr>
          <a:xfrm>
            <a:off x="1825600" y="1783080"/>
            <a:ext cx="8540496" cy="4270248"/>
          </a:xfrm>
          <a:prstGeom prst="rect">
            <a:avLst/>
          </a:prstGeom>
        </p:spPr>
      </p:pic>
      <p:sp>
        <p:nvSpPr>
          <p:cNvPr id="5" name="Text 2"/>
          <p:cNvSpPr/>
          <p:nvPr/>
        </p:nvSpPr>
        <p:spPr>
          <a:xfrm>
            <a:off x="457200" y="6089904"/>
            <a:ext cx="11277295" cy="347472"/>
          </a:xfrm>
          <a:prstGeom prst="rect">
            <a:avLst/>
          </a:prstGeom>
          <a:noFill/>
          <a:ln/>
        </p:spPr>
        <p:txBody>
          <a:bodyPr wrap="square" lIns="0" tIns="0" rIns="0" bIns="0" rtlCol="0" anchor="ctr"/>
          <a:lstStyle/>
          <a:p>
            <a:pPr algn="ctr" indent="0" marL="0">
              <a:buNone/>
            </a:pPr>
            <a:r>
              <a:rPr lang="en-US" sz="1800" i="1" dirty="0">
                <a:solidFill>
                  <a:srgbClr val="555555"/>
                </a:solidFill>
                <a:latin typeface="Times New Roman" pitchFamily="34" charset="0"/>
                <a:ea typeface="Times New Roman" pitchFamily="34" charset="-122"/>
                <a:cs typeface="Times New Roman" pitchFamily="34" charset="-120"/>
              </a:rPr>
              <a:t>Illustration: Human Development Index (approximate)</a:t>
            </a:r>
            <a:endParaRPr lang="en-US" sz="1800" dirty="0"/>
          </a:p>
        </p:txBody>
      </p:sp>
      <p:sp>
        <p:nvSpPr>
          <p:cNvPr id="25" name="Slide Number Placeholder 0"/>
          <p:cNvSpPr>
            <a:spLocks noGrp="1"/>
          </p:cNvSpPr>
          <p:nvPr>
            <p:ph type="sldNum" sz="quarter" idx="4294967295"/>
          </p:nvPr>
        </p:nvSpPr>
        <p:spPr>
          <a:xfrm>
            <a:off x="27432" y="91440"/>
            <a:ext cx="585216" cy="475488"/>
          </a:xfrm>
          <a:prstGeom prst="rect">
            <a:avLst/>
          </a:prstGeom>
          <a:extLst>
            <a:ext uri="{C572A759-6A51-4108-AA02-DFA0A04FC94B}">
              <ma14:wrappingTextBoxFlag xmlns:ma14="http://schemas.microsoft.com/office/mac/drawingml/2011/main" val="0"/>
            </a:ext>
          </a:extLst>
        </p:spPr>
        <p:txBody>
          <a:bodyPr/>
          <a:lstStyle>
            <a:lvl1pPr>
              <a:defRPr sz="2000">
                <a:solidFill>
                  <a:srgbClr val="FFFFFF"/>
                </a:solidFill>
                <a:latin typeface="Calibri"/>
                <a:ea typeface="Calibri"/>
                <a:cs typeface="Calibri"/>
              </a:defRPr>
            </a:lvl1pPr>
          </a:lstStyle>
          <a:p>
            <a:pPr algn="ctr"/>
            <a:fld id="{F7021451-1387-4CA6-816F-3879F97B5CBC}" type="slidenum">
              <a:rPr b="1" lang="en-US"/>
              <a:t>43</a:t>
            </a:fld>
            <a:endParaRPr lang="en-US"/>
          </a:p>
        </p:txBody>
      </p:sp>
    </p:spTree>
  </p:cSld>
  <p:clrMapOvr>
    <a:masterClrMapping/>
  </p:clrMapOvr>
</p:sld>
</file>

<file path=ppt/slides/slide44.xml><?xml version="1.0" encoding="utf-8"?>
<p:sld xmlns:a="http://schemas.openxmlformats.org/drawingml/2006/main" xmlns:r="http://schemas.openxmlformats.org/officeDocument/2006/relationships" xmlns:p="http://schemas.openxmlformats.org/presentationml/2006/main">
  <p:cSld name="Slide 44">
    <p:spTree>
      <p:nvGrpSpPr>
        <p:cNvPr id="1" name=""/>
        <p:cNvGrpSpPr/>
        <p:nvPr/>
      </p:nvGrpSpPr>
      <p:grpSpPr>
        <a:xfrm>
          <a:off x="0" y="0"/>
          <a:ext cx="0" cy="0"/>
          <a:chOff x="0" y="0"/>
          <a:chExt cx="0" cy="0"/>
        </a:xfrm>
      </p:grpSpPr>
      <p:sp>
        <p:nvSpPr>
          <p:cNvPr id="2" name="Text 0"/>
          <p:cNvSpPr/>
          <p:nvPr/>
        </p:nvSpPr>
        <p:spPr>
          <a:xfrm>
            <a:off x="457200" y="713232"/>
            <a:ext cx="11368735" cy="274320"/>
          </a:xfrm>
          <a:prstGeom prst="rect">
            <a:avLst/>
          </a:prstGeom>
          <a:noFill/>
          <a:ln/>
        </p:spPr>
        <p:txBody>
          <a:bodyPr wrap="square" lIns="0" tIns="0" rIns="0" bIns="0" rtlCol="0" anchor="ctr"/>
          <a:lstStyle/>
          <a:p>
            <a:pPr algn="r" indent="0" marL="0">
              <a:buNone/>
            </a:pPr>
            <a:r>
              <a:rPr lang="en-US" sz="1400" b="1" dirty="0">
                <a:solidFill>
                  <a:srgbClr val="1C3F6E"/>
                </a:solidFill>
                <a:latin typeface="Calibri" pitchFamily="34" charset="0"/>
                <a:ea typeface="Calibri" pitchFamily="34" charset="-122"/>
                <a:cs typeface="Calibri" pitchFamily="34" charset="-120"/>
              </a:rPr>
              <a:t>BOARD SUMMARY</a:t>
            </a:r>
            <a:endParaRPr lang="en-US" sz="1400" dirty="0"/>
          </a:p>
        </p:txBody>
      </p:sp>
      <p:pic>
        <p:nvPicPr>
          <p:cNvPr id="3" name="Image 0" descr="/home/claude/f4/img/minesec_sheet.png">    </p:cNvPr>
          <p:cNvPicPr>
            <a:picLocks noChangeAspect="1"/>
          </p:cNvPicPr>
          <p:nvPr/>
        </p:nvPicPr>
        <p:blipFill>
          <a:blip r:embed="rId1"/>
          <a:stretch>
            <a:fillRect/>
          </a:stretch>
        </p:blipFill>
        <p:spPr>
          <a:xfrm>
            <a:off x="0" y="658368"/>
            <a:ext cx="2468880" cy="5833872"/>
          </a:xfrm>
          <a:prstGeom prst="rect">
            <a:avLst/>
          </a:prstGeom>
        </p:spPr>
      </p:pic>
      <p:sp>
        <p:nvSpPr>
          <p:cNvPr id="4" name="Text 1"/>
          <p:cNvSpPr/>
          <p:nvPr/>
        </p:nvSpPr>
        <p:spPr>
          <a:xfrm>
            <a:off x="2697480" y="1005840"/>
            <a:ext cx="9174175" cy="731520"/>
          </a:xfrm>
          <a:prstGeom prst="rect">
            <a:avLst/>
          </a:prstGeom>
          <a:noFill/>
          <a:ln/>
        </p:spPr>
        <p:txBody>
          <a:bodyPr wrap="square" lIns="0" tIns="0" rIns="0" bIns="0" rtlCol="0" anchor="ctr">
            <a:normAutofit/>
          </a:bodyPr>
          <a:lstStyle/>
          <a:p>
            <a:pPr algn="ctr" indent="0" marL="0">
              <a:buNone/>
            </a:pPr>
            <a:r>
              <a:rPr lang="en-US" sz="3600" b="1" dirty="0">
                <a:solidFill>
                  <a:srgbClr val="990011"/>
                </a:solidFill>
                <a:latin typeface="Times New Roman" pitchFamily="34" charset="0"/>
                <a:ea typeface="Times New Roman" pitchFamily="34" charset="-122"/>
                <a:cs typeface="Times New Roman" pitchFamily="34" charset="-120"/>
              </a:rPr>
              <a:t>4. Sustainable Development</a:t>
            </a:r>
            <a:endParaRPr lang="en-US" sz="3600" dirty="0"/>
          </a:p>
        </p:txBody>
      </p:sp>
      <p:sp>
        <p:nvSpPr>
          <p:cNvPr id="5" name="Text 2"/>
          <p:cNvSpPr/>
          <p:nvPr/>
        </p:nvSpPr>
        <p:spPr>
          <a:xfrm>
            <a:off x="2697480" y="1783080"/>
            <a:ext cx="9174175" cy="4663440"/>
          </a:xfrm>
          <a:prstGeom prst="rect">
            <a:avLst/>
          </a:prstGeom>
          <a:noFill/>
          <a:ln/>
        </p:spPr>
        <p:txBody>
          <a:bodyPr wrap="square" lIns="0" tIns="0" rIns="0" bIns="0" rtlCol="0" anchor="t"/>
          <a:lstStyle/>
          <a:p>
            <a:pPr algn="l" indent="0" marL="0">
              <a:spcAft>
                <a:spcPts val="800"/>
              </a:spcAft>
              <a:buNone/>
            </a:pPr>
            <a:r>
              <a:rPr lang="en-US" sz="4000" i="1" dirty="0">
                <a:solidFill>
                  <a:srgbClr val="111111"/>
                </a:solidFill>
                <a:latin typeface="Times New Roman" pitchFamily="34" charset="0"/>
                <a:ea typeface="Times New Roman" pitchFamily="34" charset="-122"/>
                <a:cs typeface="Times New Roman" pitchFamily="34" charset="-120"/>
              </a:rPr>
              <a:t>Sustainable development can be explained as follows:</a:t>
            </a:r>
            <a:endParaRPr lang="en-US" sz="4000" dirty="0"/>
          </a:p>
          <a:p>
            <a:pPr algn="l" indent="0" marL="0">
              <a:spcAft>
                <a:spcPts val="800"/>
              </a:spcAft>
              <a:buNone/>
            </a:pPr>
            <a:r>
              <a:rPr lang="en-US" sz="4000" b="1" dirty="0">
                <a:solidFill>
                  <a:srgbClr val="111111"/>
                </a:solidFill>
                <a:latin typeface="Times New Roman" pitchFamily="34" charset="0"/>
                <a:ea typeface="Times New Roman" pitchFamily="34" charset="-122"/>
                <a:cs typeface="Times New Roman" pitchFamily="34" charset="-120"/>
              </a:rPr>
              <a:t>Meaning: </a:t>
            </a:r>
            <a:pPr algn="l" indent="0" marL="0">
              <a:spcAft>
                <a:spcPts val="800"/>
              </a:spcAft>
              <a:buNone/>
            </a:pPr>
            <a:r>
              <a:rPr lang="en-US" sz="4000" dirty="0">
                <a:solidFill>
                  <a:srgbClr val="111111"/>
                </a:solidFill>
                <a:latin typeface="Times New Roman" pitchFamily="34" charset="0"/>
                <a:ea typeface="Times New Roman" pitchFamily="34" charset="-122"/>
                <a:cs typeface="Times New Roman" pitchFamily="34" charset="-120"/>
              </a:rPr>
              <a:t>It is development that meets present needs without harming the ability of future generations to meet theirs. It balances the economy, society and the environment.</a:t>
            </a:r>
            <a:endParaRPr lang="en-US" sz="4000" dirty="0"/>
          </a:p>
        </p:txBody>
      </p:sp>
      <p:sp>
        <p:nvSpPr>
          <p:cNvPr id="25" name="Slide Number Placeholder 0"/>
          <p:cNvSpPr>
            <a:spLocks noGrp="1"/>
          </p:cNvSpPr>
          <p:nvPr>
            <p:ph type="sldNum" sz="quarter" idx="4294967295"/>
          </p:nvPr>
        </p:nvSpPr>
        <p:spPr>
          <a:xfrm>
            <a:off x="27432" y="91440"/>
            <a:ext cx="585216" cy="475488"/>
          </a:xfrm>
          <a:prstGeom prst="rect">
            <a:avLst/>
          </a:prstGeom>
          <a:extLst>
            <a:ext uri="{C572A759-6A51-4108-AA02-DFA0A04FC94B}">
              <ma14:wrappingTextBoxFlag xmlns:ma14="http://schemas.microsoft.com/office/mac/drawingml/2011/main" val="0"/>
            </a:ext>
          </a:extLst>
        </p:spPr>
        <p:txBody>
          <a:bodyPr/>
          <a:lstStyle>
            <a:lvl1pPr>
              <a:defRPr sz="2000">
                <a:solidFill>
                  <a:srgbClr val="FFFFFF"/>
                </a:solidFill>
                <a:latin typeface="Calibri"/>
                <a:ea typeface="Calibri"/>
                <a:cs typeface="Calibri"/>
              </a:defRPr>
            </a:lvl1pPr>
          </a:lstStyle>
          <a:p>
            <a:pPr algn="ctr"/>
            <a:fld id="{F7021451-1387-4CA6-816F-3879F97B5CBC}" type="slidenum">
              <a:rPr b="1" lang="en-US"/>
              <a:t>44</a:t>
            </a:fld>
            <a:endParaRPr lang="en-US"/>
          </a:p>
        </p:txBody>
      </p:sp>
    </p:spTree>
  </p:cSld>
  <p:clrMapOvr>
    <a:masterClrMapping/>
  </p:clrMapOvr>
</p:sld>
</file>

<file path=ppt/slides/slide45.xml><?xml version="1.0" encoding="utf-8"?>
<p:sld xmlns:a="http://schemas.openxmlformats.org/drawingml/2006/main" xmlns:r="http://schemas.openxmlformats.org/officeDocument/2006/relationships" xmlns:p="http://schemas.openxmlformats.org/presentationml/2006/main">
  <p:cSld name="Slide 45">
    <p:spTree>
      <p:nvGrpSpPr>
        <p:cNvPr id="1" name=""/>
        <p:cNvGrpSpPr/>
        <p:nvPr/>
      </p:nvGrpSpPr>
      <p:grpSpPr>
        <a:xfrm>
          <a:off x="0" y="0"/>
          <a:ext cx="0" cy="0"/>
          <a:chOff x="0" y="0"/>
          <a:chExt cx="0" cy="0"/>
        </a:xfrm>
      </p:grpSpPr>
      <p:sp>
        <p:nvSpPr>
          <p:cNvPr id="2" name="Text 0"/>
          <p:cNvSpPr/>
          <p:nvPr/>
        </p:nvSpPr>
        <p:spPr>
          <a:xfrm>
            <a:off x="457200" y="713232"/>
            <a:ext cx="11368735" cy="274320"/>
          </a:xfrm>
          <a:prstGeom prst="rect">
            <a:avLst/>
          </a:prstGeom>
          <a:noFill/>
          <a:ln/>
        </p:spPr>
        <p:txBody>
          <a:bodyPr wrap="square" lIns="0" tIns="0" rIns="0" bIns="0" rtlCol="0" anchor="ctr"/>
          <a:lstStyle/>
          <a:p>
            <a:pPr algn="r" indent="0" marL="0">
              <a:buNone/>
            </a:pPr>
            <a:r>
              <a:rPr lang="en-US" sz="1400" b="1" dirty="0">
                <a:solidFill>
                  <a:srgbClr val="1C3F6E"/>
                </a:solidFill>
                <a:latin typeface="Calibri" pitchFamily="34" charset="0"/>
                <a:ea typeface="Calibri" pitchFamily="34" charset="-122"/>
                <a:cs typeface="Calibri" pitchFamily="34" charset="-120"/>
              </a:rPr>
              <a:t>BOARD SUMMARY</a:t>
            </a:r>
            <a:endParaRPr lang="en-US" sz="1400" dirty="0"/>
          </a:p>
        </p:txBody>
      </p:sp>
      <p:pic>
        <p:nvPicPr>
          <p:cNvPr id="3" name="Image 0" descr="/home/claude/f4/img/minesec_sheet.png">    </p:cNvPr>
          <p:cNvPicPr>
            <a:picLocks noChangeAspect="1"/>
          </p:cNvPicPr>
          <p:nvPr/>
        </p:nvPicPr>
        <p:blipFill>
          <a:blip r:embed="rId1"/>
          <a:stretch>
            <a:fillRect/>
          </a:stretch>
        </p:blipFill>
        <p:spPr>
          <a:xfrm>
            <a:off x="0" y="658368"/>
            <a:ext cx="5120640" cy="5833872"/>
          </a:xfrm>
          <a:prstGeom prst="rect">
            <a:avLst/>
          </a:prstGeom>
        </p:spPr>
      </p:pic>
      <p:sp>
        <p:nvSpPr>
          <p:cNvPr id="4" name="Text 1"/>
          <p:cNvSpPr/>
          <p:nvPr/>
        </p:nvSpPr>
        <p:spPr>
          <a:xfrm>
            <a:off x="5349240" y="1005840"/>
            <a:ext cx="6522415" cy="731520"/>
          </a:xfrm>
          <a:prstGeom prst="rect">
            <a:avLst/>
          </a:prstGeom>
          <a:noFill/>
          <a:ln/>
        </p:spPr>
        <p:txBody>
          <a:bodyPr wrap="square" lIns="0" tIns="0" rIns="0" bIns="0" rtlCol="0" anchor="ctr">
            <a:normAutofit/>
          </a:bodyPr>
          <a:lstStyle/>
          <a:p>
            <a:pPr algn="ctr" indent="0" marL="0">
              <a:buNone/>
            </a:pPr>
            <a:r>
              <a:rPr lang="en-US" sz="3600" b="1" dirty="0">
                <a:solidFill>
                  <a:srgbClr val="990011"/>
                </a:solidFill>
                <a:latin typeface="Times New Roman" pitchFamily="34" charset="0"/>
                <a:ea typeface="Times New Roman" pitchFamily="34" charset="-122"/>
                <a:cs typeface="Times New Roman" pitchFamily="34" charset="-120"/>
              </a:rPr>
              <a:t>4. Sustainable Development (continued)</a:t>
            </a:r>
            <a:endParaRPr lang="en-US" sz="3600" dirty="0"/>
          </a:p>
        </p:txBody>
      </p:sp>
      <p:sp>
        <p:nvSpPr>
          <p:cNvPr id="5" name="Text 2"/>
          <p:cNvSpPr/>
          <p:nvPr/>
        </p:nvSpPr>
        <p:spPr>
          <a:xfrm>
            <a:off x="5349240" y="1783080"/>
            <a:ext cx="6522415" cy="4663440"/>
          </a:xfrm>
          <a:prstGeom prst="rect">
            <a:avLst/>
          </a:prstGeom>
          <a:noFill/>
          <a:ln/>
        </p:spPr>
        <p:txBody>
          <a:bodyPr wrap="square" lIns="0" tIns="0" rIns="0" bIns="0" rtlCol="0" anchor="t"/>
          <a:lstStyle/>
          <a:p>
            <a:pPr algn="l" indent="0" marL="0">
              <a:spcAft>
                <a:spcPts val="800"/>
              </a:spcAft>
              <a:buNone/>
            </a:pPr>
            <a:r>
              <a:rPr lang="en-US" sz="4000" b="1" dirty="0">
                <a:solidFill>
                  <a:srgbClr val="111111"/>
                </a:solidFill>
                <a:latin typeface="Times New Roman" pitchFamily="34" charset="0"/>
                <a:ea typeface="Times New Roman" pitchFamily="34" charset="-122"/>
                <a:cs typeface="Times New Roman" pitchFamily="34" charset="-120"/>
              </a:rPr>
              <a:t>Ways to achieve it: </a:t>
            </a:r>
            <a:pPr algn="l" indent="0" marL="0">
              <a:spcAft>
                <a:spcPts val="800"/>
              </a:spcAft>
              <a:buNone/>
            </a:pPr>
            <a:r>
              <a:rPr lang="en-US" sz="4000" dirty="0">
                <a:solidFill>
                  <a:srgbClr val="111111"/>
                </a:solidFill>
                <a:latin typeface="Times New Roman" pitchFamily="34" charset="0"/>
                <a:ea typeface="Times New Roman" pitchFamily="34" charset="-122"/>
                <a:cs typeface="Times New Roman" pitchFamily="34" charset="-120"/>
              </a:rPr>
              <a:t>Renewable energy, recycling and the protection of forests save resources. Education, good governance and fair trade help people to benefit from growth.</a:t>
            </a:r>
            <a:endParaRPr lang="en-US" sz="4000" dirty="0"/>
          </a:p>
        </p:txBody>
      </p:sp>
      <p:sp>
        <p:nvSpPr>
          <p:cNvPr id="25" name="Slide Number Placeholder 0"/>
          <p:cNvSpPr>
            <a:spLocks noGrp="1"/>
          </p:cNvSpPr>
          <p:nvPr>
            <p:ph type="sldNum" sz="quarter" idx="4294967295"/>
          </p:nvPr>
        </p:nvSpPr>
        <p:spPr>
          <a:xfrm>
            <a:off x="27432" y="91440"/>
            <a:ext cx="585216" cy="475488"/>
          </a:xfrm>
          <a:prstGeom prst="rect">
            <a:avLst/>
          </a:prstGeom>
          <a:extLst>
            <a:ext uri="{C572A759-6A51-4108-AA02-DFA0A04FC94B}">
              <ma14:wrappingTextBoxFlag xmlns:ma14="http://schemas.microsoft.com/office/mac/drawingml/2011/main" val="0"/>
            </a:ext>
          </a:extLst>
        </p:spPr>
        <p:txBody>
          <a:bodyPr/>
          <a:lstStyle>
            <a:lvl1pPr>
              <a:defRPr sz="2000">
                <a:solidFill>
                  <a:srgbClr val="FFFFFF"/>
                </a:solidFill>
                <a:latin typeface="Calibri"/>
                <a:ea typeface="Calibri"/>
                <a:cs typeface="Calibri"/>
              </a:defRPr>
            </a:lvl1pPr>
          </a:lstStyle>
          <a:p>
            <a:pPr algn="ctr"/>
            <a:fld id="{F7021451-1387-4CA6-816F-3879F97B5CBC}" type="slidenum">
              <a:rPr b="1" lang="en-US"/>
              <a:t>45</a:t>
            </a:fld>
            <a:endParaRPr lang="en-US"/>
          </a:p>
        </p:txBody>
      </p:sp>
    </p:spTree>
  </p:cSld>
  <p:clrMapOvr>
    <a:masterClrMapping/>
  </p:clrMapOvr>
</p:sld>
</file>

<file path=ppt/slides/slide46.xml><?xml version="1.0" encoding="utf-8"?>
<p:sld xmlns:a="http://schemas.openxmlformats.org/drawingml/2006/main" xmlns:r="http://schemas.openxmlformats.org/officeDocument/2006/relationships" xmlns:p="http://schemas.openxmlformats.org/presentationml/2006/main">
  <p:cSld name="Slide 46">
    <p:spTree>
      <p:nvGrpSpPr>
        <p:cNvPr id="1" name=""/>
        <p:cNvGrpSpPr/>
        <p:nvPr/>
      </p:nvGrpSpPr>
      <p:grpSpPr>
        <a:xfrm>
          <a:off x="0" y="0"/>
          <a:ext cx="0" cy="0"/>
          <a:chOff x="0" y="0"/>
          <a:chExt cx="0" cy="0"/>
        </a:xfrm>
      </p:grpSpPr>
      <p:sp>
        <p:nvSpPr>
          <p:cNvPr id="2" name="Text 0"/>
          <p:cNvSpPr/>
          <p:nvPr/>
        </p:nvSpPr>
        <p:spPr>
          <a:xfrm>
            <a:off x="457200" y="713232"/>
            <a:ext cx="11368735" cy="274320"/>
          </a:xfrm>
          <a:prstGeom prst="rect">
            <a:avLst/>
          </a:prstGeom>
          <a:noFill/>
          <a:ln/>
        </p:spPr>
        <p:txBody>
          <a:bodyPr wrap="square" lIns="0" tIns="0" rIns="0" bIns="0" rtlCol="0" anchor="ctr"/>
          <a:lstStyle/>
          <a:p>
            <a:pPr algn="r" indent="0" marL="0">
              <a:buNone/>
            </a:pPr>
            <a:r>
              <a:rPr lang="en-US" sz="1400" b="1" dirty="0">
                <a:solidFill>
                  <a:srgbClr val="1C3F6E"/>
                </a:solidFill>
                <a:latin typeface="Calibri" pitchFamily="34" charset="0"/>
                <a:ea typeface="Calibri" pitchFamily="34" charset="-122"/>
                <a:cs typeface="Calibri" pitchFamily="34" charset="-120"/>
              </a:rPr>
              <a:t>BOARD SUMMARY</a:t>
            </a:r>
            <a:endParaRPr lang="en-US" sz="1400" dirty="0"/>
          </a:p>
        </p:txBody>
      </p:sp>
      <p:sp>
        <p:nvSpPr>
          <p:cNvPr id="3" name="Text 1"/>
          <p:cNvSpPr/>
          <p:nvPr/>
        </p:nvSpPr>
        <p:spPr>
          <a:xfrm>
            <a:off x="457200" y="1005840"/>
            <a:ext cx="11277295" cy="731520"/>
          </a:xfrm>
          <a:prstGeom prst="rect">
            <a:avLst/>
          </a:prstGeom>
          <a:noFill/>
          <a:ln/>
        </p:spPr>
        <p:txBody>
          <a:bodyPr wrap="square" lIns="0" tIns="0" rIns="0" bIns="0" rtlCol="0" anchor="ctr"/>
          <a:lstStyle/>
          <a:p>
            <a:pPr algn="ctr" indent="0" marL="0">
              <a:buNone/>
            </a:pPr>
            <a:r>
              <a:rPr lang="en-US" sz="3600" b="1" dirty="0">
                <a:solidFill>
                  <a:srgbClr val="990011"/>
                </a:solidFill>
                <a:latin typeface="Times New Roman" pitchFamily="34" charset="0"/>
                <a:ea typeface="Times New Roman" pitchFamily="34" charset="-122"/>
                <a:cs typeface="Times New Roman" pitchFamily="34" charset="-120"/>
              </a:rPr>
              <a:t>4. Sustainable Development</a:t>
            </a:r>
            <a:endParaRPr lang="en-US" sz="3600" dirty="0"/>
          </a:p>
        </p:txBody>
      </p:sp>
      <p:pic>
        <p:nvPicPr>
          <p:cNvPr id="4" name="Image 0" descr="/home/claude/f4/img/v2/sustain_big.png">    </p:cNvPr>
          <p:cNvPicPr>
            <a:picLocks noChangeAspect="1"/>
          </p:cNvPicPr>
          <p:nvPr/>
        </p:nvPicPr>
        <p:blipFill>
          <a:blip r:embed="rId1"/>
          <a:stretch>
            <a:fillRect/>
          </a:stretch>
        </p:blipFill>
        <p:spPr>
          <a:xfrm>
            <a:off x="629930" y="1783080"/>
            <a:ext cx="10931835" cy="4270248"/>
          </a:xfrm>
          <a:prstGeom prst="rect">
            <a:avLst/>
          </a:prstGeom>
        </p:spPr>
      </p:pic>
      <p:sp>
        <p:nvSpPr>
          <p:cNvPr id="5" name="Text 2"/>
          <p:cNvSpPr/>
          <p:nvPr/>
        </p:nvSpPr>
        <p:spPr>
          <a:xfrm>
            <a:off x="457200" y="6089904"/>
            <a:ext cx="11277295" cy="347472"/>
          </a:xfrm>
          <a:prstGeom prst="rect">
            <a:avLst/>
          </a:prstGeom>
          <a:noFill/>
          <a:ln/>
        </p:spPr>
        <p:txBody>
          <a:bodyPr wrap="square" lIns="0" tIns="0" rIns="0" bIns="0" rtlCol="0" anchor="ctr"/>
          <a:lstStyle/>
          <a:p>
            <a:pPr algn="ctr" indent="0" marL="0">
              <a:buNone/>
            </a:pPr>
            <a:r>
              <a:rPr lang="en-US" sz="1800" i="1" dirty="0">
                <a:solidFill>
                  <a:srgbClr val="555555"/>
                </a:solidFill>
                <a:latin typeface="Times New Roman" pitchFamily="34" charset="0"/>
                <a:ea typeface="Times New Roman" pitchFamily="34" charset="-122"/>
                <a:cs typeface="Times New Roman" pitchFamily="34" charset="-120"/>
              </a:rPr>
              <a:t>Illustration: the three pillars of sustainable development</a:t>
            </a:r>
            <a:endParaRPr lang="en-US" sz="1800" dirty="0"/>
          </a:p>
        </p:txBody>
      </p:sp>
      <p:sp>
        <p:nvSpPr>
          <p:cNvPr id="25" name="Slide Number Placeholder 0"/>
          <p:cNvSpPr>
            <a:spLocks noGrp="1"/>
          </p:cNvSpPr>
          <p:nvPr>
            <p:ph type="sldNum" sz="quarter" idx="4294967295"/>
          </p:nvPr>
        </p:nvSpPr>
        <p:spPr>
          <a:xfrm>
            <a:off x="27432" y="91440"/>
            <a:ext cx="585216" cy="475488"/>
          </a:xfrm>
          <a:prstGeom prst="rect">
            <a:avLst/>
          </a:prstGeom>
          <a:extLst>
            <a:ext uri="{C572A759-6A51-4108-AA02-DFA0A04FC94B}">
              <ma14:wrappingTextBoxFlag xmlns:ma14="http://schemas.microsoft.com/office/mac/drawingml/2011/main" val="0"/>
            </a:ext>
          </a:extLst>
        </p:spPr>
        <p:txBody>
          <a:bodyPr/>
          <a:lstStyle>
            <a:lvl1pPr>
              <a:defRPr sz="2000">
                <a:solidFill>
                  <a:srgbClr val="FFFFFF"/>
                </a:solidFill>
                <a:latin typeface="Calibri"/>
                <a:ea typeface="Calibri"/>
                <a:cs typeface="Calibri"/>
              </a:defRPr>
            </a:lvl1pPr>
          </a:lstStyle>
          <a:p>
            <a:pPr algn="ctr"/>
            <a:fld id="{F7021451-1387-4CA6-816F-3879F97B5CBC}" type="slidenum">
              <a:rPr b="1" lang="en-US"/>
              <a:t>46</a:t>
            </a:fld>
            <a:endParaRPr lang="en-US"/>
          </a:p>
        </p:txBody>
      </p:sp>
    </p:spTree>
  </p:cSld>
  <p:clrMapOvr>
    <a:masterClrMapping/>
  </p:clrMapOvr>
</p:sld>
</file>

<file path=ppt/slides/slide47.xml><?xml version="1.0" encoding="utf-8"?>
<p:sld xmlns:a="http://schemas.openxmlformats.org/drawingml/2006/main" xmlns:r="http://schemas.openxmlformats.org/officeDocument/2006/relationships" xmlns:p="http://schemas.openxmlformats.org/presentationml/2006/main">
  <p:cSld name="Slide 47">
    <p:spTree>
      <p:nvGrpSpPr>
        <p:cNvPr id="1" name=""/>
        <p:cNvGrpSpPr/>
        <p:nvPr/>
      </p:nvGrpSpPr>
      <p:grpSpPr>
        <a:xfrm>
          <a:off x="0" y="0"/>
          <a:ext cx="0" cy="0"/>
          <a:chOff x="0" y="0"/>
          <a:chExt cx="0" cy="0"/>
        </a:xfrm>
      </p:grpSpPr>
      <p:sp>
        <p:nvSpPr>
          <p:cNvPr id="2" name="Text 0"/>
          <p:cNvSpPr/>
          <p:nvPr/>
        </p:nvSpPr>
        <p:spPr>
          <a:xfrm>
            <a:off x="457200" y="713232"/>
            <a:ext cx="11368735" cy="274320"/>
          </a:xfrm>
          <a:prstGeom prst="rect">
            <a:avLst/>
          </a:prstGeom>
          <a:noFill/>
          <a:ln/>
        </p:spPr>
        <p:txBody>
          <a:bodyPr wrap="square" lIns="0" tIns="0" rIns="0" bIns="0" rtlCol="0" anchor="ctr"/>
          <a:lstStyle/>
          <a:p>
            <a:pPr algn="r" indent="0" marL="0">
              <a:buNone/>
            </a:pPr>
            <a:r>
              <a:rPr lang="en-US" sz="1400" b="1" dirty="0">
                <a:solidFill>
                  <a:srgbClr val="1C3F6E"/>
                </a:solidFill>
                <a:latin typeface="Calibri" pitchFamily="34" charset="0"/>
                <a:ea typeface="Calibri" pitchFamily="34" charset="-122"/>
                <a:cs typeface="Calibri" pitchFamily="34" charset="-120"/>
              </a:rPr>
              <a:t>FORMATIVE EVALUATION</a:t>
            </a:r>
            <a:endParaRPr lang="en-US" sz="1400" dirty="0"/>
          </a:p>
        </p:txBody>
      </p:sp>
      <p:pic>
        <p:nvPicPr>
          <p:cNvPr id="3" name="Image 0" descr="/home/claude/f4/img/minesec_sheet.png">    </p:cNvPr>
          <p:cNvPicPr>
            <a:picLocks noChangeAspect="1"/>
          </p:cNvPicPr>
          <p:nvPr/>
        </p:nvPicPr>
        <p:blipFill>
          <a:blip r:embed="rId1"/>
          <a:stretch>
            <a:fillRect/>
          </a:stretch>
        </p:blipFill>
        <p:spPr>
          <a:xfrm>
            <a:off x="0" y="658368"/>
            <a:ext cx="5120640" cy="5833872"/>
          </a:xfrm>
          <a:prstGeom prst="rect">
            <a:avLst/>
          </a:prstGeom>
        </p:spPr>
      </p:pic>
      <p:sp>
        <p:nvSpPr>
          <p:cNvPr id="4" name="Text 1"/>
          <p:cNvSpPr/>
          <p:nvPr/>
        </p:nvSpPr>
        <p:spPr>
          <a:xfrm>
            <a:off x="5349240" y="1005840"/>
            <a:ext cx="6522415" cy="731520"/>
          </a:xfrm>
          <a:prstGeom prst="rect">
            <a:avLst/>
          </a:prstGeom>
          <a:noFill/>
          <a:ln/>
        </p:spPr>
        <p:txBody>
          <a:bodyPr wrap="square" lIns="0" tIns="0" rIns="0" bIns="0" rtlCol="0" anchor="ctr">
            <a:normAutofit/>
          </a:bodyPr>
          <a:lstStyle/>
          <a:p>
            <a:pPr algn="ctr" indent="0" marL="0">
              <a:buNone/>
            </a:pPr>
            <a:r>
              <a:rPr lang="en-US" sz="3600" b="1" dirty="0">
                <a:solidFill>
                  <a:srgbClr val="990011"/>
                </a:solidFill>
                <a:latin typeface="Times New Roman" pitchFamily="34" charset="0"/>
                <a:ea typeface="Times New Roman" pitchFamily="34" charset="-122"/>
                <a:cs typeface="Times New Roman" pitchFamily="34" charset="-120"/>
              </a:rPr>
              <a:t>Evaluation 1</a:t>
            </a:r>
            <a:endParaRPr lang="en-US" sz="3600" dirty="0"/>
          </a:p>
        </p:txBody>
      </p:sp>
      <p:sp>
        <p:nvSpPr>
          <p:cNvPr id="5" name="Text 2"/>
          <p:cNvSpPr/>
          <p:nvPr/>
        </p:nvSpPr>
        <p:spPr>
          <a:xfrm>
            <a:off x="5349240" y="1783080"/>
            <a:ext cx="6522415" cy="4663440"/>
          </a:xfrm>
          <a:prstGeom prst="rect">
            <a:avLst/>
          </a:prstGeom>
          <a:noFill/>
          <a:ln/>
        </p:spPr>
        <p:txBody>
          <a:bodyPr wrap="square" lIns="0" tIns="0" rIns="0" bIns="0" rtlCol="0" anchor="t"/>
          <a:lstStyle/>
          <a:p>
            <a:pPr algn="l" indent="0" marL="0">
              <a:spcAft>
                <a:spcPts val="800"/>
              </a:spcAft>
              <a:buNone/>
            </a:pPr>
            <a:r>
              <a:rPr lang="en-US" sz="4000" dirty="0">
                <a:solidFill>
                  <a:srgbClr val="111111"/>
                </a:solidFill>
                <a:latin typeface="Times New Roman" pitchFamily="34" charset="0"/>
                <a:ea typeface="Times New Roman" pitchFamily="34" charset="-122"/>
                <a:cs typeface="Times New Roman" pitchFamily="34" charset="-120"/>
              </a:rPr>
              <a:t>Distinguish development and growth.</a:t>
            </a:r>
            <a:endParaRPr lang="en-US" sz="4000" dirty="0"/>
          </a:p>
        </p:txBody>
      </p:sp>
      <p:sp>
        <p:nvSpPr>
          <p:cNvPr id="25" name="Slide Number Placeholder 0"/>
          <p:cNvSpPr>
            <a:spLocks noGrp="1"/>
          </p:cNvSpPr>
          <p:nvPr>
            <p:ph type="sldNum" sz="quarter" idx="4294967295"/>
          </p:nvPr>
        </p:nvSpPr>
        <p:spPr>
          <a:xfrm>
            <a:off x="27432" y="91440"/>
            <a:ext cx="585216" cy="475488"/>
          </a:xfrm>
          <a:prstGeom prst="rect">
            <a:avLst/>
          </a:prstGeom>
          <a:extLst>
            <a:ext uri="{C572A759-6A51-4108-AA02-DFA0A04FC94B}">
              <ma14:wrappingTextBoxFlag xmlns:ma14="http://schemas.microsoft.com/office/mac/drawingml/2011/main" val="0"/>
            </a:ext>
          </a:extLst>
        </p:spPr>
        <p:txBody>
          <a:bodyPr/>
          <a:lstStyle>
            <a:lvl1pPr>
              <a:defRPr sz="2000">
                <a:solidFill>
                  <a:srgbClr val="FFFFFF"/>
                </a:solidFill>
                <a:latin typeface="Calibri"/>
                <a:ea typeface="Calibri"/>
                <a:cs typeface="Calibri"/>
              </a:defRPr>
            </a:lvl1pPr>
          </a:lstStyle>
          <a:p>
            <a:pPr algn="ctr"/>
            <a:fld id="{F7021451-1387-4CA6-816F-3879F97B5CBC}" type="slidenum">
              <a:rPr b="1" lang="en-US"/>
              <a:t>47</a:t>
            </a:fld>
            <a:endParaRPr lang="en-US"/>
          </a:p>
        </p:txBody>
      </p:sp>
    </p:spTree>
  </p:cSld>
  <p:clrMapOvr>
    <a:masterClrMapping/>
  </p:clrMapOvr>
</p:sld>
</file>

<file path=ppt/slides/slide48.xml><?xml version="1.0" encoding="utf-8"?>
<p:sld xmlns:a="http://schemas.openxmlformats.org/drawingml/2006/main" xmlns:r="http://schemas.openxmlformats.org/officeDocument/2006/relationships" xmlns:p="http://schemas.openxmlformats.org/presentationml/2006/main">
  <p:cSld name="Slide 48">
    <p:spTree>
      <p:nvGrpSpPr>
        <p:cNvPr id="1" name=""/>
        <p:cNvGrpSpPr/>
        <p:nvPr/>
      </p:nvGrpSpPr>
      <p:grpSpPr>
        <a:xfrm>
          <a:off x="0" y="0"/>
          <a:ext cx="0" cy="0"/>
          <a:chOff x="0" y="0"/>
          <a:chExt cx="0" cy="0"/>
        </a:xfrm>
      </p:grpSpPr>
      <p:sp>
        <p:nvSpPr>
          <p:cNvPr id="2" name="Text 0"/>
          <p:cNvSpPr/>
          <p:nvPr/>
        </p:nvSpPr>
        <p:spPr>
          <a:xfrm>
            <a:off x="457200" y="713232"/>
            <a:ext cx="11368735" cy="274320"/>
          </a:xfrm>
          <a:prstGeom prst="rect">
            <a:avLst/>
          </a:prstGeom>
          <a:noFill/>
          <a:ln/>
        </p:spPr>
        <p:txBody>
          <a:bodyPr wrap="square" lIns="0" tIns="0" rIns="0" bIns="0" rtlCol="0" anchor="ctr"/>
          <a:lstStyle/>
          <a:p>
            <a:pPr algn="r" indent="0" marL="0">
              <a:buNone/>
            </a:pPr>
            <a:r>
              <a:rPr lang="en-US" sz="1400" b="1" dirty="0">
                <a:solidFill>
                  <a:srgbClr val="1C3F6E"/>
                </a:solidFill>
                <a:latin typeface="Calibri" pitchFamily="34" charset="0"/>
                <a:ea typeface="Calibri" pitchFamily="34" charset="-122"/>
                <a:cs typeface="Calibri" pitchFamily="34" charset="-120"/>
              </a:rPr>
              <a:t>FORMATIVE EVALUATION</a:t>
            </a:r>
            <a:endParaRPr lang="en-US" sz="1400" dirty="0"/>
          </a:p>
        </p:txBody>
      </p:sp>
      <p:pic>
        <p:nvPicPr>
          <p:cNvPr id="3" name="Image 0" descr="/home/claude/f4/img/minesec_sheet.png">    </p:cNvPr>
          <p:cNvPicPr>
            <a:picLocks noChangeAspect="1"/>
          </p:cNvPicPr>
          <p:nvPr/>
        </p:nvPicPr>
        <p:blipFill>
          <a:blip r:embed="rId1"/>
          <a:stretch>
            <a:fillRect/>
          </a:stretch>
        </p:blipFill>
        <p:spPr>
          <a:xfrm>
            <a:off x="0" y="658368"/>
            <a:ext cx="5120640" cy="5833872"/>
          </a:xfrm>
          <a:prstGeom prst="rect">
            <a:avLst/>
          </a:prstGeom>
        </p:spPr>
      </p:pic>
      <p:sp>
        <p:nvSpPr>
          <p:cNvPr id="4" name="Text 1"/>
          <p:cNvSpPr/>
          <p:nvPr/>
        </p:nvSpPr>
        <p:spPr>
          <a:xfrm>
            <a:off x="5349240" y="1005840"/>
            <a:ext cx="6522415" cy="731520"/>
          </a:xfrm>
          <a:prstGeom prst="rect">
            <a:avLst/>
          </a:prstGeom>
          <a:noFill/>
          <a:ln/>
        </p:spPr>
        <p:txBody>
          <a:bodyPr wrap="square" lIns="0" tIns="0" rIns="0" bIns="0" rtlCol="0" anchor="ctr">
            <a:normAutofit/>
          </a:bodyPr>
          <a:lstStyle/>
          <a:p>
            <a:pPr algn="ctr" indent="0" marL="0">
              <a:buNone/>
            </a:pPr>
            <a:r>
              <a:rPr lang="en-US" sz="3600" b="1" dirty="0">
                <a:solidFill>
                  <a:srgbClr val="990011"/>
                </a:solidFill>
                <a:latin typeface="Times New Roman" pitchFamily="34" charset="0"/>
                <a:ea typeface="Times New Roman" pitchFamily="34" charset="-122"/>
                <a:cs typeface="Times New Roman" pitchFamily="34" charset="-120"/>
              </a:rPr>
              <a:t>Expected Answer</a:t>
            </a:r>
            <a:endParaRPr lang="en-US" sz="3600" dirty="0"/>
          </a:p>
        </p:txBody>
      </p:sp>
      <p:sp>
        <p:nvSpPr>
          <p:cNvPr id="5" name="Text 2"/>
          <p:cNvSpPr/>
          <p:nvPr/>
        </p:nvSpPr>
        <p:spPr>
          <a:xfrm>
            <a:off x="5349240" y="1783080"/>
            <a:ext cx="6522415" cy="4663440"/>
          </a:xfrm>
          <a:prstGeom prst="rect">
            <a:avLst/>
          </a:prstGeom>
          <a:noFill/>
          <a:ln/>
        </p:spPr>
        <p:txBody>
          <a:bodyPr wrap="square" lIns="0" tIns="0" rIns="0" bIns="0" rtlCol="0" anchor="t"/>
          <a:lstStyle/>
          <a:p>
            <a:pPr algn="l" indent="0" marL="0">
              <a:spcAft>
                <a:spcPts val="800"/>
              </a:spcAft>
              <a:buNone/>
            </a:pPr>
            <a:r>
              <a:rPr lang="en-US" sz="4000" dirty="0">
                <a:solidFill>
                  <a:srgbClr val="111111"/>
                </a:solidFill>
                <a:latin typeface="Times New Roman" pitchFamily="34" charset="0"/>
                <a:ea typeface="Times New Roman" pitchFamily="34" charset="-122"/>
                <a:cs typeface="Times New Roman" pitchFamily="34" charset="-120"/>
              </a:rPr>
              <a:t>Growth is more output; development is a better life for people.</a:t>
            </a:r>
            <a:endParaRPr lang="en-US" sz="4000" dirty="0"/>
          </a:p>
        </p:txBody>
      </p:sp>
      <p:sp>
        <p:nvSpPr>
          <p:cNvPr id="25" name="Slide Number Placeholder 0"/>
          <p:cNvSpPr>
            <a:spLocks noGrp="1"/>
          </p:cNvSpPr>
          <p:nvPr>
            <p:ph type="sldNum" sz="quarter" idx="4294967295"/>
          </p:nvPr>
        </p:nvSpPr>
        <p:spPr>
          <a:xfrm>
            <a:off x="27432" y="91440"/>
            <a:ext cx="585216" cy="475488"/>
          </a:xfrm>
          <a:prstGeom prst="rect">
            <a:avLst/>
          </a:prstGeom>
          <a:extLst>
            <a:ext uri="{C572A759-6A51-4108-AA02-DFA0A04FC94B}">
              <ma14:wrappingTextBoxFlag xmlns:ma14="http://schemas.microsoft.com/office/mac/drawingml/2011/main" val="0"/>
            </a:ext>
          </a:extLst>
        </p:spPr>
        <p:txBody>
          <a:bodyPr/>
          <a:lstStyle>
            <a:lvl1pPr>
              <a:defRPr sz="2000">
                <a:solidFill>
                  <a:srgbClr val="FFFFFF"/>
                </a:solidFill>
                <a:latin typeface="Calibri"/>
                <a:ea typeface="Calibri"/>
                <a:cs typeface="Calibri"/>
              </a:defRPr>
            </a:lvl1pPr>
          </a:lstStyle>
          <a:p>
            <a:pPr algn="ctr"/>
            <a:fld id="{F7021451-1387-4CA6-816F-3879F97B5CBC}" type="slidenum">
              <a:rPr b="1" lang="en-US"/>
              <a:t>48</a:t>
            </a:fld>
            <a:endParaRPr lang="en-US"/>
          </a:p>
        </p:txBody>
      </p:sp>
    </p:spTree>
  </p:cSld>
  <p:clrMapOvr>
    <a:masterClrMapping/>
  </p:clrMapOvr>
</p:sld>
</file>

<file path=ppt/slides/slide49.xml><?xml version="1.0" encoding="utf-8"?>
<p:sld xmlns:a="http://schemas.openxmlformats.org/drawingml/2006/main" xmlns:r="http://schemas.openxmlformats.org/officeDocument/2006/relationships" xmlns:p="http://schemas.openxmlformats.org/presentationml/2006/main">
  <p:cSld name="Slide 49">
    <p:spTree>
      <p:nvGrpSpPr>
        <p:cNvPr id="1" name=""/>
        <p:cNvGrpSpPr/>
        <p:nvPr/>
      </p:nvGrpSpPr>
      <p:grpSpPr>
        <a:xfrm>
          <a:off x="0" y="0"/>
          <a:ext cx="0" cy="0"/>
          <a:chOff x="0" y="0"/>
          <a:chExt cx="0" cy="0"/>
        </a:xfrm>
      </p:grpSpPr>
      <p:sp>
        <p:nvSpPr>
          <p:cNvPr id="2" name="Text 0"/>
          <p:cNvSpPr/>
          <p:nvPr/>
        </p:nvSpPr>
        <p:spPr>
          <a:xfrm>
            <a:off x="457200" y="713232"/>
            <a:ext cx="11368735" cy="274320"/>
          </a:xfrm>
          <a:prstGeom prst="rect">
            <a:avLst/>
          </a:prstGeom>
          <a:noFill/>
          <a:ln/>
        </p:spPr>
        <p:txBody>
          <a:bodyPr wrap="square" lIns="0" tIns="0" rIns="0" bIns="0" rtlCol="0" anchor="ctr"/>
          <a:lstStyle/>
          <a:p>
            <a:pPr algn="r" indent="0" marL="0">
              <a:buNone/>
            </a:pPr>
            <a:r>
              <a:rPr lang="en-US" sz="1400" b="1" dirty="0">
                <a:solidFill>
                  <a:srgbClr val="1C3F6E"/>
                </a:solidFill>
                <a:latin typeface="Calibri" pitchFamily="34" charset="0"/>
                <a:ea typeface="Calibri" pitchFamily="34" charset="-122"/>
                <a:cs typeface="Calibri" pitchFamily="34" charset="-120"/>
              </a:rPr>
              <a:t>FORMATIVE EVALUATION</a:t>
            </a:r>
            <a:endParaRPr lang="en-US" sz="1400" dirty="0"/>
          </a:p>
        </p:txBody>
      </p:sp>
      <p:pic>
        <p:nvPicPr>
          <p:cNvPr id="3" name="Image 0" descr="/home/claude/f4/img/minesec_sheet.png">    </p:cNvPr>
          <p:cNvPicPr>
            <a:picLocks noChangeAspect="1"/>
          </p:cNvPicPr>
          <p:nvPr/>
        </p:nvPicPr>
        <p:blipFill>
          <a:blip r:embed="rId1"/>
          <a:stretch>
            <a:fillRect/>
          </a:stretch>
        </p:blipFill>
        <p:spPr>
          <a:xfrm>
            <a:off x="0" y="658368"/>
            <a:ext cx="5120640" cy="5833872"/>
          </a:xfrm>
          <a:prstGeom prst="rect">
            <a:avLst/>
          </a:prstGeom>
        </p:spPr>
      </p:pic>
      <p:sp>
        <p:nvSpPr>
          <p:cNvPr id="4" name="Text 1"/>
          <p:cNvSpPr/>
          <p:nvPr/>
        </p:nvSpPr>
        <p:spPr>
          <a:xfrm>
            <a:off x="5349240" y="1005840"/>
            <a:ext cx="6522415" cy="731520"/>
          </a:xfrm>
          <a:prstGeom prst="rect">
            <a:avLst/>
          </a:prstGeom>
          <a:noFill/>
          <a:ln/>
        </p:spPr>
        <p:txBody>
          <a:bodyPr wrap="square" lIns="0" tIns="0" rIns="0" bIns="0" rtlCol="0" anchor="ctr">
            <a:normAutofit/>
          </a:bodyPr>
          <a:lstStyle/>
          <a:p>
            <a:pPr algn="ctr" indent="0" marL="0">
              <a:buNone/>
            </a:pPr>
            <a:r>
              <a:rPr lang="en-US" sz="3600" b="1" dirty="0">
                <a:solidFill>
                  <a:srgbClr val="990011"/>
                </a:solidFill>
                <a:latin typeface="Times New Roman" pitchFamily="34" charset="0"/>
                <a:ea typeface="Times New Roman" pitchFamily="34" charset="-122"/>
                <a:cs typeface="Times New Roman" pitchFamily="34" charset="-120"/>
              </a:rPr>
              <a:t>Evaluation 2</a:t>
            </a:r>
            <a:endParaRPr lang="en-US" sz="3600" dirty="0"/>
          </a:p>
        </p:txBody>
      </p:sp>
      <p:sp>
        <p:nvSpPr>
          <p:cNvPr id="5" name="Text 2"/>
          <p:cNvSpPr/>
          <p:nvPr/>
        </p:nvSpPr>
        <p:spPr>
          <a:xfrm>
            <a:off x="5349240" y="1783080"/>
            <a:ext cx="6522415" cy="4663440"/>
          </a:xfrm>
          <a:prstGeom prst="rect">
            <a:avLst/>
          </a:prstGeom>
          <a:noFill/>
          <a:ln/>
        </p:spPr>
        <p:txBody>
          <a:bodyPr wrap="square" lIns="0" tIns="0" rIns="0" bIns="0" rtlCol="0" anchor="t"/>
          <a:lstStyle/>
          <a:p>
            <a:pPr algn="l" indent="0" marL="0">
              <a:spcAft>
                <a:spcPts val="800"/>
              </a:spcAft>
              <a:buNone/>
            </a:pPr>
            <a:r>
              <a:rPr lang="en-US" sz="4000" dirty="0">
                <a:solidFill>
                  <a:srgbClr val="111111"/>
                </a:solidFill>
                <a:latin typeface="Times New Roman" pitchFamily="34" charset="0"/>
                <a:ea typeface="Times New Roman" pitchFamily="34" charset="-122"/>
                <a:cs typeface="Times New Roman" pitchFamily="34" charset="-120"/>
              </a:rPr>
              <a:t>Give three components of the HDI.</a:t>
            </a:r>
            <a:endParaRPr lang="en-US" sz="4000" dirty="0"/>
          </a:p>
        </p:txBody>
      </p:sp>
      <p:sp>
        <p:nvSpPr>
          <p:cNvPr id="25" name="Slide Number Placeholder 0"/>
          <p:cNvSpPr>
            <a:spLocks noGrp="1"/>
          </p:cNvSpPr>
          <p:nvPr>
            <p:ph type="sldNum" sz="quarter" idx="4294967295"/>
          </p:nvPr>
        </p:nvSpPr>
        <p:spPr>
          <a:xfrm>
            <a:off x="27432" y="91440"/>
            <a:ext cx="585216" cy="475488"/>
          </a:xfrm>
          <a:prstGeom prst="rect">
            <a:avLst/>
          </a:prstGeom>
          <a:extLst>
            <a:ext uri="{C572A759-6A51-4108-AA02-DFA0A04FC94B}">
              <ma14:wrappingTextBoxFlag xmlns:ma14="http://schemas.microsoft.com/office/mac/drawingml/2011/main" val="0"/>
            </a:ext>
          </a:extLst>
        </p:spPr>
        <p:txBody>
          <a:bodyPr/>
          <a:lstStyle>
            <a:lvl1pPr>
              <a:defRPr sz="2000">
                <a:solidFill>
                  <a:srgbClr val="FFFFFF"/>
                </a:solidFill>
                <a:latin typeface="Calibri"/>
                <a:ea typeface="Calibri"/>
                <a:cs typeface="Calibri"/>
              </a:defRPr>
            </a:lvl1pPr>
          </a:lstStyle>
          <a:p>
            <a:pPr algn="ctr"/>
            <a:fld id="{F7021451-1387-4CA6-816F-3879F97B5CBC}" type="slidenum">
              <a:rPr b="1" lang="en-US"/>
              <a:t>49</a:t>
            </a:fld>
            <a:endParaRPr lang="en-US"/>
          </a:p>
        </p:txBody>
      </p:sp>
    </p:spTree>
  </p:cSld>
  <p:clrMapOvr>
    <a:masterClrMapping/>
  </p:clrMapOvr>
</p:sld>
</file>

<file path=ppt/slides/slide50.xml><?xml version="1.0" encoding="utf-8"?>
<p:sld xmlns:a="http://schemas.openxmlformats.org/drawingml/2006/main" xmlns:r="http://schemas.openxmlformats.org/officeDocument/2006/relationships" xmlns:p="http://schemas.openxmlformats.org/presentationml/2006/main">
  <p:cSld name="Slide 50">
    <p:spTree>
      <p:nvGrpSpPr>
        <p:cNvPr id="1" name=""/>
        <p:cNvGrpSpPr/>
        <p:nvPr/>
      </p:nvGrpSpPr>
      <p:grpSpPr>
        <a:xfrm>
          <a:off x="0" y="0"/>
          <a:ext cx="0" cy="0"/>
          <a:chOff x="0" y="0"/>
          <a:chExt cx="0" cy="0"/>
        </a:xfrm>
      </p:grpSpPr>
      <p:sp>
        <p:nvSpPr>
          <p:cNvPr id="2" name="Text 0"/>
          <p:cNvSpPr/>
          <p:nvPr/>
        </p:nvSpPr>
        <p:spPr>
          <a:xfrm>
            <a:off x="457200" y="713232"/>
            <a:ext cx="11368735" cy="274320"/>
          </a:xfrm>
          <a:prstGeom prst="rect">
            <a:avLst/>
          </a:prstGeom>
          <a:noFill/>
          <a:ln/>
        </p:spPr>
        <p:txBody>
          <a:bodyPr wrap="square" lIns="0" tIns="0" rIns="0" bIns="0" rtlCol="0" anchor="ctr"/>
          <a:lstStyle/>
          <a:p>
            <a:pPr algn="r" indent="0" marL="0">
              <a:buNone/>
            </a:pPr>
            <a:r>
              <a:rPr lang="en-US" sz="1400" b="1" dirty="0">
                <a:solidFill>
                  <a:srgbClr val="1C3F6E"/>
                </a:solidFill>
                <a:latin typeface="Calibri" pitchFamily="34" charset="0"/>
                <a:ea typeface="Calibri" pitchFamily="34" charset="-122"/>
                <a:cs typeface="Calibri" pitchFamily="34" charset="-120"/>
              </a:rPr>
              <a:t>FORMATIVE EVALUATION</a:t>
            </a:r>
            <a:endParaRPr lang="en-US" sz="1400" dirty="0"/>
          </a:p>
        </p:txBody>
      </p:sp>
      <p:pic>
        <p:nvPicPr>
          <p:cNvPr id="3" name="Image 0" descr="/home/claude/f4/img/minesec_sheet.png">    </p:cNvPr>
          <p:cNvPicPr>
            <a:picLocks noChangeAspect="1"/>
          </p:cNvPicPr>
          <p:nvPr/>
        </p:nvPicPr>
        <p:blipFill>
          <a:blip r:embed="rId1"/>
          <a:stretch>
            <a:fillRect/>
          </a:stretch>
        </p:blipFill>
        <p:spPr>
          <a:xfrm>
            <a:off x="0" y="658368"/>
            <a:ext cx="5120640" cy="5833872"/>
          </a:xfrm>
          <a:prstGeom prst="rect">
            <a:avLst/>
          </a:prstGeom>
        </p:spPr>
      </p:pic>
      <p:sp>
        <p:nvSpPr>
          <p:cNvPr id="4" name="Text 1"/>
          <p:cNvSpPr/>
          <p:nvPr/>
        </p:nvSpPr>
        <p:spPr>
          <a:xfrm>
            <a:off x="5349240" y="1005840"/>
            <a:ext cx="6522415" cy="731520"/>
          </a:xfrm>
          <a:prstGeom prst="rect">
            <a:avLst/>
          </a:prstGeom>
          <a:noFill/>
          <a:ln/>
        </p:spPr>
        <p:txBody>
          <a:bodyPr wrap="square" lIns="0" tIns="0" rIns="0" bIns="0" rtlCol="0" anchor="ctr">
            <a:normAutofit/>
          </a:bodyPr>
          <a:lstStyle/>
          <a:p>
            <a:pPr algn="ctr" indent="0" marL="0">
              <a:buNone/>
            </a:pPr>
            <a:r>
              <a:rPr lang="en-US" sz="3600" b="1" dirty="0">
                <a:solidFill>
                  <a:srgbClr val="990011"/>
                </a:solidFill>
                <a:latin typeface="Times New Roman" pitchFamily="34" charset="0"/>
                <a:ea typeface="Times New Roman" pitchFamily="34" charset="-122"/>
                <a:cs typeface="Times New Roman" pitchFamily="34" charset="-120"/>
              </a:rPr>
              <a:t>Expected Answer</a:t>
            </a:r>
            <a:endParaRPr lang="en-US" sz="3600" dirty="0"/>
          </a:p>
        </p:txBody>
      </p:sp>
      <p:sp>
        <p:nvSpPr>
          <p:cNvPr id="5" name="Text 2"/>
          <p:cNvSpPr/>
          <p:nvPr/>
        </p:nvSpPr>
        <p:spPr>
          <a:xfrm>
            <a:off x="5349240" y="1783080"/>
            <a:ext cx="6522415" cy="4663440"/>
          </a:xfrm>
          <a:prstGeom prst="rect">
            <a:avLst/>
          </a:prstGeom>
          <a:noFill/>
          <a:ln/>
        </p:spPr>
        <p:txBody>
          <a:bodyPr wrap="square" lIns="0" tIns="0" rIns="0" bIns="0" rtlCol="0" anchor="t"/>
          <a:lstStyle/>
          <a:p>
            <a:pPr algn="l" indent="0" marL="0">
              <a:spcAft>
                <a:spcPts val="800"/>
              </a:spcAft>
              <a:buNone/>
            </a:pPr>
            <a:r>
              <a:rPr lang="en-US" sz="4000" dirty="0">
                <a:solidFill>
                  <a:srgbClr val="111111"/>
                </a:solidFill>
                <a:latin typeface="Times New Roman" pitchFamily="34" charset="0"/>
                <a:ea typeface="Times New Roman" pitchFamily="34" charset="-122"/>
                <a:cs typeface="Times New Roman" pitchFamily="34" charset="-120"/>
              </a:rPr>
              <a:t>Income, life expectancy and education.</a:t>
            </a:r>
            <a:endParaRPr lang="en-US" sz="4000" dirty="0"/>
          </a:p>
        </p:txBody>
      </p:sp>
      <p:sp>
        <p:nvSpPr>
          <p:cNvPr id="25" name="Slide Number Placeholder 0"/>
          <p:cNvSpPr>
            <a:spLocks noGrp="1"/>
          </p:cNvSpPr>
          <p:nvPr>
            <p:ph type="sldNum" sz="quarter" idx="4294967295"/>
          </p:nvPr>
        </p:nvSpPr>
        <p:spPr>
          <a:xfrm>
            <a:off x="27432" y="91440"/>
            <a:ext cx="585216" cy="475488"/>
          </a:xfrm>
          <a:prstGeom prst="rect">
            <a:avLst/>
          </a:prstGeom>
          <a:extLst>
            <a:ext uri="{C572A759-6A51-4108-AA02-DFA0A04FC94B}">
              <ma14:wrappingTextBoxFlag xmlns:ma14="http://schemas.microsoft.com/office/mac/drawingml/2011/main" val="0"/>
            </a:ext>
          </a:extLst>
        </p:spPr>
        <p:txBody>
          <a:bodyPr/>
          <a:lstStyle>
            <a:lvl1pPr>
              <a:defRPr sz="2000">
                <a:solidFill>
                  <a:srgbClr val="FFFFFF"/>
                </a:solidFill>
                <a:latin typeface="Calibri"/>
                <a:ea typeface="Calibri"/>
                <a:cs typeface="Calibri"/>
              </a:defRPr>
            </a:lvl1pPr>
          </a:lstStyle>
          <a:p>
            <a:pPr algn="ctr"/>
            <a:fld id="{F7021451-1387-4CA6-816F-3879F97B5CBC}" type="slidenum">
              <a:rPr b="1" lang="en-US"/>
              <a:t>50</a:t>
            </a:fld>
            <a:endParaRPr lang="en-US"/>
          </a:p>
        </p:txBody>
      </p:sp>
    </p:spTree>
  </p:cSld>
  <p:clrMapOvr>
    <a:masterClrMapping/>
  </p:clrMapOvr>
</p:sld>
</file>

<file path=ppt/slides/slide51.xml><?xml version="1.0" encoding="utf-8"?>
<p:sld xmlns:a="http://schemas.openxmlformats.org/drawingml/2006/main" xmlns:r="http://schemas.openxmlformats.org/officeDocument/2006/relationships" xmlns:p="http://schemas.openxmlformats.org/presentationml/2006/main">
  <p:cSld name="Slide 51">
    <p:spTree>
      <p:nvGrpSpPr>
        <p:cNvPr id="1" name=""/>
        <p:cNvGrpSpPr/>
        <p:nvPr/>
      </p:nvGrpSpPr>
      <p:grpSpPr>
        <a:xfrm>
          <a:off x="0" y="0"/>
          <a:ext cx="0" cy="0"/>
          <a:chOff x="0" y="0"/>
          <a:chExt cx="0" cy="0"/>
        </a:xfrm>
      </p:grpSpPr>
      <p:sp>
        <p:nvSpPr>
          <p:cNvPr id="2" name="Text 0"/>
          <p:cNvSpPr/>
          <p:nvPr/>
        </p:nvSpPr>
        <p:spPr>
          <a:xfrm>
            <a:off x="457200" y="713232"/>
            <a:ext cx="11368735" cy="274320"/>
          </a:xfrm>
          <a:prstGeom prst="rect">
            <a:avLst/>
          </a:prstGeom>
          <a:noFill/>
          <a:ln/>
        </p:spPr>
        <p:txBody>
          <a:bodyPr wrap="square" lIns="0" tIns="0" rIns="0" bIns="0" rtlCol="0" anchor="ctr"/>
          <a:lstStyle/>
          <a:p>
            <a:pPr algn="r" indent="0" marL="0">
              <a:buNone/>
            </a:pPr>
            <a:r>
              <a:rPr lang="en-US" sz="1400" b="1" dirty="0">
                <a:solidFill>
                  <a:srgbClr val="1C3F6E"/>
                </a:solidFill>
                <a:latin typeface="Calibri" pitchFamily="34" charset="0"/>
                <a:ea typeface="Calibri" pitchFamily="34" charset="-122"/>
                <a:cs typeface="Calibri" pitchFamily="34" charset="-120"/>
              </a:rPr>
              <a:t>REMEDIATION</a:t>
            </a:r>
            <a:endParaRPr lang="en-US" sz="1400" dirty="0"/>
          </a:p>
        </p:txBody>
      </p:sp>
      <p:pic>
        <p:nvPicPr>
          <p:cNvPr id="3" name="Image 0" descr="/home/claude/f4/img/minesec_sheet.png">    </p:cNvPr>
          <p:cNvPicPr>
            <a:picLocks noChangeAspect="1"/>
          </p:cNvPicPr>
          <p:nvPr/>
        </p:nvPicPr>
        <p:blipFill>
          <a:blip r:embed="rId1"/>
          <a:stretch>
            <a:fillRect/>
          </a:stretch>
        </p:blipFill>
        <p:spPr>
          <a:xfrm>
            <a:off x="0" y="658368"/>
            <a:ext cx="3840480" cy="5833872"/>
          </a:xfrm>
          <a:prstGeom prst="rect">
            <a:avLst/>
          </a:prstGeom>
        </p:spPr>
      </p:pic>
      <p:sp>
        <p:nvSpPr>
          <p:cNvPr id="4" name="Text 1"/>
          <p:cNvSpPr/>
          <p:nvPr/>
        </p:nvSpPr>
        <p:spPr>
          <a:xfrm>
            <a:off x="4069080" y="1005840"/>
            <a:ext cx="7802575" cy="731520"/>
          </a:xfrm>
          <a:prstGeom prst="rect">
            <a:avLst/>
          </a:prstGeom>
          <a:noFill/>
          <a:ln/>
        </p:spPr>
        <p:txBody>
          <a:bodyPr wrap="square" lIns="0" tIns="0" rIns="0" bIns="0" rtlCol="0" anchor="ctr">
            <a:normAutofit/>
          </a:bodyPr>
          <a:lstStyle/>
          <a:p>
            <a:pPr algn="ctr" indent="0" marL="0">
              <a:buNone/>
            </a:pPr>
            <a:r>
              <a:rPr lang="en-US" sz="3600" b="1" dirty="0">
                <a:solidFill>
                  <a:srgbClr val="990011"/>
                </a:solidFill>
                <a:latin typeface="Times New Roman" pitchFamily="34" charset="0"/>
                <a:ea typeface="Times New Roman" pitchFamily="34" charset="-122"/>
                <a:cs typeface="Times New Roman" pitchFamily="34" charset="-120"/>
              </a:rPr>
              <a:t>Remediation</a:t>
            </a:r>
            <a:endParaRPr lang="en-US" sz="3600" dirty="0"/>
          </a:p>
        </p:txBody>
      </p:sp>
      <p:sp>
        <p:nvSpPr>
          <p:cNvPr id="5" name="Text 2"/>
          <p:cNvSpPr/>
          <p:nvPr/>
        </p:nvSpPr>
        <p:spPr>
          <a:xfrm>
            <a:off x="4069080" y="1783080"/>
            <a:ext cx="7802575" cy="4663440"/>
          </a:xfrm>
          <a:prstGeom prst="rect">
            <a:avLst/>
          </a:prstGeom>
          <a:noFill/>
          <a:ln/>
        </p:spPr>
        <p:txBody>
          <a:bodyPr wrap="square" lIns="0" tIns="0" rIns="0" bIns="0" rtlCol="0" anchor="t"/>
          <a:lstStyle/>
          <a:p>
            <a:pPr algn="l" indent="0" marL="0">
              <a:spcAft>
                <a:spcPts val="800"/>
              </a:spcAft>
              <a:buNone/>
            </a:pPr>
            <a:r>
              <a:rPr lang="en-US" sz="4000" b="1" dirty="0">
                <a:solidFill>
                  <a:srgbClr val="111111"/>
                </a:solidFill>
                <a:latin typeface="Times New Roman" pitchFamily="34" charset="0"/>
                <a:ea typeface="Times New Roman" pitchFamily="34" charset="-122"/>
                <a:cs typeface="Times New Roman" pitchFamily="34" charset="-120"/>
              </a:rPr>
              <a:t>Fill in the blanks:</a:t>
            </a:r>
            <a:endParaRPr lang="en-US" sz="4000" dirty="0"/>
          </a:p>
          <a:p>
            <a:pPr algn="l" marL="342900" indent="-342900">
              <a:spcAft>
                <a:spcPts val="800"/>
              </a:spcAft>
              <a:buSzPct val="100000"/>
              <a:buFont typeface="+mj-lt"/>
              <a:buAutoNum type="arabicPeriod" startAt="1"/>
            </a:pPr>
            <a:r>
              <a:rPr lang="en-US" sz="4000" dirty="0">
                <a:solidFill>
                  <a:srgbClr val="111111"/>
                </a:solidFill>
                <a:latin typeface="Times New Roman" pitchFamily="34" charset="0"/>
                <a:ea typeface="Times New Roman" pitchFamily="34" charset="-122"/>
                <a:cs typeface="Times New Roman" pitchFamily="34" charset="-120"/>
              </a:rPr>
              <a:t>An index of income, health and education is the ______.</a:t>
            </a:r>
            <a:endParaRPr lang="en-US" sz="4000" dirty="0"/>
          </a:p>
          <a:p>
            <a:pPr algn="l" marL="342900" indent="-342900">
              <a:spcAft>
                <a:spcPts val="800"/>
              </a:spcAft>
              <a:buSzPct val="100000"/>
              <a:buFont typeface="+mj-lt"/>
              <a:buAutoNum type="arabicPeriod" startAt="1"/>
            </a:pPr>
            <a:r>
              <a:rPr lang="en-US" sz="4000" dirty="0">
                <a:solidFill>
                  <a:srgbClr val="111111"/>
                </a:solidFill>
                <a:latin typeface="Times New Roman" pitchFamily="34" charset="0"/>
                <a:ea typeface="Times New Roman" pitchFamily="34" charset="-122"/>
                <a:cs typeface="Times New Roman" pitchFamily="34" charset="-120"/>
              </a:rPr>
              <a:t>Cameroon has a ______ HDI.</a:t>
            </a:r>
            <a:endParaRPr lang="en-US" sz="4000" dirty="0"/>
          </a:p>
          <a:p>
            <a:pPr algn="l" marL="342900" indent="-342900">
              <a:spcAft>
                <a:spcPts val="800"/>
              </a:spcAft>
              <a:buSzPct val="100000"/>
              <a:buFont typeface="+mj-lt"/>
              <a:buAutoNum type="arabicPeriod" startAt="1"/>
            </a:pPr>
            <a:r>
              <a:rPr lang="en-US" sz="4000" dirty="0">
                <a:solidFill>
                  <a:srgbClr val="111111"/>
                </a:solidFill>
                <a:latin typeface="Times New Roman" pitchFamily="34" charset="0"/>
                <a:ea typeface="Times New Roman" pitchFamily="34" charset="-122"/>
                <a:cs typeface="Times New Roman" pitchFamily="34" charset="-120"/>
              </a:rPr>
              <a:t>Development that protects future generations is ______.</a:t>
            </a:r>
            <a:endParaRPr lang="en-US" sz="4000" dirty="0"/>
          </a:p>
        </p:txBody>
      </p:sp>
      <p:sp>
        <p:nvSpPr>
          <p:cNvPr id="25" name="Slide Number Placeholder 0"/>
          <p:cNvSpPr>
            <a:spLocks noGrp="1"/>
          </p:cNvSpPr>
          <p:nvPr>
            <p:ph type="sldNum" sz="quarter" idx="4294967295"/>
          </p:nvPr>
        </p:nvSpPr>
        <p:spPr>
          <a:xfrm>
            <a:off x="27432" y="91440"/>
            <a:ext cx="585216" cy="475488"/>
          </a:xfrm>
          <a:prstGeom prst="rect">
            <a:avLst/>
          </a:prstGeom>
          <a:extLst>
            <a:ext uri="{C572A759-6A51-4108-AA02-DFA0A04FC94B}">
              <ma14:wrappingTextBoxFlag xmlns:ma14="http://schemas.microsoft.com/office/mac/drawingml/2011/main" val="0"/>
            </a:ext>
          </a:extLst>
        </p:spPr>
        <p:txBody>
          <a:bodyPr/>
          <a:lstStyle>
            <a:lvl1pPr>
              <a:defRPr sz="2000">
                <a:solidFill>
                  <a:srgbClr val="FFFFFF"/>
                </a:solidFill>
                <a:latin typeface="Calibri"/>
                <a:ea typeface="Calibri"/>
                <a:cs typeface="Calibri"/>
              </a:defRPr>
            </a:lvl1pPr>
          </a:lstStyle>
          <a:p>
            <a:pPr algn="ctr"/>
            <a:fld id="{F7021451-1387-4CA6-816F-3879F97B5CBC}" type="slidenum">
              <a:rPr b="1" lang="en-US"/>
              <a:t>51</a:t>
            </a:fld>
            <a:endParaRPr lang="en-US"/>
          </a:p>
        </p:txBody>
      </p:sp>
    </p:spTree>
  </p:cSld>
  <p:clrMapOvr>
    <a:masterClrMapping/>
  </p:clrMapOvr>
</p:sld>
</file>

<file path=ppt/slides/slide52.xml><?xml version="1.0" encoding="utf-8"?>
<p:sld xmlns:a="http://schemas.openxmlformats.org/drawingml/2006/main" xmlns:r="http://schemas.openxmlformats.org/officeDocument/2006/relationships" xmlns:p="http://schemas.openxmlformats.org/presentationml/2006/main">
  <p:cSld name="Slide 52">
    <p:spTree>
      <p:nvGrpSpPr>
        <p:cNvPr id="1" name=""/>
        <p:cNvGrpSpPr/>
        <p:nvPr/>
      </p:nvGrpSpPr>
      <p:grpSpPr>
        <a:xfrm>
          <a:off x="0" y="0"/>
          <a:ext cx="0" cy="0"/>
          <a:chOff x="0" y="0"/>
          <a:chExt cx="0" cy="0"/>
        </a:xfrm>
      </p:grpSpPr>
      <p:sp>
        <p:nvSpPr>
          <p:cNvPr id="2" name="Text 0"/>
          <p:cNvSpPr/>
          <p:nvPr/>
        </p:nvSpPr>
        <p:spPr>
          <a:xfrm>
            <a:off x="457200" y="713232"/>
            <a:ext cx="11368735" cy="274320"/>
          </a:xfrm>
          <a:prstGeom prst="rect">
            <a:avLst/>
          </a:prstGeom>
          <a:noFill/>
          <a:ln/>
        </p:spPr>
        <p:txBody>
          <a:bodyPr wrap="square" lIns="0" tIns="0" rIns="0" bIns="0" rtlCol="0" anchor="ctr"/>
          <a:lstStyle/>
          <a:p>
            <a:pPr algn="r" indent="0" marL="0">
              <a:buNone/>
            </a:pPr>
            <a:r>
              <a:rPr lang="en-US" sz="1400" b="1" dirty="0">
                <a:solidFill>
                  <a:srgbClr val="1C3F6E"/>
                </a:solidFill>
                <a:latin typeface="Calibri" pitchFamily="34" charset="0"/>
                <a:ea typeface="Calibri" pitchFamily="34" charset="-122"/>
                <a:cs typeface="Calibri" pitchFamily="34" charset="-120"/>
              </a:rPr>
              <a:t>HOMEWORK</a:t>
            </a:r>
            <a:endParaRPr lang="en-US" sz="1400" dirty="0"/>
          </a:p>
        </p:txBody>
      </p:sp>
      <p:pic>
        <p:nvPicPr>
          <p:cNvPr id="3" name="Image 0" descr="/home/claude/f4/img/minesec_sheet.png">    </p:cNvPr>
          <p:cNvPicPr>
            <a:picLocks noChangeAspect="1"/>
          </p:cNvPicPr>
          <p:nvPr/>
        </p:nvPicPr>
        <p:blipFill>
          <a:blip r:embed="rId1"/>
          <a:stretch>
            <a:fillRect/>
          </a:stretch>
        </p:blipFill>
        <p:spPr>
          <a:xfrm>
            <a:off x="0" y="658368"/>
            <a:ext cx="5120640" cy="5833872"/>
          </a:xfrm>
          <a:prstGeom prst="rect">
            <a:avLst/>
          </a:prstGeom>
        </p:spPr>
      </p:pic>
      <p:sp>
        <p:nvSpPr>
          <p:cNvPr id="4" name="Text 1"/>
          <p:cNvSpPr/>
          <p:nvPr/>
        </p:nvSpPr>
        <p:spPr>
          <a:xfrm>
            <a:off x="5349240" y="1005840"/>
            <a:ext cx="6522415" cy="731520"/>
          </a:xfrm>
          <a:prstGeom prst="rect">
            <a:avLst/>
          </a:prstGeom>
          <a:noFill/>
          <a:ln/>
        </p:spPr>
        <p:txBody>
          <a:bodyPr wrap="square" lIns="0" tIns="0" rIns="0" bIns="0" rtlCol="0" anchor="ctr">
            <a:normAutofit/>
          </a:bodyPr>
          <a:lstStyle/>
          <a:p>
            <a:pPr algn="ctr" indent="0" marL="0">
              <a:buNone/>
            </a:pPr>
            <a:r>
              <a:rPr lang="en-US" sz="3600" b="1" dirty="0">
                <a:solidFill>
                  <a:srgbClr val="990011"/>
                </a:solidFill>
                <a:latin typeface="Times New Roman" pitchFamily="34" charset="0"/>
                <a:ea typeface="Times New Roman" pitchFamily="34" charset="-122"/>
                <a:cs typeface="Times New Roman" pitchFamily="34" charset="-120"/>
              </a:rPr>
              <a:t>Homework</a:t>
            </a:r>
            <a:endParaRPr lang="en-US" sz="3600" dirty="0"/>
          </a:p>
        </p:txBody>
      </p:sp>
      <p:sp>
        <p:nvSpPr>
          <p:cNvPr id="5" name="Text 2"/>
          <p:cNvSpPr/>
          <p:nvPr/>
        </p:nvSpPr>
        <p:spPr>
          <a:xfrm>
            <a:off x="5349240" y="1783080"/>
            <a:ext cx="6522415" cy="4663440"/>
          </a:xfrm>
          <a:prstGeom prst="rect">
            <a:avLst/>
          </a:prstGeom>
          <a:noFill/>
          <a:ln/>
        </p:spPr>
        <p:txBody>
          <a:bodyPr wrap="square" lIns="0" tIns="0" rIns="0" bIns="0" rtlCol="0" anchor="t"/>
          <a:lstStyle/>
          <a:p>
            <a:pPr algn="l" indent="0" marL="0">
              <a:spcAft>
                <a:spcPts val="800"/>
              </a:spcAft>
              <a:buNone/>
            </a:pPr>
            <a:r>
              <a:rPr lang="en-US" sz="4000" dirty="0">
                <a:solidFill>
                  <a:srgbClr val="111111"/>
                </a:solidFill>
                <a:latin typeface="Times New Roman" pitchFamily="34" charset="0"/>
                <a:ea typeface="Times New Roman" pitchFamily="34" charset="-122"/>
                <a:cs typeface="Times New Roman" pitchFamily="34" charset="-120"/>
              </a:rPr>
              <a:t>Compare Cameroon with one African country using three development indicators.</a:t>
            </a:r>
            <a:endParaRPr lang="en-US" sz="4000" dirty="0"/>
          </a:p>
        </p:txBody>
      </p:sp>
      <p:sp>
        <p:nvSpPr>
          <p:cNvPr id="25" name="Slide Number Placeholder 0"/>
          <p:cNvSpPr>
            <a:spLocks noGrp="1"/>
          </p:cNvSpPr>
          <p:nvPr>
            <p:ph type="sldNum" sz="quarter" idx="4294967295"/>
          </p:nvPr>
        </p:nvSpPr>
        <p:spPr>
          <a:xfrm>
            <a:off x="27432" y="91440"/>
            <a:ext cx="585216" cy="475488"/>
          </a:xfrm>
          <a:prstGeom prst="rect">
            <a:avLst/>
          </a:prstGeom>
          <a:extLst>
            <a:ext uri="{C572A759-6A51-4108-AA02-DFA0A04FC94B}">
              <ma14:wrappingTextBoxFlag xmlns:ma14="http://schemas.microsoft.com/office/mac/drawingml/2011/main" val="0"/>
            </a:ext>
          </a:extLst>
        </p:spPr>
        <p:txBody>
          <a:bodyPr/>
          <a:lstStyle>
            <a:lvl1pPr>
              <a:defRPr sz="2000">
                <a:solidFill>
                  <a:srgbClr val="FFFFFF"/>
                </a:solidFill>
                <a:latin typeface="Calibri"/>
                <a:ea typeface="Calibri"/>
                <a:cs typeface="Calibri"/>
              </a:defRPr>
            </a:lvl1pPr>
          </a:lstStyle>
          <a:p>
            <a:pPr algn="ctr"/>
            <a:fld id="{F7021451-1387-4CA6-816F-3879F97B5CBC}" type="slidenum">
              <a:rPr b="1" lang="en-US"/>
              <a:t>52</a:t>
            </a:fld>
            <a:endParaRPr lang="en-US"/>
          </a:p>
        </p:txBody>
      </p:sp>
    </p:spTree>
  </p:cSld>
  <p:clrMapOvr>
    <a:masterClrMapping/>
  </p:clrMapOvr>
</p:sld>
</file>

<file path=ppt/slides/slide53.xml><?xml version="1.0" encoding="utf-8"?>
<p:sld xmlns:a="http://schemas.openxmlformats.org/drawingml/2006/main" xmlns:r="http://schemas.openxmlformats.org/officeDocument/2006/relationships" xmlns:p="http://schemas.openxmlformats.org/presentationml/2006/main">
  <p:cSld name="Slide 53">
    <p:spTree>
      <p:nvGrpSpPr>
        <p:cNvPr id="1" name=""/>
        <p:cNvGrpSpPr/>
        <p:nvPr/>
      </p:nvGrpSpPr>
      <p:grpSpPr>
        <a:xfrm>
          <a:off x="0" y="0"/>
          <a:ext cx="0" cy="0"/>
          <a:chOff x="0" y="0"/>
          <a:chExt cx="0" cy="0"/>
        </a:xfrm>
      </p:grpSpPr>
      <p:sp>
        <p:nvSpPr>
          <p:cNvPr id="2" name="Text 0"/>
          <p:cNvSpPr/>
          <p:nvPr/>
        </p:nvSpPr>
        <p:spPr>
          <a:xfrm>
            <a:off x="457200" y="713232"/>
            <a:ext cx="11368735" cy="274320"/>
          </a:xfrm>
          <a:prstGeom prst="rect">
            <a:avLst/>
          </a:prstGeom>
          <a:noFill/>
          <a:ln/>
        </p:spPr>
        <p:txBody>
          <a:bodyPr wrap="square" lIns="0" tIns="0" rIns="0" bIns="0" rtlCol="0" anchor="ctr"/>
          <a:lstStyle/>
          <a:p>
            <a:pPr algn="r" indent="0" marL="0">
              <a:buNone/>
            </a:pPr>
            <a:r>
              <a:rPr lang="en-US" sz="1400" b="1" dirty="0">
                <a:solidFill>
                  <a:srgbClr val="1C3F6E"/>
                </a:solidFill>
                <a:latin typeface="Calibri" pitchFamily="34" charset="0"/>
                <a:ea typeface="Calibri" pitchFamily="34" charset="-122"/>
                <a:cs typeface="Calibri" pitchFamily="34" charset="-120"/>
              </a:rPr>
              <a:t>NEXT LESSON</a:t>
            </a:r>
            <a:endParaRPr lang="en-US" sz="1400" dirty="0"/>
          </a:p>
        </p:txBody>
      </p:sp>
      <p:pic>
        <p:nvPicPr>
          <p:cNvPr id="3" name="Image 0" descr="/home/claude/f4/img/minesec_sheet.png">    </p:cNvPr>
          <p:cNvPicPr>
            <a:picLocks noChangeAspect="1"/>
          </p:cNvPicPr>
          <p:nvPr/>
        </p:nvPicPr>
        <p:blipFill>
          <a:blip r:embed="rId1"/>
          <a:stretch>
            <a:fillRect/>
          </a:stretch>
        </p:blipFill>
        <p:spPr>
          <a:xfrm>
            <a:off x="0" y="658368"/>
            <a:ext cx="5120640" cy="5833872"/>
          </a:xfrm>
          <a:prstGeom prst="rect">
            <a:avLst/>
          </a:prstGeom>
        </p:spPr>
      </p:pic>
      <p:sp>
        <p:nvSpPr>
          <p:cNvPr id="4" name="Text 1"/>
          <p:cNvSpPr/>
          <p:nvPr/>
        </p:nvSpPr>
        <p:spPr>
          <a:xfrm>
            <a:off x="5349240" y="1005840"/>
            <a:ext cx="6522415" cy="731520"/>
          </a:xfrm>
          <a:prstGeom prst="rect">
            <a:avLst/>
          </a:prstGeom>
          <a:noFill/>
          <a:ln/>
        </p:spPr>
        <p:txBody>
          <a:bodyPr wrap="square" lIns="0" tIns="0" rIns="0" bIns="0" rtlCol="0" anchor="ctr">
            <a:normAutofit/>
          </a:bodyPr>
          <a:lstStyle/>
          <a:p>
            <a:pPr algn="ctr" indent="0" marL="0">
              <a:buNone/>
            </a:pPr>
            <a:r>
              <a:rPr lang="en-US" sz="3600" b="1" dirty="0">
                <a:solidFill>
                  <a:srgbClr val="990011"/>
                </a:solidFill>
                <a:latin typeface="Times New Roman" pitchFamily="34" charset="0"/>
                <a:ea typeface="Times New Roman" pitchFamily="34" charset="-122"/>
                <a:cs typeface="Times New Roman" pitchFamily="34" charset="-120"/>
              </a:rPr>
              <a:t>Next Lesson</a:t>
            </a:r>
            <a:endParaRPr lang="en-US" sz="3600" dirty="0"/>
          </a:p>
        </p:txBody>
      </p:sp>
      <p:sp>
        <p:nvSpPr>
          <p:cNvPr id="5" name="Text 2"/>
          <p:cNvSpPr/>
          <p:nvPr/>
        </p:nvSpPr>
        <p:spPr>
          <a:xfrm>
            <a:off x="5349240" y="1783080"/>
            <a:ext cx="6522415" cy="4663440"/>
          </a:xfrm>
          <a:prstGeom prst="rect">
            <a:avLst/>
          </a:prstGeom>
          <a:noFill/>
          <a:ln/>
        </p:spPr>
        <p:txBody>
          <a:bodyPr wrap="square" lIns="0" tIns="0" rIns="0" bIns="0" rtlCol="0" anchor="ctr"/>
          <a:lstStyle/>
          <a:p>
            <a:pPr algn="ctr" indent="0" marL="0">
              <a:spcAft>
                <a:spcPts val="800"/>
              </a:spcAft>
              <a:buNone/>
            </a:pPr>
            <a:r>
              <a:rPr lang="en-US" sz="4000" b="1" dirty="0">
                <a:solidFill>
                  <a:srgbClr val="111111"/>
                </a:solidFill>
                <a:latin typeface="Times New Roman" pitchFamily="34" charset="0"/>
                <a:ea typeface="Times New Roman" pitchFamily="34" charset="-122"/>
                <a:cs typeface="Times New Roman" pitchFamily="34" charset="-120"/>
              </a:rPr>
              <a:t>Our next lesson will be on:</a:t>
            </a:r>
            <a:endParaRPr lang="en-US" sz="4000" dirty="0"/>
          </a:p>
          <a:p>
            <a:pPr algn="ctr" indent="0" marL="0">
              <a:spcAft>
                <a:spcPts val="800"/>
              </a:spcAft>
              <a:buNone/>
            </a:pPr>
            <a:r>
              <a:rPr lang="en-US" sz="4000" b="1" dirty="0">
                <a:solidFill>
                  <a:srgbClr val="990011"/>
                </a:solidFill>
                <a:latin typeface="Times New Roman" pitchFamily="34" charset="0"/>
                <a:ea typeface="Times New Roman" pitchFamily="34" charset="-122"/>
                <a:cs typeface="Times New Roman" pitchFamily="34" charset="-120"/>
              </a:rPr>
              <a:t>Lesson 8: Strategies of Development</a:t>
            </a:r>
            <a:endParaRPr lang="en-US" sz="4000" dirty="0"/>
          </a:p>
        </p:txBody>
      </p:sp>
      <p:sp>
        <p:nvSpPr>
          <p:cNvPr id="25" name="Slide Number Placeholder 0"/>
          <p:cNvSpPr>
            <a:spLocks noGrp="1"/>
          </p:cNvSpPr>
          <p:nvPr>
            <p:ph type="sldNum" sz="quarter" idx="4294967295"/>
          </p:nvPr>
        </p:nvSpPr>
        <p:spPr>
          <a:xfrm>
            <a:off x="27432" y="91440"/>
            <a:ext cx="585216" cy="475488"/>
          </a:xfrm>
          <a:prstGeom prst="rect">
            <a:avLst/>
          </a:prstGeom>
          <a:extLst>
            <a:ext uri="{C572A759-6A51-4108-AA02-DFA0A04FC94B}">
              <ma14:wrappingTextBoxFlag xmlns:ma14="http://schemas.microsoft.com/office/mac/drawingml/2011/main" val="0"/>
            </a:ext>
          </a:extLst>
        </p:spPr>
        <p:txBody>
          <a:bodyPr/>
          <a:lstStyle>
            <a:lvl1pPr>
              <a:defRPr sz="2000">
                <a:solidFill>
                  <a:srgbClr val="FFFFFF"/>
                </a:solidFill>
                <a:latin typeface="Calibri"/>
                <a:ea typeface="Calibri"/>
                <a:cs typeface="Calibri"/>
              </a:defRPr>
            </a:lvl1pPr>
          </a:lstStyle>
          <a:p>
            <a:pPr algn="ctr"/>
            <a:fld id="{F7021451-1387-4CA6-816F-3879F97B5CBC}" type="slidenum">
              <a:rPr b="1" lang="en-US"/>
              <a:t>53</a:t>
            </a:fld>
            <a:endParaRPr lang="en-US"/>
          </a:p>
        </p:txBody>
      </p:sp>
    </p:spTree>
  </p:cSld>
  <p:clrMapOvr>
    <a:masterClrMapping/>
  </p:clrMapOvr>
</p:sld>
</file>

<file path=ppt/slides/slide54.xml><?xml version="1.0" encoding="utf-8"?>
<p:sld xmlns:a="http://schemas.openxmlformats.org/drawingml/2006/main" xmlns:r="http://schemas.openxmlformats.org/officeDocument/2006/relationships" xmlns:p="http://schemas.openxmlformats.org/presentationml/2006/main">
  <p:cSld name="Slide 54">
    <p:spTree>
      <p:nvGrpSpPr>
        <p:cNvPr id="1" name=""/>
        <p:cNvGrpSpPr/>
        <p:nvPr/>
      </p:nvGrpSpPr>
      <p:grpSpPr>
        <a:xfrm>
          <a:off x="0" y="0"/>
          <a:ext cx="0" cy="0"/>
          <a:chOff x="0" y="0"/>
          <a:chExt cx="0" cy="0"/>
        </a:xfrm>
      </p:grpSpPr>
      <p:sp>
        <p:nvSpPr>
          <p:cNvPr id="2" name="Text 0"/>
          <p:cNvSpPr/>
          <p:nvPr/>
        </p:nvSpPr>
        <p:spPr>
          <a:xfrm>
            <a:off x="457200" y="713232"/>
            <a:ext cx="11368735" cy="274320"/>
          </a:xfrm>
          <a:prstGeom prst="rect">
            <a:avLst/>
          </a:prstGeom>
          <a:noFill/>
          <a:ln/>
        </p:spPr>
        <p:txBody>
          <a:bodyPr wrap="square" lIns="0" tIns="0" rIns="0" bIns="0" rtlCol="0" anchor="ctr"/>
          <a:lstStyle/>
          <a:p>
            <a:pPr algn="r" indent="0" marL="0">
              <a:buNone/>
            </a:pPr>
            <a:r>
              <a:rPr lang="en-US" sz="1400" b="1" dirty="0">
                <a:solidFill>
                  <a:srgbClr val="1C3F6E"/>
                </a:solidFill>
                <a:latin typeface="Calibri" pitchFamily="34" charset="0"/>
                <a:ea typeface="Calibri" pitchFamily="34" charset="-122"/>
                <a:cs typeface="Calibri" pitchFamily="34" charset="-120"/>
              </a:rPr>
              <a:t>BILINGUAL GAME</a:t>
            </a:r>
            <a:endParaRPr lang="en-US" sz="1400" dirty="0"/>
          </a:p>
        </p:txBody>
      </p:sp>
      <p:sp>
        <p:nvSpPr>
          <p:cNvPr id="3" name="Text 1"/>
          <p:cNvSpPr/>
          <p:nvPr/>
        </p:nvSpPr>
        <p:spPr>
          <a:xfrm>
            <a:off x="457200" y="1005840"/>
            <a:ext cx="11277295" cy="731520"/>
          </a:xfrm>
          <a:prstGeom prst="rect">
            <a:avLst/>
          </a:prstGeom>
          <a:noFill/>
          <a:ln/>
        </p:spPr>
        <p:txBody>
          <a:bodyPr wrap="square" lIns="0" tIns="0" rIns="0" bIns="0" rtlCol="0" anchor="ctr"/>
          <a:lstStyle/>
          <a:p>
            <a:pPr algn="ctr" indent="0" marL="0">
              <a:buNone/>
            </a:pPr>
            <a:r>
              <a:rPr lang="en-US" sz="3600" b="1" dirty="0">
                <a:solidFill>
                  <a:srgbClr val="990011"/>
                </a:solidFill>
                <a:latin typeface="Times New Roman" pitchFamily="34" charset="0"/>
                <a:ea typeface="Times New Roman" pitchFamily="34" charset="-122"/>
                <a:cs typeface="Times New Roman" pitchFamily="34" charset="-120"/>
              </a:rPr>
              <a:t>Bilingual Game (Jeu Bilingue)</a:t>
            </a:r>
            <a:endParaRPr lang="en-US" sz="3600" dirty="0"/>
          </a:p>
        </p:txBody>
      </p:sp>
      <p:graphicFrame>
        <p:nvGraphicFramePr>
          <p:cNvPr id="55" name="Table 0"/>
          <p:cNvGraphicFramePr>
            <a:graphicFrameLocks noGrp="1"/>
          </p:cNvGraphicFramePr>
          <p:nvPr>
            <p:extLst>
              <p:ext uri="{D42A27DB-BD31-4B8C-83A1-F6EECF244321}">
                <p14:modId xmlns:p14="http://schemas.microsoft.com/office/powerpoint/2010/main" val="1579011935"/>
              </p:ext>
            </p:extLst>
          </p:nvPr>
        </p:nvGraphicFramePr>
        <p:xfrm>
          <a:off x="1706728" y="1783080"/>
          <a:ext cx="8778240" cy="914400"/>
        </p:xfrm>
        <a:graphic>
          <a:graphicData uri="http://schemas.openxmlformats.org/drawingml/2006/table">
            <a:tbl>
              <a:tblPr/>
              <a:tblGrid>
                <a:gridCol w="4389120"/>
                <a:gridCol w="4389120"/>
              </a:tblGrid>
              <a:tr h="0">
                <a:tc>
                  <a:txBody>
                    <a:bodyPr/>
                    <a:lstStyle/>
                    <a:p>
                      <a:pPr algn="ctr" indent="0" marL="0">
                        <a:buNone/>
                      </a:pPr>
                      <a:r>
                        <a:rPr lang="en-US" sz="2200" b="1" dirty="0">
                          <a:solidFill>
                            <a:srgbClr val="FFFFFF"/>
                          </a:solidFill>
                          <a:latin typeface="Calibri" pitchFamily="34" charset="0"/>
                          <a:ea typeface="Calibri" pitchFamily="34" charset="-122"/>
                          <a:cs typeface="Calibri" pitchFamily="34" charset="-120"/>
                        </a:rPr>
                        <a:t>English</a:t>
                      </a:r>
                      <a:endParaRPr lang="en-US" sz="2200" dirty="0">
                        <a:latin typeface="Calibri" charset="0"/>
                        <a:ea typeface="Calibri" charset="0"/>
                        <a:cs typeface="Calibri" charset="0"/>
                      </a:endParaRPr>
                    </a:p>
                  </a:txBody>
                  <a:tcPr marL="73152" marR="73152" marT="73152" marB="73152" anchor="ctr">
                    <a:lnL w="12700" cap="flat" cmpd="sng" algn="ctr">
                      <a:solidFill>
                        <a:srgbClr val="BBBBBB"/>
                      </a:solidFill>
                      <a:prstDash val="solid"/>
                      <a:round/>
                      <a:headEnd type="none" w="med" len="med"/>
                      <a:tailEnd type="none" w="med" len="med"/>
                    </a:lnL>
                    <a:lnR w="12700" cap="flat" cmpd="sng" algn="ctr">
                      <a:solidFill>
                        <a:srgbClr val="BBBBBB"/>
                      </a:solidFill>
                      <a:prstDash val="solid"/>
                      <a:round/>
                      <a:headEnd type="none" w="med" len="med"/>
                      <a:tailEnd type="none" w="med" len="med"/>
                    </a:lnR>
                    <a:lnT w="12700" cap="flat" cmpd="sng" algn="ctr">
                      <a:solidFill>
                        <a:srgbClr val="BBBBBB"/>
                      </a:solidFill>
                      <a:prstDash val="solid"/>
                      <a:round/>
                      <a:headEnd type="none" w="med" len="med"/>
                      <a:tailEnd type="none" w="med" len="med"/>
                    </a:lnT>
                    <a:lnB w="12700" cap="flat" cmpd="sng" algn="ctr">
                      <a:solidFill>
                        <a:srgbClr val="BBBBBB"/>
                      </a:solidFill>
                      <a:prstDash val="solid"/>
                      <a:round/>
                      <a:headEnd type="none" w="med" len="med"/>
                      <a:tailEnd type="none" w="med" len="med"/>
                    </a:lnB>
                    <a:solidFill>
                      <a:srgbClr val="990011"/>
                    </a:solidFill>
                  </a:tcPr>
                </a:tc>
                <a:tc>
                  <a:txBody>
                    <a:bodyPr/>
                    <a:lstStyle/>
                    <a:p>
                      <a:pPr algn="ctr" indent="0" marL="0">
                        <a:buNone/>
                      </a:pPr>
                      <a:r>
                        <a:rPr lang="en-US" sz="2200" b="1" dirty="0">
                          <a:solidFill>
                            <a:srgbClr val="FFFFFF"/>
                          </a:solidFill>
                          <a:latin typeface="Calibri" pitchFamily="34" charset="0"/>
                          <a:ea typeface="Calibri" pitchFamily="34" charset="-122"/>
                          <a:cs typeface="Calibri" pitchFamily="34" charset="-120"/>
                        </a:rPr>
                        <a:t>Français</a:t>
                      </a:r>
                      <a:endParaRPr lang="en-US" sz="2200" dirty="0">
                        <a:latin typeface="Calibri" charset="0"/>
                        <a:ea typeface="Calibri" charset="0"/>
                        <a:cs typeface="Calibri" charset="0"/>
                      </a:endParaRPr>
                    </a:p>
                  </a:txBody>
                  <a:tcPr marL="73152" marR="73152" marT="73152" marB="73152" anchor="ctr">
                    <a:lnL w="12700" cap="flat" cmpd="sng" algn="ctr">
                      <a:solidFill>
                        <a:srgbClr val="BBBBBB"/>
                      </a:solidFill>
                      <a:prstDash val="solid"/>
                      <a:round/>
                      <a:headEnd type="none" w="med" len="med"/>
                      <a:tailEnd type="none" w="med" len="med"/>
                    </a:lnL>
                    <a:lnR w="12700" cap="flat" cmpd="sng" algn="ctr">
                      <a:solidFill>
                        <a:srgbClr val="BBBBBB"/>
                      </a:solidFill>
                      <a:prstDash val="solid"/>
                      <a:round/>
                      <a:headEnd type="none" w="med" len="med"/>
                      <a:tailEnd type="none" w="med" len="med"/>
                    </a:lnR>
                    <a:lnT w="12700" cap="flat" cmpd="sng" algn="ctr">
                      <a:solidFill>
                        <a:srgbClr val="BBBBBB"/>
                      </a:solidFill>
                      <a:prstDash val="solid"/>
                      <a:round/>
                      <a:headEnd type="none" w="med" len="med"/>
                      <a:tailEnd type="none" w="med" len="med"/>
                    </a:lnT>
                    <a:lnB w="12700" cap="flat" cmpd="sng" algn="ctr">
                      <a:solidFill>
                        <a:srgbClr val="BBBBBB"/>
                      </a:solidFill>
                      <a:prstDash val="solid"/>
                      <a:round/>
                      <a:headEnd type="none" w="med" len="med"/>
                      <a:tailEnd type="none" w="med" len="med"/>
                    </a:lnB>
                    <a:solidFill>
                      <a:srgbClr val="990011"/>
                    </a:solidFill>
                  </a:tcPr>
                </a:tc>
              </a:tr>
              <a:tr h="0">
                <a:tc>
                  <a:txBody>
                    <a:bodyPr/>
                    <a:lstStyle/>
                    <a:p>
                      <a:pPr algn="ctr" indent="0" marL="0">
                        <a:buNone/>
                      </a:pPr>
                      <a:r>
                        <a:rPr lang="en-US" sz="2200" dirty="0">
                          <a:solidFill>
                            <a:srgbClr val="111111"/>
                          </a:solidFill>
                          <a:latin typeface="Calibri" pitchFamily="34" charset="0"/>
                          <a:ea typeface="Calibri" pitchFamily="34" charset="-122"/>
                          <a:cs typeface="Calibri" pitchFamily="34" charset="-120"/>
                        </a:rPr>
                        <a:t>Development</a:t>
                      </a:r>
                      <a:endParaRPr lang="en-US" sz="2200" dirty="0">
                        <a:latin typeface="Calibri" charset="0"/>
                        <a:ea typeface="Calibri" charset="0"/>
                        <a:cs typeface="Calibri" charset="0"/>
                      </a:endParaRPr>
                    </a:p>
                  </a:txBody>
                  <a:tcPr marL="73152" marR="73152" marT="73152" marB="73152" anchor="ctr">
                    <a:lnL w="12700" cap="flat" cmpd="sng" algn="ctr">
                      <a:solidFill>
                        <a:srgbClr val="BBBBBB"/>
                      </a:solidFill>
                      <a:prstDash val="solid"/>
                      <a:round/>
                      <a:headEnd type="none" w="med" len="med"/>
                      <a:tailEnd type="none" w="med" len="med"/>
                    </a:lnL>
                    <a:lnR w="12700" cap="flat" cmpd="sng" algn="ctr">
                      <a:solidFill>
                        <a:srgbClr val="BBBBBB"/>
                      </a:solidFill>
                      <a:prstDash val="solid"/>
                      <a:round/>
                      <a:headEnd type="none" w="med" len="med"/>
                      <a:tailEnd type="none" w="med" len="med"/>
                    </a:lnR>
                    <a:lnT w="12700" cap="flat" cmpd="sng" algn="ctr">
                      <a:solidFill>
                        <a:srgbClr val="BBBBBB"/>
                      </a:solidFill>
                      <a:prstDash val="solid"/>
                      <a:round/>
                      <a:headEnd type="none" w="med" len="med"/>
                      <a:tailEnd type="none" w="med" len="med"/>
                    </a:lnT>
                    <a:lnB w="12700" cap="flat" cmpd="sng" algn="ctr">
                      <a:solidFill>
                        <a:srgbClr val="BBBBBB"/>
                      </a:solidFill>
                      <a:prstDash val="solid"/>
                      <a:round/>
                      <a:headEnd type="none" w="med" len="med"/>
                      <a:tailEnd type="none" w="med" len="med"/>
                    </a:lnB>
                    <a:solidFill>
                      <a:srgbClr val="FFFFFF"/>
                    </a:solidFill>
                  </a:tcPr>
                </a:tc>
                <a:tc>
                  <a:txBody>
                    <a:bodyPr/>
                    <a:lstStyle/>
                    <a:p>
                      <a:pPr algn="ctr" indent="0" marL="0">
                        <a:buNone/>
                      </a:pPr>
                      <a:r>
                        <a:rPr lang="en-US" sz="2200" dirty="0">
                          <a:solidFill>
                            <a:srgbClr val="111111"/>
                          </a:solidFill>
                          <a:latin typeface="Calibri" pitchFamily="34" charset="0"/>
                          <a:ea typeface="Calibri" pitchFamily="34" charset="-122"/>
                          <a:cs typeface="Calibri" pitchFamily="34" charset="-120"/>
                        </a:rPr>
                        <a:t>Le développement</a:t>
                      </a:r>
                      <a:endParaRPr lang="en-US" sz="2200" dirty="0">
                        <a:latin typeface="Calibri" charset="0"/>
                        <a:ea typeface="Calibri" charset="0"/>
                        <a:cs typeface="Calibri" charset="0"/>
                      </a:endParaRPr>
                    </a:p>
                  </a:txBody>
                  <a:tcPr marL="73152" marR="73152" marT="73152" marB="73152" anchor="ctr">
                    <a:lnL w="12700" cap="flat" cmpd="sng" algn="ctr">
                      <a:solidFill>
                        <a:srgbClr val="BBBBBB"/>
                      </a:solidFill>
                      <a:prstDash val="solid"/>
                      <a:round/>
                      <a:headEnd type="none" w="med" len="med"/>
                      <a:tailEnd type="none" w="med" len="med"/>
                    </a:lnL>
                    <a:lnR w="12700" cap="flat" cmpd="sng" algn="ctr">
                      <a:solidFill>
                        <a:srgbClr val="BBBBBB"/>
                      </a:solidFill>
                      <a:prstDash val="solid"/>
                      <a:round/>
                      <a:headEnd type="none" w="med" len="med"/>
                      <a:tailEnd type="none" w="med" len="med"/>
                    </a:lnR>
                    <a:lnT w="12700" cap="flat" cmpd="sng" algn="ctr">
                      <a:solidFill>
                        <a:srgbClr val="BBBBBB"/>
                      </a:solidFill>
                      <a:prstDash val="solid"/>
                      <a:round/>
                      <a:headEnd type="none" w="med" len="med"/>
                      <a:tailEnd type="none" w="med" len="med"/>
                    </a:lnT>
                    <a:lnB w="12700" cap="flat" cmpd="sng" algn="ctr">
                      <a:solidFill>
                        <a:srgbClr val="BBBBBB"/>
                      </a:solidFill>
                      <a:prstDash val="solid"/>
                      <a:round/>
                      <a:headEnd type="none" w="med" len="med"/>
                      <a:tailEnd type="none" w="med" len="med"/>
                    </a:lnB>
                    <a:solidFill>
                      <a:srgbClr val="FFFFFF"/>
                    </a:solidFill>
                  </a:tcPr>
                </a:tc>
              </a:tr>
              <a:tr h="0">
                <a:tc>
                  <a:txBody>
                    <a:bodyPr/>
                    <a:lstStyle/>
                    <a:p>
                      <a:pPr algn="ctr" indent="0" marL="0">
                        <a:buNone/>
                      </a:pPr>
                      <a:r>
                        <a:rPr lang="en-US" sz="2200" dirty="0">
                          <a:solidFill>
                            <a:srgbClr val="111111"/>
                          </a:solidFill>
                          <a:latin typeface="Calibri" pitchFamily="34" charset="0"/>
                          <a:ea typeface="Calibri" pitchFamily="34" charset="-122"/>
                          <a:cs typeface="Calibri" pitchFamily="34" charset="-120"/>
                        </a:rPr>
                        <a:t>Growth</a:t>
                      </a:r>
                      <a:endParaRPr lang="en-US" sz="2200" dirty="0">
                        <a:latin typeface="Calibri" charset="0"/>
                        <a:ea typeface="Calibri" charset="0"/>
                        <a:cs typeface="Calibri" charset="0"/>
                      </a:endParaRPr>
                    </a:p>
                  </a:txBody>
                  <a:tcPr marL="73152" marR="73152" marT="73152" marB="73152" anchor="ctr">
                    <a:lnL w="12700" cap="flat" cmpd="sng" algn="ctr">
                      <a:solidFill>
                        <a:srgbClr val="BBBBBB"/>
                      </a:solidFill>
                      <a:prstDash val="solid"/>
                      <a:round/>
                      <a:headEnd type="none" w="med" len="med"/>
                      <a:tailEnd type="none" w="med" len="med"/>
                    </a:lnL>
                    <a:lnR w="12700" cap="flat" cmpd="sng" algn="ctr">
                      <a:solidFill>
                        <a:srgbClr val="BBBBBB"/>
                      </a:solidFill>
                      <a:prstDash val="solid"/>
                      <a:round/>
                      <a:headEnd type="none" w="med" len="med"/>
                      <a:tailEnd type="none" w="med" len="med"/>
                    </a:lnR>
                    <a:lnT w="12700" cap="flat" cmpd="sng" algn="ctr">
                      <a:solidFill>
                        <a:srgbClr val="BBBBBB"/>
                      </a:solidFill>
                      <a:prstDash val="solid"/>
                      <a:round/>
                      <a:headEnd type="none" w="med" len="med"/>
                      <a:tailEnd type="none" w="med" len="med"/>
                    </a:lnT>
                    <a:lnB w="12700" cap="flat" cmpd="sng" algn="ctr">
                      <a:solidFill>
                        <a:srgbClr val="BBBBBB"/>
                      </a:solidFill>
                      <a:prstDash val="solid"/>
                      <a:round/>
                      <a:headEnd type="none" w="med" len="med"/>
                      <a:tailEnd type="none" w="med" len="med"/>
                    </a:lnB>
                    <a:solidFill>
                      <a:srgbClr val="F2F4F8"/>
                    </a:solidFill>
                  </a:tcPr>
                </a:tc>
                <a:tc>
                  <a:txBody>
                    <a:bodyPr/>
                    <a:lstStyle/>
                    <a:p>
                      <a:pPr algn="ctr" indent="0" marL="0">
                        <a:buNone/>
                      </a:pPr>
                      <a:r>
                        <a:rPr lang="en-US" sz="2200" dirty="0">
                          <a:solidFill>
                            <a:srgbClr val="111111"/>
                          </a:solidFill>
                          <a:latin typeface="Calibri" pitchFamily="34" charset="0"/>
                          <a:ea typeface="Calibri" pitchFamily="34" charset="-122"/>
                          <a:cs typeface="Calibri" pitchFamily="34" charset="-120"/>
                        </a:rPr>
                        <a:t>La croissance</a:t>
                      </a:r>
                      <a:endParaRPr lang="en-US" sz="2200" dirty="0">
                        <a:latin typeface="Calibri" charset="0"/>
                        <a:ea typeface="Calibri" charset="0"/>
                        <a:cs typeface="Calibri" charset="0"/>
                      </a:endParaRPr>
                    </a:p>
                  </a:txBody>
                  <a:tcPr marL="73152" marR="73152" marT="73152" marB="73152" anchor="ctr">
                    <a:lnL w="12700" cap="flat" cmpd="sng" algn="ctr">
                      <a:solidFill>
                        <a:srgbClr val="BBBBBB"/>
                      </a:solidFill>
                      <a:prstDash val="solid"/>
                      <a:round/>
                      <a:headEnd type="none" w="med" len="med"/>
                      <a:tailEnd type="none" w="med" len="med"/>
                    </a:lnL>
                    <a:lnR w="12700" cap="flat" cmpd="sng" algn="ctr">
                      <a:solidFill>
                        <a:srgbClr val="BBBBBB"/>
                      </a:solidFill>
                      <a:prstDash val="solid"/>
                      <a:round/>
                      <a:headEnd type="none" w="med" len="med"/>
                      <a:tailEnd type="none" w="med" len="med"/>
                    </a:lnR>
                    <a:lnT w="12700" cap="flat" cmpd="sng" algn="ctr">
                      <a:solidFill>
                        <a:srgbClr val="BBBBBB"/>
                      </a:solidFill>
                      <a:prstDash val="solid"/>
                      <a:round/>
                      <a:headEnd type="none" w="med" len="med"/>
                      <a:tailEnd type="none" w="med" len="med"/>
                    </a:lnT>
                    <a:lnB w="12700" cap="flat" cmpd="sng" algn="ctr">
                      <a:solidFill>
                        <a:srgbClr val="BBBBBB"/>
                      </a:solidFill>
                      <a:prstDash val="solid"/>
                      <a:round/>
                      <a:headEnd type="none" w="med" len="med"/>
                      <a:tailEnd type="none" w="med" len="med"/>
                    </a:lnB>
                    <a:solidFill>
                      <a:srgbClr val="F2F4F8"/>
                    </a:solidFill>
                  </a:tcPr>
                </a:tc>
              </a:tr>
              <a:tr h="0">
                <a:tc>
                  <a:txBody>
                    <a:bodyPr/>
                    <a:lstStyle/>
                    <a:p>
                      <a:pPr algn="ctr" indent="0" marL="0">
                        <a:buNone/>
                      </a:pPr>
                      <a:r>
                        <a:rPr lang="en-US" sz="2200" dirty="0">
                          <a:solidFill>
                            <a:srgbClr val="111111"/>
                          </a:solidFill>
                          <a:latin typeface="Calibri" pitchFamily="34" charset="0"/>
                          <a:ea typeface="Calibri" pitchFamily="34" charset="-122"/>
                          <a:cs typeface="Calibri" pitchFamily="34" charset="-120"/>
                        </a:rPr>
                        <a:t>Income</a:t>
                      </a:r>
                      <a:endParaRPr lang="en-US" sz="2200" dirty="0">
                        <a:latin typeface="Calibri" charset="0"/>
                        <a:ea typeface="Calibri" charset="0"/>
                        <a:cs typeface="Calibri" charset="0"/>
                      </a:endParaRPr>
                    </a:p>
                  </a:txBody>
                  <a:tcPr marL="73152" marR="73152" marT="73152" marB="73152" anchor="ctr">
                    <a:lnL w="12700" cap="flat" cmpd="sng" algn="ctr">
                      <a:solidFill>
                        <a:srgbClr val="BBBBBB"/>
                      </a:solidFill>
                      <a:prstDash val="solid"/>
                      <a:round/>
                      <a:headEnd type="none" w="med" len="med"/>
                      <a:tailEnd type="none" w="med" len="med"/>
                    </a:lnL>
                    <a:lnR w="12700" cap="flat" cmpd="sng" algn="ctr">
                      <a:solidFill>
                        <a:srgbClr val="BBBBBB"/>
                      </a:solidFill>
                      <a:prstDash val="solid"/>
                      <a:round/>
                      <a:headEnd type="none" w="med" len="med"/>
                      <a:tailEnd type="none" w="med" len="med"/>
                    </a:lnR>
                    <a:lnT w="12700" cap="flat" cmpd="sng" algn="ctr">
                      <a:solidFill>
                        <a:srgbClr val="BBBBBB"/>
                      </a:solidFill>
                      <a:prstDash val="solid"/>
                      <a:round/>
                      <a:headEnd type="none" w="med" len="med"/>
                      <a:tailEnd type="none" w="med" len="med"/>
                    </a:lnT>
                    <a:lnB w="12700" cap="flat" cmpd="sng" algn="ctr">
                      <a:solidFill>
                        <a:srgbClr val="BBBBBB"/>
                      </a:solidFill>
                      <a:prstDash val="solid"/>
                      <a:round/>
                      <a:headEnd type="none" w="med" len="med"/>
                      <a:tailEnd type="none" w="med" len="med"/>
                    </a:lnB>
                    <a:solidFill>
                      <a:srgbClr val="FFFFFF"/>
                    </a:solidFill>
                  </a:tcPr>
                </a:tc>
                <a:tc>
                  <a:txBody>
                    <a:bodyPr/>
                    <a:lstStyle/>
                    <a:p>
                      <a:pPr algn="ctr" indent="0" marL="0">
                        <a:buNone/>
                      </a:pPr>
                      <a:r>
                        <a:rPr lang="en-US" sz="2200" dirty="0">
                          <a:solidFill>
                            <a:srgbClr val="111111"/>
                          </a:solidFill>
                          <a:latin typeface="Calibri" pitchFamily="34" charset="0"/>
                          <a:ea typeface="Calibri" pitchFamily="34" charset="-122"/>
                          <a:cs typeface="Calibri" pitchFamily="34" charset="-120"/>
                        </a:rPr>
                        <a:t>Le revenu</a:t>
                      </a:r>
                      <a:endParaRPr lang="en-US" sz="2200" dirty="0">
                        <a:latin typeface="Calibri" charset="0"/>
                        <a:ea typeface="Calibri" charset="0"/>
                        <a:cs typeface="Calibri" charset="0"/>
                      </a:endParaRPr>
                    </a:p>
                  </a:txBody>
                  <a:tcPr marL="73152" marR="73152" marT="73152" marB="73152" anchor="ctr">
                    <a:lnL w="12700" cap="flat" cmpd="sng" algn="ctr">
                      <a:solidFill>
                        <a:srgbClr val="BBBBBB"/>
                      </a:solidFill>
                      <a:prstDash val="solid"/>
                      <a:round/>
                      <a:headEnd type="none" w="med" len="med"/>
                      <a:tailEnd type="none" w="med" len="med"/>
                    </a:lnL>
                    <a:lnR w="12700" cap="flat" cmpd="sng" algn="ctr">
                      <a:solidFill>
                        <a:srgbClr val="BBBBBB"/>
                      </a:solidFill>
                      <a:prstDash val="solid"/>
                      <a:round/>
                      <a:headEnd type="none" w="med" len="med"/>
                      <a:tailEnd type="none" w="med" len="med"/>
                    </a:lnR>
                    <a:lnT w="12700" cap="flat" cmpd="sng" algn="ctr">
                      <a:solidFill>
                        <a:srgbClr val="BBBBBB"/>
                      </a:solidFill>
                      <a:prstDash val="solid"/>
                      <a:round/>
                      <a:headEnd type="none" w="med" len="med"/>
                      <a:tailEnd type="none" w="med" len="med"/>
                    </a:lnT>
                    <a:lnB w="12700" cap="flat" cmpd="sng" algn="ctr">
                      <a:solidFill>
                        <a:srgbClr val="BBBBBB"/>
                      </a:solidFill>
                      <a:prstDash val="solid"/>
                      <a:round/>
                      <a:headEnd type="none" w="med" len="med"/>
                      <a:tailEnd type="none" w="med" len="med"/>
                    </a:lnB>
                    <a:solidFill>
                      <a:srgbClr val="FFFFFF"/>
                    </a:solidFill>
                  </a:tcPr>
                </a:tc>
              </a:tr>
              <a:tr h="0">
                <a:tc>
                  <a:txBody>
                    <a:bodyPr/>
                    <a:lstStyle/>
                    <a:p>
                      <a:pPr algn="ctr" indent="0" marL="0">
                        <a:buNone/>
                      </a:pPr>
                      <a:r>
                        <a:rPr lang="en-US" sz="2200" dirty="0">
                          <a:solidFill>
                            <a:srgbClr val="111111"/>
                          </a:solidFill>
                          <a:latin typeface="Calibri" pitchFamily="34" charset="0"/>
                          <a:ea typeface="Calibri" pitchFamily="34" charset="-122"/>
                          <a:cs typeface="Calibri" pitchFamily="34" charset="-120"/>
                        </a:rPr>
                        <a:t>Life expectancy</a:t>
                      </a:r>
                      <a:endParaRPr lang="en-US" sz="2200" dirty="0">
                        <a:latin typeface="Calibri" charset="0"/>
                        <a:ea typeface="Calibri" charset="0"/>
                        <a:cs typeface="Calibri" charset="0"/>
                      </a:endParaRPr>
                    </a:p>
                  </a:txBody>
                  <a:tcPr marL="73152" marR="73152" marT="73152" marB="73152" anchor="ctr">
                    <a:lnL w="12700" cap="flat" cmpd="sng" algn="ctr">
                      <a:solidFill>
                        <a:srgbClr val="BBBBBB"/>
                      </a:solidFill>
                      <a:prstDash val="solid"/>
                      <a:round/>
                      <a:headEnd type="none" w="med" len="med"/>
                      <a:tailEnd type="none" w="med" len="med"/>
                    </a:lnL>
                    <a:lnR w="12700" cap="flat" cmpd="sng" algn="ctr">
                      <a:solidFill>
                        <a:srgbClr val="BBBBBB"/>
                      </a:solidFill>
                      <a:prstDash val="solid"/>
                      <a:round/>
                      <a:headEnd type="none" w="med" len="med"/>
                      <a:tailEnd type="none" w="med" len="med"/>
                    </a:lnR>
                    <a:lnT w="12700" cap="flat" cmpd="sng" algn="ctr">
                      <a:solidFill>
                        <a:srgbClr val="BBBBBB"/>
                      </a:solidFill>
                      <a:prstDash val="solid"/>
                      <a:round/>
                      <a:headEnd type="none" w="med" len="med"/>
                      <a:tailEnd type="none" w="med" len="med"/>
                    </a:lnT>
                    <a:lnB w="12700" cap="flat" cmpd="sng" algn="ctr">
                      <a:solidFill>
                        <a:srgbClr val="BBBBBB"/>
                      </a:solidFill>
                      <a:prstDash val="solid"/>
                      <a:round/>
                      <a:headEnd type="none" w="med" len="med"/>
                      <a:tailEnd type="none" w="med" len="med"/>
                    </a:lnB>
                    <a:solidFill>
                      <a:srgbClr val="F2F4F8"/>
                    </a:solidFill>
                  </a:tcPr>
                </a:tc>
                <a:tc>
                  <a:txBody>
                    <a:bodyPr/>
                    <a:lstStyle/>
                    <a:p>
                      <a:pPr algn="ctr" indent="0" marL="0">
                        <a:buNone/>
                      </a:pPr>
                      <a:r>
                        <a:rPr lang="en-US" sz="2200" dirty="0">
                          <a:solidFill>
                            <a:srgbClr val="111111"/>
                          </a:solidFill>
                          <a:latin typeface="Calibri" pitchFamily="34" charset="0"/>
                          <a:ea typeface="Calibri" pitchFamily="34" charset="-122"/>
                          <a:cs typeface="Calibri" pitchFamily="34" charset="-120"/>
                        </a:rPr>
                        <a:t>L'espérance de vie</a:t>
                      </a:r>
                      <a:endParaRPr lang="en-US" sz="2200" dirty="0">
                        <a:latin typeface="Calibri" charset="0"/>
                        <a:ea typeface="Calibri" charset="0"/>
                        <a:cs typeface="Calibri" charset="0"/>
                      </a:endParaRPr>
                    </a:p>
                  </a:txBody>
                  <a:tcPr marL="73152" marR="73152" marT="73152" marB="73152" anchor="ctr">
                    <a:lnL w="12700" cap="flat" cmpd="sng" algn="ctr">
                      <a:solidFill>
                        <a:srgbClr val="BBBBBB"/>
                      </a:solidFill>
                      <a:prstDash val="solid"/>
                      <a:round/>
                      <a:headEnd type="none" w="med" len="med"/>
                      <a:tailEnd type="none" w="med" len="med"/>
                    </a:lnL>
                    <a:lnR w="12700" cap="flat" cmpd="sng" algn="ctr">
                      <a:solidFill>
                        <a:srgbClr val="BBBBBB"/>
                      </a:solidFill>
                      <a:prstDash val="solid"/>
                      <a:round/>
                      <a:headEnd type="none" w="med" len="med"/>
                      <a:tailEnd type="none" w="med" len="med"/>
                    </a:lnR>
                    <a:lnT w="12700" cap="flat" cmpd="sng" algn="ctr">
                      <a:solidFill>
                        <a:srgbClr val="BBBBBB"/>
                      </a:solidFill>
                      <a:prstDash val="solid"/>
                      <a:round/>
                      <a:headEnd type="none" w="med" len="med"/>
                      <a:tailEnd type="none" w="med" len="med"/>
                    </a:lnT>
                    <a:lnB w="12700" cap="flat" cmpd="sng" algn="ctr">
                      <a:solidFill>
                        <a:srgbClr val="BBBBBB"/>
                      </a:solidFill>
                      <a:prstDash val="solid"/>
                      <a:round/>
                      <a:headEnd type="none" w="med" len="med"/>
                      <a:tailEnd type="none" w="med" len="med"/>
                    </a:lnB>
                    <a:solidFill>
                      <a:srgbClr val="F2F4F8"/>
                    </a:solidFill>
                  </a:tcPr>
                </a:tc>
              </a:tr>
              <a:tr h="0">
                <a:tc>
                  <a:txBody>
                    <a:bodyPr/>
                    <a:lstStyle/>
                    <a:p>
                      <a:pPr algn="ctr" indent="0" marL="0">
                        <a:buNone/>
                      </a:pPr>
                      <a:r>
                        <a:rPr lang="en-US" sz="2200" dirty="0">
                          <a:solidFill>
                            <a:srgbClr val="111111"/>
                          </a:solidFill>
                          <a:latin typeface="Calibri" pitchFamily="34" charset="0"/>
                          <a:ea typeface="Calibri" pitchFamily="34" charset="-122"/>
                          <a:cs typeface="Calibri" pitchFamily="34" charset="-120"/>
                        </a:rPr>
                        <a:t>Literacy</a:t>
                      </a:r>
                      <a:endParaRPr lang="en-US" sz="2200" dirty="0">
                        <a:latin typeface="Calibri" charset="0"/>
                        <a:ea typeface="Calibri" charset="0"/>
                        <a:cs typeface="Calibri" charset="0"/>
                      </a:endParaRPr>
                    </a:p>
                  </a:txBody>
                  <a:tcPr marL="73152" marR="73152" marT="73152" marB="73152" anchor="ctr">
                    <a:lnL w="12700" cap="flat" cmpd="sng" algn="ctr">
                      <a:solidFill>
                        <a:srgbClr val="BBBBBB"/>
                      </a:solidFill>
                      <a:prstDash val="solid"/>
                      <a:round/>
                      <a:headEnd type="none" w="med" len="med"/>
                      <a:tailEnd type="none" w="med" len="med"/>
                    </a:lnL>
                    <a:lnR w="12700" cap="flat" cmpd="sng" algn="ctr">
                      <a:solidFill>
                        <a:srgbClr val="BBBBBB"/>
                      </a:solidFill>
                      <a:prstDash val="solid"/>
                      <a:round/>
                      <a:headEnd type="none" w="med" len="med"/>
                      <a:tailEnd type="none" w="med" len="med"/>
                    </a:lnR>
                    <a:lnT w="12700" cap="flat" cmpd="sng" algn="ctr">
                      <a:solidFill>
                        <a:srgbClr val="BBBBBB"/>
                      </a:solidFill>
                      <a:prstDash val="solid"/>
                      <a:round/>
                      <a:headEnd type="none" w="med" len="med"/>
                      <a:tailEnd type="none" w="med" len="med"/>
                    </a:lnT>
                    <a:lnB w="12700" cap="flat" cmpd="sng" algn="ctr">
                      <a:solidFill>
                        <a:srgbClr val="BBBBBB"/>
                      </a:solidFill>
                      <a:prstDash val="solid"/>
                      <a:round/>
                      <a:headEnd type="none" w="med" len="med"/>
                      <a:tailEnd type="none" w="med" len="med"/>
                    </a:lnB>
                    <a:solidFill>
                      <a:srgbClr val="FFFFFF"/>
                    </a:solidFill>
                  </a:tcPr>
                </a:tc>
                <a:tc>
                  <a:txBody>
                    <a:bodyPr/>
                    <a:lstStyle/>
                    <a:p>
                      <a:pPr algn="ctr" indent="0" marL="0">
                        <a:buNone/>
                      </a:pPr>
                      <a:r>
                        <a:rPr lang="en-US" sz="2200" dirty="0">
                          <a:solidFill>
                            <a:srgbClr val="111111"/>
                          </a:solidFill>
                          <a:latin typeface="Calibri" pitchFamily="34" charset="0"/>
                          <a:ea typeface="Calibri" pitchFamily="34" charset="-122"/>
                          <a:cs typeface="Calibri" pitchFamily="34" charset="-120"/>
                        </a:rPr>
                        <a:t>L'alphabétisation</a:t>
                      </a:r>
                      <a:endParaRPr lang="en-US" sz="2200" dirty="0">
                        <a:latin typeface="Calibri" charset="0"/>
                        <a:ea typeface="Calibri" charset="0"/>
                        <a:cs typeface="Calibri" charset="0"/>
                      </a:endParaRPr>
                    </a:p>
                  </a:txBody>
                  <a:tcPr marL="73152" marR="73152" marT="73152" marB="73152" anchor="ctr">
                    <a:lnL w="12700" cap="flat" cmpd="sng" algn="ctr">
                      <a:solidFill>
                        <a:srgbClr val="BBBBBB"/>
                      </a:solidFill>
                      <a:prstDash val="solid"/>
                      <a:round/>
                      <a:headEnd type="none" w="med" len="med"/>
                      <a:tailEnd type="none" w="med" len="med"/>
                    </a:lnL>
                    <a:lnR w="12700" cap="flat" cmpd="sng" algn="ctr">
                      <a:solidFill>
                        <a:srgbClr val="BBBBBB"/>
                      </a:solidFill>
                      <a:prstDash val="solid"/>
                      <a:round/>
                      <a:headEnd type="none" w="med" len="med"/>
                      <a:tailEnd type="none" w="med" len="med"/>
                    </a:lnR>
                    <a:lnT w="12700" cap="flat" cmpd="sng" algn="ctr">
                      <a:solidFill>
                        <a:srgbClr val="BBBBBB"/>
                      </a:solidFill>
                      <a:prstDash val="solid"/>
                      <a:round/>
                      <a:headEnd type="none" w="med" len="med"/>
                      <a:tailEnd type="none" w="med" len="med"/>
                    </a:lnT>
                    <a:lnB w="12700" cap="flat" cmpd="sng" algn="ctr">
                      <a:solidFill>
                        <a:srgbClr val="BBBBBB"/>
                      </a:solidFill>
                      <a:prstDash val="solid"/>
                      <a:round/>
                      <a:headEnd type="none" w="med" len="med"/>
                      <a:tailEnd type="none" w="med" len="med"/>
                    </a:lnB>
                    <a:solidFill>
                      <a:srgbClr val="FFFFFF"/>
                    </a:solidFill>
                  </a:tcPr>
                </a:tc>
              </a:tr>
              <a:tr h="0">
                <a:tc>
                  <a:txBody>
                    <a:bodyPr/>
                    <a:lstStyle/>
                    <a:p>
                      <a:pPr algn="ctr" indent="0" marL="0">
                        <a:buNone/>
                      </a:pPr>
                      <a:r>
                        <a:rPr lang="en-US" sz="2200" dirty="0">
                          <a:solidFill>
                            <a:srgbClr val="111111"/>
                          </a:solidFill>
                          <a:latin typeface="Calibri" pitchFamily="34" charset="0"/>
                          <a:ea typeface="Calibri" pitchFamily="34" charset="-122"/>
                          <a:cs typeface="Calibri" pitchFamily="34" charset="-120"/>
                        </a:rPr>
                        <a:t>Gap</a:t>
                      </a:r>
                      <a:endParaRPr lang="en-US" sz="2200" dirty="0">
                        <a:latin typeface="Calibri" charset="0"/>
                        <a:ea typeface="Calibri" charset="0"/>
                        <a:cs typeface="Calibri" charset="0"/>
                      </a:endParaRPr>
                    </a:p>
                  </a:txBody>
                  <a:tcPr marL="73152" marR="73152" marT="73152" marB="73152" anchor="ctr">
                    <a:lnL w="12700" cap="flat" cmpd="sng" algn="ctr">
                      <a:solidFill>
                        <a:srgbClr val="BBBBBB"/>
                      </a:solidFill>
                      <a:prstDash val="solid"/>
                      <a:round/>
                      <a:headEnd type="none" w="med" len="med"/>
                      <a:tailEnd type="none" w="med" len="med"/>
                    </a:lnL>
                    <a:lnR w="12700" cap="flat" cmpd="sng" algn="ctr">
                      <a:solidFill>
                        <a:srgbClr val="BBBBBB"/>
                      </a:solidFill>
                      <a:prstDash val="solid"/>
                      <a:round/>
                      <a:headEnd type="none" w="med" len="med"/>
                      <a:tailEnd type="none" w="med" len="med"/>
                    </a:lnR>
                    <a:lnT w="12700" cap="flat" cmpd="sng" algn="ctr">
                      <a:solidFill>
                        <a:srgbClr val="BBBBBB"/>
                      </a:solidFill>
                      <a:prstDash val="solid"/>
                      <a:round/>
                      <a:headEnd type="none" w="med" len="med"/>
                      <a:tailEnd type="none" w="med" len="med"/>
                    </a:lnT>
                    <a:lnB w="12700" cap="flat" cmpd="sng" algn="ctr">
                      <a:solidFill>
                        <a:srgbClr val="BBBBBB"/>
                      </a:solidFill>
                      <a:prstDash val="solid"/>
                      <a:round/>
                      <a:headEnd type="none" w="med" len="med"/>
                      <a:tailEnd type="none" w="med" len="med"/>
                    </a:lnB>
                    <a:solidFill>
                      <a:srgbClr val="F2F4F8"/>
                    </a:solidFill>
                  </a:tcPr>
                </a:tc>
                <a:tc>
                  <a:txBody>
                    <a:bodyPr/>
                    <a:lstStyle/>
                    <a:p>
                      <a:pPr algn="ctr" indent="0" marL="0">
                        <a:buNone/>
                      </a:pPr>
                      <a:r>
                        <a:rPr lang="en-US" sz="2200" dirty="0">
                          <a:solidFill>
                            <a:srgbClr val="111111"/>
                          </a:solidFill>
                          <a:latin typeface="Calibri" pitchFamily="34" charset="0"/>
                          <a:ea typeface="Calibri" pitchFamily="34" charset="-122"/>
                          <a:cs typeface="Calibri" pitchFamily="34" charset="-120"/>
                        </a:rPr>
                        <a:t>L'écart</a:t>
                      </a:r>
                      <a:endParaRPr lang="en-US" sz="2200" dirty="0">
                        <a:latin typeface="Calibri" charset="0"/>
                        <a:ea typeface="Calibri" charset="0"/>
                        <a:cs typeface="Calibri" charset="0"/>
                      </a:endParaRPr>
                    </a:p>
                  </a:txBody>
                  <a:tcPr marL="73152" marR="73152" marT="73152" marB="73152" anchor="ctr">
                    <a:lnL w="12700" cap="flat" cmpd="sng" algn="ctr">
                      <a:solidFill>
                        <a:srgbClr val="BBBBBB"/>
                      </a:solidFill>
                      <a:prstDash val="solid"/>
                      <a:round/>
                      <a:headEnd type="none" w="med" len="med"/>
                      <a:tailEnd type="none" w="med" len="med"/>
                    </a:lnL>
                    <a:lnR w="12700" cap="flat" cmpd="sng" algn="ctr">
                      <a:solidFill>
                        <a:srgbClr val="BBBBBB"/>
                      </a:solidFill>
                      <a:prstDash val="solid"/>
                      <a:round/>
                      <a:headEnd type="none" w="med" len="med"/>
                      <a:tailEnd type="none" w="med" len="med"/>
                    </a:lnR>
                    <a:lnT w="12700" cap="flat" cmpd="sng" algn="ctr">
                      <a:solidFill>
                        <a:srgbClr val="BBBBBB"/>
                      </a:solidFill>
                      <a:prstDash val="solid"/>
                      <a:round/>
                      <a:headEnd type="none" w="med" len="med"/>
                      <a:tailEnd type="none" w="med" len="med"/>
                    </a:lnT>
                    <a:lnB w="12700" cap="flat" cmpd="sng" algn="ctr">
                      <a:solidFill>
                        <a:srgbClr val="BBBBBB"/>
                      </a:solidFill>
                      <a:prstDash val="solid"/>
                      <a:round/>
                      <a:headEnd type="none" w="med" len="med"/>
                      <a:tailEnd type="none" w="med" len="med"/>
                    </a:lnB>
                    <a:solidFill>
                      <a:srgbClr val="F2F4F8"/>
                    </a:solidFill>
                  </a:tcPr>
                </a:tc>
              </a:tr>
            </a:tbl>
          </a:graphicData>
        </a:graphic>
      </p:graphicFrame>
      <p:sp>
        <p:nvSpPr>
          <p:cNvPr id="25" name="Slide Number Placeholder 0"/>
          <p:cNvSpPr>
            <a:spLocks noGrp="1"/>
          </p:cNvSpPr>
          <p:nvPr>
            <p:ph type="sldNum" sz="quarter" idx="4294967295"/>
          </p:nvPr>
        </p:nvSpPr>
        <p:spPr>
          <a:xfrm>
            <a:off x="27432" y="91440"/>
            <a:ext cx="585216" cy="475488"/>
          </a:xfrm>
          <a:prstGeom prst="rect">
            <a:avLst/>
          </a:prstGeom>
          <a:extLst>
            <a:ext uri="{C572A759-6A51-4108-AA02-DFA0A04FC94B}">
              <ma14:wrappingTextBoxFlag xmlns:ma14="http://schemas.microsoft.com/office/mac/drawingml/2011/main" val="0"/>
            </a:ext>
          </a:extLst>
        </p:spPr>
        <p:txBody>
          <a:bodyPr/>
          <a:lstStyle>
            <a:lvl1pPr>
              <a:defRPr sz="2000">
                <a:solidFill>
                  <a:srgbClr val="FFFFFF"/>
                </a:solidFill>
                <a:latin typeface="Calibri"/>
                <a:ea typeface="Calibri"/>
                <a:cs typeface="Calibri"/>
              </a:defRPr>
            </a:lvl1pPr>
          </a:lstStyle>
          <a:p>
            <a:pPr algn="ctr"/>
            <a:fld id="{F7021451-1387-4CA6-816F-3879F97B5CBC}" type="slidenum">
              <a:rPr b="1" lang="en-US"/>
              <a:t>54</a:t>
            </a:fld>
            <a:endParaRPr lang="en-US"/>
          </a:p>
        </p:txBody>
      </p:sp>
    </p:spTree>
  </p:cSld>
  <p:clrMapOvr>
    <a:masterClrMapping/>
  </p:clrMapOvr>
</p:sld>
</file>

<file path=ppt/slides/slide55.xml><?xml version="1.0" encoding="utf-8"?>
<p:sld xmlns:a="http://schemas.openxmlformats.org/drawingml/2006/main" xmlns:r="http://schemas.openxmlformats.org/officeDocument/2006/relationships" xmlns:p="http://schemas.openxmlformats.org/presentationml/2006/main">
  <p:cSld name="Slide 55">
    <p:spTree>
      <p:nvGrpSpPr>
        <p:cNvPr id="1" name=""/>
        <p:cNvGrpSpPr/>
        <p:nvPr/>
      </p:nvGrpSpPr>
      <p:grpSpPr>
        <a:xfrm>
          <a:off x="0" y="0"/>
          <a:ext cx="0" cy="0"/>
          <a:chOff x="0" y="0"/>
          <a:chExt cx="0" cy="0"/>
        </a:xfrm>
      </p:grpSpPr>
      <p:sp>
        <p:nvSpPr>
          <p:cNvPr id="2" name="Text 0"/>
          <p:cNvSpPr/>
          <p:nvPr/>
        </p:nvSpPr>
        <p:spPr>
          <a:xfrm>
            <a:off x="457200" y="713232"/>
            <a:ext cx="11368735" cy="274320"/>
          </a:xfrm>
          <a:prstGeom prst="rect">
            <a:avLst/>
          </a:prstGeom>
          <a:noFill/>
          <a:ln/>
        </p:spPr>
        <p:txBody>
          <a:bodyPr wrap="square" lIns="0" tIns="0" rIns="0" bIns="0" rtlCol="0" anchor="ctr"/>
          <a:lstStyle/>
          <a:p>
            <a:pPr algn="r" indent="0" marL="0">
              <a:buNone/>
            </a:pPr>
            <a:r>
              <a:rPr lang="en-US" sz="1400" b="1" dirty="0">
                <a:solidFill>
                  <a:srgbClr val="1C3F6E"/>
                </a:solidFill>
                <a:latin typeface="Calibri" pitchFamily="34" charset="0"/>
                <a:ea typeface="Calibri" pitchFamily="34" charset="-122"/>
                <a:cs typeface="Calibri" pitchFamily="34" charset="-120"/>
              </a:rPr>
              <a:t>LOGBOOK</a:t>
            </a:r>
            <a:endParaRPr lang="en-US" sz="1400" dirty="0"/>
          </a:p>
        </p:txBody>
      </p:sp>
      <p:sp>
        <p:nvSpPr>
          <p:cNvPr id="3" name="Text 1"/>
          <p:cNvSpPr/>
          <p:nvPr/>
        </p:nvSpPr>
        <p:spPr>
          <a:xfrm>
            <a:off x="457200" y="1005840"/>
            <a:ext cx="11277295" cy="731520"/>
          </a:xfrm>
          <a:prstGeom prst="rect">
            <a:avLst/>
          </a:prstGeom>
          <a:noFill/>
          <a:ln/>
        </p:spPr>
        <p:txBody>
          <a:bodyPr wrap="square" lIns="0" tIns="0" rIns="0" bIns="0" rtlCol="0" anchor="ctr"/>
          <a:lstStyle/>
          <a:p>
            <a:pPr algn="ctr" indent="0" marL="0">
              <a:buNone/>
            </a:pPr>
            <a:r>
              <a:rPr lang="en-US" sz="3600" b="1" dirty="0">
                <a:solidFill>
                  <a:srgbClr val="990011"/>
                </a:solidFill>
                <a:latin typeface="Times New Roman" pitchFamily="34" charset="0"/>
                <a:ea typeface="Times New Roman" pitchFamily="34" charset="-122"/>
                <a:cs typeface="Times New Roman" pitchFamily="34" charset="-120"/>
              </a:rPr>
              <a:t>Official Logbook (1/2)</a:t>
            </a:r>
            <a:endParaRPr lang="en-US" sz="3600" dirty="0"/>
          </a:p>
        </p:txBody>
      </p:sp>
      <p:graphicFrame>
        <p:nvGraphicFramePr>
          <p:cNvPr id="56" name="Table 0"/>
          <p:cNvGraphicFramePr>
            <a:graphicFrameLocks noGrp="1"/>
          </p:cNvGraphicFramePr>
          <p:nvPr>
            <p:extLst>
              <p:ext uri="{D42A27DB-BD31-4B8C-83A1-F6EECF244321}">
                <p14:modId xmlns:p14="http://schemas.microsoft.com/office/powerpoint/2010/main" val="1579011935"/>
              </p:ext>
            </p:extLst>
          </p:nvPr>
        </p:nvGraphicFramePr>
        <p:xfrm>
          <a:off x="458572" y="1783080"/>
          <a:ext cx="11274552" cy="914400"/>
        </p:xfrm>
        <a:graphic>
          <a:graphicData uri="http://schemas.openxmlformats.org/drawingml/2006/table">
            <a:tbl>
              <a:tblPr/>
              <a:tblGrid>
                <a:gridCol w="3017520"/>
                <a:gridCol w="8257032"/>
              </a:tblGrid>
              <a:tr h="0">
                <a:tc>
                  <a:txBody>
                    <a:bodyPr/>
                    <a:lstStyle/>
                    <a:p>
                      <a:pPr algn="l" indent="0" marL="0">
                        <a:buNone/>
                      </a:pPr>
                      <a:r>
                        <a:rPr lang="en-US" sz="1600" b="1" dirty="0">
                          <a:solidFill>
                            <a:srgbClr val="FFFFFF"/>
                          </a:solidFill>
                          <a:latin typeface="Calibri" pitchFamily="34" charset="0"/>
                          <a:ea typeface="Calibri" pitchFamily="34" charset="-122"/>
                          <a:cs typeface="Calibri" pitchFamily="34" charset="-120"/>
                        </a:rPr>
                        <a:t>Module / Topic</a:t>
                      </a:r>
                      <a:endParaRPr lang="en-US" sz="1600" dirty="0">
                        <a:latin typeface="Calibri" charset="0"/>
                        <a:ea typeface="Calibri" charset="0"/>
                        <a:cs typeface="Calibri" charset="0"/>
                      </a:endParaRPr>
                    </a:p>
                  </a:txBody>
                  <a:tcPr marL="73152" marR="73152" marT="73152" marB="73152" anchor="ctr">
                    <a:lnL w="12700" cap="flat" cmpd="sng" algn="ctr">
                      <a:solidFill>
                        <a:srgbClr val="BBBBBB"/>
                      </a:solidFill>
                      <a:prstDash val="solid"/>
                      <a:round/>
                      <a:headEnd type="none" w="med" len="med"/>
                      <a:tailEnd type="none" w="med" len="med"/>
                    </a:lnL>
                    <a:lnR w="12700" cap="flat" cmpd="sng" algn="ctr">
                      <a:solidFill>
                        <a:srgbClr val="BBBBBB"/>
                      </a:solidFill>
                      <a:prstDash val="solid"/>
                      <a:round/>
                      <a:headEnd type="none" w="med" len="med"/>
                      <a:tailEnd type="none" w="med" len="med"/>
                    </a:lnR>
                    <a:lnT w="12700" cap="flat" cmpd="sng" algn="ctr">
                      <a:solidFill>
                        <a:srgbClr val="BBBBBB"/>
                      </a:solidFill>
                      <a:prstDash val="solid"/>
                      <a:round/>
                      <a:headEnd type="none" w="med" len="med"/>
                      <a:tailEnd type="none" w="med" len="med"/>
                    </a:lnT>
                    <a:lnB w="12700" cap="flat" cmpd="sng" algn="ctr">
                      <a:solidFill>
                        <a:srgbClr val="BBBBBB"/>
                      </a:solidFill>
                      <a:prstDash val="solid"/>
                      <a:round/>
                      <a:headEnd type="none" w="med" len="med"/>
                      <a:tailEnd type="none" w="med" len="med"/>
                    </a:lnB>
                    <a:solidFill>
                      <a:srgbClr val="1C3F6E"/>
                    </a:solidFill>
                  </a:tcPr>
                </a:tc>
                <a:tc>
                  <a:txBody>
                    <a:bodyPr/>
                    <a:lstStyle/>
                    <a:p>
                      <a:pPr algn="l" indent="0" marL="0">
                        <a:buNone/>
                      </a:pPr>
                      <a:r>
                        <a:rPr lang="en-US" sz="1600" dirty="0">
                          <a:solidFill>
                            <a:srgbClr val="111111"/>
                          </a:solidFill>
                          <a:latin typeface="Calibri" pitchFamily="34" charset="0"/>
                          <a:ea typeface="Calibri" pitchFamily="34" charset="-122"/>
                          <a:cs typeface="Calibri" pitchFamily="34" charset="-120"/>
                        </a:rPr>
                        <a:t>Current Development Issues</a:t>
                      </a:r>
                      <a:endParaRPr lang="en-US" sz="1600" dirty="0">
                        <a:latin typeface="Calibri" charset="0"/>
                        <a:ea typeface="Calibri" charset="0"/>
                        <a:cs typeface="Calibri" charset="0"/>
                      </a:endParaRPr>
                    </a:p>
                  </a:txBody>
                  <a:tcPr marL="73152" marR="73152" marT="73152" marB="73152" anchor="ctr">
                    <a:lnL w="12700" cap="flat" cmpd="sng" algn="ctr">
                      <a:solidFill>
                        <a:srgbClr val="BBBBBB"/>
                      </a:solidFill>
                      <a:prstDash val="solid"/>
                      <a:round/>
                      <a:headEnd type="none" w="med" len="med"/>
                      <a:tailEnd type="none" w="med" len="med"/>
                    </a:lnL>
                    <a:lnR w="12700" cap="flat" cmpd="sng" algn="ctr">
                      <a:solidFill>
                        <a:srgbClr val="BBBBBB"/>
                      </a:solidFill>
                      <a:prstDash val="solid"/>
                      <a:round/>
                      <a:headEnd type="none" w="med" len="med"/>
                      <a:tailEnd type="none" w="med" len="med"/>
                    </a:lnR>
                    <a:lnT w="12700" cap="flat" cmpd="sng" algn="ctr">
                      <a:solidFill>
                        <a:srgbClr val="BBBBBB"/>
                      </a:solidFill>
                      <a:prstDash val="solid"/>
                      <a:round/>
                      <a:headEnd type="none" w="med" len="med"/>
                      <a:tailEnd type="none" w="med" len="med"/>
                    </a:lnT>
                    <a:lnB w="12700" cap="flat" cmpd="sng" algn="ctr">
                      <a:solidFill>
                        <a:srgbClr val="BBBBBB"/>
                      </a:solidFill>
                      <a:prstDash val="solid"/>
                      <a:round/>
                      <a:headEnd type="none" w="med" len="med"/>
                      <a:tailEnd type="none" w="med" len="med"/>
                    </a:lnB>
                    <a:solidFill>
                      <a:srgbClr val="F2F4F8"/>
                    </a:solidFill>
                  </a:tcPr>
                </a:tc>
              </a:tr>
              <a:tr h="0">
                <a:tc>
                  <a:txBody>
                    <a:bodyPr/>
                    <a:lstStyle/>
                    <a:p>
                      <a:pPr algn="l" indent="0" marL="0">
                        <a:buNone/>
                      </a:pPr>
                      <a:r>
                        <a:rPr lang="en-US" sz="1600" b="1" dirty="0">
                          <a:solidFill>
                            <a:srgbClr val="FFFFFF"/>
                          </a:solidFill>
                          <a:latin typeface="Calibri" pitchFamily="34" charset="0"/>
                          <a:ea typeface="Calibri" pitchFamily="34" charset="-122"/>
                          <a:cs typeface="Calibri" pitchFamily="34" charset="-120"/>
                        </a:rPr>
                        <a:t>Lesson Title</a:t>
                      </a:r>
                      <a:endParaRPr lang="en-US" sz="1600" dirty="0">
                        <a:latin typeface="Calibri" charset="0"/>
                        <a:ea typeface="Calibri" charset="0"/>
                        <a:cs typeface="Calibri" charset="0"/>
                      </a:endParaRPr>
                    </a:p>
                  </a:txBody>
                  <a:tcPr marL="73152" marR="73152" marT="73152" marB="73152" anchor="ctr">
                    <a:lnL w="12700" cap="flat" cmpd="sng" algn="ctr">
                      <a:solidFill>
                        <a:srgbClr val="BBBBBB"/>
                      </a:solidFill>
                      <a:prstDash val="solid"/>
                      <a:round/>
                      <a:headEnd type="none" w="med" len="med"/>
                      <a:tailEnd type="none" w="med" len="med"/>
                    </a:lnL>
                    <a:lnR w="12700" cap="flat" cmpd="sng" algn="ctr">
                      <a:solidFill>
                        <a:srgbClr val="BBBBBB"/>
                      </a:solidFill>
                      <a:prstDash val="solid"/>
                      <a:round/>
                      <a:headEnd type="none" w="med" len="med"/>
                      <a:tailEnd type="none" w="med" len="med"/>
                    </a:lnR>
                    <a:lnT w="12700" cap="flat" cmpd="sng" algn="ctr">
                      <a:solidFill>
                        <a:srgbClr val="BBBBBB"/>
                      </a:solidFill>
                      <a:prstDash val="solid"/>
                      <a:round/>
                      <a:headEnd type="none" w="med" len="med"/>
                      <a:tailEnd type="none" w="med" len="med"/>
                    </a:lnT>
                    <a:lnB w="12700" cap="flat" cmpd="sng" algn="ctr">
                      <a:solidFill>
                        <a:srgbClr val="BBBBBB"/>
                      </a:solidFill>
                      <a:prstDash val="solid"/>
                      <a:round/>
                      <a:headEnd type="none" w="med" len="med"/>
                      <a:tailEnd type="none" w="med" len="med"/>
                    </a:lnB>
                    <a:solidFill>
                      <a:srgbClr val="1C3F6E"/>
                    </a:solidFill>
                  </a:tcPr>
                </a:tc>
                <a:tc>
                  <a:txBody>
                    <a:bodyPr/>
                    <a:lstStyle/>
                    <a:p>
                      <a:pPr algn="l" indent="0" marL="0">
                        <a:buNone/>
                      </a:pPr>
                      <a:r>
                        <a:rPr lang="en-US" sz="1600" dirty="0">
                          <a:solidFill>
                            <a:srgbClr val="111111"/>
                          </a:solidFill>
                          <a:latin typeface="Calibri" pitchFamily="34" charset="0"/>
                          <a:ea typeface="Calibri" pitchFamily="34" charset="-122"/>
                          <a:cs typeface="Calibri" pitchFamily="34" charset="-120"/>
                        </a:rPr>
                        <a:t>Lesson 7: Notion of Development</a:t>
                      </a:r>
                      <a:endParaRPr lang="en-US" sz="1600" dirty="0">
                        <a:latin typeface="Calibri" charset="0"/>
                        <a:ea typeface="Calibri" charset="0"/>
                        <a:cs typeface="Calibri" charset="0"/>
                      </a:endParaRPr>
                    </a:p>
                  </a:txBody>
                  <a:tcPr marL="73152" marR="73152" marT="73152" marB="73152" anchor="ctr">
                    <a:lnL w="12700" cap="flat" cmpd="sng" algn="ctr">
                      <a:solidFill>
                        <a:srgbClr val="BBBBBB"/>
                      </a:solidFill>
                      <a:prstDash val="solid"/>
                      <a:round/>
                      <a:headEnd type="none" w="med" len="med"/>
                      <a:tailEnd type="none" w="med" len="med"/>
                    </a:lnL>
                    <a:lnR w="12700" cap="flat" cmpd="sng" algn="ctr">
                      <a:solidFill>
                        <a:srgbClr val="BBBBBB"/>
                      </a:solidFill>
                      <a:prstDash val="solid"/>
                      <a:round/>
                      <a:headEnd type="none" w="med" len="med"/>
                      <a:tailEnd type="none" w="med" len="med"/>
                    </a:lnR>
                    <a:lnT w="12700" cap="flat" cmpd="sng" algn="ctr">
                      <a:solidFill>
                        <a:srgbClr val="BBBBBB"/>
                      </a:solidFill>
                      <a:prstDash val="solid"/>
                      <a:round/>
                      <a:headEnd type="none" w="med" len="med"/>
                      <a:tailEnd type="none" w="med" len="med"/>
                    </a:lnT>
                    <a:lnB w="12700" cap="flat" cmpd="sng" algn="ctr">
                      <a:solidFill>
                        <a:srgbClr val="BBBBBB"/>
                      </a:solidFill>
                      <a:prstDash val="solid"/>
                      <a:round/>
                      <a:headEnd type="none" w="med" len="med"/>
                      <a:tailEnd type="none" w="med" len="med"/>
                    </a:lnB>
                    <a:solidFill>
                      <a:srgbClr val="FFFFFF"/>
                    </a:solidFill>
                  </a:tcPr>
                </a:tc>
              </a:tr>
              <a:tr h="0">
                <a:tc>
                  <a:txBody>
                    <a:bodyPr/>
                    <a:lstStyle/>
                    <a:p>
                      <a:pPr algn="l" indent="0" marL="0">
                        <a:buNone/>
                      </a:pPr>
                      <a:r>
                        <a:rPr lang="en-US" sz="1600" b="1" dirty="0">
                          <a:solidFill>
                            <a:srgbClr val="FFFFFF"/>
                          </a:solidFill>
                          <a:latin typeface="Calibri" pitchFamily="34" charset="0"/>
                          <a:ea typeface="Calibri" pitchFamily="34" charset="-122"/>
                          <a:cs typeface="Calibri" pitchFamily="34" charset="-120"/>
                        </a:rPr>
                        <a:t>Expected Learning Outcomes</a:t>
                      </a:r>
                      <a:endParaRPr lang="en-US" sz="1600" dirty="0">
                        <a:latin typeface="Calibri" charset="0"/>
                        <a:ea typeface="Calibri" charset="0"/>
                        <a:cs typeface="Calibri" charset="0"/>
                      </a:endParaRPr>
                    </a:p>
                  </a:txBody>
                  <a:tcPr marL="73152" marR="73152" marT="73152" marB="73152" anchor="ctr">
                    <a:lnL w="12700" cap="flat" cmpd="sng" algn="ctr">
                      <a:solidFill>
                        <a:srgbClr val="BBBBBB"/>
                      </a:solidFill>
                      <a:prstDash val="solid"/>
                      <a:round/>
                      <a:headEnd type="none" w="med" len="med"/>
                      <a:tailEnd type="none" w="med" len="med"/>
                    </a:lnL>
                    <a:lnR w="12700" cap="flat" cmpd="sng" algn="ctr">
                      <a:solidFill>
                        <a:srgbClr val="BBBBBB"/>
                      </a:solidFill>
                      <a:prstDash val="solid"/>
                      <a:round/>
                      <a:headEnd type="none" w="med" len="med"/>
                      <a:tailEnd type="none" w="med" len="med"/>
                    </a:lnR>
                    <a:lnT w="12700" cap="flat" cmpd="sng" algn="ctr">
                      <a:solidFill>
                        <a:srgbClr val="BBBBBB"/>
                      </a:solidFill>
                      <a:prstDash val="solid"/>
                      <a:round/>
                      <a:headEnd type="none" w="med" len="med"/>
                      <a:tailEnd type="none" w="med" len="med"/>
                    </a:lnT>
                    <a:lnB w="12700" cap="flat" cmpd="sng" algn="ctr">
                      <a:solidFill>
                        <a:srgbClr val="BBBBBB"/>
                      </a:solidFill>
                      <a:prstDash val="solid"/>
                      <a:round/>
                      <a:headEnd type="none" w="med" len="med"/>
                      <a:tailEnd type="none" w="med" len="med"/>
                    </a:lnB>
                    <a:solidFill>
                      <a:srgbClr val="1C3F6E"/>
                    </a:solidFill>
                  </a:tcPr>
                </a:tc>
                <a:tc>
                  <a:txBody>
                    <a:bodyPr/>
                    <a:lstStyle/>
                    <a:p>
                      <a:pPr algn="l" indent="0" marL="0">
                        <a:buNone/>
                      </a:pPr>
                      <a:r>
                        <a:rPr lang="en-US" sz="1600" dirty="0">
                          <a:solidFill>
                            <a:srgbClr val="111111"/>
                          </a:solidFill>
                          <a:latin typeface="Calibri" pitchFamily="34" charset="0"/>
                          <a:ea typeface="Calibri" pitchFamily="34" charset="-122"/>
                          <a:cs typeface="Calibri" pitchFamily="34" charset="-120"/>
                        </a:rPr>
                        <a:t>Distinguish development and economic growth. Measure development with economic and social criteria. Explain the development gap and sustainable development.</a:t>
                      </a:r>
                      <a:endParaRPr lang="en-US" sz="1600" dirty="0">
                        <a:latin typeface="Calibri" charset="0"/>
                        <a:ea typeface="Calibri" charset="0"/>
                        <a:cs typeface="Calibri" charset="0"/>
                      </a:endParaRPr>
                    </a:p>
                  </a:txBody>
                  <a:tcPr marL="73152" marR="73152" marT="73152" marB="73152" anchor="ctr">
                    <a:lnL w="12700" cap="flat" cmpd="sng" algn="ctr">
                      <a:solidFill>
                        <a:srgbClr val="BBBBBB"/>
                      </a:solidFill>
                      <a:prstDash val="solid"/>
                      <a:round/>
                      <a:headEnd type="none" w="med" len="med"/>
                      <a:tailEnd type="none" w="med" len="med"/>
                    </a:lnL>
                    <a:lnR w="12700" cap="flat" cmpd="sng" algn="ctr">
                      <a:solidFill>
                        <a:srgbClr val="BBBBBB"/>
                      </a:solidFill>
                      <a:prstDash val="solid"/>
                      <a:round/>
                      <a:headEnd type="none" w="med" len="med"/>
                      <a:tailEnd type="none" w="med" len="med"/>
                    </a:lnR>
                    <a:lnT w="12700" cap="flat" cmpd="sng" algn="ctr">
                      <a:solidFill>
                        <a:srgbClr val="BBBBBB"/>
                      </a:solidFill>
                      <a:prstDash val="solid"/>
                      <a:round/>
                      <a:headEnd type="none" w="med" len="med"/>
                      <a:tailEnd type="none" w="med" len="med"/>
                    </a:lnT>
                    <a:lnB w="12700" cap="flat" cmpd="sng" algn="ctr">
                      <a:solidFill>
                        <a:srgbClr val="BBBBBB"/>
                      </a:solidFill>
                      <a:prstDash val="solid"/>
                      <a:round/>
                      <a:headEnd type="none" w="med" len="med"/>
                      <a:tailEnd type="none" w="med" len="med"/>
                    </a:lnB>
                    <a:solidFill>
                      <a:srgbClr val="F2F4F8"/>
                    </a:solidFill>
                  </a:tcPr>
                </a:tc>
              </a:tr>
              <a:tr h="0">
                <a:tc>
                  <a:txBody>
                    <a:bodyPr/>
                    <a:lstStyle/>
                    <a:p>
                      <a:pPr algn="l" indent="0" marL="0">
                        <a:buNone/>
                      </a:pPr>
                      <a:r>
                        <a:rPr lang="en-US" sz="1600" b="1" dirty="0">
                          <a:solidFill>
                            <a:srgbClr val="FFFFFF"/>
                          </a:solidFill>
                          <a:latin typeface="Calibri" pitchFamily="34" charset="0"/>
                          <a:ea typeface="Calibri" pitchFamily="34" charset="-122"/>
                          <a:cs typeface="Calibri" pitchFamily="34" charset="-120"/>
                        </a:rPr>
                        <a:t>Competence</a:t>
                      </a:r>
                      <a:endParaRPr lang="en-US" sz="1600" dirty="0">
                        <a:latin typeface="Calibri" charset="0"/>
                        <a:ea typeface="Calibri" charset="0"/>
                        <a:cs typeface="Calibri" charset="0"/>
                      </a:endParaRPr>
                    </a:p>
                  </a:txBody>
                  <a:tcPr marL="73152" marR="73152" marT="73152" marB="73152" anchor="ctr">
                    <a:lnL w="12700" cap="flat" cmpd="sng" algn="ctr">
                      <a:solidFill>
                        <a:srgbClr val="BBBBBB"/>
                      </a:solidFill>
                      <a:prstDash val="solid"/>
                      <a:round/>
                      <a:headEnd type="none" w="med" len="med"/>
                      <a:tailEnd type="none" w="med" len="med"/>
                    </a:lnL>
                    <a:lnR w="12700" cap="flat" cmpd="sng" algn="ctr">
                      <a:solidFill>
                        <a:srgbClr val="BBBBBB"/>
                      </a:solidFill>
                      <a:prstDash val="solid"/>
                      <a:round/>
                      <a:headEnd type="none" w="med" len="med"/>
                      <a:tailEnd type="none" w="med" len="med"/>
                    </a:lnR>
                    <a:lnT w="12700" cap="flat" cmpd="sng" algn="ctr">
                      <a:solidFill>
                        <a:srgbClr val="BBBBBB"/>
                      </a:solidFill>
                      <a:prstDash val="solid"/>
                      <a:round/>
                      <a:headEnd type="none" w="med" len="med"/>
                      <a:tailEnd type="none" w="med" len="med"/>
                    </a:lnT>
                    <a:lnB w="12700" cap="flat" cmpd="sng" algn="ctr">
                      <a:solidFill>
                        <a:srgbClr val="BBBBBB"/>
                      </a:solidFill>
                      <a:prstDash val="solid"/>
                      <a:round/>
                      <a:headEnd type="none" w="med" len="med"/>
                      <a:tailEnd type="none" w="med" len="med"/>
                    </a:lnB>
                    <a:solidFill>
                      <a:srgbClr val="1C3F6E"/>
                    </a:solidFill>
                  </a:tcPr>
                </a:tc>
                <a:tc>
                  <a:txBody>
                    <a:bodyPr/>
                    <a:lstStyle/>
                    <a:p>
                      <a:pPr algn="l" indent="0" marL="0">
                        <a:buNone/>
                      </a:pPr>
                      <a:r>
                        <a:rPr lang="en-US" sz="1600" dirty="0">
                          <a:solidFill>
                            <a:srgbClr val="111111"/>
                          </a:solidFill>
                          <a:latin typeface="Calibri" pitchFamily="34" charset="0"/>
                          <a:ea typeface="Calibri" pitchFamily="34" charset="-122"/>
                          <a:cs typeface="Calibri" pitchFamily="34" charset="-120"/>
                        </a:rPr>
                        <a:t>Learners are able to measure development, explain the development gap and suggest ways to achieve sustainable development.</a:t>
                      </a:r>
                      <a:endParaRPr lang="en-US" sz="1600" dirty="0">
                        <a:latin typeface="Calibri" charset="0"/>
                        <a:ea typeface="Calibri" charset="0"/>
                        <a:cs typeface="Calibri" charset="0"/>
                      </a:endParaRPr>
                    </a:p>
                  </a:txBody>
                  <a:tcPr marL="73152" marR="73152" marT="73152" marB="73152" anchor="ctr">
                    <a:lnL w="12700" cap="flat" cmpd="sng" algn="ctr">
                      <a:solidFill>
                        <a:srgbClr val="BBBBBB"/>
                      </a:solidFill>
                      <a:prstDash val="solid"/>
                      <a:round/>
                      <a:headEnd type="none" w="med" len="med"/>
                      <a:tailEnd type="none" w="med" len="med"/>
                    </a:lnL>
                    <a:lnR w="12700" cap="flat" cmpd="sng" algn="ctr">
                      <a:solidFill>
                        <a:srgbClr val="BBBBBB"/>
                      </a:solidFill>
                      <a:prstDash val="solid"/>
                      <a:round/>
                      <a:headEnd type="none" w="med" len="med"/>
                      <a:tailEnd type="none" w="med" len="med"/>
                    </a:lnR>
                    <a:lnT w="12700" cap="flat" cmpd="sng" algn="ctr">
                      <a:solidFill>
                        <a:srgbClr val="BBBBBB"/>
                      </a:solidFill>
                      <a:prstDash val="solid"/>
                      <a:round/>
                      <a:headEnd type="none" w="med" len="med"/>
                      <a:tailEnd type="none" w="med" len="med"/>
                    </a:lnT>
                    <a:lnB w="12700" cap="flat" cmpd="sng" algn="ctr">
                      <a:solidFill>
                        <a:srgbClr val="BBBBBB"/>
                      </a:solidFill>
                      <a:prstDash val="solid"/>
                      <a:round/>
                      <a:headEnd type="none" w="med" len="med"/>
                      <a:tailEnd type="none" w="med" len="med"/>
                    </a:lnB>
                    <a:solidFill>
                      <a:srgbClr val="FFFFFF"/>
                    </a:solidFill>
                  </a:tcPr>
                </a:tc>
              </a:tr>
            </a:tbl>
          </a:graphicData>
        </a:graphic>
      </p:graphicFrame>
      <p:sp>
        <p:nvSpPr>
          <p:cNvPr id="25" name="Slide Number Placeholder 0"/>
          <p:cNvSpPr>
            <a:spLocks noGrp="1"/>
          </p:cNvSpPr>
          <p:nvPr>
            <p:ph type="sldNum" sz="quarter" idx="4294967295"/>
          </p:nvPr>
        </p:nvSpPr>
        <p:spPr>
          <a:xfrm>
            <a:off x="27432" y="91440"/>
            <a:ext cx="585216" cy="475488"/>
          </a:xfrm>
          <a:prstGeom prst="rect">
            <a:avLst/>
          </a:prstGeom>
          <a:extLst>
            <a:ext uri="{C572A759-6A51-4108-AA02-DFA0A04FC94B}">
              <ma14:wrappingTextBoxFlag xmlns:ma14="http://schemas.microsoft.com/office/mac/drawingml/2011/main" val="0"/>
            </a:ext>
          </a:extLst>
        </p:spPr>
        <p:txBody>
          <a:bodyPr/>
          <a:lstStyle>
            <a:lvl1pPr>
              <a:defRPr sz="2000">
                <a:solidFill>
                  <a:srgbClr val="FFFFFF"/>
                </a:solidFill>
                <a:latin typeface="Calibri"/>
                <a:ea typeface="Calibri"/>
                <a:cs typeface="Calibri"/>
              </a:defRPr>
            </a:lvl1pPr>
          </a:lstStyle>
          <a:p>
            <a:pPr algn="ctr"/>
            <a:fld id="{F7021451-1387-4CA6-816F-3879F97B5CBC}" type="slidenum">
              <a:rPr b="1" lang="en-US"/>
              <a:t>55</a:t>
            </a:fld>
            <a:endParaRPr lang="en-US"/>
          </a:p>
        </p:txBody>
      </p:sp>
    </p:spTree>
  </p:cSld>
  <p:clrMapOvr>
    <a:masterClrMapping/>
  </p:clrMapOvr>
</p:sld>
</file>

<file path=ppt/slides/slide56.xml><?xml version="1.0" encoding="utf-8"?>
<p:sld xmlns:a="http://schemas.openxmlformats.org/drawingml/2006/main" xmlns:r="http://schemas.openxmlformats.org/officeDocument/2006/relationships" xmlns:p="http://schemas.openxmlformats.org/presentationml/2006/main">
  <p:cSld name="Slide 56">
    <p:spTree>
      <p:nvGrpSpPr>
        <p:cNvPr id="1" name=""/>
        <p:cNvGrpSpPr/>
        <p:nvPr/>
      </p:nvGrpSpPr>
      <p:grpSpPr>
        <a:xfrm>
          <a:off x="0" y="0"/>
          <a:ext cx="0" cy="0"/>
          <a:chOff x="0" y="0"/>
          <a:chExt cx="0" cy="0"/>
        </a:xfrm>
      </p:grpSpPr>
      <p:sp>
        <p:nvSpPr>
          <p:cNvPr id="2" name="Text 0"/>
          <p:cNvSpPr/>
          <p:nvPr/>
        </p:nvSpPr>
        <p:spPr>
          <a:xfrm>
            <a:off x="457200" y="713232"/>
            <a:ext cx="11368735" cy="274320"/>
          </a:xfrm>
          <a:prstGeom prst="rect">
            <a:avLst/>
          </a:prstGeom>
          <a:noFill/>
          <a:ln/>
        </p:spPr>
        <p:txBody>
          <a:bodyPr wrap="square" lIns="0" tIns="0" rIns="0" bIns="0" rtlCol="0" anchor="ctr"/>
          <a:lstStyle/>
          <a:p>
            <a:pPr algn="r" indent="0" marL="0">
              <a:buNone/>
            </a:pPr>
            <a:r>
              <a:rPr lang="en-US" sz="1400" b="1" dirty="0">
                <a:solidFill>
                  <a:srgbClr val="1C3F6E"/>
                </a:solidFill>
                <a:latin typeface="Calibri" pitchFamily="34" charset="0"/>
                <a:ea typeface="Calibri" pitchFamily="34" charset="-122"/>
                <a:cs typeface="Calibri" pitchFamily="34" charset="-120"/>
              </a:rPr>
              <a:t>LOGBOOK</a:t>
            </a:r>
            <a:endParaRPr lang="en-US" sz="1400" dirty="0"/>
          </a:p>
        </p:txBody>
      </p:sp>
      <p:sp>
        <p:nvSpPr>
          <p:cNvPr id="3" name="Text 1"/>
          <p:cNvSpPr/>
          <p:nvPr/>
        </p:nvSpPr>
        <p:spPr>
          <a:xfrm>
            <a:off x="457200" y="1005840"/>
            <a:ext cx="11277295" cy="731520"/>
          </a:xfrm>
          <a:prstGeom prst="rect">
            <a:avLst/>
          </a:prstGeom>
          <a:noFill/>
          <a:ln/>
        </p:spPr>
        <p:txBody>
          <a:bodyPr wrap="square" lIns="0" tIns="0" rIns="0" bIns="0" rtlCol="0" anchor="ctr"/>
          <a:lstStyle/>
          <a:p>
            <a:pPr algn="ctr" indent="0" marL="0">
              <a:buNone/>
            </a:pPr>
            <a:r>
              <a:rPr lang="en-US" sz="3600" b="1" dirty="0">
                <a:solidFill>
                  <a:srgbClr val="990011"/>
                </a:solidFill>
                <a:latin typeface="Times New Roman" pitchFamily="34" charset="0"/>
                <a:ea typeface="Times New Roman" pitchFamily="34" charset="-122"/>
                <a:cs typeface="Times New Roman" pitchFamily="34" charset="-120"/>
              </a:rPr>
              <a:t>Official Logbook (2/2)</a:t>
            </a:r>
            <a:endParaRPr lang="en-US" sz="3600" dirty="0"/>
          </a:p>
        </p:txBody>
      </p:sp>
      <p:graphicFrame>
        <p:nvGraphicFramePr>
          <p:cNvPr id="57" name="Table 0"/>
          <p:cNvGraphicFramePr>
            <a:graphicFrameLocks noGrp="1"/>
          </p:cNvGraphicFramePr>
          <p:nvPr>
            <p:extLst>
              <p:ext uri="{D42A27DB-BD31-4B8C-83A1-F6EECF244321}">
                <p14:modId xmlns:p14="http://schemas.microsoft.com/office/powerpoint/2010/main" val="1579011935"/>
              </p:ext>
            </p:extLst>
          </p:nvPr>
        </p:nvGraphicFramePr>
        <p:xfrm>
          <a:off x="458572" y="1783080"/>
          <a:ext cx="11274552" cy="914400"/>
        </p:xfrm>
        <a:graphic>
          <a:graphicData uri="http://schemas.openxmlformats.org/drawingml/2006/table">
            <a:tbl>
              <a:tblPr/>
              <a:tblGrid>
                <a:gridCol w="3017520"/>
                <a:gridCol w="8257032"/>
              </a:tblGrid>
              <a:tr h="0">
                <a:tc>
                  <a:txBody>
                    <a:bodyPr/>
                    <a:lstStyle/>
                    <a:p>
                      <a:pPr algn="l" indent="0" marL="0">
                        <a:buNone/>
                      </a:pPr>
                      <a:r>
                        <a:rPr lang="en-US" sz="1600" b="1" dirty="0">
                          <a:solidFill>
                            <a:srgbClr val="FFFFFF"/>
                          </a:solidFill>
                          <a:latin typeface="Calibri" pitchFamily="34" charset="0"/>
                          <a:ea typeface="Calibri" pitchFamily="34" charset="-122"/>
                          <a:cs typeface="Calibri" pitchFamily="34" charset="-120"/>
                        </a:rPr>
                        <a:t>Matter Taught</a:t>
                      </a:r>
                      <a:endParaRPr lang="en-US" sz="1600" dirty="0">
                        <a:latin typeface="Calibri" charset="0"/>
                        <a:ea typeface="Calibri" charset="0"/>
                        <a:cs typeface="Calibri" charset="0"/>
                      </a:endParaRPr>
                    </a:p>
                  </a:txBody>
                  <a:tcPr marL="73152" marR="73152" marT="73152" marB="73152" anchor="ctr">
                    <a:lnL w="12700" cap="flat" cmpd="sng" algn="ctr">
                      <a:solidFill>
                        <a:srgbClr val="BBBBBB"/>
                      </a:solidFill>
                      <a:prstDash val="solid"/>
                      <a:round/>
                      <a:headEnd type="none" w="med" len="med"/>
                      <a:tailEnd type="none" w="med" len="med"/>
                    </a:lnL>
                    <a:lnR w="12700" cap="flat" cmpd="sng" algn="ctr">
                      <a:solidFill>
                        <a:srgbClr val="BBBBBB"/>
                      </a:solidFill>
                      <a:prstDash val="solid"/>
                      <a:round/>
                      <a:headEnd type="none" w="med" len="med"/>
                      <a:tailEnd type="none" w="med" len="med"/>
                    </a:lnR>
                    <a:lnT w="12700" cap="flat" cmpd="sng" algn="ctr">
                      <a:solidFill>
                        <a:srgbClr val="BBBBBB"/>
                      </a:solidFill>
                      <a:prstDash val="solid"/>
                      <a:round/>
                      <a:headEnd type="none" w="med" len="med"/>
                      <a:tailEnd type="none" w="med" len="med"/>
                    </a:lnT>
                    <a:lnB w="12700" cap="flat" cmpd="sng" algn="ctr">
                      <a:solidFill>
                        <a:srgbClr val="BBBBBB"/>
                      </a:solidFill>
                      <a:prstDash val="solid"/>
                      <a:round/>
                      <a:headEnd type="none" w="med" len="med"/>
                      <a:tailEnd type="none" w="med" len="med"/>
                    </a:lnB>
                    <a:solidFill>
                      <a:srgbClr val="1C3F6E"/>
                    </a:solidFill>
                  </a:tcPr>
                </a:tc>
                <a:tc>
                  <a:txBody>
                    <a:bodyPr/>
                    <a:lstStyle/>
                    <a:p>
                      <a:pPr algn="l" indent="0" marL="0">
                        <a:buNone/>
                      </a:pPr>
                      <a:r>
                        <a:rPr lang="en-US" sz="1600" dirty="0">
                          <a:solidFill>
                            <a:srgbClr val="111111"/>
                          </a:solidFill>
                          <a:latin typeface="Calibri" pitchFamily="34" charset="0"/>
                          <a:ea typeface="Calibri" pitchFamily="34" charset="-122"/>
                          <a:cs typeface="Calibri" pitchFamily="34" charset="-120"/>
                        </a:rPr>
                        <a:t>Meaning of Development; Measuring and Classifying Development; The Development Gap; Sustainable Development.</a:t>
                      </a:r>
                      <a:endParaRPr lang="en-US" sz="1600" dirty="0">
                        <a:latin typeface="Calibri" charset="0"/>
                        <a:ea typeface="Calibri" charset="0"/>
                        <a:cs typeface="Calibri" charset="0"/>
                      </a:endParaRPr>
                    </a:p>
                  </a:txBody>
                  <a:tcPr marL="73152" marR="73152" marT="73152" marB="73152" anchor="ctr">
                    <a:lnL w="12700" cap="flat" cmpd="sng" algn="ctr">
                      <a:solidFill>
                        <a:srgbClr val="BBBBBB"/>
                      </a:solidFill>
                      <a:prstDash val="solid"/>
                      <a:round/>
                      <a:headEnd type="none" w="med" len="med"/>
                      <a:tailEnd type="none" w="med" len="med"/>
                    </a:lnL>
                    <a:lnR w="12700" cap="flat" cmpd="sng" algn="ctr">
                      <a:solidFill>
                        <a:srgbClr val="BBBBBB"/>
                      </a:solidFill>
                      <a:prstDash val="solid"/>
                      <a:round/>
                      <a:headEnd type="none" w="med" len="med"/>
                      <a:tailEnd type="none" w="med" len="med"/>
                    </a:lnR>
                    <a:lnT w="12700" cap="flat" cmpd="sng" algn="ctr">
                      <a:solidFill>
                        <a:srgbClr val="BBBBBB"/>
                      </a:solidFill>
                      <a:prstDash val="solid"/>
                      <a:round/>
                      <a:headEnd type="none" w="med" len="med"/>
                      <a:tailEnd type="none" w="med" len="med"/>
                    </a:lnT>
                    <a:lnB w="12700" cap="flat" cmpd="sng" algn="ctr">
                      <a:solidFill>
                        <a:srgbClr val="BBBBBB"/>
                      </a:solidFill>
                      <a:prstDash val="solid"/>
                      <a:round/>
                      <a:headEnd type="none" w="med" len="med"/>
                      <a:tailEnd type="none" w="med" len="med"/>
                    </a:lnB>
                    <a:solidFill>
                      <a:srgbClr val="F2F4F8"/>
                    </a:solidFill>
                  </a:tcPr>
                </a:tc>
              </a:tr>
              <a:tr h="0">
                <a:tc>
                  <a:txBody>
                    <a:bodyPr/>
                    <a:lstStyle/>
                    <a:p>
                      <a:pPr algn="l" indent="0" marL="0">
                        <a:buNone/>
                      </a:pPr>
                      <a:r>
                        <a:rPr lang="en-US" sz="1600" b="1" dirty="0">
                          <a:solidFill>
                            <a:srgbClr val="FFFFFF"/>
                          </a:solidFill>
                          <a:latin typeface="Calibri" pitchFamily="34" charset="0"/>
                          <a:ea typeface="Calibri" pitchFamily="34" charset="-122"/>
                          <a:cs typeface="Calibri" pitchFamily="34" charset="-120"/>
                        </a:rPr>
                        <a:t>Evaluation</a:t>
                      </a:r>
                      <a:endParaRPr lang="en-US" sz="1600" dirty="0">
                        <a:latin typeface="Calibri" charset="0"/>
                        <a:ea typeface="Calibri" charset="0"/>
                        <a:cs typeface="Calibri" charset="0"/>
                      </a:endParaRPr>
                    </a:p>
                  </a:txBody>
                  <a:tcPr marL="73152" marR="73152" marT="73152" marB="73152" anchor="ctr">
                    <a:lnL w="12700" cap="flat" cmpd="sng" algn="ctr">
                      <a:solidFill>
                        <a:srgbClr val="BBBBBB"/>
                      </a:solidFill>
                      <a:prstDash val="solid"/>
                      <a:round/>
                      <a:headEnd type="none" w="med" len="med"/>
                      <a:tailEnd type="none" w="med" len="med"/>
                    </a:lnL>
                    <a:lnR w="12700" cap="flat" cmpd="sng" algn="ctr">
                      <a:solidFill>
                        <a:srgbClr val="BBBBBB"/>
                      </a:solidFill>
                      <a:prstDash val="solid"/>
                      <a:round/>
                      <a:headEnd type="none" w="med" len="med"/>
                      <a:tailEnd type="none" w="med" len="med"/>
                    </a:lnR>
                    <a:lnT w="12700" cap="flat" cmpd="sng" algn="ctr">
                      <a:solidFill>
                        <a:srgbClr val="BBBBBB"/>
                      </a:solidFill>
                      <a:prstDash val="solid"/>
                      <a:round/>
                      <a:headEnd type="none" w="med" len="med"/>
                      <a:tailEnd type="none" w="med" len="med"/>
                    </a:lnT>
                    <a:lnB w="12700" cap="flat" cmpd="sng" algn="ctr">
                      <a:solidFill>
                        <a:srgbClr val="BBBBBB"/>
                      </a:solidFill>
                      <a:prstDash val="solid"/>
                      <a:round/>
                      <a:headEnd type="none" w="med" len="med"/>
                      <a:tailEnd type="none" w="med" len="med"/>
                    </a:lnB>
                    <a:solidFill>
                      <a:srgbClr val="1C3F6E"/>
                    </a:solidFill>
                  </a:tcPr>
                </a:tc>
                <a:tc>
                  <a:txBody>
                    <a:bodyPr/>
                    <a:lstStyle/>
                    <a:p>
                      <a:pPr algn="l" indent="0" marL="0">
                        <a:buNone/>
                      </a:pPr>
                      <a:r>
                        <a:rPr lang="en-US" sz="1600" dirty="0">
                          <a:solidFill>
                            <a:srgbClr val="111111"/>
                          </a:solidFill>
                          <a:latin typeface="Calibri" pitchFamily="34" charset="0"/>
                          <a:ea typeface="Calibri" pitchFamily="34" charset="-122"/>
                          <a:cs typeface="Calibri" pitchFamily="34" charset="-120"/>
                        </a:rPr>
                        <a:t>Formative evaluation and remediation exercise.</a:t>
                      </a:r>
                      <a:endParaRPr lang="en-US" sz="1600" dirty="0">
                        <a:latin typeface="Calibri" charset="0"/>
                        <a:ea typeface="Calibri" charset="0"/>
                        <a:cs typeface="Calibri" charset="0"/>
                      </a:endParaRPr>
                    </a:p>
                  </a:txBody>
                  <a:tcPr marL="73152" marR="73152" marT="73152" marB="73152" anchor="ctr">
                    <a:lnL w="12700" cap="flat" cmpd="sng" algn="ctr">
                      <a:solidFill>
                        <a:srgbClr val="BBBBBB"/>
                      </a:solidFill>
                      <a:prstDash val="solid"/>
                      <a:round/>
                      <a:headEnd type="none" w="med" len="med"/>
                      <a:tailEnd type="none" w="med" len="med"/>
                    </a:lnL>
                    <a:lnR w="12700" cap="flat" cmpd="sng" algn="ctr">
                      <a:solidFill>
                        <a:srgbClr val="BBBBBB"/>
                      </a:solidFill>
                      <a:prstDash val="solid"/>
                      <a:round/>
                      <a:headEnd type="none" w="med" len="med"/>
                      <a:tailEnd type="none" w="med" len="med"/>
                    </a:lnR>
                    <a:lnT w="12700" cap="flat" cmpd="sng" algn="ctr">
                      <a:solidFill>
                        <a:srgbClr val="BBBBBB"/>
                      </a:solidFill>
                      <a:prstDash val="solid"/>
                      <a:round/>
                      <a:headEnd type="none" w="med" len="med"/>
                      <a:tailEnd type="none" w="med" len="med"/>
                    </a:lnT>
                    <a:lnB w="12700" cap="flat" cmpd="sng" algn="ctr">
                      <a:solidFill>
                        <a:srgbClr val="BBBBBB"/>
                      </a:solidFill>
                      <a:prstDash val="solid"/>
                      <a:round/>
                      <a:headEnd type="none" w="med" len="med"/>
                      <a:tailEnd type="none" w="med" len="med"/>
                    </a:lnB>
                    <a:solidFill>
                      <a:srgbClr val="FFFFFF"/>
                    </a:solidFill>
                  </a:tcPr>
                </a:tc>
              </a:tr>
              <a:tr h="0">
                <a:tc>
                  <a:txBody>
                    <a:bodyPr/>
                    <a:lstStyle/>
                    <a:p>
                      <a:pPr algn="l" indent="0" marL="0">
                        <a:buNone/>
                      </a:pPr>
                      <a:r>
                        <a:rPr lang="en-US" sz="1600" b="1" dirty="0">
                          <a:solidFill>
                            <a:srgbClr val="FFFFFF"/>
                          </a:solidFill>
                          <a:latin typeface="Calibri" pitchFamily="34" charset="0"/>
                          <a:ea typeface="Calibri" pitchFamily="34" charset="-122"/>
                          <a:cs typeface="Calibri" pitchFamily="34" charset="-120"/>
                        </a:rPr>
                        <a:t>Homework</a:t>
                      </a:r>
                      <a:endParaRPr lang="en-US" sz="1600" dirty="0">
                        <a:latin typeface="Calibri" charset="0"/>
                        <a:ea typeface="Calibri" charset="0"/>
                        <a:cs typeface="Calibri" charset="0"/>
                      </a:endParaRPr>
                    </a:p>
                  </a:txBody>
                  <a:tcPr marL="73152" marR="73152" marT="73152" marB="73152" anchor="ctr">
                    <a:lnL w="12700" cap="flat" cmpd="sng" algn="ctr">
                      <a:solidFill>
                        <a:srgbClr val="BBBBBB"/>
                      </a:solidFill>
                      <a:prstDash val="solid"/>
                      <a:round/>
                      <a:headEnd type="none" w="med" len="med"/>
                      <a:tailEnd type="none" w="med" len="med"/>
                    </a:lnL>
                    <a:lnR w="12700" cap="flat" cmpd="sng" algn="ctr">
                      <a:solidFill>
                        <a:srgbClr val="BBBBBB"/>
                      </a:solidFill>
                      <a:prstDash val="solid"/>
                      <a:round/>
                      <a:headEnd type="none" w="med" len="med"/>
                      <a:tailEnd type="none" w="med" len="med"/>
                    </a:lnR>
                    <a:lnT w="12700" cap="flat" cmpd="sng" algn="ctr">
                      <a:solidFill>
                        <a:srgbClr val="BBBBBB"/>
                      </a:solidFill>
                      <a:prstDash val="solid"/>
                      <a:round/>
                      <a:headEnd type="none" w="med" len="med"/>
                      <a:tailEnd type="none" w="med" len="med"/>
                    </a:lnT>
                    <a:lnB w="12700" cap="flat" cmpd="sng" algn="ctr">
                      <a:solidFill>
                        <a:srgbClr val="BBBBBB"/>
                      </a:solidFill>
                      <a:prstDash val="solid"/>
                      <a:round/>
                      <a:headEnd type="none" w="med" len="med"/>
                      <a:tailEnd type="none" w="med" len="med"/>
                    </a:lnB>
                    <a:solidFill>
                      <a:srgbClr val="1C3F6E"/>
                    </a:solidFill>
                  </a:tcPr>
                </a:tc>
                <a:tc>
                  <a:txBody>
                    <a:bodyPr/>
                    <a:lstStyle/>
                    <a:p>
                      <a:pPr algn="l" indent="0" marL="0">
                        <a:buNone/>
                      </a:pPr>
                      <a:r>
                        <a:rPr lang="en-US" sz="1600" dirty="0">
                          <a:solidFill>
                            <a:srgbClr val="111111"/>
                          </a:solidFill>
                          <a:latin typeface="Calibri" pitchFamily="34" charset="0"/>
                          <a:ea typeface="Calibri" pitchFamily="34" charset="-122"/>
                          <a:cs typeface="Calibri" pitchFamily="34" charset="-120"/>
                        </a:rPr>
                        <a:t>Compare Cameroon with one African country using three development indicators.</a:t>
                      </a:r>
                      <a:endParaRPr lang="en-US" sz="1600" dirty="0">
                        <a:latin typeface="Calibri" charset="0"/>
                        <a:ea typeface="Calibri" charset="0"/>
                        <a:cs typeface="Calibri" charset="0"/>
                      </a:endParaRPr>
                    </a:p>
                  </a:txBody>
                  <a:tcPr marL="73152" marR="73152" marT="73152" marB="73152" anchor="ctr">
                    <a:lnL w="12700" cap="flat" cmpd="sng" algn="ctr">
                      <a:solidFill>
                        <a:srgbClr val="BBBBBB"/>
                      </a:solidFill>
                      <a:prstDash val="solid"/>
                      <a:round/>
                      <a:headEnd type="none" w="med" len="med"/>
                      <a:tailEnd type="none" w="med" len="med"/>
                    </a:lnL>
                    <a:lnR w="12700" cap="flat" cmpd="sng" algn="ctr">
                      <a:solidFill>
                        <a:srgbClr val="BBBBBB"/>
                      </a:solidFill>
                      <a:prstDash val="solid"/>
                      <a:round/>
                      <a:headEnd type="none" w="med" len="med"/>
                      <a:tailEnd type="none" w="med" len="med"/>
                    </a:lnR>
                    <a:lnT w="12700" cap="flat" cmpd="sng" algn="ctr">
                      <a:solidFill>
                        <a:srgbClr val="BBBBBB"/>
                      </a:solidFill>
                      <a:prstDash val="solid"/>
                      <a:round/>
                      <a:headEnd type="none" w="med" len="med"/>
                      <a:tailEnd type="none" w="med" len="med"/>
                    </a:lnT>
                    <a:lnB w="12700" cap="flat" cmpd="sng" algn="ctr">
                      <a:solidFill>
                        <a:srgbClr val="BBBBBB"/>
                      </a:solidFill>
                      <a:prstDash val="solid"/>
                      <a:round/>
                      <a:headEnd type="none" w="med" len="med"/>
                      <a:tailEnd type="none" w="med" len="med"/>
                    </a:lnB>
                    <a:solidFill>
                      <a:srgbClr val="F2F4F8"/>
                    </a:solidFill>
                  </a:tcPr>
                </a:tc>
              </a:tr>
              <a:tr h="0">
                <a:tc>
                  <a:txBody>
                    <a:bodyPr/>
                    <a:lstStyle/>
                    <a:p>
                      <a:pPr algn="l" indent="0" marL="0">
                        <a:buNone/>
                      </a:pPr>
                      <a:r>
                        <a:rPr lang="en-US" sz="1600" b="1" dirty="0">
                          <a:solidFill>
                            <a:srgbClr val="FFFFFF"/>
                          </a:solidFill>
                          <a:latin typeface="Calibri" pitchFamily="34" charset="0"/>
                          <a:ea typeface="Calibri" pitchFamily="34" charset="-122"/>
                          <a:cs typeface="Calibri" pitchFamily="34" charset="-120"/>
                        </a:rPr>
                        <a:t>Enrolment / Present / Absent</a:t>
                      </a:r>
                      <a:endParaRPr lang="en-US" sz="1600" dirty="0">
                        <a:latin typeface="Calibri" charset="0"/>
                        <a:ea typeface="Calibri" charset="0"/>
                        <a:cs typeface="Calibri" charset="0"/>
                      </a:endParaRPr>
                    </a:p>
                  </a:txBody>
                  <a:tcPr marL="73152" marR="73152" marT="73152" marB="73152" anchor="ctr">
                    <a:lnL w="12700" cap="flat" cmpd="sng" algn="ctr">
                      <a:solidFill>
                        <a:srgbClr val="BBBBBB"/>
                      </a:solidFill>
                      <a:prstDash val="solid"/>
                      <a:round/>
                      <a:headEnd type="none" w="med" len="med"/>
                      <a:tailEnd type="none" w="med" len="med"/>
                    </a:lnL>
                    <a:lnR w="12700" cap="flat" cmpd="sng" algn="ctr">
                      <a:solidFill>
                        <a:srgbClr val="BBBBBB"/>
                      </a:solidFill>
                      <a:prstDash val="solid"/>
                      <a:round/>
                      <a:headEnd type="none" w="med" len="med"/>
                      <a:tailEnd type="none" w="med" len="med"/>
                    </a:lnR>
                    <a:lnT w="12700" cap="flat" cmpd="sng" algn="ctr">
                      <a:solidFill>
                        <a:srgbClr val="BBBBBB"/>
                      </a:solidFill>
                      <a:prstDash val="solid"/>
                      <a:round/>
                      <a:headEnd type="none" w="med" len="med"/>
                      <a:tailEnd type="none" w="med" len="med"/>
                    </a:lnT>
                    <a:lnB w="12700" cap="flat" cmpd="sng" algn="ctr">
                      <a:solidFill>
                        <a:srgbClr val="BBBBBB"/>
                      </a:solidFill>
                      <a:prstDash val="solid"/>
                      <a:round/>
                      <a:headEnd type="none" w="med" len="med"/>
                      <a:tailEnd type="none" w="med" len="med"/>
                    </a:lnB>
                    <a:solidFill>
                      <a:srgbClr val="1C3F6E"/>
                    </a:solidFill>
                  </a:tcPr>
                </a:tc>
                <a:tc>
                  <a:txBody>
                    <a:bodyPr/>
                    <a:lstStyle/>
                    <a:p>
                      <a:pPr algn="l" indent="0" marL="0">
                        <a:buNone/>
                      </a:pPr>
                      <a:r>
                        <a:rPr lang="en-US" sz="1600" dirty="0">
                          <a:solidFill>
                            <a:srgbClr val="111111"/>
                          </a:solidFill>
                          <a:latin typeface="Calibri" pitchFamily="34" charset="0"/>
                          <a:ea typeface="Calibri" pitchFamily="34" charset="-122"/>
                          <a:cs typeface="Calibri" pitchFamily="34" charset="-120"/>
                        </a:rPr>
                        <a:t>____ / ____ / ____</a:t>
                      </a:r>
                      <a:endParaRPr lang="en-US" sz="1600" dirty="0">
                        <a:latin typeface="Calibri" charset="0"/>
                        <a:ea typeface="Calibri" charset="0"/>
                        <a:cs typeface="Calibri" charset="0"/>
                      </a:endParaRPr>
                    </a:p>
                  </a:txBody>
                  <a:tcPr marL="73152" marR="73152" marT="73152" marB="73152" anchor="ctr">
                    <a:lnL w="12700" cap="flat" cmpd="sng" algn="ctr">
                      <a:solidFill>
                        <a:srgbClr val="BBBBBB"/>
                      </a:solidFill>
                      <a:prstDash val="solid"/>
                      <a:round/>
                      <a:headEnd type="none" w="med" len="med"/>
                      <a:tailEnd type="none" w="med" len="med"/>
                    </a:lnL>
                    <a:lnR w="12700" cap="flat" cmpd="sng" algn="ctr">
                      <a:solidFill>
                        <a:srgbClr val="BBBBBB"/>
                      </a:solidFill>
                      <a:prstDash val="solid"/>
                      <a:round/>
                      <a:headEnd type="none" w="med" len="med"/>
                      <a:tailEnd type="none" w="med" len="med"/>
                    </a:lnR>
                    <a:lnT w="12700" cap="flat" cmpd="sng" algn="ctr">
                      <a:solidFill>
                        <a:srgbClr val="BBBBBB"/>
                      </a:solidFill>
                      <a:prstDash val="solid"/>
                      <a:round/>
                      <a:headEnd type="none" w="med" len="med"/>
                      <a:tailEnd type="none" w="med" len="med"/>
                    </a:lnT>
                    <a:lnB w="12700" cap="flat" cmpd="sng" algn="ctr">
                      <a:solidFill>
                        <a:srgbClr val="BBBBBB"/>
                      </a:solidFill>
                      <a:prstDash val="solid"/>
                      <a:round/>
                      <a:headEnd type="none" w="med" len="med"/>
                      <a:tailEnd type="none" w="med" len="med"/>
                    </a:lnB>
                    <a:solidFill>
                      <a:srgbClr val="FFFFFF"/>
                    </a:solidFill>
                  </a:tcPr>
                </a:tc>
              </a:tr>
              <a:tr h="0">
                <a:tc>
                  <a:txBody>
                    <a:bodyPr/>
                    <a:lstStyle/>
                    <a:p>
                      <a:pPr algn="l" indent="0" marL="0">
                        <a:buNone/>
                      </a:pPr>
                      <a:r>
                        <a:rPr lang="en-US" sz="1600" b="1" dirty="0">
                          <a:solidFill>
                            <a:srgbClr val="FFFFFF"/>
                          </a:solidFill>
                          <a:latin typeface="Calibri" pitchFamily="34" charset="0"/>
                          <a:ea typeface="Calibri" pitchFamily="34" charset="-122"/>
                          <a:cs typeface="Calibri" pitchFamily="34" charset="-120"/>
                        </a:rPr>
                        <a:t>Achievement</a:t>
                      </a:r>
                      <a:endParaRPr lang="en-US" sz="1600" dirty="0">
                        <a:latin typeface="Calibri" charset="0"/>
                        <a:ea typeface="Calibri" charset="0"/>
                        <a:cs typeface="Calibri" charset="0"/>
                      </a:endParaRPr>
                    </a:p>
                  </a:txBody>
                  <a:tcPr marL="73152" marR="73152" marT="73152" marB="73152" anchor="ctr">
                    <a:lnL w="12700" cap="flat" cmpd="sng" algn="ctr">
                      <a:solidFill>
                        <a:srgbClr val="BBBBBB"/>
                      </a:solidFill>
                      <a:prstDash val="solid"/>
                      <a:round/>
                      <a:headEnd type="none" w="med" len="med"/>
                      <a:tailEnd type="none" w="med" len="med"/>
                    </a:lnL>
                    <a:lnR w="12700" cap="flat" cmpd="sng" algn="ctr">
                      <a:solidFill>
                        <a:srgbClr val="BBBBBB"/>
                      </a:solidFill>
                      <a:prstDash val="solid"/>
                      <a:round/>
                      <a:headEnd type="none" w="med" len="med"/>
                      <a:tailEnd type="none" w="med" len="med"/>
                    </a:lnR>
                    <a:lnT w="12700" cap="flat" cmpd="sng" algn="ctr">
                      <a:solidFill>
                        <a:srgbClr val="BBBBBB"/>
                      </a:solidFill>
                      <a:prstDash val="solid"/>
                      <a:round/>
                      <a:headEnd type="none" w="med" len="med"/>
                      <a:tailEnd type="none" w="med" len="med"/>
                    </a:lnT>
                    <a:lnB w="12700" cap="flat" cmpd="sng" algn="ctr">
                      <a:solidFill>
                        <a:srgbClr val="BBBBBB"/>
                      </a:solidFill>
                      <a:prstDash val="solid"/>
                      <a:round/>
                      <a:headEnd type="none" w="med" len="med"/>
                      <a:tailEnd type="none" w="med" len="med"/>
                    </a:lnB>
                    <a:solidFill>
                      <a:srgbClr val="1C3F6E"/>
                    </a:solidFill>
                  </a:tcPr>
                </a:tc>
                <a:tc>
                  <a:txBody>
                    <a:bodyPr/>
                    <a:lstStyle/>
                    <a:p>
                      <a:pPr algn="l" indent="0" marL="0">
                        <a:buNone/>
                      </a:pPr>
                      <a:r>
                        <a:rPr lang="en-US" sz="1600" dirty="0">
                          <a:solidFill>
                            <a:srgbClr val="111111"/>
                          </a:solidFill>
                          <a:latin typeface="Calibri" pitchFamily="34" charset="0"/>
                          <a:ea typeface="Calibri" pitchFamily="34" charset="-122"/>
                          <a:cs typeface="Calibri" pitchFamily="34" charset="-120"/>
                        </a:rPr>
                        <a:t>To be completed after the lesson.</a:t>
                      </a:r>
                      <a:endParaRPr lang="en-US" sz="1600" dirty="0">
                        <a:latin typeface="Calibri" charset="0"/>
                        <a:ea typeface="Calibri" charset="0"/>
                        <a:cs typeface="Calibri" charset="0"/>
                      </a:endParaRPr>
                    </a:p>
                  </a:txBody>
                  <a:tcPr marL="73152" marR="73152" marT="73152" marB="73152" anchor="ctr">
                    <a:lnL w="12700" cap="flat" cmpd="sng" algn="ctr">
                      <a:solidFill>
                        <a:srgbClr val="BBBBBB"/>
                      </a:solidFill>
                      <a:prstDash val="solid"/>
                      <a:round/>
                      <a:headEnd type="none" w="med" len="med"/>
                      <a:tailEnd type="none" w="med" len="med"/>
                    </a:lnL>
                    <a:lnR w="12700" cap="flat" cmpd="sng" algn="ctr">
                      <a:solidFill>
                        <a:srgbClr val="BBBBBB"/>
                      </a:solidFill>
                      <a:prstDash val="solid"/>
                      <a:round/>
                      <a:headEnd type="none" w="med" len="med"/>
                      <a:tailEnd type="none" w="med" len="med"/>
                    </a:lnR>
                    <a:lnT w="12700" cap="flat" cmpd="sng" algn="ctr">
                      <a:solidFill>
                        <a:srgbClr val="BBBBBB"/>
                      </a:solidFill>
                      <a:prstDash val="solid"/>
                      <a:round/>
                      <a:headEnd type="none" w="med" len="med"/>
                      <a:tailEnd type="none" w="med" len="med"/>
                    </a:lnT>
                    <a:lnB w="12700" cap="flat" cmpd="sng" algn="ctr">
                      <a:solidFill>
                        <a:srgbClr val="BBBBBB"/>
                      </a:solidFill>
                      <a:prstDash val="solid"/>
                      <a:round/>
                      <a:headEnd type="none" w="med" len="med"/>
                      <a:tailEnd type="none" w="med" len="med"/>
                    </a:lnB>
                    <a:solidFill>
                      <a:srgbClr val="F2F4F8"/>
                    </a:solidFill>
                  </a:tcPr>
                </a:tc>
              </a:tr>
            </a:tbl>
          </a:graphicData>
        </a:graphic>
      </p:graphicFrame>
      <p:sp>
        <p:nvSpPr>
          <p:cNvPr id="25" name="Slide Number Placeholder 0"/>
          <p:cNvSpPr>
            <a:spLocks noGrp="1"/>
          </p:cNvSpPr>
          <p:nvPr>
            <p:ph type="sldNum" sz="quarter" idx="4294967295"/>
          </p:nvPr>
        </p:nvSpPr>
        <p:spPr>
          <a:xfrm>
            <a:off x="27432" y="91440"/>
            <a:ext cx="585216" cy="475488"/>
          </a:xfrm>
          <a:prstGeom prst="rect">
            <a:avLst/>
          </a:prstGeom>
          <a:extLst>
            <a:ext uri="{C572A759-6A51-4108-AA02-DFA0A04FC94B}">
              <ma14:wrappingTextBoxFlag xmlns:ma14="http://schemas.microsoft.com/office/mac/drawingml/2011/main" val="0"/>
            </a:ext>
          </a:extLst>
        </p:spPr>
        <p:txBody>
          <a:bodyPr/>
          <a:lstStyle>
            <a:lvl1pPr>
              <a:defRPr sz="2000">
                <a:solidFill>
                  <a:srgbClr val="FFFFFF"/>
                </a:solidFill>
                <a:latin typeface="Calibri"/>
                <a:ea typeface="Calibri"/>
                <a:cs typeface="Calibri"/>
              </a:defRPr>
            </a:lvl1pPr>
          </a:lstStyle>
          <a:p>
            <a:pPr algn="ctr"/>
            <a:fld id="{F7021451-1387-4CA6-816F-3879F97B5CBC}" type="slidenum">
              <a:rPr b="1" lang="en-US"/>
              <a:t>56</a:t>
            </a:fld>
            <a:endParaRPr lang="en-US"/>
          </a:p>
        </p:txBody>
      </p:sp>
    </p:spTree>
  </p:cSld>
  <p:clrMapOvr>
    <a:masterClrMapping/>
  </p:clrMapOvr>
</p:sld>
</file>

<file path=ppt/slides/slide57.xml><?xml version="1.0" encoding="utf-8"?>
<p:sld xmlns:a="http://schemas.openxmlformats.org/drawingml/2006/main" xmlns:r="http://schemas.openxmlformats.org/officeDocument/2006/relationships" xmlns:p="http://schemas.openxmlformats.org/presentationml/2006/main">
  <p:cSld name="Slide 57">
    <p:spTree>
      <p:nvGrpSpPr>
        <p:cNvPr id="1" name=""/>
        <p:cNvGrpSpPr/>
        <p:nvPr/>
      </p:nvGrpSpPr>
      <p:grpSpPr>
        <a:xfrm>
          <a:off x="0" y="0"/>
          <a:ext cx="0" cy="0"/>
          <a:chOff x="0" y="0"/>
          <a:chExt cx="0" cy="0"/>
        </a:xfrm>
      </p:grpSpPr>
      <p:sp>
        <p:nvSpPr>
          <p:cNvPr id="2" name="Text 0"/>
          <p:cNvSpPr/>
          <p:nvPr/>
        </p:nvSpPr>
        <p:spPr>
          <a:xfrm>
            <a:off x="457200" y="713232"/>
            <a:ext cx="11368735" cy="274320"/>
          </a:xfrm>
          <a:prstGeom prst="rect">
            <a:avLst/>
          </a:prstGeom>
          <a:noFill/>
          <a:ln/>
        </p:spPr>
        <p:txBody>
          <a:bodyPr wrap="square" lIns="0" tIns="0" rIns="0" bIns="0" rtlCol="0" anchor="ctr"/>
          <a:lstStyle/>
          <a:p>
            <a:pPr algn="r" indent="0" marL="0">
              <a:buNone/>
            </a:pPr>
            <a:r>
              <a:rPr lang="en-US" sz="1400" b="1" dirty="0">
                <a:solidFill>
                  <a:srgbClr val="1C3F6E"/>
                </a:solidFill>
                <a:latin typeface="Calibri" pitchFamily="34" charset="0"/>
                <a:ea typeface="Calibri" pitchFamily="34" charset="-122"/>
                <a:cs typeface="Calibri" pitchFamily="34" charset="-120"/>
              </a:rPr>
              <a:t>TEACHER'S NOTE</a:t>
            </a:r>
            <a:endParaRPr lang="en-US" sz="1400" dirty="0"/>
          </a:p>
        </p:txBody>
      </p:sp>
      <p:pic>
        <p:nvPicPr>
          <p:cNvPr id="3" name="Image 0" descr="/home/claude/f4/img/minesec_sheet.png">    </p:cNvPr>
          <p:cNvPicPr>
            <a:picLocks noChangeAspect="1"/>
          </p:cNvPicPr>
          <p:nvPr/>
        </p:nvPicPr>
        <p:blipFill>
          <a:blip r:embed="rId1"/>
          <a:stretch>
            <a:fillRect/>
          </a:stretch>
        </p:blipFill>
        <p:spPr>
          <a:xfrm>
            <a:off x="0" y="658368"/>
            <a:ext cx="5120640" cy="5833872"/>
          </a:xfrm>
          <a:prstGeom prst="rect">
            <a:avLst/>
          </a:prstGeom>
        </p:spPr>
      </p:pic>
      <p:sp>
        <p:nvSpPr>
          <p:cNvPr id="4" name="Text 1"/>
          <p:cNvSpPr/>
          <p:nvPr/>
        </p:nvSpPr>
        <p:spPr>
          <a:xfrm>
            <a:off x="5349240" y="1005840"/>
            <a:ext cx="6522415" cy="731520"/>
          </a:xfrm>
          <a:prstGeom prst="rect">
            <a:avLst/>
          </a:prstGeom>
          <a:noFill/>
          <a:ln/>
        </p:spPr>
        <p:txBody>
          <a:bodyPr wrap="square" lIns="0" tIns="0" rIns="0" bIns="0" rtlCol="0" anchor="ctr">
            <a:normAutofit/>
          </a:bodyPr>
          <a:lstStyle/>
          <a:p>
            <a:pPr algn="ctr" indent="0" marL="0">
              <a:buNone/>
            </a:pPr>
            <a:r>
              <a:rPr lang="en-US" sz="3600" b="1" dirty="0">
                <a:solidFill>
                  <a:srgbClr val="990011"/>
                </a:solidFill>
                <a:latin typeface="Times New Roman" pitchFamily="34" charset="0"/>
                <a:ea typeface="Times New Roman" pitchFamily="34" charset="-122"/>
                <a:cs typeface="Times New Roman" pitchFamily="34" charset="-120"/>
              </a:rPr>
              <a:t>Teacher's Note</a:t>
            </a:r>
            <a:endParaRPr lang="en-US" sz="3600" dirty="0"/>
          </a:p>
        </p:txBody>
      </p:sp>
      <p:sp>
        <p:nvSpPr>
          <p:cNvPr id="5" name="Text 2"/>
          <p:cNvSpPr/>
          <p:nvPr/>
        </p:nvSpPr>
        <p:spPr>
          <a:xfrm>
            <a:off x="5349240" y="1783080"/>
            <a:ext cx="6522415" cy="4663440"/>
          </a:xfrm>
          <a:prstGeom prst="rect">
            <a:avLst/>
          </a:prstGeom>
          <a:noFill/>
          <a:ln/>
        </p:spPr>
        <p:txBody>
          <a:bodyPr wrap="square" lIns="0" tIns="0" rIns="0" bIns="0" rtlCol="0" anchor="t"/>
          <a:lstStyle/>
          <a:p>
            <a:pPr algn="l" marL="342900" indent="-342900">
              <a:spcAft>
                <a:spcPts val="800"/>
              </a:spcAft>
              <a:buSzPct val="100000"/>
              <a:buChar char="•"/>
            </a:pPr>
            <a:r>
              <a:rPr lang="en-US" sz="2000" dirty="0">
                <a:solidFill>
                  <a:srgbClr val="111111"/>
                </a:solidFill>
                <a:latin typeface="Calibri" pitchFamily="34" charset="0"/>
                <a:ea typeface="Calibri" pitchFamily="34" charset="-122"/>
                <a:cs typeface="Calibri" pitchFamily="34" charset="-120"/>
              </a:rPr>
              <a:t>Timing: Homework correction, plan, objectives 8 min | Recall, situation, action 10 min | 5 activities 30 min | Board summary (copying) 30 min | Evaluation, remediation 10 min | Homework, next lesson 5 min | Logbook 7 min</a:t>
            </a:r>
            <a:endParaRPr lang="en-US" sz="2000" dirty="0"/>
          </a:p>
          <a:p>
            <a:pPr algn="l" marL="342900" indent="-342900">
              <a:spcAft>
                <a:spcPts val="800"/>
              </a:spcAft>
              <a:buSzPct val="100000"/>
              <a:buChar char="•"/>
            </a:pPr>
            <a:r>
              <a:rPr lang="en-US" sz="2000" dirty="0">
                <a:solidFill>
                  <a:srgbClr val="111111"/>
                </a:solidFill>
                <a:latin typeface="Calibri" pitchFamily="34" charset="0"/>
                <a:ea typeface="Calibri" pitchFamily="34" charset="-122"/>
                <a:cs typeface="Calibri" pitchFamily="34" charset="-120"/>
              </a:rPr>
              <a:t>Without the projector (Activity 1): give examples.</a:t>
            </a:r>
            <a:endParaRPr lang="en-US" sz="2000" dirty="0"/>
          </a:p>
          <a:p>
            <a:pPr algn="l" marL="342900" indent="-342900">
              <a:spcAft>
                <a:spcPts val="800"/>
              </a:spcAft>
              <a:buSzPct val="100000"/>
              <a:buChar char="•"/>
            </a:pPr>
            <a:r>
              <a:rPr lang="en-US" sz="2000" dirty="0">
                <a:solidFill>
                  <a:srgbClr val="111111"/>
                </a:solidFill>
                <a:latin typeface="Calibri" pitchFamily="34" charset="0"/>
                <a:ea typeface="Calibri" pitchFamily="34" charset="-122"/>
                <a:cs typeface="Calibri" pitchFamily="34" charset="-120"/>
              </a:rPr>
              <a:t>Without the projector (Activity 2): read the table.</a:t>
            </a:r>
            <a:endParaRPr lang="en-US" sz="2000" dirty="0"/>
          </a:p>
          <a:p>
            <a:pPr algn="l" marL="342900" indent="-342900">
              <a:spcAft>
                <a:spcPts val="800"/>
              </a:spcAft>
              <a:buSzPct val="100000"/>
              <a:buChar char="•"/>
            </a:pPr>
            <a:r>
              <a:rPr lang="en-US" sz="2000" dirty="0">
                <a:solidFill>
                  <a:srgbClr val="111111"/>
                </a:solidFill>
                <a:latin typeface="Calibri" pitchFamily="34" charset="0"/>
                <a:ea typeface="Calibri" pitchFamily="34" charset="-122"/>
                <a:cs typeface="Calibri" pitchFamily="34" charset="-120"/>
              </a:rPr>
              <a:t>Without the projector (Activity 3): read the map.</a:t>
            </a:r>
            <a:endParaRPr lang="en-US" sz="2000" dirty="0"/>
          </a:p>
          <a:p>
            <a:pPr algn="l" marL="342900" indent="-342900">
              <a:spcAft>
                <a:spcPts val="800"/>
              </a:spcAft>
              <a:buSzPct val="100000"/>
              <a:buChar char="•"/>
            </a:pPr>
            <a:r>
              <a:rPr lang="en-US" sz="2000" dirty="0">
                <a:solidFill>
                  <a:srgbClr val="111111"/>
                </a:solidFill>
                <a:latin typeface="Calibri" pitchFamily="34" charset="0"/>
                <a:ea typeface="Calibri" pitchFamily="34" charset="-122"/>
                <a:cs typeface="Calibri" pitchFamily="34" charset="-120"/>
              </a:rPr>
              <a:t>Without the projector (Activity 4): discuss reasons.</a:t>
            </a:r>
            <a:endParaRPr lang="en-US" sz="2000" dirty="0"/>
          </a:p>
          <a:p>
            <a:pPr algn="l" marL="342900" indent="-342900">
              <a:spcAft>
                <a:spcPts val="800"/>
              </a:spcAft>
              <a:buSzPct val="100000"/>
              <a:buChar char="•"/>
            </a:pPr>
            <a:r>
              <a:rPr lang="en-US" sz="2000" dirty="0">
                <a:solidFill>
                  <a:srgbClr val="111111"/>
                </a:solidFill>
                <a:latin typeface="Calibri" pitchFamily="34" charset="0"/>
                <a:ea typeface="Calibri" pitchFamily="34" charset="-122"/>
                <a:cs typeface="Calibri" pitchFamily="34" charset="-120"/>
              </a:rPr>
              <a:t>Without the projector (Activity 5): explain the circles.</a:t>
            </a:r>
            <a:endParaRPr lang="en-US" sz="2000" dirty="0"/>
          </a:p>
        </p:txBody>
      </p:sp>
      <p:sp>
        <p:nvSpPr>
          <p:cNvPr id="25" name="Slide Number Placeholder 0"/>
          <p:cNvSpPr>
            <a:spLocks noGrp="1"/>
          </p:cNvSpPr>
          <p:nvPr>
            <p:ph type="sldNum" sz="quarter" idx="4294967295"/>
          </p:nvPr>
        </p:nvSpPr>
        <p:spPr>
          <a:xfrm>
            <a:off x="27432" y="91440"/>
            <a:ext cx="585216" cy="475488"/>
          </a:xfrm>
          <a:prstGeom prst="rect">
            <a:avLst/>
          </a:prstGeom>
          <a:extLst>
            <a:ext uri="{C572A759-6A51-4108-AA02-DFA0A04FC94B}">
              <ma14:wrappingTextBoxFlag xmlns:ma14="http://schemas.microsoft.com/office/mac/drawingml/2011/main" val="0"/>
            </a:ext>
          </a:extLst>
        </p:spPr>
        <p:txBody>
          <a:bodyPr/>
          <a:lstStyle>
            <a:lvl1pPr>
              <a:defRPr sz="2000">
                <a:solidFill>
                  <a:srgbClr val="FFFFFF"/>
                </a:solidFill>
                <a:latin typeface="Calibri"/>
                <a:ea typeface="Calibri"/>
                <a:cs typeface="Calibri"/>
              </a:defRPr>
            </a:lvl1pPr>
          </a:lstStyle>
          <a:p>
            <a:pPr algn="ctr"/>
            <a:fld id="{F7021451-1387-4CA6-816F-3879F97B5CBC}" type="slidenum">
              <a:rPr b="1" lang="en-US"/>
              <a:t>57</a:t>
            </a:fld>
            <a:endParaRPr lang="en-US"/>
          </a:p>
        </p:txBody>
      </p:sp>
    </p:spTree>
  </p:cSld>
  <p:clrMapOvr>
    <a:masterClrMapping/>
  </p:clrMapOvr>
</p:sld>
</file>

<file path=ppt/slides/slide58.xml><?xml version="1.0" encoding="utf-8"?>
<p:sld xmlns:a="http://schemas.openxmlformats.org/drawingml/2006/main" xmlns:r="http://schemas.openxmlformats.org/officeDocument/2006/relationships" xmlns:p="http://schemas.openxmlformats.org/presentationml/2006/main">
  <p:cSld name="Slide 58">
    <p:spTree>
      <p:nvGrpSpPr>
        <p:cNvPr id="1" name=""/>
        <p:cNvGrpSpPr/>
        <p:nvPr/>
      </p:nvGrpSpPr>
      <p:grpSpPr>
        <a:xfrm>
          <a:off x="0" y="0"/>
          <a:ext cx="0" cy="0"/>
          <a:chOff x="0" y="0"/>
          <a:chExt cx="0" cy="0"/>
        </a:xfrm>
      </p:grpSpPr>
      <p:sp>
        <p:nvSpPr>
          <p:cNvPr id="2" name="Text 0"/>
          <p:cNvSpPr/>
          <p:nvPr/>
        </p:nvSpPr>
        <p:spPr>
          <a:xfrm>
            <a:off x="457200" y="713232"/>
            <a:ext cx="11368735" cy="274320"/>
          </a:xfrm>
          <a:prstGeom prst="rect">
            <a:avLst/>
          </a:prstGeom>
          <a:noFill/>
          <a:ln/>
        </p:spPr>
        <p:txBody>
          <a:bodyPr wrap="square" lIns="0" tIns="0" rIns="0" bIns="0" rtlCol="0" anchor="ctr"/>
          <a:lstStyle/>
          <a:p>
            <a:pPr algn="r" indent="0" marL="0">
              <a:buNone/>
            </a:pPr>
            <a:r>
              <a:rPr lang="en-US" sz="1400" b="1" dirty="0">
                <a:solidFill>
                  <a:srgbClr val="1C3F6E"/>
                </a:solidFill>
                <a:latin typeface="Calibri" pitchFamily="34" charset="0"/>
                <a:ea typeface="Calibri" pitchFamily="34" charset="-122"/>
                <a:cs typeface="Calibri" pitchFamily="34" charset="-120"/>
              </a:rPr>
              <a:t>REFERENCES</a:t>
            </a:r>
            <a:endParaRPr lang="en-US" sz="1400" dirty="0"/>
          </a:p>
        </p:txBody>
      </p:sp>
      <p:pic>
        <p:nvPicPr>
          <p:cNvPr id="3" name="Image 0" descr="/home/claude/f4/img/minesec_sheet.png">    </p:cNvPr>
          <p:cNvPicPr>
            <a:picLocks noChangeAspect="1"/>
          </p:cNvPicPr>
          <p:nvPr/>
        </p:nvPicPr>
        <p:blipFill>
          <a:blip r:embed="rId1"/>
          <a:stretch>
            <a:fillRect/>
          </a:stretch>
        </p:blipFill>
        <p:spPr>
          <a:xfrm>
            <a:off x="0" y="658368"/>
            <a:ext cx="5120640" cy="5833872"/>
          </a:xfrm>
          <a:prstGeom prst="rect">
            <a:avLst/>
          </a:prstGeom>
        </p:spPr>
      </p:pic>
      <p:sp>
        <p:nvSpPr>
          <p:cNvPr id="4" name="Text 1"/>
          <p:cNvSpPr/>
          <p:nvPr/>
        </p:nvSpPr>
        <p:spPr>
          <a:xfrm>
            <a:off x="5349240" y="1005840"/>
            <a:ext cx="6522415" cy="731520"/>
          </a:xfrm>
          <a:prstGeom prst="rect">
            <a:avLst/>
          </a:prstGeom>
          <a:noFill/>
          <a:ln/>
        </p:spPr>
        <p:txBody>
          <a:bodyPr wrap="square" lIns="0" tIns="0" rIns="0" bIns="0" rtlCol="0" anchor="ctr">
            <a:normAutofit/>
          </a:bodyPr>
          <a:lstStyle/>
          <a:p>
            <a:pPr algn="ctr" indent="0" marL="0">
              <a:buNone/>
            </a:pPr>
            <a:r>
              <a:rPr lang="en-US" sz="3600" b="1" dirty="0">
                <a:solidFill>
                  <a:srgbClr val="990011"/>
                </a:solidFill>
                <a:latin typeface="Times New Roman" pitchFamily="34" charset="0"/>
                <a:ea typeface="Times New Roman" pitchFamily="34" charset="-122"/>
                <a:cs typeface="Times New Roman" pitchFamily="34" charset="-120"/>
              </a:rPr>
              <a:t>References</a:t>
            </a:r>
            <a:endParaRPr lang="en-US" sz="3600" dirty="0"/>
          </a:p>
        </p:txBody>
      </p:sp>
      <p:sp>
        <p:nvSpPr>
          <p:cNvPr id="5" name="Text 2"/>
          <p:cNvSpPr/>
          <p:nvPr/>
        </p:nvSpPr>
        <p:spPr>
          <a:xfrm>
            <a:off x="5349240" y="1783080"/>
            <a:ext cx="6522415" cy="4663440"/>
          </a:xfrm>
          <a:prstGeom prst="rect">
            <a:avLst/>
          </a:prstGeom>
          <a:noFill/>
          <a:ln/>
        </p:spPr>
        <p:txBody>
          <a:bodyPr wrap="square" lIns="0" tIns="0" rIns="0" bIns="0" rtlCol="0" anchor="t"/>
          <a:lstStyle/>
          <a:p>
            <a:pPr algn="l" marL="342900" indent="-342900">
              <a:spcAft>
                <a:spcPts val="800"/>
              </a:spcAft>
              <a:buSzPct val="100000"/>
              <a:buChar char="•"/>
            </a:pPr>
            <a:r>
              <a:rPr lang="en-US" sz="1800" dirty="0">
                <a:solidFill>
                  <a:srgbClr val="111111"/>
                </a:solidFill>
                <a:latin typeface="Calibri" pitchFamily="34" charset="0"/>
                <a:ea typeface="Calibri" pitchFamily="34" charset="-122"/>
                <a:cs typeface="Calibri" pitchFamily="34" charset="-120"/>
              </a:rPr>
              <a:t>National Geography Syllabus, MINESEC/IGE/IP-SS, 2019 — Module 7 (Environment and Development).</a:t>
            </a:r>
            <a:endParaRPr lang="en-US" sz="1800" dirty="0"/>
          </a:p>
          <a:p>
            <a:pPr algn="l" marL="342900" indent="-342900">
              <a:spcAft>
                <a:spcPts val="800"/>
              </a:spcAft>
              <a:buSzPct val="100000"/>
              <a:buChar char="•"/>
            </a:pPr>
            <a:r>
              <a:rPr lang="en-US" sz="1800" dirty="0">
                <a:solidFill>
                  <a:srgbClr val="111111"/>
                </a:solidFill>
                <a:latin typeface="Calibri" pitchFamily="34" charset="0"/>
                <a:ea typeface="Calibri" pitchFamily="34" charset="-122"/>
                <a:cs typeface="Calibri" pitchFamily="34" charset="-120"/>
              </a:rPr>
              <a:t>Photo, Activity 1: “Aerial View City Skyline Skyscraper” by unknown, CC0 1.0, via rawpixel (https://www.rawpixel.com/image/5967710/aerial-view-city-skyline-skyscraper)</a:t>
            </a:r>
            <a:endParaRPr lang="en-US" sz="1800" dirty="0"/>
          </a:p>
          <a:p>
            <a:pPr algn="l" marL="342900" indent="-342900">
              <a:spcAft>
                <a:spcPts val="800"/>
              </a:spcAft>
              <a:buSzPct val="100000"/>
              <a:buChar char="•"/>
            </a:pPr>
            <a:r>
              <a:rPr lang="en-US" sz="1800" dirty="0">
                <a:solidFill>
                  <a:srgbClr val="111111"/>
                </a:solidFill>
                <a:latin typeface="Calibri" pitchFamily="34" charset="0"/>
                <a:ea typeface="Calibri" pitchFamily="34" charset="-122"/>
                <a:cs typeface="Calibri" pitchFamily="34" charset="-120"/>
              </a:rPr>
              <a:t>Photo, Activity 4: “Mathare” by Book Aid International, CC BY-NC-ND 2.0, via Flickr (https://www.flickr.com/photos/45024905@N07/4135561707)</a:t>
            </a:r>
            <a:endParaRPr lang="en-US" sz="1800" dirty="0"/>
          </a:p>
          <a:p>
            <a:pPr algn="l" marL="342900" indent="-342900">
              <a:spcAft>
                <a:spcPts val="800"/>
              </a:spcAft>
              <a:buSzPct val="100000"/>
              <a:buChar char="•"/>
            </a:pPr>
            <a:r>
              <a:rPr lang="en-US" sz="1800" dirty="0">
                <a:solidFill>
                  <a:srgbClr val="111111"/>
                </a:solidFill>
                <a:latin typeface="Calibri" pitchFamily="34" charset="0"/>
                <a:ea typeface="Calibri" pitchFamily="34" charset="-122"/>
                <a:cs typeface="Calibri" pitchFamily="34" charset="-120"/>
              </a:rPr>
              <a:t>Diagrams and animations: drawn for this lesson (Geography Department).</a:t>
            </a:r>
            <a:endParaRPr lang="en-US" sz="1800" dirty="0"/>
          </a:p>
        </p:txBody>
      </p:sp>
      <p:sp>
        <p:nvSpPr>
          <p:cNvPr id="25" name="Slide Number Placeholder 0"/>
          <p:cNvSpPr>
            <a:spLocks noGrp="1"/>
          </p:cNvSpPr>
          <p:nvPr>
            <p:ph type="sldNum" sz="quarter" idx="4294967295"/>
          </p:nvPr>
        </p:nvSpPr>
        <p:spPr>
          <a:xfrm>
            <a:off x="27432" y="91440"/>
            <a:ext cx="585216" cy="475488"/>
          </a:xfrm>
          <a:prstGeom prst="rect">
            <a:avLst/>
          </a:prstGeom>
          <a:extLst>
            <a:ext uri="{C572A759-6A51-4108-AA02-DFA0A04FC94B}">
              <ma14:wrappingTextBoxFlag xmlns:ma14="http://schemas.microsoft.com/office/mac/drawingml/2011/main" val="0"/>
            </a:ext>
          </a:extLst>
        </p:spPr>
        <p:txBody>
          <a:bodyPr/>
          <a:lstStyle>
            <a:lvl1pPr>
              <a:defRPr sz="2000">
                <a:solidFill>
                  <a:srgbClr val="FFFFFF"/>
                </a:solidFill>
                <a:latin typeface="Calibri"/>
                <a:ea typeface="Calibri"/>
                <a:cs typeface="Calibri"/>
              </a:defRPr>
            </a:lvl1pPr>
          </a:lstStyle>
          <a:p>
            <a:pPr algn="ctr"/>
            <a:fld id="{F7021451-1387-4CA6-816F-3879F97B5CBC}" type="slidenum">
              <a:rPr b="1" lang="en-US"/>
              <a:t>58</a:t>
            </a:fld>
            <a:endParaRPr lang="en-US"/>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otalTime>0</TotalTime>
  <Words>0</Words>
  <Application>Microsoft Office PowerPoint</Application>
  <PresentationFormat>On-screen Show (16:9)</PresentationFormat>
  <Paragraphs>0</Paragraphs>
  <Slides>58</Slides>
  <Notes>58</Notes>
  <HiddenSlides>0</HiddenSlides>
  <MMClips>0</MMClips>
  <ScaleCrop>false</ScaleCrop>
  <HeadingPairs>
    <vt:vector size="6" baseType="variant">
      <vt:variant>
        <vt:lpstr>Fonts Used</vt:lpstr>
      </vt:variant>
      <vt:variant>
        <vt:i4>2</vt:i4>
      </vt:variant>
      <vt:variant>
        <vt:lpstr>Theme</vt:lpstr>
      </vt:variant>
      <vt:variant>
        <vt:i4>1</vt:i4>
      </vt:variant>
      <vt:variant>
        <vt:lpstr>Slide Titles</vt:lpstr>
      </vt:variant>
      <vt:variant>
        <vt:i4>58</vt:i4>
      </vt:variant>
    </vt:vector>
  </HeadingPairs>
  <TitlesOfParts>
    <vt:vector size="61" baseType="lpstr">
      <vt:lpstr>Arial</vt:lpstr>
      <vt:lpstr>Calibri</vt:lpstr>
      <vt:lpstr>Office Theme</vt:lpstr>
      <vt:lpstr>Slide 1</vt:lpstr>
      <vt:lpstr>Slide 2</vt:lpstr>
      <vt:lpstr>Slide 3</vt:lpstr>
      <vt:lpstr>Slide 4</vt:lpstr>
      <vt:lpstr>Slide 5</vt:lpstr>
      <vt:lpstr>Slide 6</vt:lpstr>
      <vt:lpstr>Slide 7</vt:lpstr>
      <vt:lpstr>Slide 8</vt:lpstr>
      <vt:lpstr>Slide 9</vt:lpstr>
      <vt:lpstr>Slide 10</vt:lpstr>
      <vt:lpstr>Slide 11</vt:lpstr>
      <vt:lpstr>Slide 12</vt:lpstr>
      <vt:lpstr>Slide 13</vt:lpstr>
      <vt:lpstr>Slide 14</vt:lpstr>
      <vt:lpstr>Slide 15</vt:lpstr>
      <vt:lpstr>Slide 16</vt:lpstr>
      <vt:lpstr>Slide 17</vt:lpstr>
      <vt:lpstr>Slide 18</vt:lpstr>
      <vt:lpstr>Slide 19</vt:lpstr>
      <vt:lpstr>Slide 20</vt:lpstr>
      <vt:lpstr>Slide 21</vt:lpstr>
      <vt:lpstr>Slide 22</vt:lpstr>
      <vt:lpstr>Slide 23</vt:lpstr>
      <vt:lpstr>Slide 24</vt:lpstr>
      <vt:lpstr>Slide 25</vt:lpstr>
      <vt:lpstr>Slide 26</vt:lpstr>
      <vt:lpstr>Slide 27</vt:lpstr>
      <vt:lpstr>Slide 28</vt:lpstr>
      <vt:lpstr>Slide 29</vt:lpstr>
      <vt:lpstr>Slide 30</vt:lpstr>
      <vt:lpstr>Slide 31</vt:lpstr>
      <vt:lpstr>Slide 32</vt:lpstr>
      <vt:lpstr>Slide 33</vt:lpstr>
      <vt:lpstr>Slide 34</vt:lpstr>
      <vt:lpstr>Slide 35</vt:lpstr>
      <vt:lpstr>Slide 36</vt:lpstr>
      <vt:lpstr>Slide 37</vt:lpstr>
      <vt:lpstr>Slide 38</vt:lpstr>
      <vt:lpstr>Slide 39</vt:lpstr>
      <vt:lpstr>Slide 40</vt:lpstr>
      <vt:lpstr>Slide 41</vt:lpstr>
      <vt:lpstr>Slide 42</vt:lpstr>
      <vt:lpstr>Slide 43</vt:lpstr>
      <vt:lpstr>Slide 44</vt:lpstr>
      <vt:lpstr>Slide 45</vt:lpstr>
      <vt:lpstr>Slide 46</vt:lpstr>
      <vt:lpstr>Slide 47</vt:lpstr>
      <vt:lpstr>Slide 48</vt:lpstr>
      <vt:lpstr>Slide 49</vt:lpstr>
      <vt:lpstr>Slide 50</vt:lpstr>
      <vt:lpstr>Slide 51</vt:lpstr>
      <vt:lpstr>Slide 52</vt:lpstr>
      <vt:lpstr>Slide 53</vt:lpstr>
      <vt:lpstr>Slide 54</vt:lpstr>
      <vt:lpstr>Slide 55</vt:lpstr>
      <vt:lpstr>Slide 56</vt:lpstr>
      <vt:lpstr>Slide 57</vt:lpstr>
      <vt:lpstr>Slide 58</vt:lpstr>
    </vt:vector>
  </TitlesOfParts>
  <Company>PptxGenJS</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PptxGenJS Presentation</dc:title>
  <dc:subject>PptxGenJS Presentation</dc:subject>
  <dc:creator>PptxGenJS</dc:creator>
  <cp:lastModifiedBy>PptxGenJS</cp:lastModifiedBy>
  <cp:revision>1</cp:revision>
  <dcterms:created xsi:type="dcterms:W3CDTF">2026-09-29T03:13:15Z</dcterms:created>
  <dcterms:modified xsi:type="dcterms:W3CDTF">2026-09-29T03:13:15Z</dcterms:modified>
</cp:coreProperties>
</file>