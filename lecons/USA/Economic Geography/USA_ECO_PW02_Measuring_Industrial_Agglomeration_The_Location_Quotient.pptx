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Today we study Practical Work 2: Measuring Industrial Agglomeration: The Location Quotient.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situation slowly,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write the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calculate each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interpret each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shade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discuss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copy the board summary now. Give them enough time for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concentration 2. average 3. employment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homework prepares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English word; learners give the French word, then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990011"/>
          </a:solidFill>
          <a:ln w="12700">
            <a:solidFill>
              <a:srgbClr val="990011"/>
            </a:solidFill>
            <a:prstDash val="solid"/>
          </a:ln>
        </p:spPr>
      </p:sp>
      <p:sp>
        <p:nvSpPr>
          <p:cNvPr id="3" name="Shape 1"/>
          <p:cNvSpPr/>
          <p:nvPr/>
        </p:nvSpPr>
        <p:spPr>
          <a:xfrm>
            <a:off x="0" y="6656832"/>
            <a:ext cx="12191695" cy="201168"/>
          </a:xfrm>
          <a:prstGeom prst="rect">
            <a:avLst/>
          </a:prstGeom>
          <a:solidFill>
            <a:srgbClr val="1C3F6E"/>
          </a:solidFill>
          <a:ln w="12700">
            <a:solidFill>
              <a:srgbClr val="1C3F6E"/>
            </a:solidFill>
            <a:prstDash val="solid"/>
          </a:ln>
        </p:spPr>
      </p:sp>
      <p:pic>
        <p:nvPicPr>
          <p:cNvPr id="4" name="Image 0" descr="/home/claude/pw1/logo.png">    </p:cNvPr>
          <p:cNvPicPr>
            <a:picLocks noChangeAspect="1"/>
          </p:cNvPicPr>
          <p:nvPr/>
        </p:nvPicPr>
        <p:blipFill>
          <a:blip r:embed="rId1"/>
          <a:stretch>
            <a:fillRect/>
          </a:stretch>
        </p:blipFill>
        <p:spPr>
          <a:xfrm>
            <a:off x="5409590" y="457200"/>
            <a:ext cx="1371600" cy="1371600"/>
          </a:xfrm>
          <a:prstGeom prst="rect">
            <a:avLst/>
          </a:prstGeom>
        </p:spPr>
      </p:pic>
      <p:sp>
        <p:nvSpPr>
          <p:cNvPr id="5" name="Text 2"/>
          <p:cNvSpPr txBox="1"/>
          <p:nvPr/>
        </p:nvSpPr>
        <p:spPr>
          <a:xfrm>
            <a:off x="731520" y="1965960"/>
            <a:ext cx="10725912" cy="640080"/>
          </a:xfrm>
          <a:prstGeom prst="rect">
            <a:avLst/>
          </a:prstGeom>
          <a:noFill/>
          <a:ln/>
        </p:spPr>
        <p:txBody>
          <a:bodyPr wrap="square" lIns="0" tIns="0" rIns="0" bIns="0" rtlCol="0" anchor="ctr"/>
          <a:lstStyle/>
          <a:p>
            <a:pPr algn="ctr" indent="0" marL="0">
              <a:buNone/>
            </a:pPr>
            <a:r>
              <a:rPr lang="en-US" sz="2000" b="1" dirty="0">
                <a:solidFill>
                  <a:srgbClr val="1C3F6E"/>
                </a:solidFill>
                <a:latin typeface="Cambria" pitchFamily="34" charset="0"/>
                <a:ea typeface="Cambria" pitchFamily="34" charset="-122"/>
                <a:cs typeface="Cambria" pitchFamily="34" charset="-120"/>
              </a:rPr>
              <a:t>DIVINE GRACE COLLEGE OF ARTS, SCIENCE AND TECHNOLOGY</a:t>
            </a:r>
            <a:endParaRPr lang="en-US" sz="2000" dirty="0"/>
          </a:p>
        </p:txBody>
      </p:sp>
      <p:sp>
        <p:nvSpPr>
          <p:cNvPr id="6" name="Text 3"/>
          <p:cNvSpPr txBox="1"/>
          <p:nvPr/>
        </p:nvSpPr>
        <p:spPr>
          <a:xfrm>
            <a:off x="914400" y="2606040"/>
            <a:ext cx="10360152" cy="411480"/>
          </a:xfrm>
          <a:prstGeom prst="rect">
            <a:avLst/>
          </a:prstGeom>
          <a:noFill/>
          <a:ln/>
        </p:spPr>
        <p:txBody>
          <a:bodyPr wrap="square" lIns="0" tIns="0" rIns="0" bIns="0" rtlCol="0" anchor="ctr"/>
          <a:lstStyle/>
          <a:p>
            <a:pPr algn="ctr" indent="0" marL="0">
              <a:buNone/>
            </a:pPr>
            <a:r>
              <a:rPr lang="en-US" sz="1500" dirty="0">
                <a:solidFill>
                  <a:srgbClr val="1A1A1A"/>
                </a:solidFill>
                <a:latin typeface="Calibri" pitchFamily="34" charset="0"/>
                <a:ea typeface="Calibri" pitchFamily="34" charset="-122"/>
                <a:cs typeface="Calibri" pitchFamily="34" charset="-120"/>
              </a:rPr>
              <a:t>(DGCAST) — GAROUA   |   GEOGRAPHY DEPARTMENT</a:t>
            </a:r>
            <a:endParaRPr lang="en-US" sz="1500" dirty="0"/>
          </a:p>
        </p:txBody>
      </p:sp>
      <p:sp>
        <p:nvSpPr>
          <p:cNvPr id="7" name="Text 4"/>
          <p:cNvSpPr txBox="1"/>
          <p:nvPr/>
        </p:nvSpPr>
        <p:spPr>
          <a:xfrm>
            <a:off x="914400" y="3200400"/>
            <a:ext cx="10360152" cy="685800"/>
          </a:xfrm>
          <a:prstGeom prst="rect">
            <a:avLst/>
          </a:prstGeom>
          <a:noFill/>
          <a:ln/>
        </p:spPr>
        <p:txBody>
          <a:bodyPr wrap="square" lIns="0" tIns="0" rIns="0" bIns="0" rtlCol="0" anchor="ctr"/>
          <a:lstStyle/>
          <a:p>
            <a:pPr algn="ctr" indent="0" marL="0">
              <a:buNone/>
            </a:pPr>
            <a:r>
              <a:rPr lang="en-US" sz="3400" b="1" dirty="0">
                <a:solidFill>
                  <a:srgbClr val="990011"/>
                </a:solidFill>
                <a:latin typeface="Cambria" pitchFamily="34" charset="0"/>
                <a:ea typeface="Cambria" pitchFamily="34" charset="-122"/>
                <a:cs typeface="Cambria" pitchFamily="34" charset="-120"/>
              </a:rPr>
              <a:t>UPPER SIXTH ARTS  —  ECONOMIC GEOGRAPHY  —  PRACTICAL WORK 2</a:t>
            </a:r>
            <a:endParaRPr lang="en-US" sz="3400" dirty="0"/>
          </a:p>
        </p:txBody>
      </p:sp>
      <p:sp>
        <p:nvSpPr>
          <p:cNvPr id="8" name="Text 5"/>
          <p:cNvSpPr txBox="1"/>
          <p:nvPr/>
        </p:nvSpPr>
        <p:spPr>
          <a:xfrm>
            <a:off x="914400" y="3931920"/>
            <a:ext cx="10360152" cy="548640"/>
          </a:xfrm>
          <a:prstGeom prst="rect">
            <a:avLst/>
          </a:prstGeom>
          <a:noFill/>
          <a:ln/>
        </p:spPr>
        <p:txBody>
          <a:bodyPr wrap="square" lIns="0" tIns="0" rIns="0" bIns="0" rtlCol="0" anchor="ctr"/>
          <a:lstStyle/>
          <a:p>
            <a:pPr algn="ctr" indent="0" marL="0">
              <a:buNone/>
            </a:pPr>
            <a:r>
              <a:rPr lang="en-US" sz="2100" b="1" dirty="0">
                <a:solidFill>
                  <a:srgbClr val="B8860B"/>
                </a:solidFill>
                <a:latin typeface="Calibri" pitchFamily="34" charset="0"/>
                <a:ea typeface="Calibri" pitchFamily="34" charset="-122"/>
                <a:cs typeface="Calibri" pitchFamily="34" charset="-120"/>
              </a:rPr>
              <a:t>Measuring Industrial Agglomeration: The Location Quotient</a:t>
            </a:r>
            <a:endParaRPr lang="en-US" sz="2100" dirty="0"/>
          </a:p>
        </p:txBody>
      </p:sp>
      <p:sp>
        <p:nvSpPr>
          <p:cNvPr id="9" name="Text 6"/>
          <p:cNvSpPr txBox="1"/>
          <p:nvPr/>
        </p:nvSpPr>
        <p:spPr>
          <a:xfrm>
            <a:off x="914400" y="5394960"/>
            <a:ext cx="10360152" cy="91440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Mr KAMDEM EMMANUEL</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Geography Teacher — PLEG</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Academic Year 2026 / 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CLASS INFO</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Class, Chapter &amp; Duration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Class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Upper Sixth Arts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Chapter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Duration</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2 periods (2 × 50 minutes)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IDENTIFICATION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Lesson Identification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Distribution of Industries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Distribution of Industries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Practical Work 2: Measuring Industrial Agglomeration: The Location Quotient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Notions /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Location quotient, concentration, employment data.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Syllabus focus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Meaning, formula, application, interpretation, advantages and disadvantages of the location quotient.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Learners are able to calculate and interpret the location quotient.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OBJECTIVES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Learning Objectives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200" b="1" dirty="0">
                <a:solidFill>
                  <a:srgbClr val="111111"/>
                </a:solidFill>
                <a:latin typeface="Calibri" pitchFamily="34" charset="0"/>
                <a:ea typeface="Calibri" pitchFamily="34" charset="-122"/>
                <a:cs typeface="Calibri" pitchFamily="34" charset="-120"/>
              </a:rPr>
              <a:t>By the end of the lesson, the learner should be able to:</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State the formula of the location quotient.</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Calculate LQ from data.</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Interpret LQ and give its limits.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RECALL</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Recall</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Industries concentrate in some regions.</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Percentages compare parts of a whole.</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Real-Life Situation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Ministry of Industry wants to know whether the textile industry is really concentrated in the North. It gives the class the number of textile workers and all workers in each region.</a:t>
            </a:r>
            <a:endParaRPr 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measure concentration.</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index will they use?</a:t>
            </a:r>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location quotient.</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LQ &gt; 1 mean?</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industry is concentrated in that region.</a:t>
            </a:r>
            <a:endParaRPr lang="en-US"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JUSTIFICATION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measure the concentration of industries.</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THE FORMULA</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13" name="Image 0" descr="/home/claude/f4/img/v2/lq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Location quotients by region.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THE FORMULA</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the formula of the location quotient.</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THE FORMULA</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LQ = (workers in the industry in the region ÷ all workers in the region) ÷ (workers in the industry in the country ÷ all workers in the country).</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CALCULATION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13" name="Image 0" descr="/home/claude/f4/img/v2/lq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Worked example.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CALCULATION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LQ of the Centre (2,000 textile workers out of 200,000).</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CALCULATION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(2,000 ÷ 200,000) ÷ (10,000 ÷ 500,000) = 0.01 ÷ 0.02 = 0.5.</a:t>
            </a:r>
            <a:endParaRPr lang="en-US"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INTERPRETATION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13" name="Image 0" descr="/home/claude/f4/img/v2/usa_textile.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Textile workers.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INTERPRETATION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Interpret LQ = 3.0 for the North.</a:t>
            </a:r>
            <a:endParaRPr 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INTERPRETATION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North has three times its fair share: the industry is strongly concentrated there.</a:t>
            </a:r>
            <a:endParaRPr lang="en-US" sz="4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MAPPING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13" name="Image 0" descr="/home/claude/f4/img/v2/cmr_industry_big.png">    </p:cNvPr>
          <p:cNvPicPr>
            <a:picLocks noChangeAspect="1"/>
          </p:cNvPicPr>
          <p:nvPr/>
        </p:nvPicPr>
        <p:blipFill>
          <a:blip r:embed="rId1"/>
          <a:stretch>
            <a:fillRect/>
          </a:stretch>
        </p:blipFill>
        <p:spPr>
          <a:xfrm>
            <a:off x="1568196" y="1691640"/>
            <a:ext cx="9052560"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Industrial regions of Cameroon.</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MAPPING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LQ results be shown on a map?</a:t>
            </a:r>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MAPPING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a choropleth map shading regions by LQ.</a:t>
            </a:r>
            <a:endParaRPr lang="en-US" sz="4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LIMITS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13" name="Image 0" descr="/home/claude/f4/img/v2/f2t_factory_workers.jpg">    </p:cNvPr>
          <p:cNvPicPr>
            <a:picLocks noChangeAspect="1"/>
          </p:cNvPicPr>
          <p:nvPr/>
        </p:nvPicPr>
        <p:blipFill>
          <a:blip r:embed="rId1"/>
          <a:stretch>
            <a:fillRect/>
          </a:stretch>
        </p:blipFill>
        <p:spPr>
          <a:xfrm>
            <a:off x="2019570" y="1691640"/>
            <a:ext cx="8149812"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Factory workers.</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LIMITS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limit of LQ.</a:t>
            </a:r>
            <a:endParaRPr lang="en-US"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LIMITS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simple and comparable. Limit: depends on data quality and region size.</a:t>
            </a:r>
            <a:endParaRPr lang="en-US" sz="4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Measuring Industrial Agglomeration: The Location Quotient</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Distribution of Industries</a:t>
            </a:r>
            <a:endParaRPr lang="en-US" sz="3200" dirty="0"/>
          </a:p>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Distribution of Industries</a:t>
            </a:r>
            <a:endParaRPr lang="en-US" sz="3200" dirty="0"/>
          </a:p>
          <a:p>
            <a:pPr indent="0" marL="0">
              <a:lnSpc>
                <a:spcPct val="100000"/>
              </a:lnSpc>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Practical Work 2: Measuring Industrial Agglomeration: The Location Quotient</a:t>
            </a:r>
            <a:endParaRPr lang="en-US"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Location quotient (LQ):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an index that compares the share of an industry in a region with its share in the country.</a:t>
            </a:r>
            <a:endParaRPr lang="en-US" sz="4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Method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Formula: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LQ = (Ei ÷ E) in the region ÷ (Ni ÷ N) in the country. E and N are employment figures.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Steps: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Calculate the share in the region, then the share in the country, and divide. Round to one decimal place.</a:t>
            </a:r>
            <a:endParaRPr lang="en-US" sz="4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Method (2/2)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Interpretation: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LQ &gt; 1 means concentration, LQ = 1 an average share and LQ &lt; 1 under-representation. Results can be mapped.</a:t>
            </a:r>
            <a:endParaRPr lang="en-US" sz="4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Advantages and Disadvantages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Advantages: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simple and allows comparison between regions and industries. It uses available employment data.</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Disadvantages: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depends on accurate data and on how regions are drawn. It says nothing about output or firm size.</a:t>
            </a:r>
            <a:endParaRPr lang="en-US" sz="4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Advantages and Disadvantages (2/2)</a:t>
            </a:r>
            <a:endParaRPr lang="en-US" sz="3600" dirty="0"/>
          </a:p>
        </p:txBody>
      </p:sp>
      <p:pic>
        <p:nvPicPr>
          <p:cNvPr id="13" name="Image 0" descr="/home/claude/f4/img/v2/lq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Copy the table.</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region has 600 of 30,000 workers in brewing; the country has 2,000 of 400,000. Find LQ.</a:t>
            </a:r>
            <a:endParaRPr lang="en-US" sz="4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(600 ÷ 30,000) ÷ (2,000 ÷ 400,000) = 0.02 ÷ 0.005 = 4.0.</a:t>
            </a:r>
            <a:endParaRPr lang="en-US" sz="4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LQ = 0.5 mean?</a:t>
            </a:r>
            <a:endParaRPr lang="en-US" sz="4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industry is under-represented in the region.</a:t>
            </a:r>
            <a:endParaRPr lang="en-US" sz="4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REMEDIATION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Fill in the blanks: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LQ &gt; 1 means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LQ = 1 means an ______ share.</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LQ uses ______ data.</a:t>
            </a:r>
            <a:endParaRPr lang="en-US" sz="3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HOMEWORK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LQ for each region using the table and draw a choropleth map.</a:t>
            </a:r>
            <a:endParaRPr lang="en-US" sz="4000" dirty="0"/>
          </a:p>
          <a:p>
            <a:pPr indent="0" marL="0">
              <a:lnSpc>
                <a:spcPct val="100000"/>
              </a:lnSpc>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This prepares Lesson 20: Functional Linkages.</a:t>
            </a:r>
            <a:endParaRPr lang="en-US" sz="4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BILINGUAL GAME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Bilingual Game (Jeu Bilingue)</a:t>
            </a:r>
            <a:endParaRPr lang="en-US" sz="3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2011680" y="1783080"/>
          <a:ext cx="8138160" cy="914400"/>
        </p:xfrm>
        <a:graphic>
          <a:graphicData uri="http://schemas.openxmlformats.org/drawingml/2006/table">
            <a:tbl>
              <a:tblPr/>
              <a:tblGrid>
                <a:gridCol w="4069080"/>
                <a:gridCol w="4069080"/>
              </a:tblGrid>
              <a:tr h="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Français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Quotient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quotient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Employment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L'emploi</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Share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part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Concentration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concentration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Region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région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Data</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Les données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(1/2)</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Module / Topic</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Distribution of Industries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Lesson Title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Practical Work 2: Measuring Industrial Agglomeration: The Location Quotient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Expected Learning Outcomes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State the formula of the location quotient. Calculate LQ from data. Interpret LQ and give its limits.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Competence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Learners are able to calculate and interpret the location quotient.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(2/2)</a:t>
            </a:r>
            <a:endParaRPr lang="en-US" sz="3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Matter Taught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I. Definitions: Location quotient (LQ); II. Method: Formula, Steps, Interpretation; III. Advantages and Disadvantages: Advantages, Disadvantages.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Evaluation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Formative evaluation (3 questions) and remediation exercise.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Homework</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Calculate the LQ for each region using the table and draw a choropleth map.</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Enrolment / Present / Absent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____ / ____ / ____</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Achievement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To be completed by the teacher after the lesson.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TEACHER'S NOTE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Teacher's Note</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Timing: Set-up, recall 8 min | Situation 8 min | 5 activities 30 min | Board summary (copying) 30 min | Evaluation, remediation 10 min | Homework, logbook 9 min | Spare 5 min</a:t>
            </a:r>
            <a:endParaRPr lang="en-US"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REFERENCES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References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National Geography Syllabus, Sixth Forms (Lower &amp; Upper Sixth), MINESEC/IGE/IP-SS, August 2019 — Module 6 (Economic Geography).</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3: “General Photos: Turkmenistan” by Asian Development Bank, CC BY-NC-ND 2.0, via Flickr (https://www.flickr.com/photos/58037435@N08/8800569339)</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5: “Photo by USAID East Africa” by U.S. Agency for International Development, CC0 1.0, via rawpixel (https://www.rawpixel.com/image/4051097/image-public-domain-person-building)</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Diagrams and animations: drawn for this lesson (DGCAST Geography Department).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2026-09-26T20:31:27Z</dcterms:created>
  <dcterms:modified xsi:type="dcterms:W3CDTF">2026-09-26T20:31:27Z</dcterms:modified>
</cp:coreProperties>
</file>