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notesMasterIdLst>
    <p:notesMasterId r:id="rId5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30: The Taaffe, Morrill and Gould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Transport Network Development, and the sub-topic is Transport Network Development Theories. The key notions we shall use today are: model, penetration line, feeder route, interconnection, high-priority link. At the end, you should be able to do this: learners are able to describe the stages of the Taaffe, Morrill and Gould model and apply it to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5: Measuring Transport Network Efficiency. The question was: Draw a topological map of five towns in your region and calculate its beta index and accessibility matrix.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Draw five towns as dots and the roads as straight lines. Example: 5 nodes and 6 links give β = 1.2 (well connected); fill the 5 × 5 matrix with shortest paths and add the rows: the lowest total is the most accessible town.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state the assumptions of the model. Number 2: describe its four stages. Number 3: apply and criticise the model using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Networks grow over time. The colonial railway joined Douala to the interior.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The first modern routes in Cameroon were railways from Douala into the interior built by the Germans. Later, roads joined other towns to these lines. Today, towns are linked by many roads.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We must explain how the network grew.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did the first routes start?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At the coast (ports).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came after the first lines?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Feeder roads and interconnections.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extend transport links to the interior to open up isolated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explain the growth of transport networks in developing countries.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four stages of the model.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Where was the model first developed?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From studies of Ghana and Nigeria in West Africa (1963).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port.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stages 1 and 2.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Stage 1: scattered small ports. Stage 2: lines of penetration join some ports to the interior.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feeder routes and interconnection.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Describe stages 3 and 4.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Stage 3: feeder roads join the lines. Stage 4: routes interconnect and main links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main routes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Which stage fits the Douala–Ngaoundéré railway?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Stage 2: a line of penetration from the port to the interior.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train.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criticisms of the model.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ignores air and political factors, and not all ports grow the same 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Model.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Line of penetration and Feeder route.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Taaffe, Morrill and Gould Model. The model can be presented as follows. On this slide we have Origin.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Taaffe, Morrill and Gould Model. On this slide we have Assumptions.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Four Stages of the Model. The model has four stages, each with its own factors. On this slide we have Stage 1 – Scattered ports.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Four Stages of the Model. On this slide we have Stage 2 – Lines of penetration.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Four Stages of the Model. On this slide we have Stage 3 – Feeder routes.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Four Stages of the Model. On this slide we have Stage 4 – Interconnection.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four stages of the model.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Application and Evaluation. The model can be applied and judged as follows. On this slide we have Application to Cameroon.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Application and Evaluation. On this slide we have Strengths and Weaknesses.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the four stages of the model.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scattered ports, penetration lines, feeder routes, interconnection.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Apply the model to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douala as port, railway as penetration line, roads as feeders, national roads as interconnection.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1963; number 2, penetration; number 3, feeder.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showing how the road network of your region developed.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6: Transport Development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30: THE TAAFFE, MORRILL AND GOULD MODEL</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30</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Taaffe, Morrill and Gould Model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Network Development Theories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30: The Taaffe, Morrill and Gould Model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Model, penetration line, feeder route, interconnection, high-priority link.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Taaffe, Morrill and Gould (1963) model of network development; the four stages and the factors at each stage; evaluation.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stages of the Taaffe, Morrill and Gould model and apply it to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5: Measuring Transport Network Efficiency):</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topological map of five towns in your region and calculate its beta index and accessibility matrix.</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five towns as dots and the roads as straight lines. Example: 5 nodes and 6 links give β = 1.2 (well connected); fill the 5 × 5 matrix with shortest paths and add the rows: the lowest total is the most accessible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State the assumptions of the model.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its four stages.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Apply and criticise the model using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Networks grow over time.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colonial railway joined Douala to the interior.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first modern routes in Cameroon were railways from Douala into the interior built by the Germans. Later, roads joined other towns to these lines. Today, towns are linked by many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We must explain how the network grew.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did the first routes start?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the coast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came after the first lines?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Feeder roads and interconnections.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Extend transport links to the interior to open up isolated regions.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explain the growth of transport networks in developing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aaff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stages of the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was the model first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studies of Ghana and Nigeria in West Africa (1963).</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1 AND 2</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por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port.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1 AND 2</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stages 1 and 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1 AND 2</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1: scattered small ports. Stage 2: lines of penetration join some ports to the interior.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3 AND 4</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aaff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Feeder routes and interconnection.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3 AND 4</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stages 3 and 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STAGES 3 AND 4</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3: feeder roads join the lines. Stage 4: routes interconnect and main links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 TO CAMEROON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transport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routes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 TO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stage fits the Douala–Ngaoundéré railway?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APPLICATION TO CAMEROON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Stage 2: a line of penetration from the port to the interior.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EVALUATION OF THE MODEL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trai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EVALUATION OF THE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criticisms of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EVALUATION OF THE MODEL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air and political factors, and not all ports grow the same 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Transport Network Development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Transport Network Development Theories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30: The Taaffe, Morrill and Gould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Model: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simplified picture of reality used to explain and predict it. It keeps only the main features.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 of penetration: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main route from a port into the interior. It is built to reach mines, plantations or large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Feeder route: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small route that joins a main line. It brings traffic from the surrounding area to the main route.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Taaffe, Morrill and Gould Model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can be presented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Origin: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was proposed in 1963 by Taaffe, Morrill and Gould from a study of Ghana and Nigeria. It explains how networks grow in developing countries.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 Taaffe, Morrill and Gould Model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Assumptions: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network starts at the coast, where ports trade with the outside world. Routes then grow towards the interior where resources are found.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Four Stages of the Model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has four stages, each with its own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1 – Scattered ports: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Small ports along the coast trade with nearby areas only. There are few links inland because the interior is not yet exploited.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Four Stages of the Model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2 – Lines of penetration: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Some ports are joined by main routes to mines, farms or towns inland. These ports grow fast and the others decline.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Four Stages of the Model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3 – Feeder routes: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Feeder routes develop along the main lines and new nodes grow at junctions. Trade and population increase along the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Four Stages of the Model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Stage 4 – Interconnection: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Links join up and high-priority main routes form between the largest nodes. The network becomes well connected.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Four Stages of the Model</a:t>
            </a:r>
            <a:endParaRPr lang="en-US" sz="3600" dirty="0"/>
          </a:p>
        </p:txBody>
      </p:sp>
      <p:pic>
        <p:nvPicPr>
          <p:cNvPr id="4" name="Image 0" descr="/home/claude/f4/img/v2/taaff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four stages of the model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Application and Evaluation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model can be applied and judged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Application to 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was the main port, and the German railways were lines of penetration to the interior. Feeder roads and national roads later interconnected the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Application and Evaluation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Strengths: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model is simple and fits many former colonies. It shows the role of ports and resources in network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Weaknesses: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ignores air transport and political choices. Real networks do not always pass through the stages in order.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four stages of the model.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Scattered ports, penetration lines, feeder routes, interconnection.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Apply the model to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as port, railway as penetration line, roads as feeders, national roads as interconnection.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model was built in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route from a port inland is a line of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Small roads joining main lines are ______ routes.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showing how the road network of your region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6: Transport Development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Model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modèle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L'étape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Interior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L'intérieur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Feeder 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 secondaire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Main road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route principale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Transport Network Development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30: The Taaffe, Morrill and Gould Model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State the assumptions of the model. Describe its four stages. Apply and criticise the model using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stages of the Taaffe, Morrill and Gould model and apply it to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 Taaffe, Morrill and Gould Model; The Four Stages of the Model; Application and 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showing how the road network of your region developed.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read the title.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first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last boxes.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it on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the limits.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“JAXPORT Welcomes Largest Container Ship To Date” by JAXPORT, CC BY-NC 2.0, via Flickr (https://www.flickr.com/photos/24847875@N05/17069054628)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“Train de nuit” by Huard, CC BY-NC-ND 2.0, via Flickr (https://www.flickr.com/photos/41569561@N07/5499545979)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56</Slides>
  <Notes>56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56</vt:i4>
      </vt:variant>
    </vt:vector>
  </HeadingPairs>
  <TitlesOfParts>
    <vt:vector size="5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2026-09-27T10:31:52Z</dcterms:created>
  <dcterms:modified xsi:type="dcterms:W3CDTF">2026-09-27T10:31:52Z</dcterms:modified>
</cp:coreProperties>
</file>