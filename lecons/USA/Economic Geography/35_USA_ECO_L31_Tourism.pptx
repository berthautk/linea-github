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slideMasters/slideMaster60.xml" ContentType="application/vnd.openxmlformats-officedocument.presentationml.slideMaster+xml"/>
  <Override PartName="/ppt/slides/slide6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Lst>
  <p:notesMasterIdLst>
    <p:notesMasterId r:id="rId6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notesMaster" Target="notesMasters/notesMaster1.xml"/><Relationship Id="rId63" Type="http://schemas.openxmlformats.org/officeDocument/2006/relationships/presProps" Target="presProps.xml"/><Relationship Id="rId64" Type="http://schemas.openxmlformats.org/officeDocument/2006/relationships/viewProps" Target="viewProps.xml"/><Relationship Id="rId65" Type="http://schemas.openxmlformats.org/officeDocument/2006/relationships/theme" Target="theme/theme1.xml"/><Relationship Id="rId6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Lesson 31: Tourism.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Upper Sixth Arts. It belongs to Module 6: Understanding and managing the dynamics of economic activities across the world in general and Cameroon in particular. We shall need 2 periods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Tourism Activities, and the sub-topic is World (Global) Tourism. The key notions we shall use today are: tourism, tourist, destination, mass tourism, ecotourism, Butler model. At the end, you should be able to do this: learners are able to explain world tourism, its impacts and its evolution.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Lesson 30: The Taaffe, Morrill and Gould Model. The question was: Name two tourist sites in Cameroon.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Examples: Waza National Park, Kribi and the Lobé Falls, Mount Cameroon, Rhumsiki, the Foumban palace (any two).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your time to copy this part; we will continue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three things. Number 1: define tourism and classify its types. Number 2: describe origins, destinations and factors of growth. Number 3: explain the impacts of tourism and the Butler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People travel for holidays. Cameroon has beaches, mountains and parks.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European tourists visit the beaches of Kribi and the park of Waza. They spend money in hotels and markets, but some beaches become dirty and local customs change.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Tourism brings money but also problems.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Name two tourist attractions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Kribi beaches and Waza park.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Give one problem of tourism.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Pollution of beaches (or change in local customs).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protect tourist sites and welcome visitors respectfully.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lesson helps us to understand tourism and how to manage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picture: a crowded beach resort.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Distinguish mass tourism and ecotourism.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Mass tourism: many tourists in resorts. Ecotourism: small groups visiting nature with care for the environment.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diagram: main tourist flows.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Which region sends and receives most tourists?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Europe.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picture: wildlife in an African park.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Give two natural and two human tourist resources.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Natural: wildlife, beaches. Human: monuments, festivals.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4. Look carefully at this diagram: positive and negative impacts.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4: Give two positive and two negative impacts of tourism.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Positive: jobs, foreign currency. Negative: pollution, loss of culture.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5. Look carefully at this diagram: butler's tourist area life cycle.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5: What can happen after stagnation?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Decline, or rejuvenation if the resort is improved.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Meaning and Nature of Tourism. Tourism and its types can be defined as follows. On this slide we have Tourism.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Meaning and Nature of Tourism. On this slide we have Types of tourism.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Meaning and Nature of Tourism. On this slide we have Categories of tourists.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Origins, Destinations and Growth. World tourism is organised as follows. On this slide we have Origins and destinations.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Origins, Destinations and Growth. On this slide we have Factors of growth.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main tourist flows.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Resources, Facilities and Activities. Tourism depends on the following resources and facilities. On this slide we have Tourist resources.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Resources, Facilities and Activities. On this slide we have Facilities and activities.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Impacts and Promotion of Tourism. Tourism has impacts and can be promoted as follows. On this slide we have Positive impacts.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Impacts and Promotion of Tourism. On this slide we have Negative impacts and Promotion measures.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impacts of tourism.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Butler's Model of Tourist Area Evolution. Butler (1980) described the life cycle of a resort as follows. On this slide we have Early stages.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Butler's Model of Tourist Area Evolution. On this slide we have Later stages.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butler's tourist area life cycle.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Give two factors for the growth of world tourism.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higher incomes and cheaper air travel.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Name the stages of Butler's model.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exploration, involvement, development, consolidation, stagnation, then decline or rejuvenation.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ecotourism; number 2, Europe; number 3, consolidation.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Name two causes of air pollution in your town.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Lesson 1: Pollution.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UPPER SIXTH ARTS</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LESSON 31: TOURISM</a:t>
            </a:r>
            <a:endParaRPr lang="en-US" sz="16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GBHS 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jp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jp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2.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2.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slideLayout" Target="../slideLayouts/slideLayout2.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slideLayout" Target="../slideLayouts/slideLayout2.xml"/><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image-50-1.png"/><Relationship Id="rId2" Type="http://schemas.openxmlformats.org/officeDocument/2006/relationships/slideLayout" Target="../slideLayouts/slideLayout2.xml"/><Relationship Id="rId3"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image" Target="../media/image-51-1.png"/><Relationship Id="rId2" Type="http://schemas.openxmlformats.org/officeDocument/2006/relationships/slideLayout" Target="../slideLayouts/slideLayout2.xml"/><Relationship Id="rId3"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image" Target="../media/image-52-1.png"/><Relationship Id="rId2" Type="http://schemas.openxmlformats.org/officeDocument/2006/relationships/slideLayout" Target="../slideLayouts/slideLayout2.xml"/><Relationship Id="rId3"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image" Target="../media/image-53-1.png"/><Relationship Id="rId2" Type="http://schemas.openxmlformats.org/officeDocument/2006/relationships/slideLayout" Target="../slideLayouts/slideLayout2.xml"/><Relationship Id="rId3"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image" Target="../media/image-54-1.png"/><Relationship Id="rId2" Type="http://schemas.openxmlformats.org/officeDocument/2006/relationships/slideLayout" Target="../slideLayouts/slideLayout2.xml"/><Relationship Id="rId3"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image" Target="../media/image-55-1.png"/><Relationship Id="rId2" Type="http://schemas.openxmlformats.org/officeDocument/2006/relationships/slideLayout" Target="../slideLayouts/slideLayout2.xml"/><Relationship Id="rId3"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image" Target="../media/image-59-1.png"/><Relationship Id="rId2" Type="http://schemas.openxmlformats.org/officeDocument/2006/relationships/slideLayout" Target="../slideLayouts/slideLayout2.xml"/><Relationship Id="rId3"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image" Target="../media/image-60-1.png"/><Relationship Id="rId2" Type="http://schemas.openxmlformats.org/officeDocument/2006/relationships/slideLayout" Target="../slideLayouts/slideLayout2.xml"/><Relationship Id="rId3" Type="http://schemas.openxmlformats.org/officeDocument/2006/relationships/notesSlide" Target="../notesSlides/notesSlide6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UPPER SIXTH ARTS</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Lesson 31</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Tourism</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Upper Sixth Arts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Module 6: Understanding and managing the dynamics of economic activities across the world in general and Cameroon in particular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2 periods (2 × 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Tourism Activities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World (Global) Tourism</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Lesson 31: Tourism</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Tourism, tourist, destination, mass tourism, ecotourism, Butler model.</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Meaning; types and categories of tourists; major origins and destinations; resources, facilities and activities; impacts; growth and factors; measures to promote tourism; Butler's model.</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explain world tourism, its impacts and its evolution.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(Lesson 30: The Taaffe, Morrill and Gould Model):</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Name two tourist sites in Cameroon.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Examples: Waza National Park, Kribi and the Lobé Falls, Mount Cameroon, Rhumsiki, the Foumban palace (any two).</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Define tourism and classify its types.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Describe origins, destinations and factors of growth.</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Explain the impacts of tourism and the Butler model.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People travel for holidays.</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Cameroon has beaches, mountains and parks.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European tourists visit the beaches of Kribi and the park of Waza. They spend money in hotels and markets, but some beaches become dirty and local customs change.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Tourism brings money but also problems.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Name two tourist attractions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Kribi beaches and Waza park.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one problem of tourism.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Pollution of beaches (or change in local customs).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Protect tourist sites and welcome visitors respectfully.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lesson helps us to understand tourism and how to manage it.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 AND TYPES OF TOURISM</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usa_beach.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crowded beach resort.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 AND TYPES OF TOURISM</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Distinguish mass tourism and ecotourism.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 AND TYPES OF TOURISM</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Mass tourism: many tourists in resorts. Ecotourism: small groups visiting nature with care for the environment.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ORIGINS AND DESTINATIONS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tourism_flows_big.png">    </p:cNvPr>
          <p:cNvPicPr>
            <a:picLocks noChangeAspect="1"/>
          </p:cNvPicPr>
          <p:nvPr/>
        </p:nvPicPr>
        <p:blipFill>
          <a:blip r:embed="rId1"/>
          <a:stretch>
            <a:fillRect/>
          </a:stretch>
        </p:blipFill>
        <p:spPr>
          <a:xfrm>
            <a:off x="1825600" y="1783080"/>
            <a:ext cx="8540496"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Main tourist flows.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ORIGINS AND DESTINATIONS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Which region sends and receives most tourists?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ORIGINS AND DESTINATIONS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Europe.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RESOURCES AND ACTIVITIES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usa_safari.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Wildlife in an African park.</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RESOURCES AND ACTIVITIES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two natural and two human tourist resources.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RESOURCES AND ACTIVITIES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Natural: wildlife, beaches. Human: monuments, festivals.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4. IMPACTS OF TOURISM</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a:t>
            </a:r>
            <a:endParaRPr lang="en-US" sz="3600" dirty="0"/>
          </a:p>
        </p:txBody>
      </p:sp>
      <p:pic>
        <p:nvPicPr>
          <p:cNvPr id="4" name="Image 0" descr="/home/claude/f4/img/v2/tourism_impacts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Positive and negative impacts.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4. IMPACTS OF TOURISM</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two positive and two negative impacts of tourism.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4. IMPACTS OF TOURISM</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Positive: jobs, foreign currency. Negative: pollution, loss of culture.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5. BUTLER'S MODEL</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a:t>
            </a:r>
            <a:endParaRPr lang="en-US" sz="3600" dirty="0"/>
          </a:p>
        </p:txBody>
      </p:sp>
      <p:pic>
        <p:nvPicPr>
          <p:cNvPr id="4" name="Image 0" descr="/home/claude/f4/img/v2/butler_big.png">    </p:cNvPr>
          <p:cNvPicPr>
            <a:picLocks noChangeAspect="1"/>
          </p:cNvPicPr>
          <p:nvPr/>
        </p:nvPicPr>
        <p:blipFill>
          <a:blip r:embed="rId1"/>
          <a:stretch>
            <a:fillRect/>
          </a:stretch>
        </p:blipFill>
        <p:spPr>
          <a:xfrm>
            <a:off x="1215564" y="1783080"/>
            <a:ext cx="9760567"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Butler's tourist area life cycle.</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5. BUTLER'S MODEL</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can happen after stagnation?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5. BUTLER'S MODEL</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Decline, or rejuvenation if the resort is improved.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Topic: Tourism Activities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Sub-topic: World (Global) Tourism</a:t>
            </a:r>
            <a:endParaRPr lang="en-US" sz="4000" dirty="0"/>
          </a:p>
          <a:p>
            <a:pPr algn="l"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31: Tourism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Meaning and Nature of Tourism</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Tourism and its types can be defined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Tourism: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travel for leisure, business or culture outside one's usual home for at least one night. A tourist is a person who travels for this purpose.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Meaning and Nature of Tourism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Types of tourism: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Mass tourism brings many people to resorts, while ecotourism is responsible travel to natural areas. Cultural, business and religious tourism also exist.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Meaning and Nature of Tourism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Categories of tourists: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Domestic tourists travel within their own country, and international tourists cross borders. Tourists can also be grouped by age, income or purpose.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Origins, Destinations and Growth</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World tourism is organised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Origins and destinations: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Europe, North America and East Asia send most tourists. France, Spain, the USA and Italy receive the most.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Origins, Destinations and Growth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Factors of growth: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Higher incomes, paid holidays and cheap flights have increased tourism. The internet, peace and good advertising also help.</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Origins, Destinations and Growth</a:t>
            </a:r>
            <a:endParaRPr lang="en-US" sz="3600" dirty="0"/>
          </a:p>
        </p:txBody>
      </p:sp>
      <p:pic>
        <p:nvPicPr>
          <p:cNvPr id="4" name="Image 0" descr="/home/claude/f4/img/v2/tourism_flows_big.png">    </p:cNvPr>
          <p:cNvPicPr>
            <a:picLocks noChangeAspect="1"/>
          </p:cNvPicPr>
          <p:nvPr/>
        </p:nvPicPr>
        <p:blipFill>
          <a:blip r:embed="rId1"/>
          <a:stretch>
            <a:fillRect/>
          </a:stretch>
        </p:blipFill>
        <p:spPr>
          <a:xfrm>
            <a:off x="1825600" y="1783080"/>
            <a:ext cx="8540496"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main tourist flows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Resources, Facilities and Activities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Tourism depends on the following resources and facilities: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Tourist resources: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Natural resources include beaches, mountains and wildlife. Human resources include monuments, festivals and cultures.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Resources, Facilities and Activities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Facilities and activities: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Hotels, transport and travel agencies receive tourists. Tourists go sightseeing, bathing, hiking and on safari.</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4. Impacts and Promotion of Tourism</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Tourism has impacts and can be promoted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Positive impacts: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Tourism creates jobs and brings foreign currency. It also builds infrastructure and can protect nature and culture.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4. Impacts and Promotion of Tourism (continued)</a:t>
            </a:r>
            <a:endParaRPr lang="en-US" sz="3600" dirty="0"/>
          </a:p>
        </p:txBody>
      </p:sp>
      <p:sp>
        <p:nvSpPr>
          <p:cNvPr id="5" name="Text 2"/>
          <p:cNvSpPr/>
          <p:nvPr/>
        </p:nvSpPr>
        <p:spPr>
          <a:xfrm>
            <a:off x="1691640" y="1783080"/>
            <a:ext cx="101800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Negative impacts: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can cause pollution, high prices and loss of culture. Profits often leave the host country.</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Promotion measures: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Advertising, security and good infrastructure attract tourists. Training staff also improves the quality of service.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4. Impacts and Promotion of Tourism</a:t>
            </a:r>
            <a:endParaRPr lang="en-US" sz="3600" dirty="0"/>
          </a:p>
        </p:txBody>
      </p:sp>
      <p:pic>
        <p:nvPicPr>
          <p:cNvPr id="4" name="Image 0" descr="/home/claude/f4/img/v2/tourism_impacts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impacts of tourism</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5. Butler's Model of Tourist Area Evolution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Butler (1980) described the life cycle of a resort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Early stages: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In exploration, few tourists come to an unspoiled place. In involvement and development, locals and companies build facilities and numbers rise fast.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5. Butler's Model of Tourist Area Evolution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Later stages: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In consolidation growth slows, and in stagnation the resort is crowded and loses appeal. It then declines or is rejuvenated by new attractions.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5. Butler's Model of Tourist Area Evolution</a:t>
            </a:r>
            <a:endParaRPr lang="en-US" sz="3600" dirty="0"/>
          </a:p>
        </p:txBody>
      </p:sp>
      <p:pic>
        <p:nvPicPr>
          <p:cNvPr id="4" name="Image 0" descr="/home/claude/f4/img/v2/butler_big.png">    </p:cNvPr>
          <p:cNvPicPr>
            <a:picLocks noChangeAspect="1"/>
          </p:cNvPicPr>
          <p:nvPr/>
        </p:nvPicPr>
        <p:blipFill>
          <a:blip r:embed="rId1"/>
          <a:stretch>
            <a:fillRect/>
          </a:stretch>
        </p:blipFill>
        <p:spPr>
          <a:xfrm>
            <a:off x="1215564" y="1783080"/>
            <a:ext cx="9760567"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Butler's tourist area life cycle</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two factors for the growth of world tourism.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Higher incomes and cheaper air travel.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Name the stages of Butler's model.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Exploration, involvement, development, consolidation, stagnation, then decline or rejuvenation.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Travel to nature that protects it is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The largest tourist region is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Butler's stage after development is ______.</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53</a:t>
            </a:fld>
            <a:endParaRPr 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Name two causes of air pollution in your town.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54</a:t>
            </a:fld>
            <a:endParaRPr lang="en-US"/>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1: Pollution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55</a:t>
            </a:fld>
            <a:endParaRPr lang="en-US"/>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57"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Tourism</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tourisme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Tourist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touriste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Destination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destination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Hotel</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L'hôtel</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Beach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plage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Wildlife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faune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56</a:t>
            </a:fld>
            <a:endParaRPr lang="en-US"/>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58"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Tourism Activities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Lesson 31: Tourism</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Define tourism and classify its types. Describe origins, destinations and factors of growth. Explain the impacts of tourism and the Butler model.</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explain world tourism, its impacts and its evolution.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57</a:t>
            </a:fld>
            <a:endParaRPr lang="en-US"/>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59"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Meaning and Nature of Tourism; Origins, Destinations and Growth; Resources, Facilities and Activities; Impacts and Promotion of Tourism; Butler's Model of Tourist Area Evolution.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Name two causes of air pollution in your town.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58</a:t>
            </a:fld>
            <a:endParaRPr lang="en-US"/>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8 min | Recall, situation, action 10 min | 5 activities 30 min | Board summary (copying) 30 min | Evaluation, remediation 10 min | Homework, next lesson 5 min | Logbook 7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give examples.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read the flows.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list attractions.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4): sort the impacts.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5): describe the curve.</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59</a:t>
            </a:fld>
            <a:endParaRPr lang="en-US"/>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National Geography Syllabus, MINESEC/IGE/IP-SS, 2019 — Module 6 (Economic Geography).</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1: “Crowded Sunny Beach, Bulgaria” by phototouring, CC BY-NC-SA 2.0, via Flickr (https://www.flickr.com/photos/19054742@N00/1557605901)</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3: “African Bush Elephant, Amboseli National Park, Kenya” by Ray in Manila, CC BY 2.0, via Flickr (https://www.flickr.com/photos/21186555@N07/37211779966)</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60</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60</Slides>
  <Notes>60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60</vt:i4>
      </vt:variant>
    </vt:vector>
  </HeadingPairs>
  <TitlesOfParts>
    <vt:vector size="6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2026-09-29T12:19:00Z</dcterms:created>
  <dcterms:modified xsi:type="dcterms:W3CDTF">2026-09-29T12:19:00Z</dcterms:modified>
</cp:coreProperties>
</file>